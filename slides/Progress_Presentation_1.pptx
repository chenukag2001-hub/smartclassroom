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895495"/>
            <a:ext cx="4190999" cy="800099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0" y="9889568"/>
            <a:ext cx="18288000" cy="397510"/>
          </a:xfrm>
          <a:custGeom>
            <a:avLst/>
            <a:gdLst/>
            <a:ahLst/>
            <a:cxnLst/>
            <a:rect l="l" t="t" r="r" b="b"/>
            <a:pathLst>
              <a:path w="18288000" h="397509">
                <a:moveTo>
                  <a:pt x="0" y="397431"/>
                </a:moveTo>
                <a:lnTo>
                  <a:pt x="18288000" y="397431"/>
                </a:lnTo>
                <a:lnTo>
                  <a:pt x="18288000" y="0"/>
                </a:lnTo>
                <a:lnTo>
                  <a:pt x="0" y="0"/>
                </a:lnTo>
                <a:lnTo>
                  <a:pt x="0" y="397431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0" y="9718118"/>
            <a:ext cx="18288000" cy="171450"/>
          </a:xfrm>
          <a:custGeom>
            <a:avLst/>
            <a:gdLst/>
            <a:ahLst/>
            <a:cxnLst/>
            <a:rect l="l" t="t" r="r" b="b"/>
            <a:pathLst>
              <a:path w="18288000" h="171450">
                <a:moveTo>
                  <a:pt x="0" y="0"/>
                </a:moveTo>
                <a:lnTo>
                  <a:pt x="18287999" y="0"/>
                </a:lnTo>
                <a:lnTo>
                  <a:pt x="18287999" y="171449"/>
                </a:lnTo>
                <a:lnTo>
                  <a:pt x="0" y="1714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650248" y="2099848"/>
            <a:ext cx="8174990" cy="6788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406698" y="2171801"/>
            <a:ext cx="6338569" cy="5368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9889568"/>
            <a:ext cx="18288000" cy="397510"/>
          </a:xfrm>
          <a:custGeom>
            <a:avLst/>
            <a:gdLst/>
            <a:ahLst/>
            <a:cxnLst/>
            <a:rect l="l" t="t" r="r" b="b"/>
            <a:pathLst>
              <a:path w="18288000" h="397509">
                <a:moveTo>
                  <a:pt x="0" y="397431"/>
                </a:moveTo>
                <a:lnTo>
                  <a:pt x="18288000" y="397431"/>
                </a:lnTo>
                <a:lnTo>
                  <a:pt x="18288000" y="0"/>
                </a:lnTo>
                <a:lnTo>
                  <a:pt x="0" y="0"/>
                </a:lnTo>
                <a:lnTo>
                  <a:pt x="0" y="397431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9718118"/>
            <a:ext cx="18288000" cy="171450"/>
          </a:xfrm>
          <a:custGeom>
            <a:avLst/>
            <a:gdLst/>
            <a:ahLst/>
            <a:cxnLst/>
            <a:rect l="l" t="t" r="r" b="b"/>
            <a:pathLst>
              <a:path w="18288000" h="171450">
                <a:moveTo>
                  <a:pt x="0" y="0"/>
                </a:moveTo>
                <a:lnTo>
                  <a:pt x="18287999" y="0"/>
                </a:lnTo>
                <a:lnTo>
                  <a:pt x="18287999" y="171449"/>
                </a:lnTo>
                <a:lnTo>
                  <a:pt x="0" y="171449"/>
                </a:lnTo>
                <a:lnTo>
                  <a:pt x="0" y="0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89931" y="7607"/>
            <a:ext cx="14921645" cy="23385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36072" y="4838154"/>
            <a:ext cx="9323705" cy="3259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Relationship Id="rId3" Type="http://schemas.openxmlformats.org/officeDocument/2006/relationships/image" Target="../media/image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9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6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6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32.jp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9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4" name="object 4" descr="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724529" y="1238987"/>
            <a:ext cx="12839065" cy="741616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ctr" marL="12065" marR="5080" indent="-635">
              <a:lnSpc>
                <a:spcPct val="116900"/>
              </a:lnSpc>
              <a:spcBef>
                <a:spcPts val="85"/>
              </a:spcBef>
            </a:pPr>
            <a:r>
              <a:rPr dirty="0" sz="8300" spc="-1410">
                <a:latin typeface="Arial Black"/>
                <a:cs typeface="Arial Black"/>
              </a:rPr>
              <a:t>SMART</a:t>
            </a:r>
            <a:r>
              <a:rPr dirty="0" sz="8300" spc="-425">
                <a:latin typeface="Arial Black"/>
                <a:cs typeface="Arial Black"/>
              </a:rPr>
              <a:t> </a:t>
            </a:r>
            <a:r>
              <a:rPr dirty="0" sz="8300" spc="-885">
                <a:latin typeface="Arial Black"/>
                <a:cs typeface="Arial Black"/>
              </a:rPr>
              <a:t>CLASSROOM</a:t>
            </a:r>
            <a:r>
              <a:rPr dirty="0" sz="8300" spc="-425">
                <a:latin typeface="Arial Black"/>
                <a:cs typeface="Arial Black"/>
              </a:rPr>
              <a:t> </a:t>
            </a:r>
            <a:r>
              <a:rPr dirty="0" sz="8300" spc="-1090">
                <a:latin typeface="Arial Black"/>
                <a:cs typeface="Arial Black"/>
              </a:rPr>
              <a:t>IOT </a:t>
            </a:r>
            <a:r>
              <a:rPr dirty="0" sz="8300" spc="-1345">
                <a:latin typeface="Arial Black"/>
                <a:cs typeface="Arial Black"/>
              </a:rPr>
              <a:t>NETWORK</a:t>
            </a:r>
            <a:r>
              <a:rPr dirty="0" sz="8300" spc="-420">
                <a:latin typeface="Arial Black"/>
                <a:cs typeface="Arial Black"/>
              </a:rPr>
              <a:t> </a:t>
            </a:r>
            <a:r>
              <a:rPr dirty="0" sz="8300" spc="-1120">
                <a:latin typeface="Arial Black"/>
                <a:cs typeface="Arial Black"/>
              </a:rPr>
              <a:t>FOR </a:t>
            </a:r>
            <a:r>
              <a:rPr dirty="0" sz="8300" spc="-755">
                <a:latin typeface="Arial Black"/>
                <a:cs typeface="Arial Black"/>
              </a:rPr>
              <a:t>MONITORING</a:t>
            </a:r>
            <a:r>
              <a:rPr dirty="0" sz="8300" spc="-340">
                <a:latin typeface="Arial Black"/>
                <a:cs typeface="Arial Black"/>
              </a:rPr>
              <a:t> </a:t>
            </a:r>
            <a:r>
              <a:rPr dirty="0" sz="8300" spc="-1660">
                <a:latin typeface="Arial Black"/>
                <a:cs typeface="Arial Black"/>
              </a:rPr>
              <a:t>STUDENT </a:t>
            </a:r>
            <a:r>
              <a:rPr dirty="0" sz="8300" spc="-1325">
                <a:latin typeface="Arial Black"/>
                <a:cs typeface="Arial Black"/>
              </a:rPr>
              <a:t>MENTAL</a:t>
            </a:r>
            <a:r>
              <a:rPr dirty="0" sz="8300" spc="-420">
                <a:latin typeface="Arial Black"/>
                <a:cs typeface="Arial Black"/>
              </a:rPr>
              <a:t> </a:t>
            </a:r>
            <a:r>
              <a:rPr dirty="0" sz="8300" spc="-1115">
                <a:latin typeface="Arial Black"/>
                <a:cs typeface="Arial Black"/>
              </a:rPr>
              <a:t>WELL-</a:t>
            </a:r>
            <a:r>
              <a:rPr dirty="0" sz="8300" spc="-960">
                <a:latin typeface="Arial Black"/>
                <a:cs typeface="Arial Black"/>
              </a:rPr>
              <a:t>BEING</a:t>
            </a:r>
            <a:r>
              <a:rPr dirty="0" sz="8300" spc="-420">
                <a:latin typeface="Arial Black"/>
                <a:cs typeface="Arial Black"/>
              </a:rPr>
              <a:t> </a:t>
            </a:r>
            <a:r>
              <a:rPr dirty="0" sz="8300" spc="-730">
                <a:latin typeface="Arial Black"/>
                <a:cs typeface="Arial Black"/>
              </a:rPr>
              <a:t>AND </a:t>
            </a:r>
            <a:r>
              <a:rPr dirty="0" sz="8300" spc="-1060">
                <a:latin typeface="Arial Black"/>
                <a:cs typeface="Arial Black"/>
              </a:rPr>
              <a:t>BEHAVIOR</a:t>
            </a:r>
            <a:endParaRPr sz="8300">
              <a:latin typeface="Arial Black"/>
              <a:cs typeface="Arial Black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19839" rIns="0" bIns="0" rtlCol="0" vert="horz">
            <a:spAutoFit/>
          </a:bodyPr>
          <a:lstStyle/>
          <a:p>
            <a:pPr marL="4161154">
              <a:lnSpc>
                <a:spcPct val="100000"/>
              </a:lnSpc>
              <a:spcBef>
                <a:spcPts val="90"/>
              </a:spcBef>
            </a:pPr>
            <a:r>
              <a:rPr dirty="0" sz="8200" spc="-1030"/>
              <a:t>INTRODUCTION</a:t>
            </a:r>
            <a:endParaRPr sz="8200"/>
          </a:p>
        </p:txBody>
      </p:sp>
      <p:sp>
        <p:nvSpPr>
          <p:cNvPr id="3" name="object 3" descr="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5" name="object 5" descr="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2089" y="5567309"/>
            <a:ext cx="129604" cy="12960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2089" y="6073943"/>
            <a:ext cx="129604" cy="12960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2089" y="6580578"/>
            <a:ext cx="129604" cy="129603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2089" y="7087213"/>
            <a:ext cx="129604" cy="129603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194834" y="2776484"/>
            <a:ext cx="15755619" cy="6105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599"/>
              </a:lnSpc>
              <a:spcBef>
                <a:spcPts val="95"/>
              </a:spcBef>
            </a:pPr>
            <a:r>
              <a:rPr dirty="0" sz="2850">
                <a:latin typeface="Lucida Sans Unicode"/>
                <a:cs typeface="Lucida Sans Unicode"/>
              </a:rPr>
              <a:t>Modern</a:t>
            </a:r>
            <a:r>
              <a:rPr dirty="0" sz="2850" spc="-135">
                <a:latin typeface="Lucida Sans Unicode"/>
                <a:cs typeface="Lucida Sans Unicode"/>
              </a:rPr>
              <a:t> </a:t>
            </a:r>
            <a:r>
              <a:rPr dirty="0" sz="2850" spc="-50">
                <a:latin typeface="Lucida Sans Unicode"/>
                <a:cs typeface="Lucida Sans Unicode"/>
              </a:rPr>
              <a:t>classrooms</a:t>
            </a:r>
            <a:r>
              <a:rPr dirty="0" sz="2850" spc="-130">
                <a:latin typeface="Lucida Sans Unicode"/>
                <a:cs typeface="Lucida Sans Unicode"/>
              </a:rPr>
              <a:t> </a:t>
            </a:r>
            <a:r>
              <a:rPr dirty="0" sz="2850">
                <a:latin typeface="Lucida Sans Unicode"/>
                <a:cs typeface="Lucida Sans Unicode"/>
              </a:rPr>
              <a:t>are</a:t>
            </a:r>
            <a:r>
              <a:rPr dirty="0" sz="2850" spc="-130">
                <a:latin typeface="Lucida Sans Unicode"/>
                <a:cs typeface="Lucida Sans Unicode"/>
              </a:rPr>
              <a:t> </a:t>
            </a:r>
            <a:r>
              <a:rPr dirty="0" sz="2850" spc="-75">
                <a:latin typeface="Lucida Sans Unicode"/>
                <a:cs typeface="Lucida Sans Unicode"/>
              </a:rPr>
              <a:t>evolving</a:t>
            </a:r>
            <a:r>
              <a:rPr dirty="0" sz="2850" spc="-130">
                <a:latin typeface="Lucida Sans Unicode"/>
                <a:cs typeface="Lucida Sans Unicode"/>
              </a:rPr>
              <a:t> </a:t>
            </a:r>
            <a:r>
              <a:rPr dirty="0" sz="2850" spc="-45">
                <a:latin typeface="Lucida Sans Unicode"/>
                <a:cs typeface="Lucida Sans Unicode"/>
              </a:rPr>
              <a:t>into</a:t>
            </a:r>
            <a:r>
              <a:rPr dirty="0" sz="2850" spc="-130">
                <a:latin typeface="Lucida Sans Unicode"/>
                <a:cs typeface="Lucida Sans Unicode"/>
              </a:rPr>
              <a:t> </a:t>
            </a:r>
            <a:r>
              <a:rPr dirty="0" sz="2850" spc="-125">
                <a:latin typeface="Lucida Sans Unicode"/>
                <a:cs typeface="Lucida Sans Unicode"/>
              </a:rPr>
              <a:t>technology-</a:t>
            </a:r>
            <a:r>
              <a:rPr dirty="0" sz="2850" spc="-50">
                <a:latin typeface="Lucida Sans Unicode"/>
                <a:cs typeface="Lucida Sans Unicode"/>
              </a:rPr>
              <a:t>rich</a:t>
            </a:r>
            <a:r>
              <a:rPr dirty="0" sz="2850" spc="-130">
                <a:latin typeface="Lucida Sans Unicode"/>
                <a:cs typeface="Lucida Sans Unicode"/>
              </a:rPr>
              <a:t> </a:t>
            </a:r>
            <a:r>
              <a:rPr dirty="0" sz="2850" spc="-35">
                <a:latin typeface="Lucida Sans Unicode"/>
                <a:cs typeface="Lucida Sans Unicode"/>
              </a:rPr>
              <a:t>environments.</a:t>
            </a:r>
            <a:r>
              <a:rPr dirty="0" sz="2850" spc="-130">
                <a:latin typeface="Lucida Sans Unicode"/>
                <a:cs typeface="Lucida Sans Unicode"/>
              </a:rPr>
              <a:t> </a:t>
            </a:r>
            <a:r>
              <a:rPr dirty="0" sz="2850" spc="-25">
                <a:latin typeface="Lucida Sans Unicode"/>
                <a:cs typeface="Lucida Sans Unicode"/>
              </a:rPr>
              <a:t>However,</a:t>
            </a:r>
            <a:r>
              <a:rPr dirty="0" sz="2850" spc="-135">
                <a:latin typeface="Lucida Sans Unicode"/>
                <a:cs typeface="Lucida Sans Unicode"/>
              </a:rPr>
              <a:t> </a:t>
            </a:r>
            <a:r>
              <a:rPr dirty="0" sz="2850" spc="-20">
                <a:latin typeface="Lucida Sans Unicode"/>
                <a:cs typeface="Lucida Sans Unicode"/>
              </a:rPr>
              <a:t>current</a:t>
            </a:r>
            <a:r>
              <a:rPr dirty="0" sz="2850" spc="-130">
                <a:latin typeface="Lucida Sans Unicode"/>
                <a:cs typeface="Lucida Sans Unicode"/>
              </a:rPr>
              <a:t> </a:t>
            </a:r>
            <a:r>
              <a:rPr dirty="0" sz="2850" spc="-20">
                <a:latin typeface="Lucida Sans Unicode"/>
                <a:cs typeface="Lucida Sans Unicode"/>
              </a:rPr>
              <a:t>smart </a:t>
            </a:r>
            <a:r>
              <a:rPr dirty="0" sz="2850" spc="-45">
                <a:latin typeface="Lucida Sans Unicode"/>
                <a:cs typeface="Lucida Sans Unicode"/>
              </a:rPr>
              <a:t>classroom</a:t>
            </a:r>
            <a:r>
              <a:rPr dirty="0" sz="2850" spc="-155">
                <a:latin typeface="Lucida Sans Unicode"/>
                <a:cs typeface="Lucida Sans Unicode"/>
              </a:rPr>
              <a:t> </a:t>
            </a:r>
            <a:r>
              <a:rPr dirty="0" sz="2850" spc="-55">
                <a:latin typeface="Lucida Sans Unicode"/>
                <a:cs typeface="Lucida Sans Unicode"/>
              </a:rPr>
              <a:t>solutions</a:t>
            </a:r>
            <a:r>
              <a:rPr dirty="0" sz="2850" spc="-155">
                <a:latin typeface="Lucida Sans Unicode"/>
                <a:cs typeface="Lucida Sans Unicode"/>
              </a:rPr>
              <a:t> </a:t>
            </a:r>
            <a:r>
              <a:rPr dirty="0" sz="2850" spc="-25">
                <a:latin typeface="Lucida Sans Unicode"/>
                <a:cs typeface="Lucida Sans Unicode"/>
              </a:rPr>
              <a:t>often</a:t>
            </a:r>
            <a:r>
              <a:rPr dirty="0" sz="2850" spc="-155">
                <a:latin typeface="Lucida Sans Unicode"/>
                <a:cs typeface="Lucida Sans Unicode"/>
              </a:rPr>
              <a:t> </a:t>
            </a:r>
            <a:r>
              <a:rPr dirty="0" sz="2850" spc="-45">
                <a:latin typeface="Lucida Sans Unicode"/>
                <a:cs typeface="Lucida Sans Unicode"/>
              </a:rPr>
              <a:t>overlook</a:t>
            </a:r>
            <a:r>
              <a:rPr dirty="0" sz="2850" spc="-150">
                <a:latin typeface="Lucida Sans Unicode"/>
                <a:cs typeface="Lucida Sans Unicode"/>
              </a:rPr>
              <a:t> </a:t>
            </a:r>
            <a:r>
              <a:rPr dirty="0" sz="2850" spc="-30">
                <a:latin typeface="Lucida Sans Unicode"/>
                <a:cs typeface="Lucida Sans Unicode"/>
              </a:rPr>
              <a:t>student</a:t>
            </a:r>
            <a:r>
              <a:rPr dirty="0" sz="2850" spc="-155">
                <a:latin typeface="Lucida Sans Unicode"/>
                <a:cs typeface="Lucida Sans Unicode"/>
              </a:rPr>
              <a:t> </a:t>
            </a:r>
            <a:r>
              <a:rPr dirty="0" sz="2850" spc="-190">
                <a:latin typeface="Lucida Sans Unicode"/>
                <a:cs typeface="Lucida Sans Unicode"/>
              </a:rPr>
              <a:t>well-</a:t>
            </a:r>
            <a:r>
              <a:rPr dirty="0" sz="2850" spc="-100">
                <a:latin typeface="Lucida Sans Unicode"/>
                <a:cs typeface="Lucida Sans Unicode"/>
              </a:rPr>
              <a:t>being,</a:t>
            </a:r>
            <a:r>
              <a:rPr dirty="0" sz="2850" spc="-155">
                <a:latin typeface="Lucida Sans Unicode"/>
                <a:cs typeface="Lucida Sans Unicode"/>
              </a:rPr>
              <a:t> </a:t>
            </a:r>
            <a:r>
              <a:rPr dirty="0" sz="2850" spc="-75">
                <a:latin typeface="Lucida Sans Unicode"/>
                <a:cs typeface="Lucida Sans Unicode"/>
              </a:rPr>
              <a:t>privacy,</a:t>
            </a:r>
            <a:r>
              <a:rPr dirty="0" sz="2850" spc="-150">
                <a:latin typeface="Lucida Sans Unicode"/>
                <a:cs typeface="Lucida Sans Unicode"/>
              </a:rPr>
              <a:t> </a:t>
            </a:r>
            <a:r>
              <a:rPr dirty="0" sz="2850">
                <a:latin typeface="Lucida Sans Unicode"/>
                <a:cs typeface="Lucida Sans Unicode"/>
              </a:rPr>
              <a:t>and</a:t>
            </a:r>
            <a:r>
              <a:rPr dirty="0" sz="2850" spc="-155">
                <a:latin typeface="Lucida Sans Unicode"/>
                <a:cs typeface="Lucida Sans Unicode"/>
              </a:rPr>
              <a:t> </a:t>
            </a:r>
            <a:r>
              <a:rPr dirty="0" sz="2850" spc="-30">
                <a:latin typeface="Lucida Sans Unicode"/>
                <a:cs typeface="Lucida Sans Unicode"/>
              </a:rPr>
              <a:t>network</a:t>
            </a:r>
            <a:r>
              <a:rPr dirty="0" sz="2850" spc="-155">
                <a:latin typeface="Lucida Sans Unicode"/>
                <a:cs typeface="Lucida Sans Unicode"/>
              </a:rPr>
              <a:t> </a:t>
            </a:r>
            <a:r>
              <a:rPr dirty="0" sz="2850" spc="-10">
                <a:latin typeface="Lucida Sans Unicode"/>
                <a:cs typeface="Lucida Sans Unicode"/>
              </a:rPr>
              <a:t>efficiency.</a:t>
            </a:r>
            <a:endParaRPr sz="2850">
              <a:latin typeface="Lucida Sans Unicode"/>
              <a:cs typeface="Lucida Sans Unicode"/>
            </a:endParaRPr>
          </a:p>
          <a:p>
            <a:pPr marL="634365" marR="3883025" indent="-622300">
              <a:lnSpc>
                <a:spcPct val="233300"/>
              </a:lnSpc>
            </a:pPr>
            <a:r>
              <a:rPr dirty="0" sz="2850" spc="-110">
                <a:latin typeface="Lucida Sans Unicode"/>
                <a:cs typeface="Lucida Sans Unicode"/>
              </a:rPr>
              <a:t>This</a:t>
            </a:r>
            <a:r>
              <a:rPr dirty="0" sz="2850" spc="-155">
                <a:latin typeface="Lucida Sans Unicode"/>
                <a:cs typeface="Lucida Sans Unicode"/>
              </a:rPr>
              <a:t> </a:t>
            </a:r>
            <a:r>
              <a:rPr dirty="0" sz="2850" spc="-55">
                <a:latin typeface="Lucida Sans Unicode"/>
                <a:cs typeface="Lucida Sans Unicode"/>
              </a:rPr>
              <a:t>project</a:t>
            </a:r>
            <a:r>
              <a:rPr dirty="0" sz="2850" spc="-150">
                <a:latin typeface="Lucida Sans Unicode"/>
                <a:cs typeface="Lucida Sans Unicode"/>
              </a:rPr>
              <a:t> </a:t>
            </a:r>
            <a:r>
              <a:rPr dirty="0" sz="2850" spc="-35">
                <a:latin typeface="Lucida Sans Unicode"/>
                <a:cs typeface="Lucida Sans Unicode"/>
              </a:rPr>
              <a:t>proposes</a:t>
            </a:r>
            <a:r>
              <a:rPr dirty="0" sz="2850" spc="-150">
                <a:latin typeface="Lucida Sans Unicode"/>
                <a:cs typeface="Lucida Sans Unicode"/>
              </a:rPr>
              <a:t> </a:t>
            </a:r>
            <a:r>
              <a:rPr dirty="0" sz="2850">
                <a:latin typeface="Lucida Sans Unicode"/>
                <a:cs typeface="Lucida Sans Unicode"/>
              </a:rPr>
              <a:t>a</a:t>
            </a:r>
            <a:r>
              <a:rPr dirty="0" sz="2850" spc="-150">
                <a:latin typeface="Lucida Sans Unicode"/>
                <a:cs typeface="Lucida Sans Unicode"/>
              </a:rPr>
              <a:t> </a:t>
            </a:r>
            <a:r>
              <a:rPr dirty="0" sz="2850">
                <a:latin typeface="Lucida Sans Unicode"/>
                <a:cs typeface="Lucida Sans Unicode"/>
              </a:rPr>
              <a:t>Smart</a:t>
            </a:r>
            <a:r>
              <a:rPr dirty="0" sz="2850" spc="-150">
                <a:latin typeface="Lucida Sans Unicode"/>
                <a:cs typeface="Lucida Sans Unicode"/>
              </a:rPr>
              <a:t> </a:t>
            </a:r>
            <a:r>
              <a:rPr dirty="0" sz="2850" spc="-55">
                <a:latin typeface="Lucida Sans Unicode"/>
                <a:cs typeface="Lucida Sans Unicode"/>
              </a:rPr>
              <a:t>Classroom</a:t>
            </a:r>
            <a:r>
              <a:rPr dirty="0" sz="2850" spc="-150">
                <a:latin typeface="Lucida Sans Unicode"/>
                <a:cs typeface="Lucida Sans Unicode"/>
              </a:rPr>
              <a:t> </a:t>
            </a:r>
            <a:r>
              <a:rPr dirty="0" sz="2850" spc="-95">
                <a:latin typeface="Lucida Sans Unicode"/>
                <a:cs typeface="Lucida Sans Unicode"/>
              </a:rPr>
              <a:t>IoT</a:t>
            </a:r>
            <a:r>
              <a:rPr dirty="0" sz="2850" spc="-150">
                <a:latin typeface="Lucida Sans Unicode"/>
                <a:cs typeface="Lucida Sans Unicode"/>
              </a:rPr>
              <a:t> </a:t>
            </a:r>
            <a:r>
              <a:rPr dirty="0" sz="2850" spc="-20">
                <a:latin typeface="Lucida Sans Unicode"/>
                <a:cs typeface="Lucida Sans Unicode"/>
              </a:rPr>
              <a:t>Network</a:t>
            </a:r>
            <a:r>
              <a:rPr dirty="0" sz="2850" spc="-150">
                <a:latin typeface="Lucida Sans Unicode"/>
                <a:cs typeface="Lucida Sans Unicode"/>
              </a:rPr>
              <a:t> </a:t>
            </a:r>
            <a:r>
              <a:rPr dirty="0" sz="2850" spc="-20">
                <a:latin typeface="Lucida Sans Unicode"/>
                <a:cs typeface="Lucida Sans Unicode"/>
              </a:rPr>
              <a:t>that</a:t>
            </a:r>
            <a:r>
              <a:rPr dirty="0" sz="2850" spc="-150">
                <a:latin typeface="Lucida Sans Unicode"/>
                <a:cs typeface="Lucida Sans Unicode"/>
              </a:rPr>
              <a:t> </a:t>
            </a:r>
            <a:r>
              <a:rPr dirty="0" sz="2850" spc="-10">
                <a:latin typeface="Lucida Sans Unicode"/>
                <a:cs typeface="Lucida Sans Unicode"/>
              </a:rPr>
              <a:t>integrates: </a:t>
            </a:r>
            <a:r>
              <a:rPr dirty="0" sz="2850" spc="-25">
                <a:latin typeface="Lucida Sans Unicode"/>
                <a:cs typeface="Lucida Sans Unicode"/>
              </a:rPr>
              <a:t>Environmental</a:t>
            </a:r>
            <a:r>
              <a:rPr dirty="0" sz="2850" spc="-114">
                <a:latin typeface="Lucida Sans Unicode"/>
                <a:cs typeface="Lucida Sans Unicode"/>
              </a:rPr>
              <a:t> </a:t>
            </a:r>
            <a:r>
              <a:rPr dirty="0" sz="2850" spc="-10">
                <a:latin typeface="Lucida Sans Unicode"/>
                <a:cs typeface="Lucida Sans Unicode"/>
              </a:rPr>
              <a:t>sensing</a:t>
            </a:r>
            <a:endParaRPr sz="2850">
              <a:latin typeface="Lucida Sans Unicode"/>
              <a:cs typeface="Lucida Sans Unicode"/>
            </a:endParaRPr>
          </a:p>
          <a:p>
            <a:pPr marL="634365" marR="11340465">
              <a:lnSpc>
                <a:spcPct val="116599"/>
              </a:lnSpc>
            </a:pPr>
            <a:r>
              <a:rPr dirty="0" sz="2850">
                <a:latin typeface="Lucida Sans Unicode"/>
                <a:cs typeface="Lucida Sans Unicode"/>
              </a:rPr>
              <a:t>Behavioral</a:t>
            </a:r>
            <a:r>
              <a:rPr dirty="0" sz="2850" spc="-190">
                <a:latin typeface="Lucida Sans Unicode"/>
                <a:cs typeface="Lucida Sans Unicode"/>
              </a:rPr>
              <a:t> </a:t>
            </a:r>
            <a:r>
              <a:rPr dirty="0" sz="2850" spc="-10">
                <a:latin typeface="Lucida Sans Unicode"/>
                <a:cs typeface="Lucida Sans Unicode"/>
              </a:rPr>
              <a:t>analytics </a:t>
            </a:r>
            <a:r>
              <a:rPr dirty="0" sz="2850" spc="-60">
                <a:latin typeface="Lucida Sans Unicode"/>
                <a:cs typeface="Lucida Sans Unicode"/>
              </a:rPr>
              <a:t>Adaptive</a:t>
            </a:r>
            <a:r>
              <a:rPr dirty="0" sz="2850" spc="-105">
                <a:latin typeface="Lucida Sans Unicode"/>
                <a:cs typeface="Lucida Sans Unicode"/>
              </a:rPr>
              <a:t> </a:t>
            </a:r>
            <a:r>
              <a:rPr dirty="0" sz="2850" spc="-10">
                <a:latin typeface="Lucida Sans Unicode"/>
                <a:cs typeface="Lucida Sans Unicode"/>
              </a:rPr>
              <a:t>networking </a:t>
            </a:r>
            <a:r>
              <a:rPr dirty="0" sz="2850" spc="-55">
                <a:latin typeface="Lucida Sans Unicode"/>
                <a:cs typeface="Lucida Sans Unicode"/>
              </a:rPr>
              <a:t>Decentralized</a:t>
            </a:r>
            <a:r>
              <a:rPr dirty="0" sz="2850" spc="-155">
                <a:latin typeface="Lucida Sans Unicode"/>
                <a:cs typeface="Lucida Sans Unicode"/>
              </a:rPr>
              <a:t> </a:t>
            </a:r>
            <a:r>
              <a:rPr dirty="0" sz="2850" spc="-30">
                <a:latin typeface="Lucida Sans Unicode"/>
                <a:cs typeface="Lucida Sans Unicode"/>
              </a:rPr>
              <a:t>security</a:t>
            </a:r>
            <a:endParaRPr sz="2850">
              <a:latin typeface="Lucida Sans Unicode"/>
              <a:cs typeface="Lucida Sans Unicode"/>
            </a:endParaRPr>
          </a:p>
          <a:p>
            <a:pPr marL="12700" marR="565785">
              <a:lnSpc>
                <a:spcPct val="116599"/>
              </a:lnSpc>
              <a:spcBef>
                <a:spcPts val="3990"/>
              </a:spcBef>
            </a:pPr>
            <a:r>
              <a:rPr dirty="0" sz="2850" spc="-60">
                <a:latin typeface="Lucida Sans Unicode"/>
                <a:cs typeface="Lucida Sans Unicode"/>
              </a:rPr>
              <a:t>Designed</a:t>
            </a:r>
            <a:r>
              <a:rPr dirty="0" sz="2850" spc="-150">
                <a:latin typeface="Lucida Sans Unicode"/>
                <a:cs typeface="Lucida Sans Unicode"/>
              </a:rPr>
              <a:t> </a:t>
            </a:r>
            <a:r>
              <a:rPr dirty="0" sz="2850" spc="-20">
                <a:latin typeface="Lucida Sans Unicode"/>
                <a:cs typeface="Lucida Sans Unicode"/>
              </a:rPr>
              <a:t>for</a:t>
            </a:r>
            <a:r>
              <a:rPr dirty="0" sz="2850" spc="-150">
                <a:latin typeface="Lucida Sans Unicode"/>
                <a:cs typeface="Lucida Sans Unicode"/>
              </a:rPr>
              <a:t> </a:t>
            </a:r>
            <a:r>
              <a:rPr dirty="0" sz="2850" spc="-110">
                <a:latin typeface="Lucida Sans Unicode"/>
                <a:cs typeface="Lucida Sans Unicode"/>
              </a:rPr>
              <a:t>resource-</a:t>
            </a:r>
            <a:r>
              <a:rPr dirty="0" sz="2850" spc="-40">
                <a:latin typeface="Lucida Sans Unicode"/>
                <a:cs typeface="Lucida Sans Unicode"/>
              </a:rPr>
              <a:t>constrained</a:t>
            </a:r>
            <a:r>
              <a:rPr dirty="0" sz="2850" spc="-150">
                <a:latin typeface="Lucida Sans Unicode"/>
                <a:cs typeface="Lucida Sans Unicode"/>
              </a:rPr>
              <a:t> </a:t>
            </a:r>
            <a:r>
              <a:rPr dirty="0" sz="2850" spc="-40">
                <a:latin typeface="Lucida Sans Unicode"/>
                <a:cs typeface="Lucida Sans Unicode"/>
              </a:rPr>
              <a:t>educational</a:t>
            </a:r>
            <a:r>
              <a:rPr dirty="0" sz="2850" spc="-150">
                <a:latin typeface="Lucida Sans Unicode"/>
                <a:cs typeface="Lucida Sans Unicode"/>
              </a:rPr>
              <a:t> </a:t>
            </a:r>
            <a:r>
              <a:rPr dirty="0" sz="2850" spc="-100">
                <a:latin typeface="Lucida Sans Unicode"/>
                <a:cs typeface="Lucida Sans Unicode"/>
              </a:rPr>
              <a:t>settings,</a:t>
            </a:r>
            <a:r>
              <a:rPr dirty="0" sz="2850" spc="-150">
                <a:latin typeface="Lucida Sans Unicode"/>
                <a:cs typeface="Lucida Sans Unicode"/>
              </a:rPr>
              <a:t> </a:t>
            </a:r>
            <a:r>
              <a:rPr dirty="0" sz="2850">
                <a:latin typeface="Lucida Sans Unicode"/>
                <a:cs typeface="Lucida Sans Unicode"/>
              </a:rPr>
              <a:t>the</a:t>
            </a:r>
            <a:r>
              <a:rPr dirty="0" sz="2850" spc="-145">
                <a:latin typeface="Lucida Sans Unicode"/>
                <a:cs typeface="Lucida Sans Unicode"/>
              </a:rPr>
              <a:t> </a:t>
            </a:r>
            <a:r>
              <a:rPr dirty="0" sz="2850" spc="-45">
                <a:latin typeface="Lucida Sans Unicode"/>
                <a:cs typeface="Lucida Sans Unicode"/>
              </a:rPr>
              <a:t>system</a:t>
            </a:r>
            <a:r>
              <a:rPr dirty="0" sz="2850" spc="-150">
                <a:latin typeface="Lucida Sans Unicode"/>
                <a:cs typeface="Lucida Sans Unicode"/>
              </a:rPr>
              <a:t> </a:t>
            </a:r>
            <a:r>
              <a:rPr dirty="0" sz="2850" spc="-45">
                <a:latin typeface="Lucida Sans Unicode"/>
                <a:cs typeface="Lucida Sans Unicode"/>
              </a:rPr>
              <a:t>aims</a:t>
            </a:r>
            <a:r>
              <a:rPr dirty="0" sz="2850" spc="-150">
                <a:latin typeface="Lucida Sans Unicode"/>
                <a:cs typeface="Lucida Sans Unicode"/>
              </a:rPr>
              <a:t> </a:t>
            </a:r>
            <a:r>
              <a:rPr dirty="0" sz="2850" spc="-10">
                <a:latin typeface="Lucida Sans Unicode"/>
                <a:cs typeface="Lucida Sans Unicode"/>
              </a:rPr>
              <a:t>to</a:t>
            </a:r>
            <a:r>
              <a:rPr dirty="0" sz="2850" spc="-150">
                <a:latin typeface="Lucida Sans Unicode"/>
                <a:cs typeface="Lucida Sans Unicode"/>
              </a:rPr>
              <a:t> </a:t>
            </a:r>
            <a:r>
              <a:rPr dirty="0" sz="2850" spc="-35">
                <a:latin typeface="Lucida Sans Unicode"/>
                <a:cs typeface="Lucida Sans Unicode"/>
              </a:rPr>
              <a:t>support</a:t>
            </a:r>
            <a:r>
              <a:rPr dirty="0" sz="2850" spc="-150">
                <a:latin typeface="Lucida Sans Unicode"/>
                <a:cs typeface="Lucida Sans Unicode"/>
              </a:rPr>
              <a:t> </a:t>
            </a:r>
            <a:r>
              <a:rPr dirty="0" sz="2850" spc="-20">
                <a:latin typeface="Lucida Sans Unicode"/>
                <a:cs typeface="Lucida Sans Unicode"/>
              </a:rPr>
              <a:t>both </a:t>
            </a:r>
            <a:r>
              <a:rPr dirty="0" sz="2850" spc="-40">
                <a:latin typeface="Lucida Sans Unicode"/>
                <a:cs typeface="Lucida Sans Unicode"/>
              </a:rPr>
              <a:t>academic</a:t>
            </a:r>
            <a:r>
              <a:rPr dirty="0" sz="2850" spc="-165">
                <a:latin typeface="Lucida Sans Unicode"/>
                <a:cs typeface="Lucida Sans Unicode"/>
              </a:rPr>
              <a:t> </a:t>
            </a:r>
            <a:r>
              <a:rPr dirty="0" sz="2850" spc="-75">
                <a:latin typeface="Lucida Sans Unicode"/>
                <a:cs typeface="Lucida Sans Unicode"/>
              </a:rPr>
              <a:t>success</a:t>
            </a:r>
            <a:r>
              <a:rPr dirty="0" sz="2850" spc="-155">
                <a:latin typeface="Lucida Sans Unicode"/>
                <a:cs typeface="Lucida Sans Unicode"/>
              </a:rPr>
              <a:t> </a:t>
            </a:r>
            <a:r>
              <a:rPr dirty="0" sz="2850">
                <a:latin typeface="Lucida Sans Unicode"/>
                <a:cs typeface="Lucida Sans Unicode"/>
              </a:rPr>
              <a:t>and</a:t>
            </a:r>
            <a:r>
              <a:rPr dirty="0" sz="2850" spc="-160">
                <a:latin typeface="Lucida Sans Unicode"/>
                <a:cs typeface="Lucida Sans Unicode"/>
              </a:rPr>
              <a:t> </a:t>
            </a:r>
            <a:r>
              <a:rPr dirty="0" sz="2850" spc="-20">
                <a:latin typeface="Lucida Sans Unicode"/>
                <a:cs typeface="Lucida Sans Unicode"/>
              </a:rPr>
              <a:t>mental</a:t>
            </a:r>
            <a:r>
              <a:rPr dirty="0" sz="2850" spc="-160">
                <a:latin typeface="Lucida Sans Unicode"/>
                <a:cs typeface="Lucida Sans Unicode"/>
              </a:rPr>
              <a:t> </a:t>
            </a:r>
            <a:r>
              <a:rPr dirty="0" sz="2850" spc="-10">
                <a:latin typeface="Lucida Sans Unicode"/>
                <a:cs typeface="Lucida Sans Unicode"/>
              </a:rPr>
              <a:t>wellness.</a:t>
            </a:r>
            <a:endParaRPr sz="28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641032" y="5129593"/>
            <a:ext cx="13768705" cy="3291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510540">
              <a:lnSpc>
                <a:spcPct val="100000"/>
              </a:lnSpc>
              <a:spcBef>
                <a:spcPts val="100"/>
              </a:spcBef>
            </a:pPr>
            <a:r>
              <a:rPr dirty="0" sz="5600" spc="-855">
                <a:latin typeface="Arial Black"/>
                <a:cs typeface="Arial Black"/>
              </a:rPr>
              <a:t>OBJECTIVES</a:t>
            </a:r>
            <a:endParaRPr sz="5600">
              <a:latin typeface="Arial Black"/>
              <a:cs typeface="Arial Black"/>
            </a:endParaRPr>
          </a:p>
          <a:p>
            <a:pPr marL="12700" marR="5080">
              <a:lnSpc>
                <a:spcPct val="116100"/>
              </a:lnSpc>
              <a:spcBef>
                <a:spcPts val="3395"/>
              </a:spcBef>
            </a:pPr>
            <a:r>
              <a:rPr dirty="0" sz="2800" spc="-100">
                <a:latin typeface="Lucida Sans Unicode"/>
                <a:cs typeface="Lucida Sans Unicode"/>
              </a:rPr>
              <a:t>Design</a:t>
            </a:r>
            <a:r>
              <a:rPr dirty="0" sz="2800" spc="-155">
                <a:latin typeface="Lucida Sans Unicode"/>
                <a:cs typeface="Lucida Sans Unicode"/>
              </a:rPr>
              <a:t> </a:t>
            </a:r>
            <a:r>
              <a:rPr dirty="0" sz="2800">
                <a:latin typeface="Lucida Sans Unicode"/>
                <a:cs typeface="Lucida Sans Unicode"/>
              </a:rPr>
              <a:t>a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185">
                <a:latin typeface="Lucida Sans Unicode"/>
                <a:cs typeface="Lucida Sans Unicode"/>
              </a:rPr>
              <a:t>multi-</a:t>
            </a:r>
            <a:r>
              <a:rPr dirty="0" sz="2800" spc="-60">
                <a:latin typeface="Lucida Sans Unicode"/>
                <a:cs typeface="Lucida Sans Unicode"/>
              </a:rPr>
              <a:t>protocol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110">
                <a:latin typeface="Lucida Sans Unicode"/>
                <a:cs typeface="Lucida Sans Unicode"/>
              </a:rPr>
              <a:t>IoT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50">
                <a:latin typeface="Lucida Sans Unicode"/>
                <a:cs typeface="Lucida Sans Unicode"/>
              </a:rPr>
              <a:t>network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40">
                <a:latin typeface="Lucida Sans Unicode"/>
                <a:cs typeface="Lucida Sans Unicode"/>
              </a:rPr>
              <a:t>for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45">
                <a:latin typeface="Lucida Sans Unicode"/>
                <a:cs typeface="Lucida Sans Unicode"/>
              </a:rPr>
              <a:t>environmental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20">
                <a:latin typeface="Lucida Sans Unicode"/>
                <a:cs typeface="Lucida Sans Unicode"/>
              </a:rPr>
              <a:t>and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40">
                <a:latin typeface="Lucida Sans Unicode"/>
                <a:cs typeface="Lucida Sans Unicode"/>
              </a:rPr>
              <a:t>attendance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25">
                <a:latin typeface="Lucida Sans Unicode"/>
                <a:cs typeface="Lucida Sans Unicode"/>
              </a:rPr>
              <a:t>monitoring. </a:t>
            </a:r>
            <a:r>
              <a:rPr dirty="0" sz="2800" spc="-40">
                <a:latin typeface="Lucida Sans Unicode"/>
                <a:cs typeface="Lucida Sans Unicode"/>
              </a:rPr>
              <a:t>Implement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80">
                <a:latin typeface="Lucida Sans Unicode"/>
                <a:cs typeface="Lucida Sans Unicode"/>
              </a:rPr>
              <a:t>edge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114">
                <a:latin typeface="Lucida Sans Unicode"/>
                <a:cs typeface="Lucida Sans Unicode"/>
              </a:rPr>
              <a:t>AI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40">
                <a:latin typeface="Lucida Sans Unicode"/>
                <a:cs typeface="Lucida Sans Unicode"/>
              </a:rPr>
              <a:t>for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180">
                <a:latin typeface="Lucida Sans Unicode"/>
                <a:cs typeface="Lucida Sans Unicode"/>
              </a:rPr>
              <a:t>real-</a:t>
            </a:r>
            <a:r>
              <a:rPr dirty="0" sz="2800" spc="-50">
                <a:latin typeface="Lucida Sans Unicode"/>
                <a:cs typeface="Lucida Sans Unicode"/>
              </a:rPr>
              <a:t>time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45">
                <a:latin typeface="Lucida Sans Unicode"/>
                <a:cs typeface="Lucida Sans Unicode"/>
              </a:rPr>
              <a:t>behavioral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10">
                <a:latin typeface="Lucida Sans Unicode"/>
                <a:cs typeface="Lucida Sans Unicode"/>
              </a:rPr>
              <a:t>analysis.</a:t>
            </a:r>
            <a:endParaRPr sz="2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800" spc="-85">
                <a:latin typeface="Lucida Sans Unicode"/>
                <a:cs typeface="Lucida Sans Unicode"/>
              </a:rPr>
              <a:t>Optimize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65">
                <a:latin typeface="Lucida Sans Unicode"/>
                <a:cs typeface="Lucida Sans Unicode"/>
              </a:rPr>
              <a:t>classroom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50">
                <a:latin typeface="Lucida Sans Unicode"/>
                <a:cs typeface="Lucida Sans Unicode"/>
              </a:rPr>
              <a:t>network</a:t>
            </a:r>
            <a:r>
              <a:rPr dirty="0" sz="2800" spc="-140">
                <a:latin typeface="Lucida Sans Unicode"/>
                <a:cs typeface="Lucida Sans Unicode"/>
              </a:rPr>
              <a:t> </a:t>
            </a:r>
            <a:r>
              <a:rPr dirty="0" sz="2800" spc="-40">
                <a:latin typeface="Lucida Sans Unicode"/>
                <a:cs typeface="Lucida Sans Unicode"/>
              </a:rPr>
              <a:t>performance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110">
                <a:latin typeface="Lucida Sans Unicode"/>
                <a:cs typeface="Lucida Sans Unicode"/>
              </a:rPr>
              <a:t>using</a:t>
            </a:r>
            <a:r>
              <a:rPr dirty="0" sz="2800" spc="-140">
                <a:latin typeface="Lucida Sans Unicode"/>
                <a:cs typeface="Lucida Sans Unicode"/>
              </a:rPr>
              <a:t> </a:t>
            </a:r>
            <a:r>
              <a:rPr dirty="0" sz="2800" spc="-20">
                <a:latin typeface="Lucida Sans Unicode"/>
                <a:cs typeface="Lucida Sans Unicode"/>
              </a:rPr>
              <a:t>SDN.</a:t>
            </a:r>
            <a:endParaRPr sz="2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800" spc="-25">
                <a:latin typeface="Lucida Sans Unicode"/>
                <a:cs typeface="Lucida Sans Unicode"/>
              </a:rPr>
              <a:t>Ensure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45">
                <a:latin typeface="Lucida Sans Unicode"/>
                <a:cs typeface="Lucida Sans Unicode"/>
              </a:rPr>
              <a:t>secure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85">
                <a:latin typeface="Lucida Sans Unicode"/>
                <a:cs typeface="Lucida Sans Unicode"/>
              </a:rPr>
              <a:t>access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70">
                <a:latin typeface="Lucida Sans Unicode"/>
                <a:cs typeface="Lucida Sans Unicode"/>
              </a:rPr>
              <a:t>control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110">
                <a:latin typeface="Lucida Sans Unicode"/>
                <a:cs typeface="Lucida Sans Unicode"/>
              </a:rPr>
              <a:t>using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85">
                <a:latin typeface="Lucida Sans Unicode"/>
                <a:cs typeface="Lucida Sans Unicode"/>
              </a:rPr>
              <a:t>blockchain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20">
                <a:latin typeface="Lucida Sans Unicode"/>
                <a:cs typeface="Lucida Sans Unicode"/>
              </a:rPr>
              <a:t>and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315">
                <a:latin typeface="Lucida Sans Unicode"/>
                <a:cs typeface="Lucida Sans Unicode"/>
              </a:rPr>
              <a:t>AI-</a:t>
            </a:r>
            <a:r>
              <a:rPr dirty="0" sz="2800" spc="-50">
                <a:latin typeface="Lucida Sans Unicode"/>
                <a:cs typeface="Lucida Sans Unicode"/>
              </a:rPr>
              <a:t>based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40">
                <a:latin typeface="Lucida Sans Unicode"/>
                <a:cs typeface="Lucida Sans Unicode"/>
              </a:rPr>
              <a:t>anomaly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10">
                <a:latin typeface="Lucida Sans Unicode"/>
                <a:cs typeface="Lucida Sans Unicode"/>
              </a:rPr>
              <a:t>detection.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5" name="object 5" descr="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48304" y="474765"/>
            <a:ext cx="7472680" cy="878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600" spc="-910"/>
              <a:t>RESEARCH</a:t>
            </a:r>
            <a:r>
              <a:rPr dirty="0" sz="5600" spc="-295"/>
              <a:t> </a:t>
            </a:r>
            <a:r>
              <a:rPr dirty="0" sz="5600" spc="-840"/>
              <a:t>QUESTIONS</a:t>
            </a:r>
            <a:endParaRPr sz="5600"/>
          </a:p>
        </p:txBody>
      </p:sp>
      <p:sp>
        <p:nvSpPr>
          <p:cNvPr id="11" name="object 11" descr=""/>
          <p:cNvSpPr txBox="1"/>
          <p:nvPr/>
        </p:nvSpPr>
        <p:spPr>
          <a:xfrm>
            <a:off x="1663749" y="1492723"/>
            <a:ext cx="15906750" cy="2540000"/>
          </a:xfrm>
          <a:prstGeom prst="rect">
            <a:avLst/>
          </a:prstGeom>
        </p:spPr>
        <p:txBody>
          <a:bodyPr wrap="square" lIns="0" tIns="214629" rIns="0" bIns="0" rtlCol="0" vert="horz">
            <a:spAutoFit/>
          </a:bodyPr>
          <a:lstStyle/>
          <a:p>
            <a:pPr marL="344805" indent="-344170">
              <a:lnSpc>
                <a:spcPct val="100000"/>
              </a:lnSpc>
              <a:spcBef>
                <a:spcPts val="1689"/>
              </a:spcBef>
              <a:buSzPct val="98214"/>
              <a:buFont typeface="Lucida Sans Unicode"/>
              <a:buAutoNum type="arabicPeriod"/>
              <a:tabLst>
                <a:tab pos="344805" algn="l"/>
              </a:tabLst>
            </a:pPr>
            <a:r>
              <a:rPr dirty="0" sz="2800" spc="-235">
                <a:latin typeface="Arial Black"/>
                <a:cs typeface="Arial Black"/>
              </a:rPr>
              <a:t>IoT</a:t>
            </a:r>
            <a:r>
              <a:rPr dirty="0" sz="2800" spc="-200">
                <a:latin typeface="Arial Black"/>
                <a:cs typeface="Arial Black"/>
              </a:rPr>
              <a:t> </a:t>
            </a:r>
            <a:r>
              <a:rPr dirty="0" sz="2800" spc="-150">
                <a:latin typeface="Arial Black"/>
                <a:cs typeface="Arial Black"/>
              </a:rPr>
              <a:t>Networks:</a:t>
            </a:r>
            <a:r>
              <a:rPr dirty="0" sz="2800" spc="-195">
                <a:latin typeface="Arial Black"/>
                <a:cs typeface="Arial Black"/>
              </a:rPr>
              <a:t> </a:t>
            </a:r>
            <a:r>
              <a:rPr dirty="0" sz="2800">
                <a:latin typeface="Lucida Sans Unicode"/>
                <a:cs typeface="Lucida Sans Unicode"/>
              </a:rPr>
              <a:t>How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50">
                <a:latin typeface="Lucida Sans Unicode"/>
                <a:cs typeface="Lucida Sans Unicode"/>
              </a:rPr>
              <a:t>can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45">
                <a:latin typeface="Lucida Sans Unicode"/>
                <a:cs typeface="Lucida Sans Unicode"/>
              </a:rPr>
              <a:t>adaptive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185">
                <a:latin typeface="Lucida Sans Unicode"/>
                <a:cs typeface="Lucida Sans Unicode"/>
              </a:rPr>
              <a:t>multi-</a:t>
            </a:r>
            <a:r>
              <a:rPr dirty="0" sz="2800" spc="-60">
                <a:latin typeface="Lucida Sans Unicode"/>
                <a:cs typeface="Lucida Sans Unicode"/>
              </a:rPr>
              <a:t>protocol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110">
                <a:latin typeface="Lucida Sans Unicode"/>
                <a:cs typeface="Lucida Sans Unicode"/>
              </a:rPr>
              <a:t>IoT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65">
                <a:latin typeface="Lucida Sans Unicode"/>
                <a:cs typeface="Lucida Sans Unicode"/>
              </a:rPr>
              <a:t>networks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45">
                <a:latin typeface="Lucida Sans Unicode"/>
                <a:cs typeface="Lucida Sans Unicode"/>
              </a:rPr>
              <a:t>improve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65">
                <a:latin typeface="Lucida Sans Unicode"/>
                <a:cs typeface="Lucida Sans Unicode"/>
              </a:rPr>
              <a:t>classroom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10">
                <a:latin typeface="Lucida Sans Unicode"/>
                <a:cs typeface="Lucida Sans Unicode"/>
              </a:rPr>
              <a:t>monitoring?</a:t>
            </a:r>
            <a:endParaRPr sz="2800">
              <a:latin typeface="Lucida Sans Unicode"/>
              <a:cs typeface="Lucida Sans Unicode"/>
            </a:endParaRPr>
          </a:p>
          <a:p>
            <a:pPr marL="344805" indent="-344170">
              <a:lnSpc>
                <a:spcPct val="100000"/>
              </a:lnSpc>
              <a:spcBef>
                <a:spcPts val="1590"/>
              </a:spcBef>
              <a:buSzPct val="98214"/>
              <a:buFont typeface="Lucida Sans Unicode"/>
              <a:buAutoNum type="arabicPeriod"/>
              <a:tabLst>
                <a:tab pos="344805" algn="l"/>
              </a:tabLst>
            </a:pPr>
            <a:r>
              <a:rPr dirty="0" sz="2800" spc="-275">
                <a:latin typeface="Arial Black"/>
                <a:cs typeface="Arial Black"/>
              </a:rPr>
              <a:t>Edge</a:t>
            </a:r>
            <a:r>
              <a:rPr dirty="0" sz="2800" spc="-195">
                <a:latin typeface="Arial Black"/>
                <a:cs typeface="Arial Black"/>
              </a:rPr>
              <a:t> </a:t>
            </a:r>
            <a:r>
              <a:rPr dirty="0" sz="2800" spc="-190">
                <a:latin typeface="Arial Black"/>
                <a:cs typeface="Arial Black"/>
              </a:rPr>
              <a:t>AI:</a:t>
            </a:r>
            <a:r>
              <a:rPr dirty="0" sz="2800" spc="-195">
                <a:latin typeface="Arial Black"/>
                <a:cs typeface="Arial Black"/>
              </a:rPr>
              <a:t> </a:t>
            </a:r>
            <a:r>
              <a:rPr dirty="0" sz="2800">
                <a:latin typeface="Lucida Sans Unicode"/>
                <a:cs typeface="Lucida Sans Unicode"/>
              </a:rPr>
              <a:t>How</a:t>
            </a:r>
            <a:r>
              <a:rPr dirty="0" sz="2800" spc="-140">
                <a:latin typeface="Lucida Sans Unicode"/>
                <a:cs typeface="Lucida Sans Unicode"/>
              </a:rPr>
              <a:t> </a:t>
            </a:r>
            <a:r>
              <a:rPr dirty="0" sz="2800" spc="-50">
                <a:latin typeface="Lucida Sans Unicode"/>
                <a:cs typeface="Lucida Sans Unicode"/>
              </a:rPr>
              <a:t>can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80">
                <a:latin typeface="Lucida Sans Unicode"/>
                <a:cs typeface="Lucida Sans Unicode"/>
              </a:rPr>
              <a:t>edge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114">
                <a:latin typeface="Lucida Sans Unicode"/>
                <a:cs typeface="Lucida Sans Unicode"/>
              </a:rPr>
              <a:t>AI</a:t>
            </a:r>
            <a:r>
              <a:rPr dirty="0" sz="2800" spc="-140">
                <a:latin typeface="Lucida Sans Unicode"/>
                <a:cs typeface="Lucida Sans Unicode"/>
              </a:rPr>
              <a:t> </a:t>
            </a:r>
            <a:r>
              <a:rPr dirty="0" sz="2800" spc="-30">
                <a:latin typeface="Lucida Sans Unicode"/>
                <a:cs typeface="Lucida Sans Unicode"/>
              </a:rPr>
              <a:t>ensure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70">
                <a:latin typeface="Lucida Sans Unicode"/>
                <a:cs typeface="Lucida Sans Unicode"/>
              </a:rPr>
              <a:t>privacy</a:t>
            </a:r>
            <a:r>
              <a:rPr dirty="0" sz="2800" spc="-140">
                <a:latin typeface="Lucida Sans Unicode"/>
                <a:cs typeface="Lucida Sans Unicode"/>
              </a:rPr>
              <a:t> </a:t>
            </a:r>
            <a:r>
              <a:rPr dirty="0" sz="2800" spc="-55">
                <a:latin typeface="Lucida Sans Unicode"/>
                <a:cs typeface="Lucida Sans Unicode"/>
              </a:rPr>
              <a:t>while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110">
                <a:latin typeface="Lucida Sans Unicode"/>
                <a:cs typeface="Lucida Sans Unicode"/>
              </a:rPr>
              <a:t>analyzing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60">
                <a:latin typeface="Lucida Sans Unicode"/>
                <a:cs typeface="Lucida Sans Unicode"/>
              </a:rPr>
              <a:t>student</a:t>
            </a:r>
            <a:r>
              <a:rPr dirty="0" sz="2800" spc="-140">
                <a:latin typeface="Lucida Sans Unicode"/>
                <a:cs typeface="Lucida Sans Unicode"/>
              </a:rPr>
              <a:t> </a:t>
            </a:r>
            <a:r>
              <a:rPr dirty="0" sz="2800" spc="-10">
                <a:latin typeface="Lucida Sans Unicode"/>
                <a:cs typeface="Lucida Sans Unicode"/>
              </a:rPr>
              <a:t>behavior?</a:t>
            </a:r>
            <a:endParaRPr sz="2800">
              <a:latin typeface="Lucida Sans Unicode"/>
              <a:cs typeface="Lucida Sans Unicode"/>
            </a:endParaRPr>
          </a:p>
          <a:p>
            <a:pPr marL="344805" indent="-344170">
              <a:lnSpc>
                <a:spcPct val="100000"/>
              </a:lnSpc>
              <a:spcBef>
                <a:spcPts val="1590"/>
              </a:spcBef>
              <a:buSzPct val="98214"/>
              <a:buFont typeface="Lucida Sans Unicode"/>
              <a:buAutoNum type="arabicPeriod"/>
              <a:tabLst>
                <a:tab pos="344805" algn="l"/>
              </a:tabLst>
            </a:pPr>
            <a:r>
              <a:rPr dirty="0" sz="2800" spc="-215">
                <a:latin typeface="Arial Black"/>
                <a:cs typeface="Arial Black"/>
              </a:rPr>
              <a:t>SDN</a:t>
            </a:r>
            <a:r>
              <a:rPr dirty="0" sz="2800" spc="-215">
                <a:latin typeface="Lucida Sans Unicode"/>
                <a:cs typeface="Lucida Sans Unicode"/>
              </a:rPr>
              <a:t>:</a:t>
            </a:r>
            <a:r>
              <a:rPr dirty="0" sz="2800" spc="-155">
                <a:latin typeface="Lucida Sans Unicode"/>
                <a:cs typeface="Lucida Sans Unicode"/>
              </a:rPr>
              <a:t> </a:t>
            </a:r>
            <a:r>
              <a:rPr dirty="0" sz="2800">
                <a:latin typeface="Lucida Sans Unicode"/>
                <a:cs typeface="Lucida Sans Unicode"/>
              </a:rPr>
              <a:t>How</a:t>
            </a:r>
            <a:r>
              <a:rPr dirty="0" sz="2800" spc="-155">
                <a:latin typeface="Lucida Sans Unicode"/>
                <a:cs typeface="Lucida Sans Unicode"/>
              </a:rPr>
              <a:t> </a:t>
            </a:r>
            <a:r>
              <a:rPr dirty="0" sz="2800" spc="-55">
                <a:latin typeface="Lucida Sans Unicode"/>
                <a:cs typeface="Lucida Sans Unicode"/>
              </a:rPr>
              <a:t>does</a:t>
            </a:r>
            <a:r>
              <a:rPr dirty="0" sz="2800" spc="-155">
                <a:latin typeface="Lucida Sans Unicode"/>
                <a:cs typeface="Lucida Sans Unicode"/>
              </a:rPr>
              <a:t> </a:t>
            </a:r>
            <a:r>
              <a:rPr dirty="0" sz="2800">
                <a:latin typeface="Lucida Sans Unicode"/>
                <a:cs typeface="Lucida Sans Unicode"/>
              </a:rPr>
              <a:t>SDN</a:t>
            </a:r>
            <a:r>
              <a:rPr dirty="0" sz="2800" spc="-155">
                <a:latin typeface="Lucida Sans Unicode"/>
                <a:cs typeface="Lucida Sans Unicode"/>
              </a:rPr>
              <a:t> </a:t>
            </a:r>
            <a:r>
              <a:rPr dirty="0" sz="2800" spc="-35">
                <a:latin typeface="Lucida Sans Unicode"/>
                <a:cs typeface="Lucida Sans Unicode"/>
              </a:rPr>
              <a:t>enhance</a:t>
            </a:r>
            <a:r>
              <a:rPr dirty="0" sz="2800" spc="-155">
                <a:latin typeface="Lucida Sans Unicode"/>
                <a:cs typeface="Lucida Sans Unicode"/>
              </a:rPr>
              <a:t> </a:t>
            </a:r>
            <a:r>
              <a:rPr dirty="0" sz="2800" spc="-40">
                <a:latin typeface="Lucida Sans Unicode"/>
                <a:cs typeface="Lucida Sans Unicode"/>
              </a:rPr>
              <a:t>performance</a:t>
            </a:r>
            <a:r>
              <a:rPr dirty="0" sz="2800" spc="-155">
                <a:latin typeface="Lucida Sans Unicode"/>
                <a:cs typeface="Lucida Sans Unicode"/>
              </a:rPr>
              <a:t> </a:t>
            </a:r>
            <a:r>
              <a:rPr dirty="0" sz="2800" spc="-20">
                <a:latin typeface="Lucida Sans Unicode"/>
                <a:cs typeface="Lucida Sans Unicode"/>
              </a:rPr>
              <a:t>and</a:t>
            </a:r>
            <a:r>
              <a:rPr dirty="0" sz="2800" spc="-155">
                <a:latin typeface="Lucida Sans Unicode"/>
                <a:cs typeface="Lucida Sans Unicode"/>
              </a:rPr>
              <a:t> </a:t>
            </a:r>
            <a:r>
              <a:rPr dirty="0" sz="2800" spc="-75">
                <a:latin typeface="Lucida Sans Unicode"/>
                <a:cs typeface="Lucida Sans Unicode"/>
              </a:rPr>
              <a:t>engagement</a:t>
            </a:r>
            <a:r>
              <a:rPr dirty="0" sz="2800" spc="-155">
                <a:latin typeface="Lucida Sans Unicode"/>
                <a:cs typeface="Lucida Sans Unicode"/>
              </a:rPr>
              <a:t> </a:t>
            </a:r>
            <a:r>
              <a:rPr dirty="0" sz="2800" spc="-75">
                <a:latin typeface="Lucida Sans Unicode"/>
                <a:cs typeface="Lucida Sans Unicode"/>
              </a:rPr>
              <a:t>in</a:t>
            </a:r>
            <a:r>
              <a:rPr dirty="0" sz="2800" spc="-155">
                <a:latin typeface="Lucida Sans Unicode"/>
                <a:cs typeface="Lucida Sans Unicode"/>
              </a:rPr>
              <a:t> </a:t>
            </a:r>
            <a:r>
              <a:rPr dirty="0" sz="2800" spc="-40">
                <a:latin typeface="Lucida Sans Unicode"/>
                <a:cs typeface="Lucida Sans Unicode"/>
              </a:rPr>
              <a:t>smart</a:t>
            </a:r>
            <a:r>
              <a:rPr dirty="0" sz="2800" spc="-155">
                <a:latin typeface="Lucida Sans Unicode"/>
                <a:cs typeface="Lucida Sans Unicode"/>
              </a:rPr>
              <a:t> </a:t>
            </a:r>
            <a:r>
              <a:rPr dirty="0" sz="2800" spc="-10">
                <a:latin typeface="Lucida Sans Unicode"/>
                <a:cs typeface="Lucida Sans Unicode"/>
              </a:rPr>
              <a:t>classrooms?</a:t>
            </a:r>
            <a:endParaRPr sz="2800">
              <a:latin typeface="Lucida Sans Unicode"/>
              <a:cs typeface="Lucida Sans Unicode"/>
            </a:endParaRPr>
          </a:p>
          <a:p>
            <a:pPr marL="344805" indent="-344170">
              <a:lnSpc>
                <a:spcPct val="100000"/>
              </a:lnSpc>
              <a:spcBef>
                <a:spcPts val="1590"/>
              </a:spcBef>
              <a:buSzPct val="98214"/>
              <a:buFont typeface="Lucida Sans Unicode"/>
              <a:buAutoNum type="arabicPeriod"/>
              <a:tabLst>
                <a:tab pos="344805" algn="l"/>
              </a:tabLst>
            </a:pPr>
            <a:r>
              <a:rPr dirty="0" sz="2800" spc="-190">
                <a:latin typeface="Arial Black"/>
                <a:cs typeface="Arial Black"/>
              </a:rPr>
              <a:t>Blockchain: </a:t>
            </a:r>
            <a:r>
              <a:rPr dirty="0" sz="2800">
                <a:latin typeface="Lucida Sans Unicode"/>
                <a:cs typeface="Lucida Sans Unicode"/>
              </a:rPr>
              <a:t>How</a:t>
            </a:r>
            <a:r>
              <a:rPr dirty="0" sz="2800" spc="-140">
                <a:latin typeface="Lucida Sans Unicode"/>
                <a:cs typeface="Lucida Sans Unicode"/>
              </a:rPr>
              <a:t> </a:t>
            </a:r>
            <a:r>
              <a:rPr dirty="0" sz="2800" spc="-50">
                <a:latin typeface="Lucida Sans Unicode"/>
                <a:cs typeface="Lucida Sans Unicode"/>
              </a:rPr>
              <a:t>can</a:t>
            </a:r>
            <a:r>
              <a:rPr dirty="0" sz="2800" spc="-135">
                <a:latin typeface="Lucida Sans Unicode"/>
                <a:cs typeface="Lucida Sans Unicode"/>
              </a:rPr>
              <a:t> </a:t>
            </a:r>
            <a:r>
              <a:rPr dirty="0" sz="2800" spc="-70">
                <a:latin typeface="Lucida Sans Unicode"/>
                <a:cs typeface="Lucida Sans Unicode"/>
              </a:rPr>
              <a:t>decentralized</a:t>
            </a:r>
            <a:r>
              <a:rPr dirty="0" sz="2800" spc="-140">
                <a:latin typeface="Lucida Sans Unicode"/>
                <a:cs typeface="Lucida Sans Unicode"/>
              </a:rPr>
              <a:t> </a:t>
            </a:r>
            <a:r>
              <a:rPr dirty="0" sz="2800" spc="-65">
                <a:latin typeface="Lucida Sans Unicode"/>
                <a:cs typeface="Lucida Sans Unicode"/>
              </a:rPr>
              <a:t>security</a:t>
            </a:r>
            <a:r>
              <a:rPr dirty="0" sz="2800" spc="-135">
                <a:latin typeface="Lucida Sans Unicode"/>
                <a:cs typeface="Lucida Sans Unicode"/>
              </a:rPr>
              <a:t> </a:t>
            </a:r>
            <a:r>
              <a:rPr dirty="0" sz="2800" spc="-50">
                <a:latin typeface="Lucida Sans Unicode"/>
                <a:cs typeface="Lucida Sans Unicode"/>
              </a:rPr>
              <a:t>frameworks</a:t>
            </a:r>
            <a:r>
              <a:rPr dirty="0" sz="2800" spc="-140">
                <a:latin typeface="Lucida Sans Unicode"/>
                <a:cs typeface="Lucida Sans Unicode"/>
              </a:rPr>
              <a:t> </a:t>
            </a:r>
            <a:r>
              <a:rPr dirty="0" sz="2800" spc="-60">
                <a:latin typeface="Lucida Sans Unicode"/>
                <a:cs typeface="Lucida Sans Unicode"/>
              </a:rPr>
              <a:t>protect</a:t>
            </a:r>
            <a:r>
              <a:rPr dirty="0" sz="2800" spc="-135">
                <a:latin typeface="Lucida Sans Unicode"/>
                <a:cs typeface="Lucida Sans Unicode"/>
              </a:rPr>
              <a:t> </a:t>
            </a:r>
            <a:r>
              <a:rPr dirty="0" sz="2800" spc="-75">
                <a:latin typeface="Lucida Sans Unicode"/>
                <a:cs typeface="Lucida Sans Unicode"/>
              </a:rPr>
              <a:t>sensitive</a:t>
            </a:r>
            <a:r>
              <a:rPr dirty="0" sz="2800" spc="-140">
                <a:latin typeface="Lucida Sans Unicode"/>
                <a:cs typeface="Lucida Sans Unicode"/>
              </a:rPr>
              <a:t> </a:t>
            </a:r>
            <a:r>
              <a:rPr dirty="0" sz="2800" spc="-55">
                <a:latin typeface="Lucida Sans Unicode"/>
                <a:cs typeface="Lucida Sans Unicode"/>
              </a:rPr>
              <a:t>educational</a:t>
            </a:r>
            <a:r>
              <a:rPr dirty="0" sz="2800" spc="-135">
                <a:latin typeface="Lucida Sans Unicode"/>
                <a:cs typeface="Lucida Sans Unicode"/>
              </a:rPr>
              <a:t> </a:t>
            </a:r>
            <a:r>
              <a:rPr dirty="0" sz="2800" spc="-20">
                <a:latin typeface="Lucida Sans Unicode"/>
                <a:cs typeface="Lucida Sans Unicode"/>
              </a:rPr>
              <a:t>data?</a:t>
            </a:r>
            <a:endParaRPr sz="2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2053" y="-83184"/>
            <a:ext cx="661289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65"/>
              <a:t>RESEARCH</a:t>
            </a:r>
            <a:r>
              <a:rPr dirty="0" spc="-380"/>
              <a:t> </a:t>
            </a:r>
            <a:r>
              <a:rPr dirty="0" spc="-700"/>
              <a:t>GAP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5" name="object 5" descr="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971812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244170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244170" y="171450"/>
                  </a:lnTo>
                  <a:lnTo>
                    <a:pt x="244170" y="0"/>
                  </a:lnTo>
                  <a:close/>
                </a:path>
                <a:path w="18288000" h="171450">
                  <a:moveTo>
                    <a:pt x="18287988" y="0"/>
                  </a:moveTo>
                  <a:lnTo>
                    <a:pt x="18065242" y="0"/>
                  </a:lnTo>
                  <a:lnTo>
                    <a:pt x="18065242" y="171450"/>
                  </a:lnTo>
                  <a:lnTo>
                    <a:pt x="18287988" y="171450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307671" y="1638363"/>
            <a:ext cx="209296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14">
                <a:latin typeface="Arial Black"/>
                <a:cs typeface="Arial Black"/>
              </a:rPr>
              <a:t>Project</a:t>
            </a:r>
            <a:r>
              <a:rPr dirty="0" sz="1700" spc="-110">
                <a:latin typeface="Arial Black"/>
                <a:cs typeface="Arial Black"/>
              </a:rPr>
              <a:t> </a:t>
            </a:r>
            <a:r>
              <a:rPr dirty="0" sz="1700" spc="-75">
                <a:latin typeface="Arial Black"/>
                <a:cs typeface="Arial Black"/>
              </a:rPr>
              <a:t>Component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345243" y="1287767"/>
            <a:ext cx="270700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45745">
              <a:lnSpc>
                <a:spcPct val="117600"/>
              </a:lnSpc>
              <a:spcBef>
                <a:spcPts val="100"/>
              </a:spcBef>
            </a:pPr>
            <a:r>
              <a:rPr dirty="0" sz="1700" spc="-125">
                <a:latin typeface="Arial Black"/>
                <a:cs typeface="Arial Black"/>
              </a:rPr>
              <a:t>Smart</a:t>
            </a:r>
            <a:r>
              <a:rPr dirty="0" sz="1700" spc="-140">
                <a:latin typeface="Arial Black"/>
                <a:cs typeface="Arial Black"/>
              </a:rPr>
              <a:t> </a:t>
            </a:r>
            <a:r>
              <a:rPr dirty="0" sz="1700" spc="-150">
                <a:latin typeface="Arial Black"/>
                <a:cs typeface="Arial Black"/>
              </a:rPr>
              <a:t>IoT</a:t>
            </a:r>
            <a:r>
              <a:rPr dirty="0" sz="1700" spc="-135">
                <a:latin typeface="Arial Black"/>
                <a:cs typeface="Arial Black"/>
              </a:rPr>
              <a:t> </a:t>
            </a:r>
            <a:r>
              <a:rPr dirty="0" sz="1700" spc="-10">
                <a:latin typeface="Arial Black"/>
                <a:cs typeface="Arial Black"/>
              </a:rPr>
              <a:t>Classroom </a:t>
            </a:r>
            <a:r>
              <a:rPr dirty="0" sz="1700" spc="-150">
                <a:latin typeface="Arial Black"/>
                <a:cs typeface="Arial Black"/>
              </a:rPr>
              <a:t>Systems</a:t>
            </a:r>
            <a:r>
              <a:rPr dirty="0" sz="1700" spc="-114">
                <a:latin typeface="Arial Black"/>
                <a:cs typeface="Arial Black"/>
              </a:rPr>
              <a:t> </a:t>
            </a:r>
            <a:r>
              <a:rPr dirty="0" sz="1700" spc="-145">
                <a:latin typeface="Arial Black"/>
                <a:cs typeface="Arial Black"/>
              </a:rPr>
              <a:t>(Yağanoğlu</a:t>
            </a:r>
            <a:r>
              <a:rPr dirty="0" sz="1700" spc="-114">
                <a:latin typeface="Arial Black"/>
                <a:cs typeface="Arial Black"/>
              </a:rPr>
              <a:t> </a:t>
            </a:r>
            <a:r>
              <a:rPr dirty="0" sz="1700" spc="-105">
                <a:latin typeface="Arial Black"/>
                <a:cs typeface="Arial Black"/>
              </a:rPr>
              <a:t>et</a:t>
            </a:r>
            <a:r>
              <a:rPr dirty="0" sz="1700" spc="-114">
                <a:latin typeface="Arial Black"/>
                <a:cs typeface="Arial Black"/>
              </a:rPr>
              <a:t> </a:t>
            </a:r>
            <a:r>
              <a:rPr dirty="0" sz="1700" spc="-55">
                <a:latin typeface="Arial Black"/>
                <a:cs typeface="Arial Black"/>
              </a:rPr>
              <a:t>al.</a:t>
            </a:r>
            <a:endParaRPr sz="1700">
              <a:latin typeface="Arial Black"/>
              <a:cs typeface="Arial Black"/>
            </a:endParaRPr>
          </a:p>
          <a:p>
            <a:pPr marL="257175">
              <a:lnSpc>
                <a:spcPct val="100000"/>
              </a:lnSpc>
              <a:spcBef>
                <a:spcPts val="360"/>
              </a:spcBef>
            </a:pPr>
            <a:r>
              <a:rPr dirty="0" sz="1700" spc="-125">
                <a:latin typeface="Arial Black"/>
                <a:cs typeface="Arial Black"/>
              </a:rPr>
              <a:t>2023,</a:t>
            </a:r>
            <a:r>
              <a:rPr dirty="0" sz="1700" spc="-150">
                <a:latin typeface="Arial Black"/>
                <a:cs typeface="Arial Black"/>
              </a:rPr>
              <a:t> </a:t>
            </a:r>
            <a:r>
              <a:rPr dirty="0" sz="1700" spc="-110">
                <a:latin typeface="Arial Black"/>
                <a:cs typeface="Arial Black"/>
              </a:rPr>
              <a:t>Dai</a:t>
            </a:r>
            <a:r>
              <a:rPr dirty="0" sz="1700" spc="-150">
                <a:latin typeface="Arial Black"/>
                <a:cs typeface="Arial Black"/>
              </a:rPr>
              <a:t> </a:t>
            </a:r>
            <a:r>
              <a:rPr dirty="0" sz="1700" spc="-105">
                <a:latin typeface="Arial Black"/>
                <a:cs typeface="Arial Black"/>
              </a:rPr>
              <a:t>et</a:t>
            </a:r>
            <a:r>
              <a:rPr dirty="0" sz="1700" spc="-145">
                <a:latin typeface="Arial Black"/>
                <a:cs typeface="Arial Black"/>
              </a:rPr>
              <a:t> </a:t>
            </a:r>
            <a:r>
              <a:rPr dirty="0" sz="1700" spc="-114">
                <a:latin typeface="Arial Black"/>
                <a:cs typeface="Arial Black"/>
              </a:rPr>
              <a:t>al.</a:t>
            </a:r>
            <a:r>
              <a:rPr dirty="0" sz="1700" spc="-150">
                <a:latin typeface="Arial Black"/>
                <a:cs typeface="Arial Black"/>
              </a:rPr>
              <a:t> </a:t>
            </a:r>
            <a:r>
              <a:rPr dirty="0" sz="1700" spc="-10">
                <a:latin typeface="Arial Black"/>
                <a:cs typeface="Arial Black"/>
              </a:rPr>
              <a:t>2023)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302599" y="1287767"/>
            <a:ext cx="273240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17600"/>
              </a:lnSpc>
              <a:spcBef>
                <a:spcPts val="100"/>
              </a:spcBef>
            </a:pPr>
            <a:r>
              <a:rPr dirty="0" sz="1700" spc="-100">
                <a:latin typeface="Arial Black"/>
                <a:cs typeface="Arial Black"/>
              </a:rPr>
              <a:t>Microsoft</a:t>
            </a:r>
            <a:r>
              <a:rPr dirty="0" sz="1700" spc="-85">
                <a:latin typeface="Arial Black"/>
                <a:cs typeface="Arial Black"/>
              </a:rPr>
              <a:t> </a:t>
            </a:r>
            <a:r>
              <a:rPr dirty="0" sz="1700" spc="-20">
                <a:latin typeface="Arial Black"/>
                <a:cs typeface="Arial Black"/>
              </a:rPr>
              <a:t>Teams </a:t>
            </a:r>
            <a:r>
              <a:rPr dirty="0" sz="1700" spc="-120">
                <a:latin typeface="Arial Black"/>
                <a:cs typeface="Arial Black"/>
              </a:rPr>
              <a:t>Education</a:t>
            </a:r>
            <a:r>
              <a:rPr dirty="0" sz="1700" spc="-110">
                <a:latin typeface="Arial Black"/>
                <a:cs typeface="Arial Black"/>
              </a:rPr>
              <a:t> </a:t>
            </a:r>
            <a:r>
              <a:rPr dirty="0" sz="1700" spc="-130">
                <a:latin typeface="Arial Black"/>
                <a:cs typeface="Arial Black"/>
              </a:rPr>
              <a:t>Insights</a:t>
            </a:r>
            <a:r>
              <a:rPr dirty="0" sz="1700" spc="-105">
                <a:latin typeface="Arial Black"/>
                <a:cs typeface="Arial Black"/>
              </a:rPr>
              <a:t> </a:t>
            </a:r>
            <a:r>
              <a:rPr dirty="0" sz="1700" spc="-25">
                <a:latin typeface="Arial Black"/>
                <a:cs typeface="Arial Black"/>
              </a:rPr>
              <a:t>(2020-</a:t>
            </a:r>
            <a:endParaRPr sz="17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dirty="0" sz="1700" spc="-10">
                <a:latin typeface="Arial Black"/>
                <a:cs typeface="Arial Black"/>
              </a:rPr>
              <a:t>2023)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472331" y="1440167"/>
            <a:ext cx="233235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6850">
              <a:lnSpc>
                <a:spcPct val="117600"/>
              </a:lnSpc>
              <a:spcBef>
                <a:spcPts val="100"/>
              </a:spcBef>
            </a:pPr>
            <a:r>
              <a:rPr dirty="0" sz="1700" spc="-130">
                <a:latin typeface="Arial Black"/>
                <a:cs typeface="Arial Black"/>
              </a:rPr>
              <a:t>Google</a:t>
            </a:r>
            <a:r>
              <a:rPr dirty="0" sz="1700" spc="-114">
                <a:latin typeface="Arial Black"/>
                <a:cs typeface="Arial Black"/>
              </a:rPr>
              <a:t> </a:t>
            </a:r>
            <a:r>
              <a:rPr dirty="0" sz="1700" spc="-10">
                <a:latin typeface="Arial Black"/>
                <a:cs typeface="Arial Black"/>
              </a:rPr>
              <a:t>Classroom </a:t>
            </a:r>
            <a:r>
              <a:rPr dirty="0" sz="1700" spc="-125">
                <a:latin typeface="Arial Black"/>
                <a:cs typeface="Arial Black"/>
              </a:rPr>
              <a:t>Analytics</a:t>
            </a:r>
            <a:r>
              <a:rPr dirty="0" sz="1700" spc="-80">
                <a:latin typeface="Arial Black"/>
                <a:cs typeface="Arial Black"/>
              </a:rPr>
              <a:t> </a:t>
            </a:r>
            <a:r>
              <a:rPr dirty="0" sz="1700" spc="-85">
                <a:latin typeface="Arial Black"/>
                <a:cs typeface="Arial Black"/>
              </a:rPr>
              <a:t>(2023-</a:t>
            </a:r>
            <a:r>
              <a:rPr dirty="0" sz="1700" spc="-90">
                <a:latin typeface="Arial Black"/>
                <a:cs typeface="Arial Black"/>
              </a:rPr>
              <a:t>2025)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435192" y="1287767"/>
            <a:ext cx="234696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-635">
              <a:lnSpc>
                <a:spcPct val="117600"/>
              </a:lnSpc>
              <a:spcBef>
                <a:spcPts val="100"/>
              </a:spcBef>
            </a:pPr>
            <a:r>
              <a:rPr dirty="0" sz="1700" spc="-105">
                <a:latin typeface="Arial Black"/>
                <a:cs typeface="Arial Black"/>
              </a:rPr>
              <a:t>Traditional</a:t>
            </a:r>
            <a:r>
              <a:rPr dirty="0" sz="1700" spc="-114">
                <a:latin typeface="Arial Black"/>
                <a:cs typeface="Arial Black"/>
              </a:rPr>
              <a:t> </a:t>
            </a:r>
            <a:r>
              <a:rPr dirty="0" sz="1700" spc="-10">
                <a:latin typeface="Arial Black"/>
                <a:cs typeface="Arial Black"/>
              </a:rPr>
              <a:t>Network </a:t>
            </a:r>
            <a:r>
              <a:rPr dirty="0" sz="1700" spc="-130">
                <a:latin typeface="Arial Black"/>
                <a:cs typeface="Arial Black"/>
              </a:rPr>
              <a:t>Management</a:t>
            </a:r>
            <a:r>
              <a:rPr dirty="0" sz="1700" spc="-120">
                <a:latin typeface="Arial Black"/>
                <a:cs typeface="Arial Black"/>
              </a:rPr>
              <a:t> </a:t>
            </a:r>
            <a:r>
              <a:rPr dirty="0" sz="1700" spc="-125">
                <a:latin typeface="Arial Black"/>
                <a:cs typeface="Arial Black"/>
              </a:rPr>
              <a:t>Systems </a:t>
            </a:r>
            <a:r>
              <a:rPr dirty="0" sz="1700" spc="-55">
                <a:latin typeface="Arial Black"/>
                <a:cs typeface="Arial Black"/>
              </a:rPr>
              <a:t>(2020-</a:t>
            </a:r>
            <a:r>
              <a:rPr dirty="0" sz="1700" spc="-20">
                <a:latin typeface="Arial Black"/>
                <a:cs typeface="Arial Black"/>
              </a:rPr>
              <a:t>2024)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5248481" y="1440167"/>
            <a:ext cx="266001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0110" marR="5080" indent="-868044">
              <a:lnSpc>
                <a:spcPct val="117600"/>
              </a:lnSpc>
              <a:spcBef>
                <a:spcPts val="100"/>
              </a:spcBef>
            </a:pPr>
            <a:r>
              <a:rPr dirty="0" sz="1700" spc="-85">
                <a:latin typeface="Arial Black"/>
                <a:cs typeface="Arial Black"/>
              </a:rPr>
              <a:t>Our</a:t>
            </a:r>
            <a:r>
              <a:rPr dirty="0" sz="1700" spc="-135">
                <a:latin typeface="Arial Black"/>
                <a:cs typeface="Arial Black"/>
              </a:rPr>
              <a:t> </a:t>
            </a:r>
            <a:r>
              <a:rPr dirty="0" sz="1700" spc="-125">
                <a:latin typeface="Arial Black"/>
                <a:cs typeface="Arial Black"/>
              </a:rPr>
              <a:t>Smart</a:t>
            </a:r>
            <a:r>
              <a:rPr dirty="0" sz="1700" spc="-130">
                <a:latin typeface="Arial Black"/>
                <a:cs typeface="Arial Black"/>
              </a:rPr>
              <a:t> Classroom </a:t>
            </a:r>
            <a:r>
              <a:rPr dirty="0" sz="1700" spc="-90">
                <a:latin typeface="Arial Black"/>
                <a:cs typeface="Arial Black"/>
              </a:rPr>
              <a:t>IoT </a:t>
            </a:r>
            <a:r>
              <a:rPr dirty="0" sz="1700" spc="-10">
                <a:latin typeface="Arial Black"/>
                <a:cs typeface="Arial Black"/>
              </a:rPr>
              <a:t>Network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07671" y="2998606"/>
            <a:ext cx="2482850" cy="911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</a:pPr>
            <a:r>
              <a:rPr dirty="0" sz="1700" spc="-105">
                <a:latin typeface="Arial Black"/>
                <a:cs typeface="Arial Black"/>
              </a:rPr>
              <a:t>Adaptive</a:t>
            </a:r>
            <a:r>
              <a:rPr dirty="0" sz="1700" spc="-114">
                <a:latin typeface="Arial Black"/>
                <a:cs typeface="Arial Black"/>
              </a:rPr>
              <a:t> </a:t>
            </a:r>
            <a:r>
              <a:rPr dirty="0" sz="1700" spc="-25">
                <a:latin typeface="Arial Black"/>
                <a:cs typeface="Arial Black"/>
              </a:rPr>
              <a:t>IoT </a:t>
            </a:r>
            <a:r>
              <a:rPr dirty="0" sz="1700" spc="-100">
                <a:latin typeface="Arial Black"/>
                <a:cs typeface="Arial Black"/>
              </a:rPr>
              <a:t>Environmental</a:t>
            </a:r>
            <a:r>
              <a:rPr dirty="0" sz="1700" spc="-105">
                <a:latin typeface="Arial Black"/>
                <a:cs typeface="Arial Black"/>
              </a:rPr>
              <a:t> </a:t>
            </a:r>
            <a:r>
              <a:rPr dirty="0" sz="1700" spc="-445">
                <a:latin typeface="Arial Black"/>
                <a:cs typeface="Arial Black"/>
              </a:rPr>
              <a:t>&amp;</a:t>
            </a:r>
            <a:r>
              <a:rPr dirty="0" sz="1700" spc="-120">
                <a:latin typeface="Arial Black"/>
                <a:cs typeface="Arial Black"/>
              </a:rPr>
              <a:t> Attendance </a:t>
            </a:r>
            <a:r>
              <a:rPr dirty="0" sz="1700" spc="-70">
                <a:latin typeface="Arial Black"/>
                <a:cs typeface="Arial Black"/>
              </a:rPr>
              <a:t>Monitoring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325449" y="2703331"/>
            <a:ext cx="2747010" cy="150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3999"/>
              </a:lnSpc>
              <a:spcBef>
                <a:spcPts val="100"/>
              </a:spcBef>
            </a:pPr>
            <a:r>
              <a:rPr dirty="0" sz="1700" spc="-110">
                <a:latin typeface="Arial Black"/>
                <a:cs typeface="Arial Black"/>
              </a:rPr>
              <a:t>Partial</a:t>
            </a:r>
            <a:r>
              <a:rPr dirty="0" sz="1700" spc="-95">
                <a:latin typeface="Arial Black"/>
                <a:cs typeface="Arial Black"/>
              </a:rPr>
              <a:t> </a:t>
            </a:r>
            <a:r>
              <a:rPr dirty="0" sz="1700" spc="-20">
                <a:latin typeface="Lucida Sans Unicode"/>
                <a:cs typeface="Lucida Sans Unicode"/>
              </a:rPr>
              <a:t>Basic </a:t>
            </a:r>
            <a:r>
              <a:rPr dirty="0" sz="1700">
                <a:latin typeface="Lucida Sans Unicode"/>
                <a:cs typeface="Lucida Sans Unicode"/>
              </a:rPr>
              <a:t>environmental</a:t>
            </a:r>
            <a:r>
              <a:rPr dirty="0" sz="1700" spc="-4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monitoring </a:t>
            </a:r>
            <a:r>
              <a:rPr dirty="0" sz="1700" spc="-20">
                <a:latin typeface="Lucida Sans Unicode"/>
                <a:cs typeface="Lucida Sans Unicode"/>
              </a:rPr>
              <a:t>(temp,</a:t>
            </a:r>
            <a:r>
              <a:rPr dirty="0" sz="1700" spc="-85">
                <a:latin typeface="Lucida Sans Unicode"/>
                <a:cs typeface="Lucida Sans Unicode"/>
              </a:rPr>
              <a:t> </a:t>
            </a:r>
            <a:r>
              <a:rPr dirty="0" sz="1700" spc="-50">
                <a:latin typeface="Lucida Sans Unicode"/>
                <a:cs typeface="Lucida Sans Unicode"/>
              </a:rPr>
              <a:t>CO₂)</a:t>
            </a:r>
            <a:r>
              <a:rPr dirty="0" sz="1700" spc="-8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but</a:t>
            </a:r>
            <a:r>
              <a:rPr dirty="0" sz="1700" spc="-80">
                <a:latin typeface="Lucida Sans Unicode"/>
                <a:cs typeface="Lucida Sans Unicode"/>
              </a:rPr>
              <a:t> </a:t>
            </a:r>
            <a:r>
              <a:rPr dirty="0" sz="1700" spc="-25">
                <a:latin typeface="Lucida Sans Unicode"/>
                <a:cs typeface="Lucida Sans Unicode"/>
              </a:rPr>
              <a:t>no </a:t>
            </a:r>
            <a:r>
              <a:rPr dirty="0" sz="1700">
                <a:latin typeface="Lucida Sans Unicode"/>
                <a:cs typeface="Lucida Sans Unicode"/>
              </a:rPr>
              <a:t>adaptive</a:t>
            </a:r>
            <a:r>
              <a:rPr dirty="0" sz="1700" spc="-65">
                <a:latin typeface="Lucida Sans Unicode"/>
                <a:cs typeface="Lucida Sans Unicode"/>
              </a:rPr>
              <a:t> </a:t>
            </a:r>
            <a:r>
              <a:rPr dirty="0" sz="1700" spc="-30">
                <a:latin typeface="Lucida Sans Unicode"/>
                <a:cs typeface="Lucida Sans Unicode"/>
              </a:rPr>
              <a:t>networking</a:t>
            </a:r>
            <a:r>
              <a:rPr dirty="0" sz="1700" spc="-6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or</a:t>
            </a:r>
            <a:r>
              <a:rPr dirty="0" sz="1700" spc="-65">
                <a:latin typeface="Lucida Sans Unicode"/>
                <a:cs typeface="Lucida Sans Unicode"/>
              </a:rPr>
              <a:t> </a:t>
            </a:r>
            <a:r>
              <a:rPr dirty="0" sz="1700" spc="-25">
                <a:latin typeface="Lucida Sans Unicode"/>
                <a:cs typeface="Lucida Sans Unicode"/>
              </a:rPr>
              <a:t>RL </a:t>
            </a:r>
            <a:r>
              <a:rPr dirty="0" sz="1700" spc="-10">
                <a:latin typeface="Lucida Sans Unicode"/>
                <a:cs typeface="Lucida Sans Unicode"/>
              </a:rPr>
              <a:t>optimization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641034" y="3141482"/>
            <a:ext cx="2112010" cy="615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12090">
              <a:lnSpc>
                <a:spcPct val="113999"/>
              </a:lnSpc>
              <a:spcBef>
                <a:spcPts val="100"/>
              </a:spcBef>
            </a:pPr>
            <a:r>
              <a:rPr dirty="0" sz="1700">
                <a:latin typeface="Lucida Sans Unicode"/>
                <a:cs typeface="Lucida Sans Unicode"/>
              </a:rPr>
              <a:t>No</a:t>
            </a:r>
            <a:r>
              <a:rPr dirty="0" sz="1700" spc="-9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environmental </a:t>
            </a:r>
            <a:r>
              <a:rPr dirty="0" sz="1700" spc="-35">
                <a:latin typeface="Lucida Sans Unicode"/>
                <a:cs typeface="Lucida Sans Unicode"/>
              </a:rPr>
              <a:t>sensing</a:t>
            </a:r>
            <a:r>
              <a:rPr dirty="0" sz="1700" spc="-90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capabilities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610890" y="3141482"/>
            <a:ext cx="2112010" cy="615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12090">
              <a:lnSpc>
                <a:spcPct val="113999"/>
              </a:lnSpc>
              <a:spcBef>
                <a:spcPts val="100"/>
              </a:spcBef>
            </a:pPr>
            <a:r>
              <a:rPr dirty="0" sz="1700">
                <a:latin typeface="Lucida Sans Unicode"/>
                <a:cs typeface="Lucida Sans Unicode"/>
              </a:rPr>
              <a:t>No</a:t>
            </a:r>
            <a:r>
              <a:rPr dirty="0" sz="1700" spc="-9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environmental </a:t>
            </a:r>
            <a:r>
              <a:rPr dirty="0" sz="1700" spc="-35">
                <a:latin typeface="Lucida Sans Unicode"/>
                <a:cs typeface="Lucida Sans Unicode"/>
              </a:rPr>
              <a:t>sensing</a:t>
            </a:r>
            <a:r>
              <a:rPr dirty="0" sz="1700" spc="-90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capabilities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018363" y="3141482"/>
            <a:ext cx="1449070" cy="615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" marR="5080" indent="-4445">
              <a:lnSpc>
                <a:spcPct val="113999"/>
              </a:lnSpc>
              <a:spcBef>
                <a:spcPts val="100"/>
              </a:spcBef>
            </a:pPr>
            <a:r>
              <a:rPr dirty="0" sz="1700">
                <a:latin typeface="Lucida Sans Unicode"/>
                <a:cs typeface="Lucida Sans Unicode"/>
              </a:rPr>
              <a:t>No</a:t>
            </a:r>
            <a:r>
              <a:rPr dirty="0" sz="1700" spc="-105">
                <a:latin typeface="Lucida Sans Unicode"/>
                <a:cs typeface="Lucida Sans Unicode"/>
              </a:rPr>
              <a:t> </a:t>
            </a:r>
            <a:r>
              <a:rPr dirty="0" sz="1700" spc="-30">
                <a:latin typeface="Lucida Sans Unicode"/>
                <a:cs typeface="Lucida Sans Unicode"/>
              </a:rPr>
              <a:t>IoT</a:t>
            </a:r>
            <a:r>
              <a:rPr dirty="0" sz="1700" spc="-100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sensor integration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5167221" y="2703331"/>
            <a:ext cx="2822575" cy="150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9385" marR="27305" indent="144145">
              <a:lnSpc>
                <a:spcPct val="113999"/>
              </a:lnSpc>
              <a:spcBef>
                <a:spcPts val="100"/>
              </a:spcBef>
            </a:pPr>
            <a:r>
              <a:rPr dirty="0" sz="1700" spc="-55">
                <a:latin typeface="Lucida Sans Unicode"/>
                <a:cs typeface="Lucida Sans Unicode"/>
              </a:rPr>
              <a:t>Multi-</a:t>
            </a:r>
            <a:r>
              <a:rPr dirty="0" sz="1700">
                <a:latin typeface="Lucida Sans Unicode"/>
                <a:cs typeface="Lucida Sans Unicode"/>
              </a:rPr>
              <a:t>protocol</a:t>
            </a:r>
            <a:r>
              <a:rPr dirty="0" sz="1700" spc="3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adaptive </a:t>
            </a:r>
            <a:r>
              <a:rPr dirty="0" sz="1700" spc="-20">
                <a:latin typeface="Lucida Sans Unicode"/>
                <a:cs typeface="Lucida Sans Unicode"/>
              </a:rPr>
              <a:t>mesh</a:t>
            </a:r>
            <a:r>
              <a:rPr dirty="0" sz="1700" spc="-85">
                <a:latin typeface="Lucida Sans Unicode"/>
                <a:cs typeface="Lucida Sans Unicode"/>
              </a:rPr>
              <a:t> </a:t>
            </a:r>
            <a:r>
              <a:rPr dirty="0" sz="1700" spc="-20">
                <a:latin typeface="Lucida Sans Unicode"/>
                <a:cs typeface="Lucida Sans Unicode"/>
              </a:rPr>
              <a:t>network</a:t>
            </a:r>
            <a:r>
              <a:rPr dirty="0" sz="1700" spc="-8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with</a:t>
            </a:r>
            <a:r>
              <a:rPr dirty="0" sz="1700" spc="-85">
                <a:latin typeface="Lucida Sans Unicode"/>
                <a:cs typeface="Lucida Sans Unicode"/>
              </a:rPr>
              <a:t> </a:t>
            </a:r>
            <a:r>
              <a:rPr dirty="0" sz="1700" spc="-25">
                <a:latin typeface="Lucida Sans Unicode"/>
                <a:cs typeface="Lucida Sans Unicode"/>
              </a:rPr>
              <a:t>RL </a:t>
            </a:r>
            <a:r>
              <a:rPr dirty="0" sz="1700" spc="-35">
                <a:latin typeface="Lucida Sans Unicode"/>
                <a:cs typeface="Lucida Sans Unicode"/>
              </a:rPr>
              <a:t>optimization,</a:t>
            </a:r>
            <a:r>
              <a:rPr dirty="0" sz="1700" spc="-10">
                <a:latin typeface="Lucida Sans Unicode"/>
                <a:cs typeface="Lucida Sans Unicode"/>
              </a:rPr>
              <a:t> integrated</a:t>
            </a:r>
            <a:endParaRPr sz="1700">
              <a:latin typeface="Lucida Sans Unicode"/>
              <a:cs typeface="Lucida Sans Unicode"/>
            </a:endParaRPr>
          </a:p>
          <a:p>
            <a:pPr marL="833755" marR="5080" indent="-821690">
              <a:lnSpc>
                <a:spcPct val="113999"/>
              </a:lnSpc>
            </a:pPr>
            <a:r>
              <a:rPr dirty="0" sz="1700" spc="-25">
                <a:latin typeface="Lucida Sans Unicode"/>
                <a:cs typeface="Lucida Sans Unicode"/>
              </a:rPr>
              <a:t>environmental-</a:t>
            </a:r>
            <a:r>
              <a:rPr dirty="0" sz="1700" spc="-10">
                <a:latin typeface="Lucida Sans Unicode"/>
                <a:cs typeface="Lucida Sans Unicode"/>
              </a:rPr>
              <a:t>attendance correlation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07671" y="4985192"/>
            <a:ext cx="2592705" cy="615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</a:pPr>
            <a:r>
              <a:rPr dirty="0" sz="1700" spc="-95">
                <a:latin typeface="Arial Black"/>
                <a:cs typeface="Arial Black"/>
              </a:rPr>
              <a:t>Privacy-</a:t>
            </a:r>
            <a:r>
              <a:rPr dirty="0" sz="1700" spc="-120">
                <a:latin typeface="Arial Black"/>
                <a:cs typeface="Arial Black"/>
              </a:rPr>
              <a:t>Preserving</a:t>
            </a:r>
            <a:r>
              <a:rPr dirty="0" sz="1700" spc="-40">
                <a:latin typeface="Arial Black"/>
                <a:cs typeface="Arial Black"/>
              </a:rPr>
              <a:t> </a:t>
            </a:r>
            <a:r>
              <a:rPr dirty="0" sz="1700" spc="-105">
                <a:latin typeface="Arial Black"/>
                <a:cs typeface="Arial Black"/>
              </a:rPr>
              <a:t>Edge </a:t>
            </a:r>
            <a:r>
              <a:rPr dirty="0" sz="1700" spc="-140">
                <a:latin typeface="Arial Black"/>
                <a:cs typeface="Arial Black"/>
              </a:rPr>
              <a:t>AI</a:t>
            </a:r>
            <a:r>
              <a:rPr dirty="0" sz="1700" spc="-120">
                <a:latin typeface="Arial Black"/>
                <a:cs typeface="Arial Black"/>
              </a:rPr>
              <a:t> </a:t>
            </a:r>
            <a:r>
              <a:rPr dirty="0" sz="1700" spc="-114">
                <a:latin typeface="Arial Black"/>
                <a:cs typeface="Arial Black"/>
              </a:rPr>
              <a:t>Behavioral</a:t>
            </a:r>
            <a:r>
              <a:rPr dirty="0" sz="1700" spc="-120">
                <a:latin typeface="Arial Black"/>
                <a:cs typeface="Arial Black"/>
              </a:rPr>
              <a:t> </a:t>
            </a:r>
            <a:r>
              <a:rPr dirty="0" sz="1700" spc="-10">
                <a:latin typeface="Arial Black"/>
                <a:cs typeface="Arial Black"/>
              </a:rPr>
              <a:t>Analysis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650403" y="4985192"/>
            <a:ext cx="2366010" cy="615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1484" marR="5080" indent="-439420">
              <a:lnSpc>
                <a:spcPct val="113999"/>
              </a:lnSpc>
              <a:spcBef>
                <a:spcPts val="100"/>
              </a:spcBef>
            </a:pPr>
            <a:r>
              <a:rPr dirty="0" sz="1700">
                <a:latin typeface="Lucida Sans Unicode"/>
                <a:cs typeface="Lucida Sans Unicode"/>
              </a:rPr>
              <a:t>No</a:t>
            </a:r>
            <a:r>
              <a:rPr dirty="0" sz="1700" spc="-7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behavioral</a:t>
            </a:r>
            <a:r>
              <a:rPr dirty="0" sz="1700" spc="-70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analysis capabilities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341740" y="4689917"/>
            <a:ext cx="2654300" cy="1206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0020" marR="152400" indent="636270">
              <a:lnSpc>
                <a:spcPct val="113999"/>
              </a:lnSpc>
              <a:spcBef>
                <a:spcPts val="100"/>
              </a:spcBef>
            </a:pPr>
            <a:r>
              <a:rPr dirty="0" sz="1700" spc="-65">
                <a:latin typeface="Lucida Sans Unicode"/>
                <a:cs typeface="Lucida Sans Unicode"/>
              </a:rPr>
              <a:t>Cloud-</a:t>
            </a:r>
            <a:r>
              <a:rPr dirty="0" sz="1700" spc="-10">
                <a:latin typeface="Lucida Sans Unicode"/>
                <a:cs typeface="Lucida Sans Unicode"/>
              </a:rPr>
              <a:t>based </a:t>
            </a:r>
            <a:r>
              <a:rPr dirty="0" sz="1700" spc="-30">
                <a:latin typeface="Lucida Sans Unicode"/>
                <a:cs typeface="Lucida Sans Unicode"/>
              </a:rPr>
              <a:t>processing,</a:t>
            </a:r>
            <a:r>
              <a:rPr dirty="0" sz="1700" spc="-8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no</a:t>
            </a:r>
            <a:r>
              <a:rPr dirty="0" sz="1700" spc="-80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privacy</a:t>
            </a:r>
            <a:endParaRPr sz="1700">
              <a:latin typeface="Lucida Sans Unicode"/>
              <a:cs typeface="Lucida Sans Unicode"/>
            </a:endParaRPr>
          </a:p>
          <a:p>
            <a:pPr marL="12700" marR="5080" indent="407670">
              <a:lnSpc>
                <a:spcPct val="113999"/>
              </a:lnSpc>
            </a:pPr>
            <a:r>
              <a:rPr dirty="0" sz="1700" spc="-25">
                <a:latin typeface="Lucida Sans Unicode"/>
                <a:cs typeface="Lucida Sans Unicode"/>
              </a:rPr>
              <a:t>guarantees,</a:t>
            </a:r>
            <a:r>
              <a:rPr dirty="0" sz="1700" spc="-30">
                <a:latin typeface="Lucida Sans Unicode"/>
                <a:cs typeface="Lucida Sans Unicode"/>
              </a:rPr>
              <a:t> </a:t>
            </a:r>
            <a:r>
              <a:rPr dirty="0" sz="1700" spc="-20">
                <a:latin typeface="Lucida Sans Unicode"/>
                <a:cs typeface="Lucida Sans Unicode"/>
              </a:rPr>
              <a:t>basic </a:t>
            </a:r>
            <a:r>
              <a:rPr dirty="0" sz="1700" spc="-25">
                <a:latin typeface="Lucida Sans Unicode"/>
                <a:cs typeface="Lucida Sans Unicode"/>
              </a:rPr>
              <a:t>engagement</a:t>
            </a:r>
            <a:r>
              <a:rPr dirty="0" sz="1700" spc="-9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metrics</a:t>
            </a:r>
            <a:r>
              <a:rPr dirty="0" sz="1700" spc="-90">
                <a:latin typeface="Lucida Sans Unicode"/>
                <a:cs typeface="Lucida Sans Unicode"/>
              </a:rPr>
              <a:t> </a:t>
            </a:r>
            <a:r>
              <a:rPr dirty="0" sz="1700" spc="-20">
                <a:latin typeface="Lucida Sans Unicode"/>
                <a:cs typeface="Lucida Sans Unicode"/>
              </a:rPr>
              <a:t>only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9410269" y="4689917"/>
            <a:ext cx="2456815" cy="1206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85165">
              <a:lnSpc>
                <a:spcPct val="113999"/>
              </a:lnSpc>
              <a:spcBef>
                <a:spcPts val="100"/>
              </a:spcBef>
            </a:pPr>
            <a:r>
              <a:rPr dirty="0" sz="1700" spc="-65">
                <a:latin typeface="Lucida Sans Unicode"/>
                <a:cs typeface="Lucida Sans Unicode"/>
              </a:rPr>
              <a:t>Cloud-</a:t>
            </a:r>
            <a:r>
              <a:rPr dirty="0" sz="1700" spc="-20">
                <a:latin typeface="Lucida Sans Unicode"/>
                <a:cs typeface="Lucida Sans Unicode"/>
              </a:rPr>
              <a:t>based </a:t>
            </a:r>
            <a:r>
              <a:rPr dirty="0" sz="1700" spc="-30">
                <a:latin typeface="Lucida Sans Unicode"/>
                <a:cs typeface="Lucida Sans Unicode"/>
              </a:rPr>
              <a:t>processing,</a:t>
            </a:r>
            <a:r>
              <a:rPr dirty="0" sz="1700" spc="-3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assignment</a:t>
            </a:r>
            <a:endParaRPr sz="1700">
              <a:latin typeface="Lucida Sans Unicode"/>
              <a:cs typeface="Lucida Sans Unicode"/>
            </a:endParaRPr>
          </a:p>
          <a:p>
            <a:pPr marL="233045" marR="225425" indent="134620">
              <a:lnSpc>
                <a:spcPct val="113999"/>
              </a:lnSpc>
            </a:pPr>
            <a:r>
              <a:rPr dirty="0" sz="1700" spc="-30">
                <a:latin typeface="Lucida Sans Unicode"/>
                <a:cs typeface="Lucida Sans Unicode"/>
              </a:rPr>
              <a:t>tracking</a:t>
            </a:r>
            <a:r>
              <a:rPr dirty="0" sz="1700" spc="-100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only,</a:t>
            </a:r>
            <a:r>
              <a:rPr dirty="0" sz="1700" spc="-95">
                <a:latin typeface="Lucida Sans Unicode"/>
                <a:cs typeface="Lucida Sans Unicode"/>
              </a:rPr>
              <a:t> </a:t>
            </a:r>
            <a:r>
              <a:rPr dirty="0" sz="1700" spc="-25">
                <a:latin typeface="Lucida Sans Unicode"/>
                <a:cs typeface="Lucida Sans Unicode"/>
              </a:rPr>
              <a:t>no </a:t>
            </a:r>
            <a:r>
              <a:rPr dirty="0" sz="1700">
                <a:latin typeface="Lucida Sans Unicode"/>
                <a:cs typeface="Lucida Sans Unicode"/>
              </a:rPr>
              <a:t>behavioral</a:t>
            </a:r>
            <a:r>
              <a:rPr dirty="0" sz="1700" spc="-5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analysis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2718560" y="4985192"/>
            <a:ext cx="2033905" cy="615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4604">
              <a:lnSpc>
                <a:spcPct val="113999"/>
              </a:lnSpc>
              <a:spcBef>
                <a:spcPts val="100"/>
              </a:spcBef>
            </a:pPr>
            <a:r>
              <a:rPr dirty="0" sz="1700">
                <a:latin typeface="Lucida Sans Unicode"/>
                <a:cs typeface="Lucida Sans Unicode"/>
              </a:rPr>
              <a:t>No</a:t>
            </a:r>
            <a:r>
              <a:rPr dirty="0" sz="1700" spc="-110">
                <a:latin typeface="Lucida Sans Unicode"/>
                <a:cs typeface="Lucida Sans Unicode"/>
              </a:rPr>
              <a:t> </a:t>
            </a:r>
            <a:r>
              <a:rPr dirty="0" sz="1700" spc="-20">
                <a:latin typeface="Lucida Sans Unicode"/>
                <a:cs typeface="Lucida Sans Unicode"/>
              </a:rPr>
              <a:t>AI</a:t>
            </a:r>
            <a:r>
              <a:rPr dirty="0" sz="1700" spc="-10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or</a:t>
            </a:r>
            <a:r>
              <a:rPr dirty="0" sz="1700" spc="-110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behavioral </a:t>
            </a:r>
            <a:r>
              <a:rPr dirty="0" sz="1700">
                <a:latin typeface="Lucida Sans Unicode"/>
                <a:cs typeface="Lucida Sans Unicode"/>
              </a:rPr>
              <a:t>analysis</a:t>
            </a:r>
            <a:r>
              <a:rPr dirty="0" sz="1700" spc="-130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features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5234045" y="4689917"/>
            <a:ext cx="2688590" cy="1206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20675">
              <a:lnSpc>
                <a:spcPct val="113999"/>
              </a:lnSpc>
              <a:spcBef>
                <a:spcPts val="100"/>
              </a:spcBef>
            </a:pPr>
            <a:r>
              <a:rPr dirty="0" sz="1700">
                <a:latin typeface="Lucida Sans Unicode"/>
                <a:cs typeface="Lucida Sans Unicode"/>
              </a:rPr>
              <a:t>Complete</a:t>
            </a:r>
            <a:r>
              <a:rPr dirty="0" sz="1700" spc="-40">
                <a:latin typeface="Lucida Sans Unicode"/>
                <a:cs typeface="Lucida Sans Unicode"/>
              </a:rPr>
              <a:t> </a:t>
            </a:r>
            <a:r>
              <a:rPr dirty="0" sz="1700" spc="-95">
                <a:latin typeface="Lucida Sans Unicode"/>
                <a:cs typeface="Lucida Sans Unicode"/>
              </a:rPr>
              <a:t>edge-</a:t>
            </a:r>
            <a:r>
              <a:rPr dirty="0" sz="1700" spc="-20">
                <a:latin typeface="Lucida Sans Unicode"/>
                <a:cs typeface="Lucida Sans Unicode"/>
              </a:rPr>
              <a:t>based </a:t>
            </a:r>
            <a:r>
              <a:rPr dirty="0" sz="1700" spc="-70">
                <a:latin typeface="Lucida Sans Unicode"/>
                <a:cs typeface="Lucida Sans Unicode"/>
              </a:rPr>
              <a:t>multi-</a:t>
            </a:r>
            <a:r>
              <a:rPr dirty="0" sz="1700" spc="-10">
                <a:latin typeface="Lucida Sans Unicode"/>
                <a:cs typeface="Lucida Sans Unicode"/>
              </a:rPr>
              <a:t>modal</a:t>
            </a:r>
            <a:r>
              <a:rPr dirty="0" sz="1700" spc="-10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analysis</a:t>
            </a:r>
            <a:r>
              <a:rPr dirty="0" sz="1700" spc="-95">
                <a:latin typeface="Lucida Sans Unicode"/>
                <a:cs typeface="Lucida Sans Unicode"/>
              </a:rPr>
              <a:t> </a:t>
            </a:r>
            <a:r>
              <a:rPr dirty="0" sz="1700" spc="-20">
                <a:latin typeface="Lucida Sans Unicode"/>
                <a:cs typeface="Lucida Sans Unicode"/>
              </a:rPr>
              <a:t>with</a:t>
            </a:r>
            <a:endParaRPr sz="1700">
              <a:latin typeface="Lucida Sans Unicode"/>
              <a:cs typeface="Lucida Sans Unicode"/>
            </a:endParaRPr>
          </a:p>
          <a:p>
            <a:pPr marL="737870" marR="207645" indent="-522605">
              <a:lnSpc>
                <a:spcPct val="113999"/>
              </a:lnSpc>
            </a:pPr>
            <a:r>
              <a:rPr dirty="0" sz="1700">
                <a:latin typeface="Lucida Sans Unicode"/>
                <a:cs typeface="Lucida Sans Unicode"/>
              </a:rPr>
              <a:t>mathematical</a:t>
            </a:r>
            <a:r>
              <a:rPr dirty="0" sz="1700" spc="-4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privacy guarantees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07671" y="6619768"/>
            <a:ext cx="1985010" cy="911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</a:pPr>
            <a:r>
              <a:rPr dirty="0" sz="1700" spc="-70">
                <a:latin typeface="Arial Black"/>
                <a:cs typeface="Arial Black"/>
              </a:rPr>
              <a:t>AI-</a:t>
            </a:r>
            <a:r>
              <a:rPr dirty="0" sz="1700" spc="-85">
                <a:latin typeface="Arial Black"/>
                <a:cs typeface="Arial Black"/>
              </a:rPr>
              <a:t>Driven</a:t>
            </a:r>
            <a:r>
              <a:rPr dirty="0" sz="1700" spc="-90">
                <a:latin typeface="Arial Black"/>
                <a:cs typeface="Arial Black"/>
              </a:rPr>
              <a:t> </a:t>
            </a:r>
            <a:r>
              <a:rPr dirty="0" sz="1700" spc="-120">
                <a:latin typeface="Arial Black"/>
                <a:cs typeface="Arial Black"/>
              </a:rPr>
              <a:t>Network </a:t>
            </a:r>
            <a:r>
              <a:rPr dirty="0" sz="1700" spc="-100">
                <a:latin typeface="Arial Black"/>
                <a:cs typeface="Arial Black"/>
              </a:rPr>
              <a:t>Optimization</a:t>
            </a:r>
            <a:r>
              <a:rPr dirty="0" sz="1700" spc="-75">
                <a:latin typeface="Arial Black"/>
                <a:cs typeface="Arial Black"/>
              </a:rPr>
              <a:t> </a:t>
            </a:r>
            <a:r>
              <a:rPr dirty="0" sz="1700" spc="-25">
                <a:latin typeface="Arial Black"/>
                <a:cs typeface="Arial Black"/>
              </a:rPr>
              <a:t>for </a:t>
            </a:r>
            <a:r>
              <a:rPr dirty="0" sz="1700" spc="-10">
                <a:latin typeface="Arial Black"/>
                <a:cs typeface="Arial Black"/>
              </a:rPr>
              <a:t>Education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293005" y="6619768"/>
            <a:ext cx="2811780" cy="911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800735">
              <a:lnSpc>
                <a:spcPct val="113999"/>
              </a:lnSpc>
              <a:spcBef>
                <a:spcPts val="100"/>
              </a:spcBef>
            </a:pPr>
            <a:r>
              <a:rPr dirty="0" sz="1700">
                <a:latin typeface="Lucida Sans Unicode"/>
                <a:cs typeface="Lucida Sans Unicode"/>
              </a:rPr>
              <a:t>Basic</a:t>
            </a:r>
            <a:r>
              <a:rPr dirty="0" sz="1700" spc="5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network </a:t>
            </a:r>
            <a:r>
              <a:rPr dirty="0" sz="1700">
                <a:latin typeface="Lucida Sans Unicode"/>
                <a:cs typeface="Lucida Sans Unicode"/>
              </a:rPr>
              <a:t>connectivity,</a:t>
            </a:r>
            <a:r>
              <a:rPr dirty="0" sz="1700" spc="-3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no</a:t>
            </a:r>
            <a:r>
              <a:rPr dirty="0" sz="1700" spc="-30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intelligent</a:t>
            </a:r>
            <a:endParaRPr sz="1700">
              <a:latin typeface="Lucida Sans Unicode"/>
              <a:cs typeface="Lucida Sans Unicode"/>
            </a:endParaRPr>
          </a:p>
          <a:p>
            <a:pPr marL="481965">
              <a:lnSpc>
                <a:spcPct val="100000"/>
              </a:lnSpc>
              <a:spcBef>
                <a:spcPts val="284"/>
              </a:spcBef>
            </a:pPr>
            <a:r>
              <a:rPr dirty="0" sz="1700">
                <a:latin typeface="Lucida Sans Unicode"/>
                <a:cs typeface="Lucida Sans Unicode"/>
              </a:rPr>
              <a:t>QoS</a:t>
            </a:r>
            <a:r>
              <a:rPr dirty="0" sz="1700" spc="-20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management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321202" y="6619768"/>
            <a:ext cx="2694940" cy="911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3999"/>
              </a:lnSpc>
              <a:spcBef>
                <a:spcPts val="100"/>
              </a:spcBef>
            </a:pPr>
            <a:r>
              <a:rPr dirty="0" sz="1700" spc="-170">
                <a:latin typeface="Arial Black"/>
                <a:cs typeface="Arial Black"/>
              </a:rPr>
              <a:t>Basic</a:t>
            </a:r>
            <a:r>
              <a:rPr dirty="0" sz="1700" spc="-45">
                <a:latin typeface="Arial Black"/>
                <a:cs typeface="Arial Black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Standard</a:t>
            </a:r>
            <a:r>
              <a:rPr dirty="0" sz="1700" spc="-1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network </a:t>
            </a:r>
            <a:r>
              <a:rPr dirty="0" sz="1700">
                <a:latin typeface="Lucida Sans Unicode"/>
                <a:cs typeface="Lucida Sans Unicode"/>
              </a:rPr>
              <a:t>protocols,</a:t>
            </a:r>
            <a:r>
              <a:rPr dirty="0" sz="1700" spc="-13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no</a:t>
            </a:r>
            <a:r>
              <a:rPr dirty="0" sz="1700" spc="-130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educational </a:t>
            </a:r>
            <a:r>
              <a:rPr dirty="0" sz="1700">
                <a:latin typeface="Lucida Sans Unicode"/>
                <a:cs typeface="Lucida Sans Unicode"/>
              </a:rPr>
              <a:t>app</a:t>
            </a:r>
            <a:r>
              <a:rPr dirty="0" sz="1700" spc="-10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prioritization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9380206" y="6619768"/>
            <a:ext cx="2517140" cy="911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13999"/>
              </a:lnSpc>
              <a:spcBef>
                <a:spcPts val="100"/>
              </a:spcBef>
            </a:pPr>
            <a:r>
              <a:rPr dirty="0" sz="1700" spc="-170">
                <a:latin typeface="Arial Black"/>
                <a:cs typeface="Arial Black"/>
              </a:rPr>
              <a:t>Basic</a:t>
            </a:r>
            <a:r>
              <a:rPr dirty="0" sz="1700" spc="-45">
                <a:latin typeface="Arial Black"/>
                <a:cs typeface="Arial Black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Standard</a:t>
            </a:r>
            <a:r>
              <a:rPr dirty="0" sz="1700" spc="-1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network </a:t>
            </a:r>
            <a:r>
              <a:rPr dirty="0" sz="1700">
                <a:latin typeface="Lucida Sans Unicode"/>
                <a:cs typeface="Lucida Sans Unicode"/>
              </a:rPr>
              <a:t>protocols,</a:t>
            </a:r>
            <a:r>
              <a:rPr dirty="0" sz="1700" spc="-13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no</a:t>
            </a:r>
            <a:r>
              <a:rPr dirty="0" sz="1700" spc="-130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intelligent optimization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2206592" y="6619768"/>
            <a:ext cx="2804160" cy="911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3999"/>
              </a:lnSpc>
              <a:spcBef>
                <a:spcPts val="100"/>
              </a:spcBef>
            </a:pPr>
            <a:r>
              <a:rPr dirty="0" sz="1700" spc="-110">
                <a:latin typeface="Arial Black"/>
                <a:cs typeface="Arial Black"/>
              </a:rPr>
              <a:t>Partial</a:t>
            </a:r>
            <a:r>
              <a:rPr dirty="0" sz="1700" spc="-95">
                <a:latin typeface="Arial Black"/>
                <a:cs typeface="Arial Black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Traditional</a:t>
            </a:r>
            <a:r>
              <a:rPr dirty="0" sz="1700" spc="-6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QoS</a:t>
            </a:r>
            <a:r>
              <a:rPr dirty="0" sz="1700" spc="-65">
                <a:latin typeface="Lucida Sans Unicode"/>
                <a:cs typeface="Lucida Sans Unicode"/>
              </a:rPr>
              <a:t> </a:t>
            </a:r>
            <a:r>
              <a:rPr dirty="0" sz="1700" spc="-25">
                <a:latin typeface="Lucida Sans Unicode"/>
                <a:cs typeface="Lucida Sans Unicode"/>
              </a:rPr>
              <a:t>but </a:t>
            </a:r>
            <a:r>
              <a:rPr dirty="0" sz="1700">
                <a:latin typeface="Lucida Sans Unicode"/>
                <a:cs typeface="Lucida Sans Unicode"/>
              </a:rPr>
              <a:t>no</a:t>
            </a:r>
            <a:r>
              <a:rPr dirty="0" sz="1700" spc="-85">
                <a:latin typeface="Lucida Sans Unicode"/>
                <a:cs typeface="Lucida Sans Unicode"/>
              </a:rPr>
              <a:t> </a:t>
            </a:r>
            <a:r>
              <a:rPr dirty="0" sz="1700" spc="-135">
                <a:latin typeface="Lucida Sans Unicode"/>
                <a:cs typeface="Lucida Sans Unicode"/>
              </a:rPr>
              <a:t>AI-</a:t>
            </a:r>
            <a:r>
              <a:rPr dirty="0" sz="1700">
                <a:latin typeface="Lucida Sans Unicode"/>
                <a:cs typeface="Lucida Sans Unicode"/>
              </a:rPr>
              <a:t>driven</a:t>
            </a:r>
            <a:r>
              <a:rPr dirty="0" sz="1700" spc="-80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educational context</a:t>
            </a:r>
            <a:r>
              <a:rPr dirty="0" sz="1700" spc="-80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awareness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5206363" y="6324493"/>
            <a:ext cx="2744470" cy="150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06095">
              <a:lnSpc>
                <a:spcPct val="113999"/>
              </a:lnSpc>
              <a:spcBef>
                <a:spcPts val="100"/>
              </a:spcBef>
            </a:pPr>
            <a:r>
              <a:rPr dirty="0" sz="1700" spc="-135">
                <a:latin typeface="Lucida Sans Unicode"/>
                <a:cs typeface="Lucida Sans Unicode"/>
              </a:rPr>
              <a:t>AI-</a:t>
            </a:r>
            <a:r>
              <a:rPr dirty="0" sz="1700">
                <a:latin typeface="Lucida Sans Unicode"/>
                <a:cs typeface="Lucida Sans Unicode"/>
              </a:rPr>
              <a:t>driven</a:t>
            </a:r>
            <a:r>
              <a:rPr dirty="0" sz="1700" spc="-75">
                <a:latin typeface="Lucida Sans Unicode"/>
                <a:cs typeface="Lucida Sans Unicode"/>
              </a:rPr>
              <a:t> </a:t>
            </a:r>
            <a:r>
              <a:rPr dirty="0" sz="1700" spc="50">
                <a:latin typeface="Lucida Sans Unicode"/>
                <a:cs typeface="Lucida Sans Unicode"/>
              </a:rPr>
              <a:t>SDN</a:t>
            </a:r>
            <a:r>
              <a:rPr dirty="0" sz="1700" spc="-75">
                <a:latin typeface="Lucida Sans Unicode"/>
                <a:cs typeface="Lucida Sans Unicode"/>
              </a:rPr>
              <a:t> </a:t>
            </a:r>
            <a:r>
              <a:rPr dirty="0" sz="1700" spc="-20">
                <a:latin typeface="Lucida Sans Unicode"/>
                <a:cs typeface="Lucida Sans Unicode"/>
              </a:rPr>
              <a:t>with </a:t>
            </a:r>
            <a:r>
              <a:rPr dirty="0" sz="1700">
                <a:latin typeface="Lucida Sans Unicode"/>
                <a:cs typeface="Lucida Sans Unicode"/>
              </a:rPr>
              <a:t>dynamic</a:t>
            </a:r>
            <a:r>
              <a:rPr dirty="0" sz="1700" spc="-6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educational</a:t>
            </a:r>
            <a:r>
              <a:rPr dirty="0" sz="1700" spc="-55">
                <a:latin typeface="Lucida Sans Unicode"/>
                <a:cs typeface="Lucida Sans Unicode"/>
              </a:rPr>
              <a:t> </a:t>
            </a:r>
            <a:r>
              <a:rPr dirty="0" sz="1700" spc="-25">
                <a:latin typeface="Lucida Sans Unicode"/>
                <a:cs typeface="Lucida Sans Unicode"/>
              </a:rPr>
              <a:t>app </a:t>
            </a:r>
            <a:r>
              <a:rPr dirty="0" sz="1700" spc="-30">
                <a:latin typeface="Lucida Sans Unicode"/>
                <a:cs typeface="Lucida Sans Unicode"/>
              </a:rPr>
              <a:t>prioritization,</a:t>
            </a:r>
            <a:r>
              <a:rPr dirty="0" sz="1700" spc="-10">
                <a:latin typeface="Lucida Sans Unicode"/>
                <a:cs typeface="Lucida Sans Unicode"/>
              </a:rPr>
              <a:t> contextual </a:t>
            </a:r>
            <a:r>
              <a:rPr dirty="0" sz="1700" spc="-20">
                <a:latin typeface="Lucida Sans Unicode"/>
                <a:cs typeface="Lucida Sans Unicode"/>
              </a:rPr>
              <a:t>network</a:t>
            </a:r>
            <a:r>
              <a:rPr dirty="0" sz="1700" spc="-85">
                <a:latin typeface="Lucida Sans Unicode"/>
                <a:cs typeface="Lucida Sans Unicode"/>
              </a:rPr>
              <a:t> </a:t>
            </a:r>
            <a:r>
              <a:rPr dirty="0" sz="1700" spc="-40">
                <a:latin typeface="Lucida Sans Unicode"/>
                <a:cs typeface="Lucida Sans Unicode"/>
              </a:rPr>
              <a:t>slicing,</a:t>
            </a:r>
            <a:r>
              <a:rPr dirty="0" sz="1700" spc="-8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and</a:t>
            </a:r>
            <a:r>
              <a:rPr dirty="0" sz="1700" spc="-80">
                <a:latin typeface="Lucida Sans Unicode"/>
                <a:cs typeface="Lucida Sans Unicode"/>
              </a:rPr>
              <a:t> </a:t>
            </a:r>
            <a:r>
              <a:rPr dirty="0" sz="1700" spc="-20">
                <a:latin typeface="Lucida Sans Unicode"/>
                <a:cs typeface="Lucida Sans Unicode"/>
              </a:rPr>
              <a:t>smart</a:t>
            </a:r>
            <a:endParaRPr sz="1700">
              <a:latin typeface="Lucida Sans Unicode"/>
              <a:cs typeface="Lucida Sans Unicode"/>
            </a:endParaRPr>
          </a:p>
          <a:p>
            <a:pPr marL="969644">
              <a:lnSpc>
                <a:spcPct val="100000"/>
              </a:lnSpc>
              <a:spcBef>
                <a:spcPts val="284"/>
              </a:spcBef>
            </a:pPr>
            <a:r>
              <a:rPr dirty="0" sz="1700" spc="-10">
                <a:latin typeface="Lucida Sans Unicode"/>
                <a:cs typeface="Lucida Sans Unicode"/>
              </a:rPr>
              <a:t>caching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07671" y="8475959"/>
            <a:ext cx="267652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100"/>
              </a:spcBef>
            </a:pPr>
            <a:r>
              <a:rPr dirty="0" sz="1700" spc="-140">
                <a:latin typeface="Arial Black"/>
                <a:cs typeface="Arial Black"/>
              </a:rPr>
              <a:t>Blockchain</a:t>
            </a:r>
            <a:r>
              <a:rPr dirty="0" sz="1700" spc="-125">
                <a:latin typeface="Arial Black"/>
                <a:cs typeface="Arial Black"/>
              </a:rPr>
              <a:t> </a:t>
            </a:r>
            <a:r>
              <a:rPr dirty="0" sz="1700" spc="-140">
                <a:latin typeface="Arial Black"/>
                <a:cs typeface="Arial Black"/>
              </a:rPr>
              <a:t>Zero</a:t>
            </a:r>
            <a:r>
              <a:rPr dirty="0" sz="1700" spc="-120">
                <a:latin typeface="Arial Black"/>
                <a:cs typeface="Arial Black"/>
              </a:rPr>
              <a:t> </a:t>
            </a:r>
            <a:r>
              <a:rPr dirty="0" sz="1700" spc="-20">
                <a:latin typeface="Arial Black"/>
                <a:cs typeface="Arial Black"/>
              </a:rPr>
              <a:t>Trust </a:t>
            </a:r>
            <a:r>
              <a:rPr dirty="0" sz="1700" spc="-114">
                <a:latin typeface="Arial Black"/>
                <a:cs typeface="Arial Black"/>
              </a:rPr>
              <a:t>Security</a:t>
            </a:r>
            <a:r>
              <a:rPr dirty="0" sz="1700" spc="-140">
                <a:latin typeface="Arial Black"/>
                <a:cs typeface="Arial Black"/>
              </a:rPr>
              <a:t> </a:t>
            </a:r>
            <a:r>
              <a:rPr dirty="0" sz="1700" spc="-125">
                <a:latin typeface="Arial Black"/>
                <a:cs typeface="Arial Black"/>
              </a:rPr>
              <a:t>with</a:t>
            </a:r>
            <a:r>
              <a:rPr dirty="0" sz="1700" spc="-140">
                <a:latin typeface="Arial Black"/>
                <a:cs typeface="Arial Black"/>
              </a:rPr>
              <a:t> AI </a:t>
            </a:r>
            <a:r>
              <a:rPr dirty="0" sz="1700" spc="-85">
                <a:latin typeface="Arial Black"/>
                <a:cs typeface="Arial Black"/>
              </a:rPr>
              <a:t>Anomaly </a:t>
            </a:r>
            <a:r>
              <a:rPr dirty="0" sz="1700" spc="-10">
                <a:latin typeface="Arial Black"/>
                <a:cs typeface="Arial Black"/>
              </a:rPr>
              <a:t>Detection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3402840" y="8482944"/>
            <a:ext cx="2592070" cy="911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05765">
              <a:lnSpc>
                <a:spcPct val="113999"/>
              </a:lnSpc>
              <a:spcBef>
                <a:spcPts val="100"/>
              </a:spcBef>
            </a:pPr>
            <a:r>
              <a:rPr dirty="0" sz="1700" spc="-10">
                <a:latin typeface="Lucida Sans Unicode"/>
                <a:cs typeface="Lucida Sans Unicode"/>
              </a:rPr>
              <a:t>Traditional</a:t>
            </a:r>
            <a:r>
              <a:rPr dirty="0" sz="1700" spc="-120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security </a:t>
            </a:r>
            <a:r>
              <a:rPr dirty="0" sz="1700">
                <a:latin typeface="Lucida Sans Unicode"/>
                <a:cs typeface="Lucida Sans Unicode"/>
              </a:rPr>
              <a:t>protocols,</a:t>
            </a:r>
            <a:r>
              <a:rPr dirty="0" sz="1700" spc="-13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no</a:t>
            </a:r>
            <a:r>
              <a:rPr dirty="0" sz="1700" spc="-130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blockchain</a:t>
            </a:r>
            <a:endParaRPr sz="1700">
              <a:latin typeface="Lucida Sans Unicode"/>
              <a:cs typeface="Lucida Sans Unicode"/>
            </a:endParaRPr>
          </a:p>
          <a:p>
            <a:pPr marL="722630">
              <a:lnSpc>
                <a:spcPct val="100000"/>
              </a:lnSpc>
              <a:spcBef>
                <a:spcPts val="284"/>
              </a:spcBef>
            </a:pPr>
            <a:r>
              <a:rPr dirty="0" sz="1700" spc="-10">
                <a:latin typeface="Lucida Sans Unicode"/>
                <a:cs typeface="Lucida Sans Unicode"/>
              </a:rPr>
              <a:t>integration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6301854" y="8482944"/>
            <a:ext cx="2733675" cy="911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3999"/>
              </a:lnSpc>
              <a:spcBef>
                <a:spcPts val="100"/>
              </a:spcBef>
            </a:pPr>
            <a:r>
              <a:rPr dirty="0" sz="1700" spc="-170">
                <a:latin typeface="Arial Black"/>
                <a:cs typeface="Arial Black"/>
              </a:rPr>
              <a:t>Basic</a:t>
            </a:r>
            <a:r>
              <a:rPr dirty="0" sz="1700" spc="-45">
                <a:latin typeface="Arial Black"/>
                <a:cs typeface="Arial Black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Standard</a:t>
            </a:r>
            <a:r>
              <a:rPr dirty="0" sz="1700" spc="-1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enterprise </a:t>
            </a:r>
            <a:r>
              <a:rPr dirty="0" sz="1700">
                <a:latin typeface="Lucida Sans Unicode"/>
                <a:cs typeface="Lucida Sans Unicode"/>
              </a:rPr>
              <a:t>security,</a:t>
            </a:r>
            <a:r>
              <a:rPr dirty="0" sz="1700" spc="-10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centralized authentication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9271710" y="8482944"/>
            <a:ext cx="2733675" cy="911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13999"/>
              </a:lnSpc>
              <a:spcBef>
                <a:spcPts val="100"/>
              </a:spcBef>
            </a:pPr>
            <a:r>
              <a:rPr dirty="0" sz="1700" spc="-170">
                <a:latin typeface="Arial Black"/>
                <a:cs typeface="Arial Black"/>
              </a:rPr>
              <a:t>Basic</a:t>
            </a:r>
            <a:r>
              <a:rPr dirty="0" sz="1700" spc="-45">
                <a:latin typeface="Arial Black"/>
                <a:cs typeface="Arial Black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Standard</a:t>
            </a:r>
            <a:r>
              <a:rPr dirty="0" sz="1700" spc="-1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enterprise </a:t>
            </a:r>
            <a:r>
              <a:rPr dirty="0" sz="1700">
                <a:latin typeface="Lucida Sans Unicode"/>
                <a:cs typeface="Lucida Sans Unicode"/>
              </a:rPr>
              <a:t>security,</a:t>
            </a:r>
            <a:r>
              <a:rPr dirty="0" sz="1700" spc="-10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centralized authentication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2206294" y="8482944"/>
            <a:ext cx="2804160" cy="911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3180" marR="5080" indent="-31115">
              <a:lnSpc>
                <a:spcPct val="113999"/>
              </a:lnSpc>
              <a:spcBef>
                <a:spcPts val="100"/>
              </a:spcBef>
            </a:pPr>
            <a:r>
              <a:rPr dirty="0" sz="1700" spc="-125">
                <a:latin typeface="Arial Black"/>
                <a:cs typeface="Arial Black"/>
              </a:rPr>
              <a:t>Partial</a:t>
            </a:r>
            <a:r>
              <a:rPr dirty="0" sz="1700" spc="-20">
                <a:latin typeface="Arial Black"/>
                <a:cs typeface="Arial Black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Traditional</a:t>
            </a:r>
            <a:r>
              <a:rPr dirty="0" sz="1700" spc="-8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network </a:t>
            </a:r>
            <a:r>
              <a:rPr dirty="0" sz="1700">
                <a:latin typeface="Lucida Sans Unicode"/>
                <a:cs typeface="Lucida Sans Unicode"/>
              </a:rPr>
              <a:t>security,</a:t>
            </a:r>
            <a:r>
              <a:rPr dirty="0" sz="1700" spc="-11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no</a:t>
            </a:r>
            <a:r>
              <a:rPr dirty="0" sz="1700" spc="-110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blockchain</a:t>
            </a:r>
            <a:r>
              <a:rPr dirty="0" sz="1700" spc="-105">
                <a:latin typeface="Lucida Sans Unicode"/>
                <a:cs typeface="Lucida Sans Unicode"/>
              </a:rPr>
              <a:t> </a:t>
            </a:r>
            <a:r>
              <a:rPr dirty="0" sz="1700" spc="-25">
                <a:latin typeface="Lucida Sans Unicode"/>
                <a:cs typeface="Lucida Sans Unicode"/>
              </a:rPr>
              <a:t>or </a:t>
            </a:r>
            <a:r>
              <a:rPr dirty="0" sz="1700" spc="-135">
                <a:latin typeface="Lucida Sans Unicode"/>
                <a:cs typeface="Lucida Sans Unicode"/>
              </a:rPr>
              <a:t>AI-</a:t>
            </a:r>
            <a:r>
              <a:rPr dirty="0" sz="1700">
                <a:latin typeface="Lucida Sans Unicode"/>
                <a:cs typeface="Lucida Sans Unicode"/>
              </a:rPr>
              <a:t>driven</a:t>
            </a:r>
            <a:r>
              <a:rPr dirty="0" sz="1700" spc="-2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threat</a:t>
            </a:r>
            <a:r>
              <a:rPr dirty="0" sz="1700" spc="-1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detection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5241933" y="8035269"/>
            <a:ext cx="2672715" cy="1797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80670">
              <a:lnSpc>
                <a:spcPct val="113999"/>
              </a:lnSpc>
              <a:spcBef>
                <a:spcPts val="100"/>
              </a:spcBef>
            </a:pPr>
            <a:r>
              <a:rPr dirty="0" sz="1700">
                <a:latin typeface="Lucida Sans Unicode"/>
                <a:cs typeface="Lucida Sans Unicode"/>
              </a:rPr>
              <a:t>Integrated</a:t>
            </a:r>
            <a:r>
              <a:rPr dirty="0" sz="1700" spc="-100">
                <a:latin typeface="Lucida Sans Unicode"/>
                <a:cs typeface="Lucida Sans Unicode"/>
              </a:rPr>
              <a:t> </a:t>
            </a:r>
            <a:r>
              <a:rPr dirty="0" sz="1700" spc="-25">
                <a:latin typeface="Lucida Sans Unicode"/>
                <a:cs typeface="Lucida Sans Unicode"/>
              </a:rPr>
              <a:t>blockchain- </a:t>
            </a:r>
            <a:r>
              <a:rPr dirty="0" sz="1700" spc="50">
                <a:latin typeface="Lucida Sans Unicode"/>
                <a:cs typeface="Lucida Sans Unicode"/>
              </a:rPr>
              <a:t>SDN</a:t>
            </a:r>
            <a:r>
              <a:rPr dirty="0" sz="1700" spc="-5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architecture</a:t>
            </a:r>
            <a:r>
              <a:rPr dirty="0" sz="1700" spc="-5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with</a:t>
            </a:r>
            <a:r>
              <a:rPr dirty="0" sz="1700" spc="-50">
                <a:latin typeface="Lucida Sans Unicode"/>
                <a:cs typeface="Lucida Sans Unicode"/>
              </a:rPr>
              <a:t> </a:t>
            </a:r>
            <a:r>
              <a:rPr dirty="0" sz="1700" spc="-85">
                <a:latin typeface="Lucida Sans Unicode"/>
                <a:cs typeface="Lucida Sans Unicode"/>
              </a:rPr>
              <a:t>AI-</a:t>
            </a:r>
            <a:endParaRPr sz="1700">
              <a:latin typeface="Lucida Sans Unicode"/>
              <a:cs typeface="Lucida Sans Unicode"/>
            </a:endParaRPr>
          </a:p>
          <a:p>
            <a:pPr algn="ctr" marL="136525" marR="128905" indent="-635">
              <a:lnSpc>
                <a:spcPct val="113999"/>
              </a:lnSpc>
            </a:pPr>
            <a:r>
              <a:rPr dirty="0" sz="1700">
                <a:latin typeface="Lucida Sans Unicode"/>
                <a:cs typeface="Lucida Sans Unicode"/>
              </a:rPr>
              <a:t>powered</a:t>
            </a:r>
            <a:r>
              <a:rPr dirty="0" sz="1700" spc="-30">
                <a:latin typeface="Lucida Sans Unicode"/>
                <a:cs typeface="Lucida Sans Unicode"/>
              </a:rPr>
              <a:t> </a:t>
            </a:r>
            <a:r>
              <a:rPr dirty="0" sz="1700" spc="-75">
                <a:latin typeface="Lucida Sans Unicode"/>
                <a:cs typeface="Lucida Sans Unicode"/>
              </a:rPr>
              <a:t>real-</a:t>
            </a:r>
            <a:r>
              <a:rPr dirty="0" sz="1700" spc="-20">
                <a:latin typeface="Lucida Sans Unicode"/>
                <a:cs typeface="Lucida Sans Unicode"/>
              </a:rPr>
              <a:t>time </a:t>
            </a:r>
            <a:r>
              <a:rPr dirty="0" sz="1700">
                <a:latin typeface="Lucida Sans Unicode"/>
                <a:cs typeface="Lucida Sans Unicode"/>
              </a:rPr>
              <a:t>anomaly</a:t>
            </a:r>
            <a:r>
              <a:rPr dirty="0" sz="1700" spc="-3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detection</a:t>
            </a:r>
            <a:r>
              <a:rPr dirty="0" sz="1700" spc="-30">
                <a:latin typeface="Lucida Sans Unicode"/>
                <a:cs typeface="Lucida Sans Unicode"/>
              </a:rPr>
              <a:t> </a:t>
            </a:r>
            <a:r>
              <a:rPr dirty="0" sz="1700" spc="-25">
                <a:latin typeface="Lucida Sans Unicode"/>
                <a:cs typeface="Lucida Sans Unicode"/>
              </a:rPr>
              <a:t>and </a:t>
            </a:r>
            <a:r>
              <a:rPr dirty="0" sz="1700" spc="-10">
                <a:latin typeface="Lucida Sans Unicode"/>
                <a:cs typeface="Lucida Sans Unicode"/>
              </a:rPr>
              <a:t>decentralized</a:t>
            </a:r>
            <a:r>
              <a:rPr dirty="0" sz="1700" spc="-5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access control</a:t>
            </a:r>
            <a:endParaRPr sz="1700">
              <a:latin typeface="Lucida Sans Unicode"/>
              <a:cs typeface="Lucida Sans Unicode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239452" y="1023937"/>
            <a:ext cx="17828895" cy="8921750"/>
            <a:chOff x="239452" y="1023937"/>
            <a:chExt cx="17828895" cy="8921750"/>
          </a:xfrm>
        </p:grpSpPr>
        <p:sp>
          <p:nvSpPr>
            <p:cNvPr id="41" name="object 41" descr=""/>
            <p:cNvSpPr/>
            <p:nvPr/>
          </p:nvSpPr>
          <p:spPr>
            <a:xfrm>
              <a:off x="244208" y="1033474"/>
              <a:ext cx="17819370" cy="8902700"/>
            </a:xfrm>
            <a:custGeom>
              <a:avLst/>
              <a:gdLst/>
              <a:ahLst/>
              <a:cxnLst/>
              <a:rect l="l" t="t" r="r" b="b"/>
              <a:pathLst>
                <a:path w="17819370" h="8902700">
                  <a:moveTo>
                    <a:pt x="17818951" y="0"/>
                  </a:moveTo>
                  <a:lnTo>
                    <a:pt x="17818951" y="0"/>
                  </a:lnTo>
                  <a:lnTo>
                    <a:pt x="0" y="0"/>
                  </a:lnTo>
                  <a:lnTo>
                    <a:pt x="0" y="8902598"/>
                  </a:lnTo>
                  <a:lnTo>
                    <a:pt x="17818951" y="8902598"/>
                  </a:lnTo>
                  <a:lnTo>
                    <a:pt x="178189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39452" y="1028699"/>
              <a:ext cx="17828895" cy="8912225"/>
            </a:xfrm>
            <a:custGeom>
              <a:avLst/>
              <a:gdLst/>
              <a:ahLst/>
              <a:cxnLst/>
              <a:rect l="l" t="t" r="r" b="b"/>
              <a:pathLst>
                <a:path w="17828895" h="8912225">
                  <a:moveTo>
                    <a:pt x="4762" y="4762"/>
                  </a:moveTo>
                  <a:lnTo>
                    <a:pt x="4762" y="8907363"/>
                  </a:lnTo>
                </a:path>
                <a:path w="17828895" h="8912225">
                  <a:moveTo>
                    <a:pt x="2974588" y="4762"/>
                  </a:moveTo>
                  <a:lnTo>
                    <a:pt x="2974588" y="8907363"/>
                  </a:lnTo>
                </a:path>
                <a:path w="17828895" h="8912225">
                  <a:moveTo>
                    <a:pt x="5944413" y="4762"/>
                  </a:moveTo>
                  <a:lnTo>
                    <a:pt x="5944413" y="8907363"/>
                  </a:lnTo>
                </a:path>
                <a:path w="17828895" h="8912225">
                  <a:moveTo>
                    <a:pt x="8914239" y="4762"/>
                  </a:moveTo>
                  <a:lnTo>
                    <a:pt x="8914239" y="8907363"/>
                  </a:lnTo>
                </a:path>
                <a:path w="17828895" h="8912225">
                  <a:moveTo>
                    <a:pt x="11884064" y="4762"/>
                  </a:moveTo>
                  <a:lnTo>
                    <a:pt x="11884064" y="8907363"/>
                  </a:lnTo>
                </a:path>
                <a:path w="17828895" h="8912225">
                  <a:moveTo>
                    <a:pt x="14853889" y="4762"/>
                  </a:moveTo>
                  <a:lnTo>
                    <a:pt x="14853889" y="8907363"/>
                  </a:lnTo>
                </a:path>
                <a:path w="17828895" h="8912225">
                  <a:moveTo>
                    <a:pt x="17823715" y="4762"/>
                  </a:moveTo>
                  <a:lnTo>
                    <a:pt x="17823715" y="8907363"/>
                  </a:lnTo>
                </a:path>
                <a:path w="17828895" h="8912225">
                  <a:moveTo>
                    <a:pt x="0" y="0"/>
                  </a:moveTo>
                  <a:lnTo>
                    <a:pt x="17828478" y="0"/>
                  </a:lnTo>
                </a:path>
                <a:path w="17828895" h="8912225">
                  <a:moveTo>
                    <a:pt x="0" y="1522863"/>
                  </a:moveTo>
                  <a:lnTo>
                    <a:pt x="17828478" y="1522863"/>
                  </a:lnTo>
                </a:path>
                <a:path w="17828895" h="8912225">
                  <a:moveTo>
                    <a:pt x="0" y="3414181"/>
                  </a:moveTo>
                  <a:lnTo>
                    <a:pt x="17828478" y="3414181"/>
                  </a:lnTo>
                </a:path>
                <a:path w="17828895" h="8912225">
                  <a:moveTo>
                    <a:pt x="0" y="5201138"/>
                  </a:moveTo>
                  <a:lnTo>
                    <a:pt x="17828478" y="5201138"/>
                  </a:lnTo>
                </a:path>
                <a:path w="17828895" h="8912225">
                  <a:moveTo>
                    <a:pt x="0" y="6988095"/>
                  </a:moveTo>
                  <a:lnTo>
                    <a:pt x="17828478" y="6988095"/>
                  </a:lnTo>
                </a:path>
                <a:path w="17828895" h="8912225">
                  <a:moveTo>
                    <a:pt x="0" y="8912125"/>
                  </a:moveTo>
                  <a:lnTo>
                    <a:pt x="17828478" y="8912125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696000"/>
            <a:ext cx="16078200" cy="8999855"/>
            <a:chOff x="0" y="696000"/>
            <a:chExt cx="16078200" cy="89998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927499"/>
              <a:ext cx="4119017" cy="76809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9267" y="696000"/>
              <a:ext cx="12058649" cy="8743948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2302924" y="302331"/>
            <a:ext cx="260921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95">
                <a:latin typeface="Arial Black"/>
                <a:cs typeface="Arial Black"/>
              </a:rPr>
              <a:t>System</a:t>
            </a:r>
            <a:r>
              <a:rPr dirty="0" sz="2500" spc="-155">
                <a:latin typeface="Arial Black"/>
                <a:cs typeface="Arial Black"/>
              </a:rPr>
              <a:t> </a:t>
            </a:r>
            <a:r>
              <a:rPr dirty="0" sz="2500" spc="-100">
                <a:latin typeface="Arial Black"/>
                <a:cs typeface="Arial Black"/>
              </a:rPr>
              <a:t>Diagram</a:t>
            </a:r>
            <a:endParaRPr sz="25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5482" y="1219858"/>
            <a:ext cx="3183891" cy="318389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300714" y="6275351"/>
            <a:ext cx="1172654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350">
                <a:latin typeface="Arial Black"/>
                <a:cs typeface="Arial Black"/>
              </a:rPr>
              <a:t>PRIVACY-</a:t>
            </a:r>
            <a:r>
              <a:rPr dirty="0" sz="3600" spc="-540">
                <a:latin typeface="Arial Black"/>
                <a:cs typeface="Arial Black"/>
              </a:rPr>
              <a:t>PRESERVING</a:t>
            </a:r>
            <a:r>
              <a:rPr dirty="0" sz="3600" spc="-190">
                <a:latin typeface="Arial Black"/>
                <a:cs typeface="Arial Black"/>
              </a:rPr>
              <a:t> </a:t>
            </a:r>
            <a:r>
              <a:rPr dirty="0" sz="3600" spc="-455">
                <a:latin typeface="Arial Black"/>
                <a:cs typeface="Arial Black"/>
              </a:rPr>
              <a:t>EDGE</a:t>
            </a:r>
            <a:r>
              <a:rPr dirty="0" sz="3600" spc="-185">
                <a:latin typeface="Arial Black"/>
                <a:cs typeface="Arial Black"/>
              </a:rPr>
              <a:t> </a:t>
            </a:r>
            <a:r>
              <a:rPr dirty="0" sz="3600" spc="-330">
                <a:latin typeface="Arial Black"/>
                <a:cs typeface="Arial Black"/>
              </a:rPr>
              <a:t>AI</a:t>
            </a:r>
            <a:r>
              <a:rPr dirty="0" sz="3600" spc="-185">
                <a:latin typeface="Arial Black"/>
                <a:cs typeface="Arial Black"/>
              </a:rPr>
              <a:t> </a:t>
            </a:r>
            <a:r>
              <a:rPr dirty="0" sz="3600" spc="-490">
                <a:latin typeface="Arial Black"/>
                <a:cs typeface="Arial Black"/>
              </a:rPr>
              <a:t>BEHAVIORAL</a:t>
            </a:r>
            <a:r>
              <a:rPr dirty="0" sz="3600" spc="-185">
                <a:latin typeface="Arial Black"/>
                <a:cs typeface="Arial Black"/>
              </a:rPr>
              <a:t> </a:t>
            </a:r>
            <a:r>
              <a:rPr dirty="0" sz="3600" spc="-555">
                <a:latin typeface="Arial Black"/>
                <a:cs typeface="Arial Black"/>
              </a:rPr>
              <a:t>ANALYSIS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478809" y="9192091"/>
            <a:ext cx="8114665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IT22073228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-50">
                <a:latin typeface="Trebuchet MS"/>
                <a:cs typeface="Trebuchet MS"/>
              </a:rPr>
              <a:t>D.W.A.I.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240">
                <a:latin typeface="Trebuchet MS"/>
                <a:cs typeface="Trebuchet MS"/>
              </a:rPr>
              <a:t>Abeynayake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00714" y="7670513"/>
            <a:ext cx="87788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65">
                <a:latin typeface="Trebuchet MS"/>
                <a:cs typeface="Trebuchet MS"/>
              </a:rPr>
              <a:t>Specialzation: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75">
                <a:latin typeface="Trebuchet MS"/>
                <a:cs typeface="Trebuchet MS"/>
              </a:rPr>
              <a:t>Computer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50">
                <a:latin typeface="Trebuchet MS"/>
                <a:cs typeface="Trebuchet MS"/>
              </a:rPr>
              <a:t>Systems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275">
                <a:latin typeface="Trebuchet MS"/>
                <a:cs typeface="Trebuchet MS"/>
              </a:rPr>
              <a:t>and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85">
                <a:latin typeface="Trebuchet MS"/>
                <a:cs typeface="Trebuchet MS"/>
              </a:rPr>
              <a:t>Network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105">
                <a:latin typeface="Trebuchet MS"/>
                <a:cs typeface="Trebuchet MS"/>
              </a:rPr>
              <a:t>Engineering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3" name="object 3" descr="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676922" y="1265844"/>
            <a:ext cx="15411450" cy="3286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4935">
              <a:lnSpc>
                <a:spcPct val="100000"/>
              </a:lnSpc>
              <a:spcBef>
                <a:spcPts val="100"/>
              </a:spcBef>
            </a:pPr>
            <a:r>
              <a:rPr dirty="0" sz="3600" spc="-585">
                <a:latin typeface="Arial Black"/>
                <a:cs typeface="Arial Black"/>
              </a:rPr>
              <a:t>RESEARCH</a:t>
            </a:r>
            <a:r>
              <a:rPr dirty="0" sz="3600" spc="-170">
                <a:latin typeface="Arial Black"/>
                <a:cs typeface="Arial Black"/>
              </a:rPr>
              <a:t> </a:t>
            </a:r>
            <a:r>
              <a:rPr dirty="0" sz="3600" spc="-365">
                <a:latin typeface="Arial Black"/>
                <a:cs typeface="Arial Black"/>
              </a:rPr>
              <a:t>GAP</a:t>
            </a:r>
            <a:endParaRPr sz="3600">
              <a:latin typeface="Arial Black"/>
              <a:cs typeface="Arial Black"/>
            </a:endParaRPr>
          </a:p>
          <a:p>
            <a:pPr marL="12700" marR="161290">
              <a:lnSpc>
                <a:spcPct val="114599"/>
              </a:lnSpc>
              <a:spcBef>
                <a:spcPts val="1560"/>
              </a:spcBef>
            </a:pPr>
            <a:r>
              <a:rPr dirty="0" sz="2400" spc="80">
                <a:latin typeface="Trebuchet MS"/>
                <a:cs typeface="Trebuchet MS"/>
              </a:rPr>
              <a:t>Current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 spc="130">
                <a:latin typeface="Trebuchet MS"/>
                <a:cs typeface="Trebuchet MS"/>
              </a:rPr>
              <a:t>behavioral</a:t>
            </a:r>
            <a:r>
              <a:rPr dirty="0" sz="2400" spc="25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analysis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systems</a:t>
            </a:r>
            <a:r>
              <a:rPr dirty="0" sz="2400" spc="25">
                <a:latin typeface="Trebuchet MS"/>
                <a:cs typeface="Trebuchet MS"/>
              </a:rPr>
              <a:t> </a:t>
            </a:r>
            <a:r>
              <a:rPr dirty="0" sz="2400" spc="65">
                <a:latin typeface="Trebuchet MS"/>
                <a:cs typeface="Trebuchet MS"/>
              </a:rPr>
              <a:t>(Microsoft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 spc="90">
                <a:latin typeface="Trebuchet MS"/>
                <a:cs typeface="Trebuchet MS"/>
              </a:rPr>
              <a:t>Teams</a:t>
            </a:r>
            <a:r>
              <a:rPr dirty="0" sz="2400" spc="2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Analytics,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 spc="235">
                <a:latin typeface="Trebuchet MS"/>
                <a:cs typeface="Trebuchet MS"/>
              </a:rPr>
              <a:t>Google</a:t>
            </a:r>
            <a:r>
              <a:rPr dirty="0" sz="2400" spc="25">
                <a:latin typeface="Trebuchet MS"/>
                <a:cs typeface="Trebuchet MS"/>
              </a:rPr>
              <a:t> </a:t>
            </a:r>
            <a:r>
              <a:rPr dirty="0" sz="2400" spc="135">
                <a:latin typeface="Trebuchet MS"/>
                <a:cs typeface="Trebuchet MS"/>
              </a:rPr>
              <a:t>Classroom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 spc="55">
                <a:latin typeface="Trebuchet MS"/>
                <a:cs typeface="Trebuchet MS"/>
              </a:rPr>
              <a:t>Analytics)</a:t>
            </a:r>
            <a:r>
              <a:rPr dirty="0" sz="2400" spc="2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transmit </a:t>
            </a:r>
            <a:r>
              <a:rPr dirty="0" sz="2400" spc="135">
                <a:latin typeface="Trebuchet MS"/>
                <a:cs typeface="Trebuchet MS"/>
              </a:rPr>
              <a:t>raw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80">
                <a:latin typeface="Trebuchet MS"/>
                <a:cs typeface="Trebuchet MS"/>
              </a:rPr>
              <a:t>biometric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225">
                <a:latin typeface="Trebuchet MS"/>
                <a:cs typeface="Trebuchet MS"/>
              </a:rPr>
              <a:t>data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to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150">
                <a:latin typeface="Trebuchet MS"/>
                <a:cs typeface="Trebuchet MS"/>
              </a:rPr>
              <a:t>cloud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servers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90">
                <a:latin typeface="Trebuchet MS"/>
                <a:cs typeface="Trebuchet MS"/>
              </a:rPr>
              <a:t>processing,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creating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135">
                <a:latin typeface="Trebuchet MS"/>
                <a:cs typeface="Trebuchet MS"/>
              </a:rPr>
              <a:t>fundamental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privacy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vulnerabilities  </a:t>
            </a:r>
            <a:r>
              <a:rPr dirty="0" sz="2400">
                <a:latin typeface="Trebuchet MS"/>
                <a:cs typeface="Trebuchet MS"/>
              </a:rPr>
              <a:t>Existing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114">
                <a:latin typeface="Trebuchet MS"/>
                <a:cs typeface="Trebuchet MS"/>
              </a:rPr>
              <a:t>research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190">
                <a:latin typeface="Trebuchet MS"/>
                <a:cs typeface="Trebuchet MS"/>
              </a:rPr>
              <a:t>by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Liu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(2024)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275">
                <a:latin typeface="Trebuchet MS"/>
                <a:cs typeface="Trebuchet MS"/>
              </a:rPr>
              <a:t>and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180">
                <a:latin typeface="Trebuchet MS"/>
                <a:cs typeface="Trebuchet MS"/>
              </a:rPr>
              <a:t>Zhang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et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al. </a:t>
            </a:r>
            <a:r>
              <a:rPr dirty="0" sz="2400">
                <a:latin typeface="Trebuchet MS"/>
                <a:cs typeface="Trebuchet MS"/>
              </a:rPr>
              <a:t>(2020)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150">
                <a:latin typeface="Trebuchet MS"/>
                <a:cs typeface="Trebuchet MS"/>
              </a:rPr>
              <a:t>achieves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140">
                <a:latin typeface="Trebuchet MS"/>
                <a:cs typeface="Trebuchet MS"/>
              </a:rPr>
              <a:t>high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130">
                <a:latin typeface="Trebuchet MS"/>
                <a:cs typeface="Trebuchet MS"/>
              </a:rPr>
              <a:t>emotion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105">
                <a:latin typeface="Trebuchet MS"/>
                <a:cs typeface="Trebuchet MS"/>
              </a:rPr>
              <a:t>recognition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210">
                <a:latin typeface="Trebuchet MS"/>
                <a:cs typeface="Trebuchet MS"/>
              </a:rPr>
              <a:t>accuracy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but </a:t>
            </a:r>
            <a:r>
              <a:rPr dirty="0" sz="2400" spc="45">
                <a:latin typeface="Trebuchet MS"/>
                <a:cs typeface="Trebuchet MS"/>
              </a:rPr>
              <a:t>requires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10">
                <a:latin typeface="Trebuchet MS"/>
                <a:cs typeface="Trebuchet MS"/>
              </a:rPr>
              <a:t>continuous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60">
                <a:latin typeface="Trebuchet MS"/>
                <a:cs typeface="Trebuchet MS"/>
              </a:rPr>
              <a:t>video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streaming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to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50">
                <a:latin typeface="Trebuchet MS"/>
                <a:cs typeface="Trebuchet MS"/>
              </a:rPr>
              <a:t>external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servers,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75">
                <a:latin typeface="Trebuchet MS"/>
                <a:cs typeface="Trebuchet MS"/>
              </a:rPr>
              <a:t>violating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student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14">
                <a:latin typeface="Trebuchet MS"/>
                <a:cs typeface="Trebuchet MS"/>
              </a:rPr>
              <a:t>privacy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4599"/>
              </a:lnSpc>
            </a:pPr>
            <a:r>
              <a:rPr dirty="0" sz="2400" spc="245">
                <a:latin typeface="Trebuchet MS"/>
                <a:cs typeface="Trebuchet MS"/>
              </a:rPr>
              <a:t>No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existing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solutions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 spc="190">
                <a:latin typeface="Trebuchet MS"/>
                <a:cs typeface="Trebuchet MS"/>
              </a:rPr>
              <a:t>combine</a:t>
            </a:r>
            <a:r>
              <a:rPr dirty="0" sz="2400" spc="25">
                <a:latin typeface="Trebuchet MS"/>
                <a:cs typeface="Trebuchet MS"/>
              </a:rPr>
              <a:t> </a:t>
            </a:r>
            <a:r>
              <a:rPr dirty="0" sz="2400" spc="85">
                <a:latin typeface="Trebuchet MS"/>
                <a:cs typeface="Trebuchet MS"/>
              </a:rPr>
              <a:t>emotion,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 spc="45">
                <a:latin typeface="Trebuchet MS"/>
                <a:cs typeface="Trebuchet MS"/>
              </a:rPr>
              <a:t>posture,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 spc="275">
                <a:latin typeface="Trebuchet MS"/>
                <a:cs typeface="Trebuchet MS"/>
              </a:rPr>
              <a:t>and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activity</a:t>
            </a:r>
            <a:r>
              <a:rPr dirty="0" sz="2400" spc="25">
                <a:latin typeface="Trebuchet MS"/>
                <a:cs typeface="Trebuchet MS"/>
              </a:rPr>
              <a:t> </a:t>
            </a:r>
            <a:r>
              <a:rPr dirty="0" sz="2400" spc="114">
                <a:latin typeface="Trebuchet MS"/>
                <a:cs typeface="Trebuchet MS"/>
              </a:rPr>
              <a:t>detection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with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 spc="95">
                <a:latin typeface="Trebuchet MS"/>
                <a:cs typeface="Trebuchet MS"/>
              </a:rPr>
              <a:t>local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 spc="120">
                <a:latin typeface="Trebuchet MS"/>
                <a:cs typeface="Trebuchet MS"/>
              </a:rPr>
              <a:t>processing</a:t>
            </a:r>
            <a:r>
              <a:rPr dirty="0" sz="2400" spc="25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capabilities </a:t>
            </a:r>
            <a:r>
              <a:rPr dirty="0" sz="2400" spc="45">
                <a:latin typeface="Trebuchet MS"/>
                <a:cs typeface="Trebuchet MS"/>
              </a:rPr>
              <a:t>specifically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75">
                <a:latin typeface="Trebuchet MS"/>
                <a:cs typeface="Trebuchet MS"/>
              </a:rPr>
              <a:t>designed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45">
                <a:latin typeface="Trebuchet MS"/>
                <a:cs typeface="Trebuchet MS"/>
              </a:rPr>
              <a:t>educational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contexts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0626" y="2211994"/>
            <a:ext cx="114300" cy="1142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0626" y="3050194"/>
            <a:ext cx="114300" cy="1142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0626" y="3888394"/>
            <a:ext cx="114300" cy="114299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537495" y="4728844"/>
            <a:ext cx="6962775" cy="3705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9385">
              <a:lnSpc>
                <a:spcPct val="100000"/>
              </a:lnSpc>
              <a:spcBef>
                <a:spcPts val="100"/>
              </a:spcBef>
            </a:pPr>
            <a:r>
              <a:rPr dirty="0" sz="3600" spc="-560">
                <a:latin typeface="Arial Black"/>
                <a:cs typeface="Arial Black"/>
              </a:rPr>
              <a:t>PROBLEM</a:t>
            </a:r>
            <a:r>
              <a:rPr dirty="0" sz="3600" spc="-185">
                <a:latin typeface="Arial Black"/>
                <a:cs typeface="Arial Black"/>
              </a:rPr>
              <a:t> </a:t>
            </a:r>
            <a:r>
              <a:rPr dirty="0" sz="3600" spc="-459">
                <a:latin typeface="Arial Black"/>
                <a:cs typeface="Arial Black"/>
              </a:rPr>
              <a:t>IDENTIFICATION</a:t>
            </a:r>
            <a:endParaRPr sz="3600">
              <a:latin typeface="Arial Black"/>
              <a:cs typeface="Arial Black"/>
            </a:endParaRPr>
          </a:p>
          <a:p>
            <a:pPr marL="12700" marR="44450">
              <a:lnSpc>
                <a:spcPct val="114599"/>
              </a:lnSpc>
              <a:spcBef>
                <a:spcPts val="1555"/>
              </a:spcBef>
            </a:pPr>
            <a:r>
              <a:rPr dirty="0" sz="2400" spc="155">
                <a:latin typeface="Trebuchet MS"/>
                <a:cs typeface="Trebuchet MS"/>
              </a:rPr>
              <a:t>What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 spc="145">
                <a:latin typeface="Trebuchet MS"/>
                <a:cs typeface="Trebuchet MS"/>
              </a:rPr>
              <a:t>methods</a:t>
            </a:r>
            <a:r>
              <a:rPr dirty="0" sz="2400" spc="-10">
                <a:latin typeface="Trebuchet MS"/>
                <a:cs typeface="Trebuchet MS"/>
              </a:rPr>
              <a:t> </a:t>
            </a:r>
            <a:r>
              <a:rPr dirty="0" sz="2400" spc="270">
                <a:latin typeface="Trebuchet MS"/>
                <a:cs typeface="Trebuchet MS"/>
              </a:rPr>
              <a:t>can</a:t>
            </a:r>
            <a:r>
              <a:rPr dirty="0" sz="2400" spc="-10">
                <a:latin typeface="Trebuchet MS"/>
                <a:cs typeface="Trebuchet MS"/>
              </a:rPr>
              <a:t> </a:t>
            </a:r>
            <a:r>
              <a:rPr dirty="0" sz="2400" spc="85">
                <a:latin typeface="Trebuchet MS"/>
                <a:cs typeface="Trebuchet MS"/>
              </a:rPr>
              <a:t>perform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real-</a:t>
            </a:r>
            <a:r>
              <a:rPr dirty="0" sz="2400" spc="-20">
                <a:latin typeface="Trebuchet MS"/>
                <a:cs typeface="Trebuchet MS"/>
              </a:rPr>
              <a:t>time </a:t>
            </a:r>
            <a:r>
              <a:rPr dirty="0" sz="2400" spc="130">
                <a:latin typeface="Trebuchet MS"/>
                <a:cs typeface="Trebuchet MS"/>
              </a:rPr>
              <a:t>behavioral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analysis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75">
                <a:latin typeface="Trebuchet MS"/>
                <a:cs typeface="Trebuchet MS"/>
              </a:rPr>
              <a:t>(emotion,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45">
                <a:latin typeface="Trebuchet MS"/>
                <a:cs typeface="Trebuchet MS"/>
              </a:rPr>
              <a:t>posture,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activity) </a:t>
            </a:r>
            <a:r>
              <a:rPr dirty="0" sz="2400" spc="220">
                <a:latin typeface="Trebuchet MS"/>
                <a:cs typeface="Trebuchet MS"/>
              </a:rPr>
              <a:t>on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student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140">
                <a:latin typeface="Trebuchet MS"/>
                <a:cs typeface="Trebuchet MS"/>
              </a:rPr>
              <a:t>devices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while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90">
                <a:latin typeface="Trebuchet MS"/>
                <a:cs typeface="Trebuchet MS"/>
              </a:rPr>
              <a:t>ensuring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220">
                <a:latin typeface="Trebuchet MS"/>
                <a:cs typeface="Trebuchet MS"/>
              </a:rPr>
              <a:t>no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sensitive </a:t>
            </a:r>
            <a:r>
              <a:rPr dirty="0" sz="2400" spc="80">
                <a:latin typeface="Trebuchet MS"/>
                <a:cs typeface="Trebuchet MS"/>
              </a:rPr>
              <a:t>biometric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225">
                <a:latin typeface="Trebuchet MS"/>
                <a:cs typeface="Trebuchet MS"/>
              </a:rPr>
              <a:t>data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20">
                <a:latin typeface="Trebuchet MS"/>
                <a:cs typeface="Trebuchet MS"/>
              </a:rPr>
              <a:t>leaves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80">
                <a:latin typeface="Trebuchet MS"/>
                <a:cs typeface="Trebuchet MS"/>
              </a:rPr>
              <a:t>the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210">
                <a:latin typeface="Trebuchet MS"/>
                <a:cs typeface="Trebuchet MS"/>
              </a:rPr>
              <a:t>device?</a:t>
            </a:r>
            <a:endParaRPr sz="2400">
              <a:latin typeface="Trebuchet MS"/>
              <a:cs typeface="Trebuchet MS"/>
            </a:endParaRPr>
          </a:p>
          <a:p>
            <a:pPr algn="just" marL="12700" marR="5080">
              <a:lnSpc>
                <a:spcPct val="114599"/>
              </a:lnSpc>
            </a:pPr>
            <a:r>
              <a:rPr dirty="0" sz="2400" spc="155">
                <a:latin typeface="Trebuchet MS"/>
                <a:cs typeface="Trebuchet MS"/>
              </a:rPr>
              <a:t>What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50">
                <a:latin typeface="Trebuchet MS"/>
                <a:cs typeface="Trebuchet MS"/>
              </a:rPr>
              <a:t>are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80">
                <a:latin typeface="Trebuchet MS"/>
                <a:cs typeface="Trebuchet MS"/>
              </a:rPr>
              <a:t>the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limitations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of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50">
                <a:latin typeface="Trebuchet MS"/>
                <a:cs typeface="Trebuchet MS"/>
              </a:rPr>
              <a:t>current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35">
                <a:latin typeface="Trebuchet MS"/>
                <a:cs typeface="Trebuchet MS"/>
              </a:rPr>
              <a:t>educational </a:t>
            </a:r>
            <a:r>
              <a:rPr dirty="0" sz="2400" spc="85">
                <a:latin typeface="Trebuchet MS"/>
                <a:cs typeface="Trebuchet MS"/>
              </a:rPr>
              <a:t>AI</a:t>
            </a:r>
            <a:r>
              <a:rPr dirty="0" sz="2400" spc="1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systems</a:t>
            </a:r>
            <a:r>
              <a:rPr dirty="0" sz="2400" spc="15">
                <a:latin typeface="Trebuchet MS"/>
                <a:cs typeface="Trebuchet MS"/>
              </a:rPr>
              <a:t> </a:t>
            </a:r>
            <a:r>
              <a:rPr dirty="0" sz="2400" spc="155">
                <a:latin typeface="Trebuchet MS"/>
                <a:cs typeface="Trebuchet MS"/>
              </a:rPr>
              <a:t>regarding</a:t>
            </a:r>
            <a:r>
              <a:rPr dirty="0" sz="2400" spc="15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privacy</a:t>
            </a:r>
            <a:r>
              <a:rPr dirty="0" sz="2400" spc="15">
                <a:latin typeface="Trebuchet MS"/>
                <a:cs typeface="Trebuchet MS"/>
              </a:rPr>
              <a:t> </a:t>
            </a:r>
            <a:r>
              <a:rPr dirty="0" sz="2400" spc="85">
                <a:latin typeface="Trebuchet MS"/>
                <a:cs typeface="Trebuchet MS"/>
              </a:rPr>
              <a:t>preservation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 spc="240">
                <a:latin typeface="Trebuchet MS"/>
                <a:cs typeface="Trebuchet MS"/>
              </a:rPr>
              <a:t>and </a:t>
            </a:r>
            <a:r>
              <a:rPr dirty="0" sz="2400" spc="290">
                <a:latin typeface="Trebuchet MS"/>
                <a:cs typeface="Trebuchet MS"/>
              </a:rPr>
              <a:t>edge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170">
                <a:latin typeface="Trebuchet MS"/>
                <a:cs typeface="Trebuchet MS"/>
              </a:rPr>
              <a:t>computing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capabilities?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1199" y="5674374"/>
            <a:ext cx="114300" cy="11429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1199" y="7350774"/>
            <a:ext cx="114300" cy="114299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0293779" y="4446845"/>
            <a:ext cx="7849234" cy="3505835"/>
          </a:xfrm>
          <a:prstGeom prst="rect">
            <a:avLst/>
          </a:prstGeom>
        </p:spPr>
        <p:txBody>
          <a:bodyPr wrap="square" lIns="0" tIns="2946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20"/>
              </a:spcBef>
            </a:pPr>
            <a:r>
              <a:rPr dirty="0" sz="3600" spc="-495">
                <a:latin typeface="Arial Black"/>
                <a:cs typeface="Arial Black"/>
              </a:rPr>
              <a:t>OUR</a:t>
            </a:r>
            <a:r>
              <a:rPr dirty="0" sz="3600" spc="-190">
                <a:latin typeface="Arial Black"/>
                <a:cs typeface="Arial Black"/>
              </a:rPr>
              <a:t> </a:t>
            </a:r>
            <a:r>
              <a:rPr dirty="0" sz="3600" spc="-515">
                <a:latin typeface="Arial Black"/>
                <a:cs typeface="Arial Black"/>
              </a:rPr>
              <a:t>SOLUTION</a:t>
            </a:r>
            <a:endParaRPr sz="3600">
              <a:latin typeface="Arial Black"/>
              <a:cs typeface="Arial Black"/>
            </a:endParaRPr>
          </a:p>
          <a:p>
            <a:pPr marL="130175" marR="5080">
              <a:lnSpc>
                <a:spcPct val="114599"/>
              </a:lnSpc>
              <a:spcBef>
                <a:spcPts val="1060"/>
              </a:spcBef>
            </a:pPr>
            <a:r>
              <a:rPr dirty="0" sz="2400" spc="150">
                <a:latin typeface="Trebuchet MS"/>
                <a:cs typeface="Trebuchet MS"/>
              </a:rPr>
              <a:t>Our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55">
                <a:latin typeface="Trebuchet MS"/>
                <a:cs typeface="Trebuchet MS"/>
              </a:rPr>
              <a:t>system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performs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all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85">
                <a:latin typeface="Trebuchet MS"/>
                <a:cs typeface="Trebuchet MS"/>
              </a:rPr>
              <a:t>AI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analysis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45">
                <a:latin typeface="Trebuchet MS"/>
                <a:cs typeface="Trebuchet MS"/>
              </a:rPr>
              <a:t>locally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220">
                <a:latin typeface="Trebuchet MS"/>
                <a:cs typeface="Trebuchet MS"/>
              </a:rPr>
              <a:t>on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student </a:t>
            </a:r>
            <a:r>
              <a:rPr dirty="0" sz="2400" spc="114">
                <a:latin typeface="Trebuchet MS"/>
                <a:cs typeface="Trebuchet MS"/>
              </a:rPr>
              <a:t>laptops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using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-40">
                <a:latin typeface="Trebuchet MS"/>
                <a:cs typeface="Trebuchet MS"/>
              </a:rPr>
              <a:t>built-</a:t>
            </a:r>
            <a:r>
              <a:rPr dirty="0" sz="2400">
                <a:latin typeface="Trebuchet MS"/>
                <a:cs typeface="Trebuchet MS"/>
              </a:rPr>
              <a:t>in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185">
                <a:latin typeface="Trebuchet MS"/>
                <a:cs typeface="Trebuchet MS"/>
              </a:rPr>
              <a:t>cameras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-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220">
                <a:latin typeface="Trebuchet MS"/>
                <a:cs typeface="Trebuchet MS"/>
              </a:rPr>
              <a:t>no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sensitive </a:t>
            </a:r>
            <a:r>
              <a:rPr dirty="0" sz="2400" spc="80">
                <a:latin typeface="Trebuchet MS"/>
                <a:cs typeface="Trebuchet MS"/>
              </a:rPr>
              <a:t>biometric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225">
                <a:latin typeface="Trebuchet MS"/>
                <a:cs typeface="Trebuchet MS"/>
              </a:rPr>
              <a:t>data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14">
                <a:latin typeface="Trebuchet MS"/>
                <a:cs typeface="Trebuchet MS"/>
              </a:rPr>
              <a:t>ever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35">
                <a:latin typeface="Trebuchet MS"/>
                <a:cs typeface="Trebuchet MS"/>
              </a:rPr>
              <a:t>transmitted</a:t>
            </a:r>
            <a:endParaRPr sz="2400">
              <a:latin typeface="Trebuchet MS"/>
              <a:cs typeface="Trebuchet MS"/>
            </a:endParaRPr>
          </a:p>
          <a:p>
            <a:pPr algn="just" marL="130175" marR="443865">
              <a:lnSpc>
                <a:spcPct val="114599"/>
              </a:lnSpc>
            </a:pPr>
            <a:r>
              <a:rPr dirty="0" sz="2400" spc="90">
                <a:latin typeface="Trebuchet MS"/>
                <a:cs typeface="Trebuchet MS"/>
              </a:rPr>
              <a:t>Implements</a:t>
            </a:r>
            <a:r>
              <a:rPr dirty="0" sz="2400">
                <a:latin typeface="Trebuchet MS"/>
                <a:cs typeface="Trebuchet MS"/>
              </a:rPr>
              <a:t> differential </a:t>
            </a:r>
            <a:r>
              <a:rPr dirty="0" sz="2400" spc="125">
                <a:latin typeface="Trebuchet MS"/>
                <a:cs typeface="Trebuchet MS"/>
              </a:rPr>
              <a:t>privacy</a:t>
            </a:r>
            <a:r>
              <a:rPr dirty="0" sz="2400">
                <a:latin typeface="Trebuchet MS"/>
                <a:cs typeface="Trebuchet MS"/>
              </a:rPr>
              <a:t> </a:t>
            </a:r>
            <a:r>
              <a:rPr dirty="0" sz="2400" spc="145">
                <a:latin typeface="Trebuchet MS"/>
                <a:cs typeface="Trebuchet MS"/>
              </a:rPr>
              <a:t>mechanisms</a:t>
            </a:r>
            <a:r>
              <a:rPr dirty="0" sz="240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with </a:t>
            </a:r>
            <a:r>
              <a:rPr dirty="0" sz="2400" spc="135">
                <a:latin typeface="Trebuchet MS"/>
                <a:cs typeface="Trebuchet MS"/>
              </a:rPr>
              <a:t>mathematical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privacy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155">
                <a:latin typeface="Trebuchet MS"/>
                <a:cs typeface="Trebuchet MS"/>
              </a:rPr>
              <a:t>guarantees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120">
                <a:latin typeface="Trebuchet MS"/>
                <a:cs typeface="Trebuchet MS"/>
              </a:rPr>
              <a:t>behavioral </a:t>
            </a:r>
            <a:r>
              <a:rPr dirty="0" sz="2400" spc="204">
                <a:latin typeface="Trebuchet MS"/>
                <a:cs typeface="Trebuchet MS"/>
              </a:rPr>
              <a:t>metadata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95">
                <a:latin typeface="Trebuchet MS"/>
                <a:cs typeface="Trebuchet MS"/>
              </a:rPr>
              <a:t>sharing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5074" y="5611534"/>
            <a:ext cx="114300" cy="114299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5074" y="6868834"/>
            <a:ext cx="114300" cy="114299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779450" y="286070"/>
            <a:ext cx="12111355" cy="5892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700" spc="6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PRIVACY-</a:t>
            </a:r>
            <a:r>
              <a:rPr dirty="0" u="heavy" sz="370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PRESERVING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8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EDGE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16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AI</a:t>
            </a:r>
            <a:r>
              <a:rPr dirty="0" u="heavy" sz="370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BEHAVIORAL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4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ANALYSIS</a:t>
            </a:r>
            <a:endParaRPr sz="3700">
              <a:latin typeface="Trebuchet MS"/>
              <a:cs typeface="Trebuchet M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478809" y="9192091"/>
            <a:ext cx="8114665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IT22073228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-50">
                <a:latin typeface="Trebuchet MS"/>
                <a:cs typeface="Trebuchet MS"/>
              </a:rPr>
              <a:t>D.W.A.I.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240">
                <a:latin typeface="Trebuchet MS"/>
                <a:cs typeface="Trebuchet MS"/>
              </a:rPr>
              <a:t>Abeynayake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4014" y="3237734"/>
            <a:ext cx="114300" cy="1142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4014" y="3656834"/>
            <a:ext cx="114300" cy="1142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4014" y="4075934"/>
            <a:ext cx="114300" cy="114299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8927499"/>
            <a:ext cx="18288000" cy="1359535"/>
            <a:chOff x="0" y="8927499"/>
            <a:chExt cx="18288000" cy="1359535"/>
          </a:xfrm>
        </p:grpSpPr>
        <p:sp>
          <p:nvSpPr>
            <p:cNvPr id="7" name="object 7" descr=""/>
            <p:cNvSpPr/>
            <p:nvPr/>
          </p:nvSpPr>
          <p:spPr>
            <a:xfrm>
              <a:off x="0" y="9889567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9718117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8927499"/>
              <a:ext cx="4119017" cy="768095"/>
            </a:xfrm>
            <a:prstGeom prst="rect">
              <a:avLst/>
            </a:prstGeom>
          </p:spPr>
        </p:pic>
      </p:grpSp>
      <p:sp>
        <p:nvSpPr>
          <p:cNvPr id="10" name="object 10" descr="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556357" y="1132115"/>
            <a:ext cx="7640955" cy="3188970"/>
          </a:xfrm>
          <a:prstGeom prst="rect">
            <a:avLst/>
          </a:prstGeom>
        </p:spPr>
        <p:txBody>
          <a:bodyPr wrap="square" lIns="0" tIns="320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20"/>
              </a:spcBef>
            </a:pPr>
            <a:r>
              <a:rPr dirty="0" sz="3600" spc="-450">
                <a:latin typeface="Arial Black"/>
                <a:cs typeface="Arial Black"/>
              </a:rPr>
              <a:t>TECHNOLOGIES</a:t>
            </a:r>
            <a:r>
              <a:rPr dirty="0" sz="3600" spc="-195">
                <a:latin typeface="Arial Black"/>
                <a:cs typeface="Arial Black"/>
              </a:rPr>
              <a:t> </a:t>
            </a:r>
            <a:r>
              <a:rPr dirty="0" sz="3600" spc="-835">
                <a:latin typeface="Arial Black"/>
                <a:cs typeface="Arial Black"/>
              </a:rPr>
              <a:t>&amp;</a:t>
            </a:r>
            <a:r>
              <a:rPr dirty="0" sz="3600" spc="-190">
                <a:latin typeface="Arial Black"/>
                <a:cs typeface="Arial Black"/>
              </a:rPr>
              <a:t> </a:t>
            </a:r>
            <a:r>
              <a:rPr dirty="0" sz="3600" spc="-515">
                <a:latin typeface="Arial Black"/>
                <a:cs typeface="Arial Black"/>
              </a:rPr>
              <a:t>EVALUATION</a:t>
            </a:r>
            <a:endParaRPr sz="3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150"/>
              </a:spcBef>
            </a:pPr>
            <a:r>
              <a:rPr dirty="0" sz="3200" spc="-695">
                <a:latin typeface="Arial Black"/>
                <a:cs typeface="Arial Black"/>
              </a:rPr>
              <a:t>KEY</a:t>
            </a:r>
            <a:r>
              <a:rPr dirty="0" sz="3200" spc="-160">
                <a:latin typeface="Arial Black"/>
                <a:cs typeface="Arial Black"/>
              </a:rPr>
              <a:t> </a:t>
            </a:r>
            <a:r>
              <a:rPr dirty="0" sz="3200" spc="-290">
                <a:latin typeface="Arial Black"/>
                <a:cs typeface="Arial Black"/>
              </a:rPr>
              <a:t>DOMAINS</a:t>
            </a:r>
            <a:r>
              <a:rPr dirty="0" sz="3200" spc="-155">
                <a:latin typeface="Arial Black"/>
                <a:cs typeface="Arial Black"/>
              </a:rPr>
              <a:t> </a:t>
            </a:r>
            <a:r>
              <a:rPr dirty="0" sz="3200" spc="-315">
                <a:latin typeface="Arial Black"/>
                <a:cs typeface="Arial Black"/>
              </a:rPr>
              <a:t>OF</a:t>
            </a:r>
            <a:r>
              <a:rPr dirty="0" sz="3200" spc="-155">
                <a:latin typeface="Arial Black"/>
                <a:cs typeface="Arial Black"/>
              </a:rPr>
              <a:t> </a:t>
            </a:r>
            <a:r>
              <a:rPr dirty="0" sz="3200" spc="-425">
                <a:latin typeface="Arial Black"/>
                <a:cs typeface="Arial Black"/>
              </a:rPr>
              <a:t>KNOWLEDGE</a:t>
            </a:r>
            <a:r>
              <a:rPr dirty="0" sz="3200" spc="-155">
                <a:latin typeface="Arial Black"/>
                <a:cs typeface="Arial Black"/>
              </a:rPr>
              <a:t> </a:t>
            </a:r>
            <a:r>
              <a:rPr dirty="0" sz="3200" spc="-590">
                <a:latin typeface="Arial Black"/>
                <a:cs typeface="Arial Black"/>
              </a:rPr>
              <a:t>UTILIZED</a:t>
            </a:r>
            <a:endParaRPr sz="3200">
              <a:latin typeface="Arial Black"/>
              <a:cs typeface="Arial Black"/>
            </a:endParaRPr>
          </a:p>
          <a:p>
            <a:pPr marL="646430" marR="1427480">
              <a:lnSpc>
                <a:spcPct val="114599"/>
              </a:lnSpc>
              <a:spcBef>
                <a:spcPts val="2280"/>
              </a:spcBef>
            </a:pPr>
            <a:r>
              <a:rPr dirty="0" sz="2400" spc="220">
                <a:latin typeface="Trebuchet MS"/>
                <a:cs typeface="Trebuchet MS"/>
              </a:rPr>
              <a:t>Machine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110">
                <a:latin typeface="Trebuchet MS"/>
                <a:cs typeface="Trebuchet MS"/>
              </a:rPr>
              <a:t>Learning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65">
                <a:latin typeface="Trebuchet MS"/>
                <a:cs typeface="Trebuchet MS"/>
              </a:rPr>
              <a:t>&amp;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175">
                <a:latin typeface="Trebuchet MS"/>
                <a:cs typeface="Trebuchet MS"/>
              </a:rPr>
              <a:t>Computer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45">
                <a:latin typeface="Trebuchet MS"/>
                <a:cs typeface="Trebuchet MS"/>
              </a:rPr>
              <a:t>Vision </a:t>
            </a:r>
            <a:r>
              <a:rPr dirty="0" sz="2400" spc="60">
                <a:latin typeface="Trebuchet MS"/>
                <a:cs typeface="Trebuchet MS"/>
              </a:rPr>
              <a:t>Privacy-</a:t>
            </a:r>
            <a:r>
              <a:rPr dirty="0" sz="2400" spc="65">
                <a:latin typeface="Trebuchet MS"/>
                <a:cs typeface="Trebuchet MS"/>
              </a:rPr>
              <a:t>Preserving</a:t>
            </a:r>
            <a:r>
              <a:rPr dirty="0" sz="2400" spc="-5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AI</a:t>
            </a:r>
            <a:endParaRPr sz="2400">
              <a:latin typeface="Trebuchet MS"/>
              <a:cs typeface="Trebuchet MS"/>
            </a:endParaRPr>
          </a:p>
          <a:p>
            <a:pPr marL="646430">
              <a:lnSpc>
                <a:spcPct val="100000"/>
              </a:lnSpc>
              <a:spcBef>
                <a:spcPts val="420"/>
              </a:spcBef>
            </a:pPr>
            <a:r>
              <a:rPr dirty="0" sz="2400" spc="229">
                <a:latin typeface="Trebuchet MS"/>
                <a:cs typeface="Trebuchet MS"/>
              </a:rPr>
              <a:t>Edge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190">
                <a:latin typeface="Trebuchet MS"/>
                <a:cs typeface="Trebuchet MS"/>
              </a:rPr>
              <a:t>Computing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65">
                <a:latin typeface="Trebuchet MS"/>
                <a:cs typeface="Trebuchet MS"/>
              </a:rPr>
              <a:t>&amp;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210">
                <a:latin typeface="Trebuchet MS"/>
                <a:cs typeface="Trebuchet MS"/>
              </a:rPr>
              <a:t>Model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65">
                <a:latin typeface="Trebuchet MS"/>
                <a:cs typeface="Trebuchet MS"/>
              </a:rPr>
              <a:t>Optimization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3431" y="2886327"/>
            <a:ext cx="114300" cy="114299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0089174" y="1929224"/>
            <a:ext cx="7483475" cy="7392034"/>
          </a:xfrm>
          <a:prstGeom prst="rect">
            <a:avLst/>
          </a:prstGeom>
        </p:spPr>
        <p:txBody>
          <a:bodyPr wrap="square" lIns="0" tIns="197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dirty="0" sz="3200" spc="-570">
                <a:latin typeface="Arial Black"/>
                <a:cs typeface="Arial Black"/>
              </a:rPr>
              <a:t>USED</a:t>
            </a:r>
            <a:r>
              <a:rPr dirty="0" sz="3200" spc="-165">
                <a:latin typeface="Arial Black"/>
                <a:cs typeface="Arial Black"/>
              </a:rPr>
              <a:t> </a:t>
            </a:r>
            <a:r>
              <a:rPr dirty="0" sz="3200" spc="-420">
                <a:latin typeface="Arial Black"/>
                <a:cs typeface="Arial Black"/>
              </a:rPr>
              <a:t>TECHNOLOGIES</a:t>
            </a:r>
            <a:endParaRPr sz="3200">
              <a:latin typeface="Arial Black"/>
              <a:cs typeface="Arial Black"/>
            </a:endParaRPr>
          </a:p>
          <a:p>
            <a:pPr marL="113030">
              <a:lnSpc>
                <a:spcPct val="100000"/>
              </a:lnSpc>
              <a:spcBef>
                <a:spcPts val="1090"/>
              </a:spcBef>
            </a:pPr>
            <a:r>
              <a:rPr dirty="0" sz="2400">
                <a:latin typeface="Trebuchet MS"/>
                <a:cs typeface="Trebuchet MS"/>
              </a:rPr>
              <a:t>TensorFlow</a:t>
            </a:r>
            <a:r>
              <a:rPr dirty="0" sz="2400" spc="1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Lite</a:t>
            </a:r>
            <a:r>
              <a:rPr dirty="0" sz="2400" spc="1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2.8+</a:t>
            </a:r>
            <a:endParaRPr sz="2400">
              <a:latin typeface="Trebuchet MS"/>
              <a:cs typeface="Trebuchet MS"/>
            </a:endParaRPr>
          </a:p>
          <a:p>
            <a:pPr marL="113030" marR="2694940">
              <a:lnSpc>
                <a:spcPct val="114599"/>
              </a:lnSpc>
            </a:pPr>
            <a:r>
              <a:rPr dirty="0" sz="2400" spc="229">
                <a:latin typeface="Trebuchet MS"/>
                <a:cs typeface="Trebuchet MS"/>
              </a:rPr>
              <a:t>DeepFace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110">
                <a:latin typeface="Trebuchet MS"/>
                <a:cs typeface="Trebuchet MS"/>
              </a:rPr>
              <a:t>(emotion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90">
                <a:latin typeface="Trebuchet MS"/>
                <a:cs typeface="Trebuchet MS"/>
              </a:rPr>
              <a:t>detection) </a:t>
            </a:r>
            <a:r>
              <a:rPr dirty="0" sz="2400" spc="320">
                <a:latin typeface="Trebuchet MS"/>
                <a:cs typeface="Trebuchet MS"/>
              </a:rPr>
              <a:t>OpenCV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30">
                <a:latin typeface="Trebuchet MS"/>
                <a:cs typeface="Trebuchet MS"/>
              </a:rPr>
              <a:t>(video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processing) </a:t>
            </a:r>
            <a:r>
              <a:rPr dirty="0" sz="2400">
                <a:latin typeface="Trebuchet MS"/>
                <a:cs typeface="Trebuchet MS"/>
              </a:rPr>
              <a:t>diffprivlib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(differential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14">
                <a:latin typeface="Trebuchet MS"/>
                <a:cs typeface="Trebuchet MS"/>
              </a:rPr>
              <a:t>privacy </a:t>
            </a:r>
            <a:r>
              <a:rPr dirty="0" sz="2400" spc="80">
                <a:latin typeface="Trebuchet MS"/>
                <a:cs typeface="Trebuchet MS"/>
              </a:rPr>
              <a:t>implementation)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3453765">
              <a:lnSpc>
                <a:spcPct val="115199"/>
              </a:lnSpc>
            </a:pPr>
            <a:r>
              <a:rPr dirty="0" sz="3200" spc="-455">
                <a:latin typeface="Arial Black"/>
                <a:cs typeface="Arial Black"/>
              </a:rPr>
              <a:t>DATA</a:t>
            </a:r>
            <a:r>
              <a:rPr dirty="0" sz="3200" spc="-165">
                <a:latin typeface="Arial Black"/>
                <a:cs typeface="Arial Black"/>
              </a:rPr>
              <a:t> </a:t>
            </a:r>
            <a:r>
              <a:rPr dirty="0" sz="3200" spc="-480">
                <a:latin typeface="Arial Black"/>
                <a:cs typeface="Arial Black"/>
              </a:rPr>
              <a:t>AVAILABILITY</a:t>
            </a:r>
            <a:r>
              <a:rPr dirty="0" sz="3200" spc="-165">
                <a:latin typeface="Arial Black"/>
                <a:cs typeface="Arial Black"/>
              </a:rPr>
              <a:t> </a:t>
            </a:r>
            <a:r>
              <a:rPr dirty="0" sz="3200" spc="-795">
                <a:latin typeface="Arial Black"/>
                <a:cs typeface="Arial Black"/>
              </a:rPr>
              <a:t>&amp; </a:t>
            </a:r>
            <a:r>
              <a:rPr dirty="0" sz="3200" spc="-500">
                <a:latin typeface="Arial Black"/>
                <a:cs typeface="Arial Black"/>
              </a:rPr>
              <a:t>ETHICAL</a:t>
            </a:r>
            <a:r>
              <a:rPr dirty="0" sz="3200" spc="-165">
                <a:latin typeface="Arial Black"/>
                <a:cs typeface="Arial Black"/>
              </a:rPr>
              <a:t> </a:t>
            </a:r>
            <a:r>
              <a:rPr dirty="0" sz="3200" spc="-420">
                <a:latin typeface="Arial Black"/>
                <a:cs typeface="Arial Black"/>
              </a:rPr>
              <a:t>CLEARANCE</a:t>
            </a:r>
            <a:endParaRPr sz="3200">
              <a:latin typeface="Arial Black"/>
              <a:cs typeface="Arial Black"/>
            </a:endParaRPr>
          </a:p>
          <a:p>
            <a:pPr marL="113030" marR="671830">
              <a:lnSpc>
                <a:spcPct val="114599"/>
              </a:lnSpc>
              <a:spcBef>
                <a:spcPts val="395"/>
              </a:spcBef>
            </a:pPr>
            <a:r>
              <a:rPr dirty="0" sz="2400">
                <a:latin typeface="Trebuchet MS"/>
                <a:cs typeface="Trebuchet MS"/>
              </a:rPr>
              <a:t>FER2013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135">
                <a:latin typeface="Trebuchet MS"/>
                <a:cs typeface="Trebuchet MS"/>
              </a:rPr>
              <a:t>dataset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130">
                <a:latin typeface="Trebuchet MS"/>
                <a:cs typeface="Trebuchet MS"/>
              </a:rPr>
              <a:t>emotion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105">
                <a:latin typeface="Trebuchet MS"/>
                <a:cs typeface="Trebuchet MS"/>
              </a:rPr>
              <a:t>recognition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with </a:t>
            </a:r>
            <a:r>
              <a:rPr dirty="0" sz="2400" spc="85">
                <a:latin typeface="Trebuchet MS"/>
                <a:cs typeface="Trebuchet MS"/>
              </a:rPr>
              <a:t>classroom-</a:t>
            </a:r>
            <a:r>
              <a:rPr dirty="0" sz="2400" spc="70">
                <a:latin typeface="Trebuchet MS"/>
                <a:cs typeface="Trebuchet MS"/>
              </a:rPr>
              <a:t>specific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 spc="150">
                <a:latin typeface="Trebuchet MS"/>
                <a:cs typeface="Trebuchet MS"/>
              </a:rPr>
              <a:t>augmentation</a:t>
            </a:r>
            <a:endParaRPr sz="2400">
              <a:latin typeface="Trebuchet MS"/>
              <a:cs typeface="Trebuchet MS"/>
            </a:endParaRPr>
          </a:p>
          <a:p>
            <a:pPr marL="113030" marR="415925">
              <a:lnSpc>
                <a:spcPct val="114599"/>
              </a:lnSpc>
            </a:pPr>
            <a:r>
              <a:rPr dirty="0" sz="2400">
                <a:latin typeface="Trebuchet MS"/>
                <a:cs typeface="Trebuchet MS"/>
              </a:rPr>
              <a:t>University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IRB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170">
                <a:latin typeface="Trebuchet MS"/>
                <a:cs typeface="Trebuchet MS"/>
              </a:rPr>
              <a:t>approval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110">
                <a:latin typeface="Trebuchet MS"/>
                <a:cs typeface="Trebuchet MS"/>
              </a:rPr>
              <a:t>classroom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85">
                <a:latin typeface="Trebuchet MS"/>
                <a:cs typeface="Trebuchet MS"/>
              </a:rPr>
              <a:t>validation </a:t>
            </a:r>
            <a:r>
              <a:rPr dirty="0" sz="2400">
                <a:latin typeface="Trebuchet MS"/>
                <a:cs typeface="Trebuchet MS"/>
              </a:rPr>
              <a:t>studies</a:t>
            </a:r>
            <a:r>
              <a:rPr dirty="0" sz="2400" spc="5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with</a:t>
            </a:r>
            <a:r>
              <a:rPr dirty="0" sz="2400" spc="55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student</a:t>
            </a:r>
            <a:r>
              <a:rPr dirty="0" sz="2400" spc="50">
                <a:latin typeface="Trebuchet MS"/>
                <a:cs typeface="Trebuchet MS"/>
              </a:rPr>
              <a:t> </a:t>
            </a:r>
            <a:r>
              <a:rPr dirty="0" sz="2400" spc="120">
                <a:latin typeface="Trebuchet MS"/>
                <a:cs typeface="Trebuchet MS"/>
              </a:rPr>
              <a:t>consent</a:t>
            </a:r>
            <a:endParaRPr sz="2400">
              <a:latin typeface="Trebuchet MS"/>
              <a:cs typeface="Trebuchet MS"/>
            </a:endParaRPr>
          </a:p>
          <a:p>
            <a:pPr marL="113030" marR="5080">
              <a:lnSpc>
                <a:spcPct val="114599"/>
              </a:lnSpc>
            </a:pPr>
            <a:r>
              <a:rPr dirty="0" sz="2400">
                <a:latin typeface="Trebuchet MS"/>
                <a:cs typeface="Trebuchet MS"/>
              </a:rPr>
              <a:t>FERPA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175">
                <a:latin typeface="Trebuchet MS"/>
                <a:cs typeface="Trebuchet MS"/>
              </a:rPr>
              <a:t>compliance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 spc="120">
                <a:latin typeface="Trebuchet MS"/>
                <a:cs typeface="Trebuchet MS"/>
              </a:rPr>
              <a:t>through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95">
                <a:latin typeface="Trebuchet MS"/>
                <a:cs typeface="Trebuchet MS"/>
              </a:rPr>
              <a:t>local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processing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 spc="240">
                <a:latin typeface="Trebuchet MS"/>
                <a:cs typeface="Trebuchet MS"/>
              </a:rPr>
              <a:t>and </a:t>
            </a:r>
            <a:r>
              <a:rPr dirty="0" sz="2400">
                <a:latin typeface="Trebuchet MS"/>
                <a:cs typeface="Trebuchet MS"/>
              </a:rPr>
              <a:t>differential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privacy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-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220">
                <a:latin typeface="Trebuchet MS"/>
                <a:cs typeface="Trebuchet MS"/>
              </a:rPr>
              <a:t>no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80">
                <a:latin typeface="Trebuchet MS"/>
                <a:cs typeface="Trebuchet MS"/>
              </a:rPr>
              <a:t>biometric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225">
                <a:latin typeface="Trebuchet MS"/>
                <a:cs typeface="Trebuchet MS"/>
              </a:rPr>
              <a:t>data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135">
                <a:latin typeface="Trebuchet MS"/>
                <a:cs typeface="Trebuchet MS"/>
              </a:rPr>
              <a:t>storage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35">
                <a:latin typeface="Trebuchet MS"/>
                <a:cs typeface="Trebuchet MS"/>
              </a:rPr>
              <a:t>or </a:t>
            </a:r>
            <a:r>
              <a:rPr dirty="0" sz="2400" spc="-10">
                <a:latin typeface="Trebuchet MS"/>
                <a:cs typeface="Trebuchet MS"/>
              </a:rPr>
              <a:t>transmission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3431" y="3305427"/>
            <a:ext cx="114300" cy="114299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3431" y="3724526"/>
            <a:ext cx="114300" cy="114299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3431" y="4143626"/>
            <a:ext cx="114300" cy="114299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8132" y="6342562"/>
            <a:ext cx="114300" cy="114299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8132" y="6761662"/>
            <a:ext cx="114300" cy="114299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8132" y="7180762"/>
            <a:ext cx="114300" cy="114299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1672239" y="5365748"/>
            <a:ext cx="6615430" cy="2060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80">
                <a:latin typeface="Arial Black"/>
                <a:cs typeface="Arial Black"/>
              </a:rPr>
              <a:t>HOW</a:t>
            </a:r>
            <a:r>
              <a:rPr dirty="0" sz="3200" spc="-175">
                <a:latin typeface="Arial Black"/>
                <a:cs typeface="Arial Black"/>
              </a:rPr>
              <a:t> </a:t>
            </a:r>
            <a:r>
              <a:rPr dirty="0" sz="3200" spc="-490">
                <a:latin typeface="Arial Black"/>
                <a:cs typeface="Arial Black"/>
              </a:rPr>
              <a:t>TO</a:t>
            </a:r>
            <a:r>
              <a:rPr dirty="0" sz="3200" spc="-170">
                <a:latin typeface="Arial Black"/>
                <a:cs typeface="Arial Black"/>
              </a:rPr>
              <a:t> </a:t>
            </a:r>
            <a:r>
              <a:rPr dirty="0" sz="3200" spc="-580">
                <a:latin typeface="Arial Black"/>
                <a:cs typeface="Arial Black"/>
              </a:rPr>
              <a:t>EVALUATE</a:t>
            </a:r>
            <a:endParaRPr sz="3200">
              <a:latin typeface="Arial Black"/>
              <a:cs typeface="Arial Black"/>
            </a:endParaRPr>
          </a:p>
          <a:p>
            <a:pPr marL="414655" marR="5080">
              <a:lnSpc>
                <a:spcPct val="114599"/>
              </a:lnSpc>
              <a:spcBef>
                <a:spcPts val="2280"/>
              </a:spcBef>
            </a:pPr>
            <a:r>
              <a:rPr dirty="0" sz="2400">
                <a:latin typeface="Trebuchet MS"/>
                <a:cs typeface="Trebuchet MS"/>
              </a:rPr>
              <a:t>Multi-</a:t>
            </a:r>
            <a:r>
              <a:rPr dirty="0" sz="2400" spc="195">
                <a:latin typeface="Trebuchet MS"/>
                <a:cs typeface="Trebuchet MS"/>
              </a:rPr>
              <a:t>modal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130">
                <a:latin typeface="Trebuchet MS"/>
                <a:cs typeface="Trebuchet MS"/>
              </a:rPr>
              <a:t>behavioral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analysis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200">
                <a:latin typeface="Trebuchet MS"/>
                <a:cs typeface="Trebuchet MS"/>
              </a:rPr>
              <a:t>accuracy </a:t>
            </a:r>
            <a:r>
              <a:rPr dirty="0" sz="2400" spc="85">
                <a:latin typeface="Trebuchet MS"/>
                <a:cs typeface="Trebuchet MS"/>
              </a:rPr>
              <a:t>Privacy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85">
                <a:latin typeface="Trebuchet MS"/>
                <a:cs typeface="Trebuchet MS"/>
              </a:rPr>
              <a:t>preservation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35">
                <a:latin typeface="Trebuchet MS"/>
                <a:cs typeface="Trebuchet MS"/>
              </a:rPr>
              <a:t>verification </a:t>
            </a:r>
            <a:r>
              <a:rPr dirty="0" sz="2400" spc="160">
                <a:latin typeface="Trebuchet MS"/>
                <a:cs typeface="Trebuchet MS"/>
              </a:rPr>
              <a:t>Membership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80">
                <a:latin typeface="Trebuchet MS"/>
                <a:cs typeface="Trebuchet MS"/>
              </a:rPr>
              <a:t>inference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3431" y="6561211"/>
            <a:ext cx="114300" cy="114299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3431" y="7399411"/>
            <a:ext cx="114300" cy="114299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3431" y="8237611"/>
            <a:ext cx="114300" cy="114299"/>
          </a:xfrm>
          <a:prstGeom prst="rect">
            <a:avLst/>
          </a:prstGeom>
        </p:spPr>
      </p:pic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779450" y="286070"/>
            <a:ext cx="12111355" cy="5892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700" spc="6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PRIVACY-</a:t>
            </a:r>
            <a:r>
              <a:rPr dirty="0" u="heavy" sz="370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PRESERVING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8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EDGE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16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AI</a:t>
            </a:r>
            <a:r>
              <a:rPr dirty="0" u="heavy" sz="370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BEHAVIORAL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4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ANALYSIS</a:t>
            </a:r>
            <a:endParaRPr sz="3700">
              <a:latin typeface="Trebuchet MS"/>
              <a:cs typeface="Trebuchet MS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478809" y="9192091"/>
            <a:ext cx="8114665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IT22073228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-50">
                <a:latin typeface="Trebuchet MS"/>
                <a:cs typeface="Trebuchet MS"/>
              </a:rPr>
              <a:t>D.W.A.I.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240">
                <a:latin typeface="Trebuchet MS"/>
                <a:cs typeface="Trebuchet MS"/>
              </a:rPr>
              <a:t>Abeynayake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3" name="object 3" descr="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-102486" y="3089010"/>
            <a:ext cx="982344" cy="3914775"/>
          </a:xfrm>
          <a:custGeom>
            <a:avLst/>
            <a:gdLst/>
            <a:ahLst/>
            <a:cxnLst/>
            <a:rect l="l" t="t" r="r" b="b"/>
            <a:pathLst>
              <a:path w="982344" h="3914775">
                <a:moveTo>
                  <a:pt x="757070" y="80184"/>
                </a:moveTo>
                <a:lnTo>
                  <a:pt x="102486" y="80184"/>
                </a:lnTo>
                <a:lnTo>
                  <a:pt x="102486" y="642"/>
                </a:lnTo>
                <a:lnTo>
                  <a:pt x="912453" y="0"/>
                </a:lnTo>
                <a:lnTo>
                  <a:pt x="945245" y="1624"/>
                </a:lnTo>
                <a:lnTo>
                  <a:pt x="963539" y="9727"/>
                </a:lnTo>
                <a:lnTo>
                  <a:pt x="971499" y="28455"/>
                </a:lnTo>
                <a:lnTo>
                  <a:pt x="973290" y="61956"/>
                </a:lnTo>
                <a:lnTo>
                  <a:pt x="973298" y="79871"/>
                </a:lnTo>
                <a:lnTo>
                  <a:pt x="860699" y="79871"/>
                </a:lnTo>
                <a:lnTo>
                  <a:pt x="757070" y="80184"/>
                </a:lnTo>
                <a:close/>
              </a:path>
              <a:path w="982344" h="3914775">
                <a:moveTo>
                  <a:pt x="944240" y="1583241"/>
                </a:moveTo>
                <a:lnTo>
                  <a:pt x="926599" y="1579445"/>
                </a:lnTo>
                <a:lnTo>
                  <a:pt x="912469" y="1567192"/>
                </a:lnTo>
                <a:lnTo>
                  <a:pt x="903074" y="1547988"/>
                </a:lnTo>
                <a:lnTo>
                  <a:pt x="899639" y="1523337"/>
                </a:lnTo>
                <a:lnTo>
                  <a:pt x="899708" y="928570"/>
                </a:lnTo>
                <a:lnTo>
                  <a:pt x="899491" y="879013"/>
                </a:lnTo>
                <a:lnTo>
                  <a:pt x="899217" y="834617"/>
                </a:lnTo>
                <a:lnTo>
                  <a:pt x="898779" y="779904"/>
                </a:lnTo>
                <a:lnTo>
                  <a:pt x="898283" y="732463"/>
                </a:lnTo>
                <a:lnTo>
                  <a:pt x="897618" y="680803"/>
                </a:lnTo>
                <a:lnTo>
                  <a:pt x="896840" y="631256"/>
                </a:lnTo>
                <a:lnTo>
                  <a:pt x="896067" y="579304"/>
                </a:lnTo>
                <a:lnTo>
                  <a:pt x="895480" y="527356"/>
                </a:lnTo>
                <a:lnTo>
                  <a:pt x="895043" y="475410"/>
                </a:lnTo>
                <a:lnTo>
                  <a:pt x="894723" y="423467"/>
                </a:lnTo>
                <a:lnTo>
                  <a:pt x="894484" y="371527"/>
                </a:lnTo>
                <a:lnTo>
                  <a:pt x="893908" y="215715"/>
                </a:lnTo>
                <a:lnTo>
                  <a:pt x="893647" y="163779"/>
                </a:lnTo>
                <a:lnTo>
                  <a:pt x="893294" y="111844"/>
                </a:lnTo>
                <a:lnTo>
                  <a:pt x="891595" y="96159"/>
                </a:lnTo>
                <a:lnTo>
                  <a:pt x="886187" y="86340"/>
                </a:lnTo>
                <a:lnTo>
                  <a:pt x="876131" y="81254"/>
                </a:lnTo>
                <a:lnTo>
                  <a:pt x="875894" y="81254"/>
                </a:lnTo>
                <a:lnTo>
                  <a:pt x="860699" y="79871"/>
                </a:lnTo>
                <a:lnTo>
                  <a:pt x="973298" y="79871"/>
                </a:lnTo>
                <a:lnTo>
                  <a:pt x="973343" y="163779"/>
                </a:lnTo>
                <a:lnTo>
                  <a:pt x="973601" y="196132"/>
                </a:lnTo>
                <a:lnTo>
                  <a:pt x="974902" y="300020"/>
                </a:lnTo>
                <a:lnTo>
                  <a:pt x="979075" y="611661"/>
                </a:lnTo>
                <a:lnTo>
                  <a:pt x="973713" y="641891"/>
                </a:lnTo>
                <a:lnTo>
                  <a:pt x="971875" y="672109"/>
                </a:lnTo>
                <a:lnTo>
                  <a:pt x="973791" y="702303"/>
                </a:lnTo>
                <a:lnTo>
                  <a:pt x="979697" y="732463"/>
                </a:lnTo>
                <a:lnTo>
                  <a:pt x="979797" y="834617"/>
                </a:lnTo>
                <a:lnTo>
                  <a:pt x="979923" y="978129"/>
                </a:lnTo>
                <a:lnTo>
                  <a:pt x="979980" y="1038941"/>
                </a:lnTo>
                <a:lnTo>
                  <a:pt x="980105" y="1141106"/>
                </a:lnTo>
                <a:lnTo>
                  <a:pt x="980186" y="1192187"/>
                </a:lnTo>
                <a:lnTo>
                  <a:pt x="980282" y="1243268"/>
                </a:lnTo>
                <a:lnTo>
                  <a:pt x="980532" y="1345425"/>
                </a:lnTo>
                <a:lnTo>
                  <a:pt x="980692" y="1396501"/>
                </a:lnTo>
                <a:lnTo>
                  <a:pt x="981886" y="1440128"/>
                </a:lnTo>
                <a:lnTo>
                  <a:pt x="981886" y="1548977"/>
                </a:lnTo>
                <a:lnTo>
                  <a:pt x="974222" y="1565886"/>
                </a:lnTo>
                <a:lnTo>
                  <a:pt x="961074" y="1578249"/>
                </a:lnTo>
                <a:lnTo>
                  <a:pt x="944240" y="1583241"/>
                </a:lnTo>
                <a:close/>
              </a:path>
              <a:path w="982344" h="3914775">
                <a:moveTo>
                  <a:pt x="102486" y="80888"/>
                </a:moveTo>
                <a:lnTo>
                  <a:pt x="0" y="80888"/>
                </a:lnTo>
                <a:lnTo>
                  <a:pt x="708422" y="80184"/>
                </a:lnTo>
                <a:lnTo>
                  <a:pt x="102486" y="80184"/>
                </a:lnTo>
                <a:lnTo>
                  <a:pt x="102486" y="80888"/>
                </a:lnTo>
                <a:close/>
              </a:path>
              <a:path w="982344" h="3914775">
                <a:moveTo>
                  <a:pt x="102486" y="81254"/>
                </a:moveTo>
                <a:lnTo>
                  <a:pt x="102486" y="80888"/>
                </a:lnTo>
                <a:lnTo>
                  <a:pt x="187076" y="80888"/>
                </a:lnTo>
                <a:lnTo>
                  <a:pt x="102486" y="81254"/>
                </a:lnTo>
                <a:close/>
              </a:path>
              <a:path w="982344" h="3914775">
                <a:moveTo>
                  <a:pt x="102486" y="3914207"/>
                </a:moveTo>
                <a:lnTo>
                  <a:pt x="102486" y="3833363"/>
                </a:lnTo>
                <a:lnTo>
                  <a:pt x="667979" y="3832831"/>
                </a:lnTo>
                <a:lnTo>
                  <a:pt x="794382" y="3832831"/>
                </a:lnTo>
                <a:lnTo>
                  <a:pt x="826175" y="3832325"/>
                </a:lnTo>
                <a:lnTo>
                  <a:pt x="845171" y="3833824"/>
                </a:lnTo>
                <a:lnTo>
                  <a:pt x="860294" y="3839976"/>
                </a:lnTo>
                <a:lnTo>
                  <a:pt x="870892" y="3851587"/>
                </a:lnTo>
                <a:lnTo>
                  <a:pt x="876312" y="3869462"/>
                </a:lnTo>
                <a:lnTo>
                  <a:pt x="874107" y="3885166"/>
                </a:lnTo>
                <a:lnTo>
                  <a:pt x="824744" y="3908277"/>
                </a:lnTo>
                <a:lnTo>
                  <a:pt x="724597" y="3911342"/>
                </a:lnTo>
                <a:lnTo>
                  <a:pt x="530711" y="3913864"/>
                </a:lnTo>
                <a:lnTo>
                  <a:pt x="173707" y="3913864"/>
                </a:lnTo>
                <a:lnTo>
                  <a:pt x="102486" y="3914207"/>
                </a:lnTo>
                <a:close/>
              </a:path>
              <a:path w="982344" h="3914775">
                <a:moveTo>
                  <a:pt x="759514" y="3832831"/>
                </a:moveTo>
                <a:lnTo>
                  <a:pt x="661659" y="3832831"/>
                </a:lnTo>
                <a:lnTo>
                  <a:pt x="693579" y="3832631"/>
                </a:lnTo>
                <a:lnTo>
                  <a:pt x="726164" y="3832631"/>
                </a:lnTo>
                <a:lnTo>
                  <a:pt x="759514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9107" y="2894163"/>
            <a:ext cx="114300" cy="11429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875403" y="1945488"/>
            <a:ext cx="15331440" cy="2032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dirty="0" sz="3200" spc="-530">
                <a:latin typeface="Arial Black"/>
                <a:cs typeface="Arial Black"/>
              </a:rPr>
              <a:t>EXPECTED</a:t>
            </a:r>
            <a:r>
              <a:rPr dirty="0" sz="3200" spc="-155">
                <a:latin typeface="Arial Black"/>
                <a:cs typeface="Arial Black"/>
              </a:rPr>
              <a:t> </a:t>
            </a:r>
            <a:r>
              <a:rPr dirty="0" sz="3200" spc="-660">
                <a:latin typeface="Arial Black"/>
                <a:cs typeface="Arial Black"/>
              </a:rPr>
              <a:t>OUTPUTS</a:t>
            </a:r>
            <a:endParaRPr sz="3200">
              <a:latin typeface="Arial Black"/>
              <a:cs typeface="Arial Black"/>
            </a:endParaRPr>
          </a:p>
          <a:p>
            <a:pPr marL="12700" marR="323850">
              <a:lnSpc>
                <a:spcPct val="114599"/>
              </a:lnSpc>
              <a:spcBef>
                <a:spcPts val="2060"/>
              </a:spcBef>
            </a:pPr>
            <a:r>
              <a:rPr dirty="0" sz="2400" spc="55">
                <a:latin typeface="Trebuchet MS"/>
                <a:cs typeface="Trebuchet MS"/>
              </a:rPr>
              <a:t>Real-</a:t>
            </a:r>
            <a:r>
              <a:rPr dirty="0" sz="2400" spc="10">
                <a:latin typeface="Trebuchet MS"/>
                <a:cs typeface="Trebuchet MS"/>
              </a:rPr>
              <a:t>time</a:t>
            </a:r>
            <a:r>
              <a:rPr dirty="0" sz="2400" spc="45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individual</a:t>
            </a:r>
            <a:r>
              <a:rPr dirty="0" sz="2400" spc="45">
                <a:latin typeface="Trebuchet MS"/>
                <a:cs typeface="Trebuchet MS"/>
              </a:rPr>
              <a:t> </a:t>
            </a:r>
            <a:r>
              <a:rPr dirty="0" sz="2400" spc="130">
                <a:latin typeface="Trebuchet MS"/>
                <a:cs typeface="Trebuchet MS"/>
              </a:rPr>
              <a:t>behavioral</a:t>
            </a:r>
            <a:r>
              <a:rPr dirty="0" sz="2400" spc="50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analysis</a:t>
            </a:r>
            <a:r>
              <a:rPr dirty="0" sz="2400" spc="45">
                <a:latin typeface="Trebuchet MS"/>
                <a:cs typeface="Trebuchet MS"/>
              </a:rPr>
              <a:t> </a:t>
            </a:r>
            <a:r>
              <a:rPr dirty="0" sz="2400" spc="75">
                <a:latin typeface="Trebuchet MS"/>
                <a:cs typeface="Trebuchet MS"/>
              </a:rPr>
              <a:t>(emotion,</a:t>
            </a:r>
            <a:r>
              <a:rPr dirty="0" sz="2400" spc="45">
                <a:latin typeface="Trebuchet MS"/>
                <a:cs typeface="Trebuchet MS"/>
              </a:rPr>
              <a:t> posture,</a:t>
            </a:r>
            <a:r>
              <a:rPr dirty="0" sz="2400" spc="50">
                <a:latin typeface="Trebuchet MS"/>
                <a:cs typeface="Trebuchet MS"/>
              </a:rPr>
              <a:t> </a:t>
            </a:r>
            <a:r>
              <a:rPr dirty="0" sz="2400" spc="10">
                <a:latin typeface="Trebuchet MS"/>
                <a:cs typeface="Trebuchet MS"/>
              </a:rPr>
              <a:t>activity</a:t>
            </a:r>
            <a:r>
              <a:rPr dirty="0" sz="2400" spc="45">
                <a:latin typeface="Trebuchet MS"/>
                <a:cs typeface="Trebuchet MS"/>
              </a:rPr>
              <a:t> </a:t>
            </a:r>
            <a:r>
              <a:rPr dirty="0" sz="2400" spc="10">
                <a:latin typeface="Trebuchet MS"/>
                <a:cs typeface="Trebuchet MS"/>
              </a:rPr>
              <a:t>classification)</a:t>
            </a:r>
            <a:r>
              <a:rPr dirty="0" sz="2400" spc="50">
                <a:latin typeface="Trebuchet MS"/>
                <a:cs typeface="Trebuchet MS"/>
              </a:rPr>
              <a:t> </a:t>
            </a:r>
            <a:r>
              <a:rPr dirty="0" sz="2400" spc="150">
                <a:latin typeface="Trebuchet MS"/>
                <a:cs typeface="Trebuchet MS"/>
              </a:rPr>
              <a:t>processed</a:t>
            </a:r>
            <a:r>
              <a:rPr dirty="0" sz="2400" spc="45">
                <a:latin typeface="Trebuchet MS"/>
                <a:cs typeface="Trebuchet MS"/>
              </a:rPr>
              <a:t> locally </a:t>
            </a:r>
            <a:r>
              <a:rPr dirty="0" sz="2400" spc="195">
                <a:latin typeface="Trebuchet MS"/>
                <a:cs typeface="Trebuchet MS"/>
              </a:rPr>
              <a:t>on </a:t>
            </a:r>
            <a:r>
              <a:rPr dirty="0" sz="2400" spc="260">
                <a:latin typeface="Trebuchet MS"/>
                <a:cs typeface="Trebuchet MS"/>
              </a:rPr>
              <a:t>each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student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160">
                <a:latin typeface="Trebuchet MS"/>
                <a:cs typeface="Trebuchet MS"/>
              </a:rPr>
              <a:t>device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2400" spc="175">
                <a:latin typeface="Trebuchet MS"/>
                <a:cs typeface="Trebuchet MS"/>
              </a:rPr>
              <a:t>Anonymous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240">
                <a:latin typeface="Trebuchet MS"/>
                <a:cs typeface="Trebuchet MS"/>
              </a:rPr>
              <a:t>aggregated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110">
                <a:latin typeface="Trebuchet MS"/>
                <a:cs typeface="Trebuchet MS"/>
              </a:rPr>
              <a:t>classroom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insights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140">
                <a:latin typeface="Trebuchet MS"/>
                <a:cs typeface="Trebuchet MS"/>
              </a:rPr>
              <a:t>educators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120">
                <a:latin typeface="Trebuchet MS"/>
                <a:cs typeface="Trebuchet MS"/>
              </a:rPr>
              <a:t>through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95">
                <a:latin typeface="Trebuchet MS"/>
                <a:cs typeface="Trebuchet MS"/>
              </a:rPr>
              <a:t>privacy-preserving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204">
                <a:latin typeface="Trebuchet MS"/>
                <a:cs typeface="Trebuchet MS"/>
              </a:rPr>
              <a:t>metadata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95">
                <a:latin typeface="Trebuchet MS"/>
                <a:cs typeface="Trebuchet MS"/>
              </a:rPr>
              <a:t>sharing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9107" y="3732363"/>
            <a:ext cx="114300" cy="1142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2301" y="5756466"/>
            <a:ext cx="114300" cy="11429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2301" y="6175566"/>
            <a:ext cx="114300" cy="11429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2301" y="6594667"/>
            <a:ext cx="114300" cy="11429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2301" y="7013766"/>
            <a:ext cx="114300" cy="114299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2301" y="7432866"/>
            <a:ext cx="114300" cy="114299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1309250" y="4838154"/>
            <a:ext cx="5442585" cy="284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00">
                <a:latin typeface="Arial Black"/>
                <a:cs typeface="Arial Black"/>
              </a:rPr>
              <a:t>ETHICAL</a:t>
            </a:r>
            <a:r>
              <a:rPr dirty="0" sz="3200" spc="-165">
                <a:latin typeface="Arial Black"/>
                <a:cs typeface="Arial Black"/>
              </a:rPr>
              <a:t> </a:t>
            </a:r>
            <a:r>
              <a:rPr dirty="0" sz="3200" spc="-405">
                <a:latin typeface="Arial Black"/>
                <a:cs typeface="Arial Black"/>
              </a:rPr>
              <a:t>CONSIDERATIONS</a:t>
            </a:r>
            <a:endParaRPr sz="3200">
              <a:latin typeface="Arial Black"/>
              <a:cs typeface="Arial Black"/>
            </a:endParaRPr>
          </a:p>
          <a:p>
            <a:pPr marL="341630" marR="5080">
              <a:lnSpc>
                <a:spcPct val="114599"/>
              </a:lnSpc>
              <a:spcBef>
                <a:spcPts val="1820"/>
              </a:spcBef>
            </a:pPr>
            <a:r>
              <a:rPr dirty="0" sz="2400" spc="175">
                <a:latin typeface="Trebuchet MS"/>
                <a:cs typeface="Trebuchet MS"/>
              </a:rPr>
              <a:t>Complete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95">
                <a:latin typeface="Trebuchet MS"/>
                <a:cs typeface="Trebuchet MS"/>
              </a:rPr>
              <a:t>local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10">
                <a:latin typeface="Trebuchet MS"/>
                <a:cs typeface="Trebuchet MS"/>
              </a:rPr>
              <a:t>processing </a:t>
            </a:r>
            <a:r>
              <a:rPr dirty="0" sz="2400" spc="155">
                <a:latin typeface="Trebuchet MS"/>
                <a:cs typeface="Trebuchet MS"/>
              </a:rPr>
              <a:t>Mathematical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privacy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45">
                <a:latin typeface="Trebuchet MS"/>
                <a:cs typeface="Trebuchet MS"/>
              </a:rPr>
              <a:t>guarantees </a:t>
            </a:r>
            <a:r>
              <a:rPr dirty="0" sz="2400" spc="75">
                <a:latin typeface="Trebuchet MS"/>
                <a:cs typeface="Trebuchet MS"/>
              </a:rPr>
              <a:t>Student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170">
                <a:latin typeface="Trebuchet MS"/>
                <a:cs typeface="Trebuchet MS"/>
              </a:rPr>
              <a:t>autonomy</a:t>
            </a:r>
            <a:endParaRPr sz="2400">
              <a:latin typeface="Trebuchet MS"/>
              <a:cs typeface="Trebuchet MS"/>
            </a:endParaRPr>
          </a:p>
          <a:p>
            <a:pPr marL="341630" marR="1608455">
              <a:lnSpc>
                <a:spcPct val="114599"/>
              </a:lnSpc>
            </a:pPr>
            <a:r>
              <a:rPr dirty="0" sz="2400" spc="245">
                <a:latin typeface="Trebuchet MS"/>
                <a:cs typeface="Trebuchet MS"/>
              </a:rPr>
              <a:t>No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50">
                <a:latin typeface="Trebuchet MS"/>
                <a:cs typeface="Trebuchet MS"/>
              </a:rPr>
              <a:t>surveillance </a:t>
            </a:r>
            <a:r>
              <a:rPr dirty="0" sz="2400" spc="100">
                <a:latin typeface="Trebuchet MS"/>
                <a:cs typeface="Trebuchet MS"/>
              </a:rPr>
              <a:t>Regulatory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65">
                <a:latin typeface="Trebuchet MS"/>
                <a:cs typeface="Trebuchet MS"/>
              </a:rPr>
              <a:t>compliance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779450" y="286070"/>
            <a:ext cx="12111355" cy="5892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700" spc="6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PRIVACY-</a:t>
            </a:r>
            <a:r>
              <a:rPr dirty="0" u="heavy" sz="370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PRESERVING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8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EDGE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16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AI</a:t>
            </a:r>
            <a:r>
              <a:rPr dirty="0" u="heavy" sz="370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BEHAVIORAL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4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ANALYSIS</a:t>
            </a:r>
            <a:endParaRPr sz="3700">
              <a:latin typeface="Trebuchet MS"/>
              <a:cs typeface="Trebuchet MS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7847" y="5756466"/>
            <a:ext cx="114300" cy="114299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7847" y="6594667"/>
            <a:ext cx="114300" cy="114299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7847" y="7013766"/>
            <a:ext cx="114300" cy="114299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7847" y="7432866"/>
            <a:ext cx="114300" cy="114299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7847" y="7851966"/>
            <a:ext cx="114300" cy="114299"/>
          </a:xfrm>
          <a:prstGeom prst="rect">
            <a:avLst/>
          </a:prstGeom>
        </p:spPr>
      </p:pic>
      <p:sp>
        <p:nvSpPr>
          <p:cNvPr id="24" name="object 2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82575">
              <a:lnSpc>
                <a:spcPct val="100000"/>
              </a:lnSpc>
              <a:spcBef>
                <a:spcPts val="100"/>
              </a:spcBef>
            </a:pPr>
            <a:r>
              <a:rPr dirty="0" spc="-535"/>
              <a:t>NETWORK</a:t>
            </a:r>
            <a:r>
              <a:rPr dirty="0" spc="-160"/>
              <a:t> </a:t>
            </a:r>
            <a:r>
              <a:rPr dirty="0" spc="-440"/>
              <a:t>PERFORMANCE</a:t>
            </a:r>
          </a:p>
          <a:p>
            <a:pPr marL="12700" marR="598805" indent="517525">
              <a:lnSpc>
                <a:spcPct val="114599"/>
              </a:lnSpc>
              <a:spcBef>
                <a:spcPts val="1820"/>
              </a:spcBef>
            </a:pPr>
            <a:r>
              <a:rPr dirty="0" sz="2400" spc="90">
                <a:latin typeface="Trebuchet MS"/>
                <a:cs typeface="Trebuchet MS"/>
              </a:rPr>
              <a:t>Bandwidth: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0.20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Kbps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 spc="50">
                <a:latin typeface="Trebuchet MS"/>
                <a:cs typeface="Trebuchet MS"/>
              </a:rPr>
              <a:t>vs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72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 spc="254">
                <a:latin typeface="Trebuchet MS"/>
                <a:cs typeface="Trebuchet MS"/>
              </a:rPr>
              <a:t>Mbps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(358,293×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 spc="80">
                <a:latin typeface="Trebuchet MS"/>
                <a:cs typeface="Trebuchet MS"/>
              </a:rPr>
              <a:t>reduction) </a:t>
            </a:r>
            <a:r>
              <a:rPr dirty="0" sz="2400" spc="60">
                <a:latin typeface="Trebuchet MS"/>
                <a:cs typeface="Trebuchet MS"/>
              </a:rPr>
              <a:t>Works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220">
                <a:latin typeface="Trebuchet MS"/>
                <a:cs typeface="Trebuchet MS"/>
              </a:rPr>
              <a:t>on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low-</a:t>
            </a:r>
            <a:r>
              <a:rPr dirty="0" sz="2400" spc="160">
                <a:latin typeface="Trebuchet MS"/>
                <a:cs typeface="Trebuchet MS"/>
              </a:rPr>
              <a:t>bandwidth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135">
                <a:latin typeface="Trebuchet MS"/>
                <a:cs typeface="Trebuchet MS"/>
              </a:rPr>
              <a:t>connections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135">
                <a:latin typeface="Trebuchet MS"/>
                <a:cs typeface="Trebuchet MS"/>
              </a:rPr>
              <a:t>(2G/3G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compatible)</a:t>
            </a:r>
            <a:endParaRPr sz="2400">
              <a:latin typeface="Trebuchet MS"/>
              <a:cs typeface="Trebuchet MS"/>
            </a:endParaRPr>
          </a:p>
          <a:p>
            <a:pPr marL="530225" marR="5080">
              <a:lnSpc>
                <a:spcPct val="114599"/>
              </a:lnSpc>
            </a:pPr>
            <a:r>
              <a:rPr dirty="0" sz="2400" spc="80">
                <a:latin typeface="Trebuchet MS"/>
                <a:cs typeface="Trebuchet MS"/>
              </a:rPr>
              <a:t>Latency: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2.1s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45">
                <a:latin typeface="Trebuchet MS"/>
                <a:cs typeface="Trebuchet MS"/>
              </a:rPr>
              <a:t>end-</a:t>
            </a:r>
            <a:r>
              <a:rPr dirty="0" sz="2400">
                <a:latin typeface="Trebuchet MS"/>
                <a:cs typeface="Trebuchet MS"/>
              </a:rPr>
              <a:t>to-</a:t>
            </a:r>
            <a:r>
              <a:rPr dirty="0" sz="2400" spc="225">
                <a:latin typeface="Trebuchet MS"/>
                <a:cs typeface="Trebuchet MS"/>
              </a:rPr>
              <a:t>end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(detection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1100" spc="1365">
                <a:latin typeface="Lucida Sans Unicode"/>
                <a:cs typeface="Lucida Sans Unicode"/>
              </a:rPr>
              <a:t>→</a:t>
            </a:r>
            <a:r>
              <a:rPr dirty="0" sz="1100" spc="330">
                <a:latin typeface="Lucida Sans Unicode"/>
                <a:cs typeface="Lucida Sans Unicode"/>
              </a:rPr>
              <a:t> </a:t>
            </a:r>
            <a:r>
              <a:rPr dirty="0" sz="2400" spc="175">
                <a:latin typeface="Trebuchet MS"/>
                <a:cs typeface="Trebuchet MS"/>
              </a:rPr>
              <a:t>dashboard) </a:t>
            </a:r>
            <a:r>
              <a:rPr dirty="0" sz="2400">
                <a:latin typeface="Trebuchet MS"/>
                <a:cs typeface="Trebuchet MS"/>
              </a:rPr>
              <a:t>Scalability: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&lt;1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254">
                <a:latin typeface="Trebuchet MS"/>
                <a:cs typeface="Trebuchet MS"/>
              </a:rPr>
              <a:t>Mbps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100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55">
                <a:latin typeface="Trebuchet MS"/>
                <a:cs typeface="Trebuchet MS"/>
              </a:rPr>
              <a:t>students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(vs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400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254">
                <a:latin typeface="Trebuchet MS"/>
                <a:cs typeface="Trebuchet MS"/>
              </a:rPr>
              <a:t>Mbps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120">
                <a:latin typeface="Trebuchet MS"/>
                <a:cs typeface="Trebuchet MS"/>
              </a:rPr>
              <a:t>video) </a:t>
            </a:r>
            <a:r>
              <a:rPr dirty="0" sz="2400" spc="-20">
                <a:latin typeface="Trebuchet MS"/>
                <a:cs typeface="Trebuchet MS"/>
              </a:rPr>
              <a:t>Reliability: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150">
                <a:latin typeface="Trebuchet MS"/>
                <a:cs typeface="Trebuchet MS"/>
              </a:rPr>
              <a:t>100%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offline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capability,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240">
                <a:latin typeface="Trebuchet MS"/>
                <a:cs typeface="Trebuchet MS"/>
              </a:rPr>
              <a:t>0%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220">
                <a:latin typeface="Trebuchet MS"/>
                <a:cs typeface="Trebuchet MS"/>
              </a:rPr>
              <a:t>data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loss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risk </a:t>
            </a:r>
            <a:r>
              <a:rPr dirty="0" sz="2400">
                <a:latin typeface="Trebuchet MS"/>
                <a:cs typeface="Trebuchet MS"/>
              </a:rPr>
              <a:t>Efficiency:</a:t>
            </a:r>
            <a:r>
              <a:rPr dirty="0" sz="2400" spc="-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1-</a:t>
            </a:r>
            <a:r>
              <a:rPr dirty="0" sz="2400" spc="60">
                <a:latin typeface="Trebuchet MS"/>
                <a:cs typeface="Trebuchet MS"/>
              </a:rPr>
              <a:t>2</a:t>
            </a:r>
            <a:r>
              <a:rPr dirty="0" sz="2400" spc="-5">
                <a:latin typeface="Trebuchet MS"/>
                <a:cs typeface="Trebuchet MS"/>
              </a:rPr>
              <a:t> </a:t>
            </a:r>
            <a:r>
              <a:rPr dirty="0" sz="2400" spc="90">
                <a:latin typeface="Trebuchet MS"/>
                <a:cs typeface="Trebuchet MS"/>
              </a:rPr>
              <a:t>packets/min</a:t>
            </a:r>
            <a:r>
              <a:rPr dirty="0" sz="2400">
                <a:latin typeface="Trebuchet MS"/>
                <a:cs typeface="Trebuchet MS"/>
              </a:rPr>
              <a:t> </a:t>
            </a:r>
            <a:r>
              <a:rPr dirty="0" sz="2400" spc="50">
                <a:latin typeface="Trebuchet MS"/>
                <a:cs typeface="Trebuchet MS"/>
              </a:rPr>
              <a:t>vs</a:t>
            </a:r>
            <a:r>
              <a:rPr dirty="0" sz="2400" spc="-5">
                <a:latin typeface="Trebuchet MS"/>
                <a:cs typeface="Trebuchet MS"/>
              </a:rPr>
              <a:t> </a:t>
            </a:r>
            <a:r>
              <a:rPr dirty="0" sz="2400" spc="90">
                <a:latin typeface="Trebuchet MS"/>
                <a:cs typeface="Trebuchet MS"/>
              </a:rPr>
              <a:t>600+</a:t>
            </a:r>
            <a:r>
              <a:rPr dirty="0" sz="2400">
                <a:latin typeface="Trebuchet MS"/>
                <a:cs typeface="Trebuchet MS"/>
              </a:rPr>
              <a:t> </a:t>
            </a:r>
            <a:r>
              <a:rPr dirty="0" sz="2400" spc="90">
                <a:latin typeface="Trebuchet MS"/>
                <a:cs typeface="Trebuchet MS"/>
              </a:rPr>
              <a:t>packets/min</a:t>
            </a:r>
            <a:r>
              <a:rPr dirty="0" sz="2400" spc="-5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(video)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478809" y="9192091"/>
            <a:ext cx="8114665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IT22073228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-50">
                <a:latin typeface="Trebuchet MS"/>
                <a:cs typeface="Trebuchet MS"/>
              </a:rPr>
              <a:t>D.W.A.I.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240">
                <a:latin typeface="Trebuchet MS"/>
                <a:cs typeface="Trebuchet MS"/>
              </a:rPr>
              <a:t>Abeynayake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3" name="object 3" descr="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-102486" y="3089010"/>
            <a:ext cx="982344" cy="3914775"/>
          </a:xfrm>
          <a:custGeom>
            <a:avLst/>
            <a:gdLst/>
            <a:ahLst/>
            <a:cxnLst/>
            <a:rect l="l" t="t" r="r" b="b"/>
            <a:pathLst>
              <a:path w="982344" h="3914775">
                <a:moveTo>
                  <a:pt x="757070" y="80184"/>
                </a:moveTo>
                <a:lnTo>
                  <a:pt x="102486" y="80184"/>
                </a:lnTo>
                <a:lnTo>
                  <a:pt x="102486" y="642"/>
                </a:lnTo>
                <a:lnTo>
                  <a:pt x="912453" y="0"/>
                </a:lnTo>
                <a:lnTo>
                  <a:pt x="945245" y="1624"/>
                </a:lnTo>
                <a:lnTo>
                  <a:pt x="963539" y="9727"/>
                </a:lnTo>
                <a:lnTo>
                  <a:pt x="971499" y="28455"/>
                </a:lnTo>
                <a:lnTo>
                  <a:pt x="973290" y="61956"/>
                </a:lnTo>
                <a:lnTo>
                  <a:pt x="973298" y="79871"/>
                </a:lnTo>
                <a:lnTo>
                  <a:pt x="860699" y="79871"/>
                </a:lnTo>
                <a:lnTo>
                  <a:pt x="757070" y="80184"/>
                </a:lnTo>
                <a:close/>
              </a:path>
              <a:path w="982344" h="3914775">
                <a:moveTo>
                  <a:pt x="944240" y="1583241"/>
                </a:moveTo>
                <a:lnTo>
                  <a:pt x="926599" y="1579445"/>
                </a:lnTo>
                <a:lnTo>
                  <a:pt x="912469" y="1567192"/>
                </a:lnTo>
                <a:lnTo>
                  <a:pt x="903074" y="1547988"/>
                </a:lnTo>
                <a:lnTo>
                  <a:pt x="899639" y="1523337"/>
                </a:lnTo>
                <a:lnTo>
                  <a:pt x="899708" y="928570"/>
                </a:lnTo>
                <a:lnTo>
                  <a:pt x="899491" y="879013"/>
                </a:lnTo>
                <a:lnTo>
                  <a:pt x="899217" y="834617"/>
                </a:lnTo>
                <a:lnTo>
                  <a:pt x="898779" y="779904"/>
                </a:lnTo>
                <a:lnTo>
                  <a:pt x="898283" y="732463"/>
                </a:lnTo>
                <a:lnTo>
                  <a:pt x="897618" y="680803"/>
                </a:lnTo>
                <a:lnTo>
                  <a:pt x="896840" y="631256"/>
                </a:lnTo>
                <a:lnTo>
                  <a:pt x="896067" y="579304"/>
                </a:lnTo>
                <a:lnTo>
                  <a:pt x="895480" y="527356"/>
                </a:lnTo>
                <a:lnTo>
                  <a:pt x="895043" y="475410"/>
                </a:lnTo>
                <a:lnTo>
                  <a:pt x="894723" y="423467"/>
                </a:lnTo>
                <a:lnTo>
                  <a:pt x="894484" y="371527"/>
                </a:lnTo>
                <a:lnTo>
                  <a:pt x="893908" y="215715"/>
                </a:lnTo>
                <a:lnTo>
                  <a:pt x="893647" y="163779"/>
                </a:lnTo>
                <a:lnTo>
                  <a:pt x="893294" y="111844"/>
                </a:lnTo>
                <a:lnTo>
                  <a:pt x="891595" y="96159"/>
                </a:lnTo>
                <a:lnTo>
                  <a:pt x="886187" y="86340"/>
                </a:lnTo>
                <a:lnTo>
                  <a:pt x="876131" y="81254"/>
                </a:lnTo>
                <a:lnTo>
                  <a:pt x="875894" y="81254"/>
                </a:lnTo>
                <a:lnTo>
                  <a:pt x="860699" y="79871"/>
                </a:lnTo>
                <a:lnTo>
                  <a:pt x="973298" y="79871"/>
                </a:lnTo>
                <a:lnTo>
                  <a:pt x="973343" y="163779"/>
                </a:lnTo>
                <a:lnTo>
                  <a:pt x="973601" y="196132"/>
                </a:lnTo>
                <a:lnTo>
                  <a:pt x="974902" y="300020"/>
                </a:lnTo>
                <a:lnTo>
                  <a:pt x="979075" y="611661"/>
                </a:lnTo>
                <a:lnTo>
                  <a:pt x="973713" y="641891"/>
                </a:lnTo>
                <a:lnTo>
                  <a:pt x="971875" y="672109"/>
                </a:lnTo>
                <a:lnTo>
                  <a:pt x="973791" y="702303"/>
                </a:lnTo>
                <a:lnTo>
                  <a:pt x="979697" y="732463"/>
                </a:lnTo>
                <a:lnTo>
                  <a:pt x="979797" y="834617"/>
                </a:lnTo>
                <a:lnTo>
                  <a:pt x="979923" y="978129"/>
                </a:lnTo>
                <a:lnTo>
                  <a:pt x="979980" y="1038941"/>
                </a:lnTo>
                <a:lnTo>
                  <a:pt x="980105" y="1141106"/>
                </a:lnTo>
                <a:lnTo>
                  <a:pt x="980186" y="1192187"/>
                </a:lnTo>
                <a:lnTo>
                  <a:pt x="980282" y="1243268"/>
                </a:lnTo>
                <a:lnTo>
                  <a:pt x="980532" y="1345425"/>
                </a:lnTo>
                <a:lnTo>
                  <a:pt x="980692" y="1396501"/>
                </a:lnTo>
                <a:lnTo>
                  <a:pt x="981886" y="1440128"/>
                </a:lnTo>
                <a:lnTo>
                  <a:pt x="981886" y="1548977"/>
                </a:lnTo>
                <a:lnTo>
                  <a:pt x="974222" y="1565886"/>
                </a:lnTo>
                <a:lnTo>
                  <a:pt x="961074" y="1578249"/>
                </a:lnTo>
                <a:lnTo>
                  <a:pt x="944240" y="1583241"/>
                </a:lnTo>
                <a:close/>
              </a:path>
              <a:path w="982344" h="3914775">
                <a:moveTo>
                  <a:pt x="102486" y="80888"/>
                </a:moveTo>
                <a:lnTo>
                  <a:pt x="0" y="80888"/>
                </a:lnTo>
                <a:lnTo>
                  <a:pt x="708422" y="80184"/>
                </a:lnTo>
                <a:lnTo>
                  <a:pt x="102486" y="80184"/>
                </a:lnTo>
                <a:lnTo>
                  <a:pt x="102486" y="80888"/>
                </a:lnTo>
                <a:close/>
              </a:path>
              <a:path w="982344" h="3914775">
                <a:moveTo>
                  <a:pt x="102486" y="81254"/>
                </a:moveTo>
                <a:lnTo>
                  <a:pt x="102486" y="80888"/>
                </a:lnTo>
                <a:lnTo>
                  <a:pt x="187076" y="80888"/>
                </a:lnTo>
                <a:lnTo>
                  <a:pt x="102486" y="81254"/>
                </a:lnTo>
                <a:close/>
              </a:path>
              <a:path w="982344" h="3914775">
                <a:moveTo>
                  <a:pt x="102486" y="3914207"/>
                </a:moveTo>
                <a:lnTo>
                  <a:pt x="102486" y="3833363"/>
                </a:lnTo>
                <a:lnTo>
                  <a:pt x="667979" y="3832831"/>
                </a:lnTo>
                <a:lnTo>
                  <a:pt x="794382" y="3832831"/>
                </a:lnTo>
                <a:lnTo>
                  <a:pt x="826175" y="3832325"/>
                </a:lnTo>
                <a:lnTo>
                  <a:pt x="845171" y="3833824"/>
                </a:lnTo>
                <a:lnTo>
                  <a:pt x="860294" y="3839976"/>
                </a:lnTo>
                <a:lnTo>
                  <a:pt x="870892" y="3851587"/>
                </a:lnTo>
                <a:lnTo>
                  <a:pt x="876312" y="3869462"/>
                </a:lnTo>
                <a:lnTo>
                  <a:pt x="874107" y="3885166"/>
                </a:lnTo>
                <a:lnTo>
                  <a:pt x="824744" y="3908277"/>
                </a:lnTo>
                <a:lnTo>
                  <a:pt x="724597" y="3911342"/>
                </a:lnTo>
                <a:lnTo>
                  <a:pt x="530711" y="3913864"/>
                </a:lnTo>
                <a:lnTo>
                  <a:pt x="173707" y="3913864"/>
                </a:lnTo>
                <a:lnTo>
                  <a:pt x="102486" y="3914207"/>
                </a:lnTo>
                <a:close/>
              </a:path>
              <a:path w="982344" h="3914775">
                <a:moveTo>
                  <a:pt x="759514" y="3832831"/>
                </a:moveTo>
                <a:lnTo>
                  <a:pt x="661659" y="3832831"/>
                </a:lnTo>
                <a:lnTo>
                  <a:pt x="693579" y="3832631"/>
                </a:lnTo>
                <a:lnTo>
                  <a:pt x="726164" y="3832631"/>
                </a:lnTo>
                <a:lnTo>
                  <a:pt x="759514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11084055" y="2017616"/>
            <a:ext cx="5057775" cy="7277100"/>
            <a:chOff x="11084055" y="2017616"/>
            <a:chExt cx="5057775" cy="7277100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63250" y="2017616"/>
              <a:ext cx="3781799" cy="538794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84055" y="7370319"/>
              <a:ext cx="5057774" cy="1924049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1556357" y="1224154"/>
            <a:ext cx="13111480" cy="5534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3200" spc="-635">
                <a:latin typeface="Arial Black"/>
                <a:cs typeface="Arial Black"/>
              </a:rPr>
              <a:t>SYSTEM</a:t>
            </a:r>
            <a:r>
              <a:rPr dirty="0" sz="3200" spc="-175">
                <a:latin typeface="Arial Black"/>
                <a:cs typeface="Arial Black"/>
              </a:rPr>
              <a:t> </a:t>
            </a:r>
            <a:r>
              <a:rPr dirty="0" sz="3200" spc="-405">
                <a:latin typeface="Arial Black"/>
                <a:cs typeface="Arial Black"/>
              </a:rPr>
              <a:t>OVERVIEW</a:t>
            </a:r>
            <a:endParaRPr sz="32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385"/>
              </a:spcBef>
            </a:pPr>
            <a:r>
              <a:rPr dirty="0" sz="3200" spc="-595">
                <a:latin typeface="Arial Black"/>
                <a:cs typeface="Arial Black"/>
              </a:rPr>
              <a:t>REAL</a:t>
            </a:r>
            <a:r>
              <a:rPr dirty="0" sz="3200" spc="-170">
                <a:latin typeface="Arial Black"/>
                <a:cs typeface="Arial Black"/>
              </a:rPr>
              <a:t> </a:t>
            </a:r>
            <a:r>
              <a:rPr dirty="0" sz="3200" spc="-409">
                <a:latin typeface="Arial Black"/>
                <a:cs typeface="Arial Black"/>
              </a:rPr>
              <a:t>WORLD</a:t>
            </a:r>
            <a:r>
              <a:rPr dirty="0" sz="3200" spc="-165">
                <a:latin typeface="Arial Black"/>
                <a:cs typeface="Arial Black"/>
              </a:rPr>
              <a:t> </a:t>
            </a:r>
            <a:r>
              <a:rPr dirty="0" sz="3200" spc="-380">
                <a:latin typeface="Arial Black"/>
                <a:cs typeface="Arial Black"/>
              </a:rPr>
              <a:t>SCENARIO</a:t>
            </a:r>
            <a:endParaRPr sz="3200">
              <a:latin typeface="Arial Black"/>
              <a:cs typeface="Arial Black"/>
            </a:endParaRPr>
          </a:p>
          <a:p>
            <a:pPr algn="just" marL="235585" marR="5730875">
              <a:lnSpc>
                <a:spcPct val="114599"/>
              </a:lnSpc>
              <a:spcBef>
                <a:spcPts val="1610"/>
              </a:spcBef>
            </a:pPr>
            <a:r>
              <a:rPr dirty="0" sz="2400" spc="114">
                <a:latin typeface="Trebuchet MS"/>
                <a:cs typeface="Trebuchet MS"/>
              </a:rPr>
              <a:t>During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375">
                <a:latin typeface="Trebuchet MS"/>
                <a:cs typeface="Trebuchet MS"/>
              </a:rPr>
              <a:t>a</a:t>
            </a:r>
            <a:r>
              <a:rPr dirty="0" sz="2400" spc="3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90-</a:t>
            </a:r>
            <a:r>
              <a:rPr dirty="0" sz="2400" spc="80">
                <a:latin typeface="Trebuchet MS"/>
                <a:cs typeface="Trebuchet MS"/>
              </a:rPr>
              <a:t>minute</a:t>
            </a:r>
            <a:r>
              <a:rPr dirty="0" sz="2400" spc="30">
                <a:latin typeface="Trebuchet MS"/>
                <a:cs typeface="Trebuchet MS"/>
              </a:rPr>
              <a:t> </a:t>
            </a:r>
            <a:r>
              <a:rPr dirty="0" sz="2400" spc="-310">
                <a:latin typeface="Trebuchet MS"/>
                <a:cs typeface="Trebuchet MS"/>
              </a:rPr>
              <a:t>IT</a:t>
            </a:r>
            <a:r>
              <a:rPr dirty="0" sz="2400" spc="130">
                <a:latin typeface="Trebuchet MS"/>
                <a:cs typeface="Trebuchet MS"/>
              </a:rPr>
              <a:t> </a:t>
            </a:r>
            <a:r>
              <a:rPr dirty="0" sz="2400" spc="170">
                <a:latin typeface="Trebuchet MS"/>
                <a:cs typeface="Trebuchet MS"/>
              </a:rPr>
              <a:t>undergraduate</a:t>
            </a:r>
            <a:r>
              <a:rPr dirty="0" sz="2400" spc="3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lecture,</a:t>
            </a:r>
            <a:r>
              <a:rPr dirty="0" sz="2400" spc="30">
                <a:latin typeface="Trebuchet MS"/>
                <a:cs typeface="Trebuchet MS"/>
              </a:rPr>
              <a:t> </a:t>
            </a:r>
            <a:r>
              <a:rPr dirty="0" sz="2400" spc="35">
                <a:latin typeface="Trebuchet MS"/>
                <a:cs typeface="Trebuchet MS"/>
              </a:rPr>
              <a:t>25 </a:t>
            </a:r>
            <a:r>
              <a:rPr dirty="0" sz="2400" spc="55">
                <a:latin typeface="Trebuchet MS"/>
                <a:cs typeface="Trebuchet MS"/>
              </a:rPr>
              <a:t>students</a:t>
            </a:r>
            <a:r>
              <a:rPr dirty="0" sz="2400" spc="11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run</a:t>
            </a:r>
            <a:r>
              <a:rPr dirty="0" sz="2400" spc="114">
                <a:latin typeface="Trebuchet MS"/>
                <a:cs typeface="Trebuchet MS"/>
              </a:rPr>
              <a:t> </a:t>
            </a:r>
            <a:r>
              <a:rPr dirty="0" sz="2400" spc="80">
                <a:latin typeface="Trebuchet MS"/>
                <a:cs typeface="Trebuchet MS"/>
              </a:rPr>
              <a:t>the</a:t>
            </a:r>
            <a:r>
              <a:rPr dirty="0" sz="2400" spc="110">
                <a:latin typeface="Trebuchet MS"/>
                <a:cs typeface="Trebuchet MS"/>
              </a:rPr>
              <a:t> </a:t>
            </a:r>
            <a:r>
              <a:rPr dirty="0" sz="2400" spc="95">
                <a:latin typeface="Trebuchet MS"/>
                <a:cs typeface="Trebuchet MS"/>
              </a:rPr>
              <a:t>privacy-preserving</a:t>
            </a:r>
            <a:r>
              <a:rPr dirty="0" sz="2400" spc="114">
                <a:latin typeface="Trebuchet MS"/>
                <a:cs typeface="Trebuchet MS"/>
              </a:rPr>
              <a:t> </a:t>
            </a:r>
            <a:r>
              <a:rPr dirty="0" sz="2400" spc="75">
                <a:latin typeface="Trebuchet MS"/>
                <a:cs typeface="Trebuchet MS"/>
              </a:rPr>
              <a:t>analytics</a:t>
            </a:r>
            <a:r>
              <a:rPr dirty="0" sz="2400" spc="110">
                <a:latin typeface="Trebuchet MS"/>
                <a:cs typeface="Trebuchet MS"/>
              </a:rPr>
              <a:t> </a:t>
            </a:r>
            <a:r>
              <a:rPr dirty="0" sz="2400" spc="195">
                <a:latin typeface="Trebuchet MS"/>
                <a:cs typeface="Trebuchet MS"/>
              </a:rPr>
              <a:t>on </a:t>
            </a:r>
            <a:r>
              <a:rPr dirty="0" sz="2400">
                <a:latin typeface="Trebuchet MS"/>
                <a:cs typeface="Trebuchet MS"/>
              </a:rPr>
              <a:t>their</a:t>
            </a:r>
            <a:r>
              <a:rPr dirty="0" sz="2400" spc="375">
                <a:latin typeface="Trebuchet MS"/>
                <a:cs typeface="Trebuchet MS"/>
              </a:rPr>
              <a:t>  </a:t>
            </a:r>
            <a:r>
              <a:rPr dirty="0" sz="2400" spc="65">
                <a:latin typeface="Trebuchet MS"/>
                <a:cs typeface="Trebuchet MS"/>
              </a:rPr>
              <a:t>laptops.</a:t>
            </a:r>
            <a:r>
              <a:rPr dirty="0" sz="2400" spc="380">
                <a:latin typeface="Trebuchet MS"/>
                <a:cs typeface="Trebuchet MS"/>
              </a:rPr>
              <a:t>  </a:t>
            </a:r>
            <a:r>
              <a:rPr dirty="0" sz="2400" spc="195">
                <a:latin typeface="Trebuchet MS"/>
                <a:cs typeface="Trebuchet MS"/>
              </a:rPr>
              <a:t>When</a:t>
            </a:r>
            <a:r>
              <a:rPr dirty="0" sz="2400" spc="380">
                <a:latin typeface="Trebuchet MS"/>
                <a:cs typeface="Trebuchet MS"/>
              </a:rPr>
              <a:t>  </a:t>
            </a:r>
            <a:r>
              <a:rPr dirty="0" sz="2400" spc="80">
                <a:latin typeface="Trebuchet MS"/>
                <a:cs typeface="Trebuchet MS"/>
              </a:rPr>
              <a:t>the</a:t>
            </a:r>
            <a:r>
              <a:rPr dirty="0" sz="2400" spc="380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instructor</a:t>
            </a:r>
            <a:r>
              <a:rPr dirty="0" sz="2400" spc="380">
                <a:latin typeface="Trebuchet MS"/>
                <a:cs typeface="Trebuchet MS"/>
              </a:rPr>
              <a:t>  </a:t>
            </a:r>
            <a:r>
              <a:rPr dirty="0" sz="2400" spc="60">
                <a:latin typeface="Trebuchet MS"/>
                <a:cs typeface="Trebuchet MS"/>
              </a:rPr>
              <a:t>explains </a:t>
            </a:r>
            <a:r>
              <a:rPr dirty="0" sz="2400">
                <a:latin typeface="Trebuchet MS"/>
                <a:cs typeface="Trebuchet MS"/>
              </a:rPr>
              <a:t>distributed</a:t>
            </a:r>
            <a:r>
              <a:rPr dirty="0" sz="2400" spc="204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systems,</a:t>
            </a:r>
            <a:r>
              <a:rPr dirty="0" sz="2400" spc="204">
                <a:latin typeface="Trebuchet MS"/>
                <a:cs typeface="Trebuchet MS"/>
              </a:rPr>
              <a:t> </a:t>
            </a:r>
            <a:r>
              <a:rPr dirty="0" sz="2400" spc="80">
                <a:latin typeface="Trebuchet MS"/>
                <a:cs typeface="Trebuchet MS"/>
              </a:rPr>
              <a:t>the</a:t>
            </a:r>
            <a:r>
              <a:rPr dirty="0" sz="2400" spc="204">
                <a:latin typeface="Trebuchet MS"/>
                <a:cs typeface="Trebuchet MS"/>
              </a:rPr>
              <a:t> </a:t>
            </a:r>
            <a:r>
              <a:rPr dirty="0" sz="2400" spc="240">
                <a:latin typeface="Trebuchet MS"/>
                <a:cs typeface="Trebuchet MS"/>
              </a:rPr>
              <a:t>aggregated</a:t>
            </a:r>
            <a:r>
              <a:rPr dirty="0" sz="2400" spc="204">
                <a:latin typeface="Trebuchet MS"/>
                <a:cs typeface="Trebuchet MS"/>
              </a:rPr>
              <a:t> </a:t>
            </a:r>
            <a:r>
              <a:rPr dirty="0" sz="2400" spc="195">
                <a:latin typeface="Trebuchet MS"/>
                <a:cs typeface="Trebuchet MS"/>
              </a:rPr>
              <a:t>dashboard </a:t>
            </a:r>
            <a:r>
              <a:rPr dirty="0" sz="2400" spc="105">
                <a:latin typeface="Trebuchet MS"/>
                <a:cs typeface="Trebuchet MS"/>
              </a:rPr>
              <a:t>shows</a:t>
            </a:r>
            <a:r>
              <a:rPr dirty="0" sz="2400" spc="315">
                <a:latin typeface="Trebuchet MS"/>
                <a:cs typeface="Trebuchet MS"/>
              </a:rPr>
              <a:t>  </a:t>
            </a:r>
            <a:r>
              <a:rPr dirty="0" sz="2400" spc="180">
                <a:latin typeface="Trebuchet MS"/>
                <a:cs typeface="Trebuchet MS"/>
              </a:rPr>
              <a:t>68%</a:t>
            </a:r>
            <a:r>
              <a:rPr dirty="0" sz="2400" spc="315">
                <a:latin typeface="Trebuchet MS"/>
                <a:cs typeface="Trebuchet MS"/>
              </a:rPr>
              <a:t>  </a:t>
            </a:r>
            <a:r>
              <a:rPr dirty="0" sz="2400" spc="229">
                <a:latin typeface="Trebuchet MS"/>
                <a:cs typeface="Trebuchet MS"/>
              </a:rPr>
              <a:t>engagement</a:t>
            </a:r>
            <a:r>
              <a:rPr dirty="0" sz="2400" spc="315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with</a:t>
            </a:r>
            <a:r>
              <a:rPr dirty="0" sz="2400" spc="315">
                <a:latin typeface="Trebuchet MS"/>
                <a:cs typeface="Trebuchet MS"/>
              </a:rPr>
              <a:t>  </a:t>
            </a:r>
            <a:r>
              <a:rPr dirty="0" sz="2400" spc="180">
                <a:latin typeface="Trebuchet MS"/>
                <a:cs typeface="Trebuchet MS"/>
              </a:rPr>
              <a:t>15%</a:t>
            </a:r>
            <a:r>
              <a:rPr dirty="0" sz="2400" spc="315">
                <a:latin typeface="Trebuchet MS"/>
                <a:cs typeface="Trebuchet MS"/>
              </a:rPr>
              <a:t>  </a:t>
            </a:r>
            <a:r>
              <a:rPr dirty="0" sz="2400" spc="120">
                <a:latin typeface="Trebuchet MS"/>
                <a:cs typeface="Trebuchet MS"/>
              </a:rPr>
              <a:t>showing </a:t>
            </a:r>
            <a:r>
              <a:rPr dirty="0" sz="2400" spc="105">
                <a:latin typeface="Trebuchet MS"/>
                <a:cs typeface="Trebuchet MS"/>
              </a:rPr>
              <a:t>confusion</a:t>
            </a:r>
            <a:r>
              <a:rPr dirty="0" sz="2400" spc="95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indicators.</a:t>
            </a:r>
            <a:r>
              <a:rPr dirty="0" sz="2400" spc="100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100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instructor</a:t>
            </a:r>
            <a:r>
              <a:rPr dirty="0" sz="2400" spc="100">
                <a:latin typeface="Trebuchet MS"/>
                <a:cs typeface="Trebuchet MS"/>
              </a:rPr>
              <a:t>  </a:t>
            </a:r>
            <a:r>
              <a:rPr dirty="0" sz="2400" spc="155">
                <a:latin typeface="Trebuchet MS"/>
                <a:cs typeface="Trebuchet MS"/>
              </a:rPr>
              <a:t>pauses</a:t>
            </a:r>
            <a:r>
              <a:rPr dirty="0" sz="2400" spc="100">
                <a:latin typeface="Trebuchet MS"/>
                <a:cs typeface="Trebuchet MS"/>
              </a:rPr>
              <a:t>  </a:t>
            </a:r>
            <a:r>
              <a:rPr dirty="0" sz="2400" spc="45">
                <a:latin typeface="Trebuchet MS"/>
                <a:cs typeface="Trebuchet MS"/>
              </a:rPr>
              <a:t>to </a:t>
            </a:r>
            <a:r>
              <a:rPr dirty="0" sz="2400" spc="-10">
                <a:latin typeface="Trebuchet MS"/>
                <a:cs typeface="Trebuchet MS"/>
              </a:rPr>
              <a:t>clarify,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114">
                <a:latin typeface="Trebuchet MS"/>
                <a:cs typeface="Trebuchet MS"/>
              </a:rPr>
              <a:t>improving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229">
                <a:latin typeface="Trebuchet MS"/>
                <a:cs typeface="Trebuchet MS"/>
              </a:rPr>
              <a:t>engagement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to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155">
                <a:latin typeface="Trebuchet MS"/>
                <a:cs typeface="Trebuchet MS"/>
              </a:rPr>
              <a:t>82%</a:t>
            </a:r>
            <a:endParaRPr sz="2400">
              <a:latin typeface="Trebuchet MS"/>
              <a:cs typeface="Trebuchet MS"/>
            </a:endParaRPr>
          </a:p>
          <a:p>
            <a:pPr algn="just" marL="235585" marR="5730875">
              <a:lnSpc>
                <a:spcPct val="114599"/>
              </a:lnSpc>
            </a:pPr>
            <a:r>
              <a:rPr dirty="0" sz="2400">
                <a:latin typeface="Trebuchet MS"/>
                <a:cs typeface="Trebuchet MS"/>
              </a:rPr>
              <a:t>-</a:t>
            </a:r>
            <a:r>
              <a:rPr dirty="0" sz="2400" spc="24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all</a:t>
            </a:r>
            <a:r>
              <a:rPr dirty="0" sz="2400" spc="24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while</a:t>
            </a:r>
            <a:r>
              <a:rPr dirty="0" sz="2400" spc="250">
                <a:latin typeface="Trebuchet MS"/>
                <a:cs typeface="Trebuchet MS"/>
              </a:rPr>
              <a:t> </a:t>
            </a:r>
            <a:r>
              <a:rPr dirty="0" sz="2400" spc="105">
                <a:latin typeface="Trebuchet MS"/>
                <a:cs typeface="Trebuchet MS"/>
              </a:rPr>
              <a:t>protecting</a:t>
            </a:r>
            <a:r>
              <a:rPr dirty="0" sz="2400" spc="245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individual</a:t>
            </a:r>
            <a:r>
              <a:rPr dirty="0" sz="2400" spc="245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student</a:t>
            </a:r>
            <a:r>
              <a:rPr dirty="0" sz="2400" spc="250">
                <a:latin typeface="Trebuchet MS"/>
                <a:cs typeface="Trebuchet MS"/>
              </a:rPr>
              <a:t> </a:t>
            </a:r>
            <a:r>
              <a:rPr dirty="0" sz="2400" spc="114">
                <a:latin typeface="Trebuchet MS"/>
                <a:cs typeface="Trebuchet MS"/>
              </a:rPr>
              <a:t>privacy </a:t>
            </a:r>
            <a:r>
              <a:rPr dirty="0" sz="2400">
                <a:latin typeface="Trebuchet MS"/>
                <a:cs typeface="Trebuchet MS"/>
              </a:rPr>
              <a:t>with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ε=1.3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Differential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Privacy.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478809" y="9192091"/>
            <a:ext cx="8114665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IT22073228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-50">
                <a:latin typeface="Trebuchet MS"/>
                <a:cs typeface="Trebuchet MS"/>
              </a:rPr>
              <a:t>D.W.A.I.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240">
                <a:latin typeface="Trebuchet MS"/>
                <a:cs typeface="Trebuchet MS"/>
              </a:rPr>
              <a:t>Abeynayake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779450" y="286070"/>
            <a:ext cx="12111355" cy="5892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700" spc="6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PRIVACY-</a:t>
            </a:r>
            <a:r>
              <a:rPr dirty="0" u="heavy" sz="370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PRESERVING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8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EDGE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16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AI</a:t>
            </a:r>
            <a:r>
              <a:rPr dirty="0" u="heavy" sz="370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BEHAVIORAL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4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ANALYSIS</a:t>
            </a:r>
            <a:endParaRPr sz="3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69946" y="1028700"/>
            <a:ext cx="3771900" cy="43433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715598" y="5379128"/>
            <a:ext cx="10255250" cy="1939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6300"/>
              </a:lnSpc>
              <a:spcBef>
                <a:spcPts val="100"/>
              </a:spcBef>
            </a:pPr>
            <a:r>
              <a:rPr dirty="0" sz="3600" spc="-515">
                <a:latin typeface="Arial Black"/>
                <a:cs typeface="Arial Black"/>
              </a:rPr>
              <a:t>ADAPTIVE</a:t>
            </a:r>
            <a:r>
              <a:rPr dirty="0" sz="3600" spc="-195">
                <a:latin typeface="Arial Black"/>
                <a:cs typeface="Arial Black"/>
              </a:rPr>
              <a:t> </a:t>
            </a:r>
            <a:r>
              <a:rPr dirty="0" sz="3600" spc="-475">
                <a:latin typeface="Arial Black"/>
                <a:cs typeface="Arial Black"/>
              </a:rPr>
              <a:t>IOT</a:t>
            </a:r>
            <a:r>
              <a:rPr dirty="0" sz="3600" spc="-195">
                <a:latin typeface="Arial Black"/>
                <a:cs typeface="Arial Black"/>
              </a:rPr>
              <a:t> </a:t>
            </a:r>
            <a:r>
              <a:rPr dirty="0" sz="3600" spc="-490">
                <a:latin typeface="Arial Black"/>
                <a:cs typeface="Arial Black"/>
              </a:rPr>
              <a:t>ENVIRONMENTAL</a:t>
            </a:r>
            <a:r>
              <a:rPr dirty="0" sz="3600" spc="-195">
                <a:latin typeface="Arial Black"/>
                <a:cs typeface="Arial Black"/>
              </a:rPr>
              <a:t> </a:t>
            </a:r>
            <a:r>
              <a:rPr dirty="0" sz="3600" spc="-835">
                <a:latin typeface="Arial Black"/>
                <a:cs typeface="Arial Black"/>
              </a:rPr>
              <a:t>&amp;</a:t>
            </a:r>
            <a:r>
              <a:rPr dirty="0" sz="3600" spc="-195">
                <a:latin typeface="Arial Black"/>
                <a:cs typeface="Arial Black"/>
              </a:rPr>
              <a:t> </a:t>
            </a:r>
            <a:r>
              <a:rPr dirty="0" sz="3600" spc="-540">
                <a:latin typeface="Arial Black"/>
                <a:cs typeface="Arial Black"/>
              </a:rPr>
              <a:t>ATTENDANCE</a:t>
            </a:r>
            <a:r>
              <a:rPr dirty="0" sz="3600" spc="-350">
                <a:latin typeface="Arial Black"/>
                <a:cs typeface="Arial Black"/>
              </a:rPr>
              <a:t> </a:t>
            </a:r>
            <a:r>
              <a:rPr dirty="0" sz="3600" spc="-340">
                <a:latin typeface="Arial Black"/>
                <a:cs typeface="Arial Black"/>
              </a:rPr>
              <a:t>MONITORING</a:t>
            </a:r>
            <a:r>
              <a:rPr dirty="0" sz="3600" spc="-195">
                <a:latin typeface="Arial Black"/>
                <a:cs typeface="Arial Black"/>
              </a:rPr>
              <a:t> </a:t>
            </a:r>
            <a:r>
              <a:rPr dirty="0" sz="3600" spc="-590">
                <a:latin typeface="Arial Black"/>
                <a:cs typeface="Arial Black"/>
              </a:rPr>
              <a:t>WITH</a:t>
            </a:r>
            <a:r>
              <a:rPr dirty="0" sz="3600" spc="-195">
                <a:latin typeface="Arial Black"/>
                <a:cs typeface="Arial Black"/>
              </a:rPr>
              <a:t> </a:t>
            </a:r>
            <a:r>
              <a:rPr dirty="0" sz="3600" spc="-525">
                <a:latin typeface="Arial Black"/>
                <a:cs typeface="Arial Black"/>
              </a:rPr>
              <a:t>REINFORCEMENT</a:t>
            </a:r>
            <a:r>
              <a:rPr dirty="0" sz="3600" spc="-195">
                <a:latin typeface="Arial Black"/>
                <a:cs typeface="Arial Black"/>
              </a:rPr>
              <a:t> </a:t>
            </a:r>
            <a:r>
              <a:rPr dirty="0" sz="3600" spc="-465">
                <a:latin typeface="Arial Black"/>
                <a:cs typeface="Arial Black"/>
              </a:rPr>
              <a:t>LEARNING</a:t>
            </a:r>
            <a:r>
              <a:rPr dirty="0" sz="3600">
                <a:latin typeface="Arial Black"/>
                <a:cs typeface="Arial Black"/>
              </a:rPr>
              <a:t> </a:t>
            </a:r>
            <a:r>
              <a:rPr dirty="0" sz="3600" spc="-490">
                <a:latin typeface="Arial Black"/>
                <a:cs typeface="Arial Black"/>
              </a:rPr>
              <a:t>MIDDLEWARE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478809" y="9192091"/>
            <a:ext cx="802259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IT22132000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-90">
                <a:latin typeface="Trebuchet MS"/>
                <a:cs typeface="Trebuchet MS"/>
              </a:rPr>
              <a:t>S.S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190">
                <a:latin typeface="Trebuchet MS"/>
                <a:cs typeface="Trebuchet MS"/>
              </a:rPr>
              <a:t>Bamunuarachchi</a:t>
            </a:r>
            <a:r>
              <a:rPr dirty="0" sz="2800" spc="-1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715598" y="7798574"/>
            <a:ext cx="98723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65">
                <a:latin typeface="Trebuchet MS"/>
                <a:cs typeface="Trebuchet MS"/>
              </a:rPr>
              <a:t>Specialzation: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75">
                <a:latin typeface="Trebuchet MS"/>
                <a:cs typeface="Trebuchet MS"/>
              </a:rPr>
              <a:t>Computer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50">
                <a:latin typeface="Trebuchet MS"/>
                <a:cs typeface="Trebuchet MS"/>
              </a:rPr>
              <a:t>Systems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275">
                <a:latin typeface="Trebuchet MS"/>
                <a:cs typeface="Trebuchet MS"/>
              </a:rPr>
              <a:t>and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85">
                <a:latin typeface="Trebuchet MS"/>
                <a:cs typeface="Trebuchet MS"/>
              </a:rPr>
              <a:t>Network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14">
                <a:latin typeface="Trebuchet MS"/>
                <a:cs typeface="Trebuchet MS"/>
              </a:rPr>
              <a:t>Engineering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05">
                <a:latin typeface="Trebuchet MS"/>
                <a:cs typeface="Trebuchet MS"/>
              </a:rPr>
              <a:t>(CSNE)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3" name="object 3" descr="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84888" y="200085"/>
            <a:ext cx="14070965" cy="12636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</a:pPr>
            <a:r>
              <a:rPr dirty="0" sz="3500" spc="-509"/>
              <a:t>ADAPTIVE</a:t>
            </a:r>
            <a:r>
              <a:rPr dirty="0" sz="3500" spc="-180"/>
              <a:t> </a:t>
            </a:r>
            <a:r>
              <a:rPr dirty="0" sz="3500" spc="-465"/>
              <a:t>IOT</a:t>
            </a:r>
            <a:r>
              <a:rPr dirty="0" sz="3500" spc="-175"/>
              <a:t> </a:t>
            </a:r>
            <a:r>
              <a:rPr dirty="0" sz="3500" spc="-484"/>
              <a:t>ENVIRONMENTAL</a:t>
            </a:r>
            <a:r>
              <a:rPr dirty="0" sz="3500" spc="-175"/>
              <a:t> </a:t>
            </a:r>
            <a:r>
              <a:rPr dirty="0" sz="3500" spc="-810"/>
              <a:t>&amp;</a:t>
            </a:r>
            <a:r>
              <a:rPr dirty="0" sz="3500" spc="-175"/>
              <a:t> </a:t>
            </a:r>
            <a:r>
              <a:rPr dirty="0" sz="3500" spc="-530"/>
              <a:t>ATTENDANCE</a:t>
            </a:r>
            <a:r>
              <a:rPr dirty="0" sz="3500" spc="-175"/>
              <a:t> </a:t>
            </a:r>
            <a:r>
              <a:rPr dirty="0" sz="3500" spc="-335"/>
              <a:t>MONITORING</a:t>
            </a:r>
            <a:r>
              <a:rPr dirty="0" sz="3500" spc="-175"/>
              <a:t> </a:t>
            </a:r>
            <a:r>
              <a:rPr dirty="0" sz="3500" spc="-595"/>
              <a:t>WITH </a:t>
            </a:r>
            <a:r>
              <a:rPr dirty="0" sz="3500" spc="-515"/>
              <a:t>REINFORCEMENT</a:t>
            </a:r>
            <a:r>
              <a:rPr dirty="0" sz="3500" spc="-155"/>
              <a:t> </a:t>
            </a:r>
            <a:r>
              <a:rPr dirty="0" sz="3500" spc="-459"/>
              <a:t>LEARNING</a:t>
            </a:r>
            <a:r>
              <a:rPr dirty="0" sz="3500" spc="-155"/>
              <a:t> </a:t>
            </a:r>
            <a:r>
              <a:rPr dirty="0" sz="3500" spc="-495"/>
              <a:t>MIDDLEWARE</a:t>
            </a:r>
            <a:endParaRPr sz="3500"/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5882" y="2047437"/>
            <a:ext cx="114300" cy="1142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5882" y="2495112"/>
            <a:ext cx="114300" cy="1142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5882" y="4285812"/>
            <a:ext cx="114300" cy="11429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5882" y="5181162"/>
            <a:ext cx="114300" cy="11429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5882" y="5628837"/>
            <a:ext cx="114300" cy="11429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5882" y="6076512"/>
            <a:ext cx="114300" cy="114299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5882" y="6971862"/>
            <a:ext cx="114300" cy="114299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5882" y="7419537"/>
            <a:ext cx="114300" cy="114299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5882" y="7867212"/>
            <a:ext cx="114300" cy="114299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5882" y="8314887"/>
            <a:ext cx="114300" cy="114299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5882" y="8762561"/>
            <a:ext cx="114300" cy="114299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1106008" y="1375359"/>
            <a:ext cx="13489940" cy="763587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2550" spc="-204">
                <a:latin typeface="Arial Black"/>
                <a:cs typeface="Arial Black"/>
              </a:rPr>
              <a:t>Problem</a:t>
            </a:r>
            <a:r>
              <a:rPr dirty="0" sz="2550" spc="-105">
                <a:latin typeface="Arial Black"/>
                <a:cs typeface="Arial Black"/>
              </a:rPr>
              <a:t> </a:t>
            </a:r>
            <a:r>
              <a:rPr dirty="0" sz="2550" spc="-100">
                <a:latin typeface="Arial Black"/>
                <a:cs typeface="Arial Black"/>
              </a:rPr>
              <a:t>Definition</a:t>
            </a:r>
            <a:endParaRPr sz="2550">
              <a:latin typeface="Arial Black"/>
              <a:cs typeface="Arial Black"/>
            </a:endParaRPr>
          </a:p>
          <a:p>
            <a:pPr marL="560705" marR="5080">
              <a:lnSpc>
                <a:spcPct val="115199"/>
              </a:lnSpc>
            </a:pPr>
            <a:r>
              <a:rPr dirty="0" sz="2550">
                <a:latin typeface="Trebuchet MS"/>
                <a:cs typeface="Trebuchet MS"/>
              </a:rPr>
              <a:t>Traditional</a:t>
            </a:r>
            <a:r>
              <a:rPr dirty="0" sz="2550" spc="-20">
                <a:latin typeface="Trebuchet MS"/>
                <a:cs typeface="Trebuchet MS"/>
              </a:rPr>
              <a:t> </a:t>
            </a:r>
            <a:r>
              <a:rPr dirty="0" sz="2550" spc="90">
                <a:latin typeface="Trebuchet MS"/>
                <a:cs typeface="Trebuchet MS"/>
              </a:rPr>
              <a:t>classrooms</a:t>
            </a:r>
            <a:r>
              <a:rPr dirty="0" sz="2550" spc="-20">
                <a:latin typeface="Trebuchet MS"/>
                <a:cs typeface="Trebuchet MS"/>
              </a:rPr>
              <a:t> </a:t>
            </a:r>
            <a:r>
              <a:rPr dirty="0" sz="2550" spc="100">
                <a:latin typeface="Trebuchet MS"/>
                <a:cs typeface="Trebuchet MS"/>
              </a:rPr>
              <a:t>lack</a:t>
            </a:r>
            <a:r>
              <a:rPr dirty="0" sz="2550" spc="-20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real-</a:t>
            </a:r>
            <a:r>
              <a:rPr dirty="0" sz="2550" spc="50">
                <a:latin typeface="Trebuchet MS"/>
                <a:cs typeface="Trebuchet MS"/>
              </a:rPr>
              <a:t>time</a:t>
            </a:r>
            <a:r>
              <a:rPr dirty="0" sz="2550" spc="-20">
                <a:latin typeface="Trebuchet MS"/>
                <a:cs typeface="Trebuchet MS"/>
              </a:rPr>
              <a:t> </a:t>
            </a:r>
            <a:r>
              <a:rPr dirty="0" sz="2550" spc="150">
                <a:latin typeface="Trebuchet MS"/>
                <a:cs typeface="Trebuchet MS"/>
              </a:rPr>
              <a:t>awareness</a:t>
            </a:r>
            <a:r>
              <a:rPr dirty="0" sz="2550" spc="-20">
                <a:latin typeface="Trebuchet MS"/>
                <a:cs typeface="Trebuchet MS"/>
              </a:rPr>
              <a:t> </a:t>
            </a:r>
            <a:r>
              <a:rPr dirty="0" sz="2550" spc="75">
                <a:latin typeface="Trebuchet MS"/>
                <a:cs typeface="Trebuchet MS"/>
              </a:rPr>
              <a:t>of</a:t>
            </a:r>
            <a:r>
              <a:rPr dirty="0" sz="2550" spc="-25">
                <a:latin typeface="Trebuchet MS"/>
                <a:cs typeface="Trebuchet MS"/>
              </a:rPr>
              <a:t> </a:t>
            </a:r>
            <a:r>
              <a:rPr dirty="0" sz="2550" spc="70">
                <a:latin typeface="Trebuchet MS"/>
                <a:cs typeface="Trebuchet MS"/>
              </a:rPr>
              <a:t>student</a:t>
            </a:r>
            <a:r>
              <a:rPr dirty="0" sz="2550" spc="-20">
                <a:latin typeface="Trebuchet MS"/>
                <a:cs typeface="Trebuchet MS"/>
              </a:rPr>
              <a:t> </a:t>
            </a:r>
            <a:r>
              <a:rPr dirty="0" sz="2550" spc="95">
                <a:latin typeface="Trebuchet MS"/>
                <a:cs typeface="Trebuchet MS"/>
              </a:rPr>
              <a:t>comfort</a:t>
            </a:r>
            <a:r>
              <a:rPr dirty="0" sz="2550" spc="-20">
                <a:latin typeface="Trebuchet MS"/>
                <a:cs typeface="Trebuchet MS"/>
              </a:rPr>
              <a:t> </a:t>
            </a:r>
            <a:r>
              <a:rPr dirty="0" sz="2550" spc="70">
                <a:latin typeface="Trebuchet MS"/>
                <a:cs typeface="Trebuchet MS"/>
              </a:rPr>
              <a:t>&amp;</a:t>
            </a:r>
            <a:r>
              <a:rPr dirty="0" sz="2550" spc="-20">
                <a:latin typeface="Trebuchet MS"/>
                <a:cs typeface="Trebuchet MS"/>
              </a:rPr>
              <a:t> </a:t>
            </a:r>
            <a:r>
              <a:rPr dirty="0" sz="2550" spc="235">
                <a:latin typeface="Trebuchet MS"/>
                <a:cs typeface="Trebuchet MS"/>
              </a:rPr>
              <a:t>engagement </a:t>
            </a:r>
            <a:r>
              <a:rPr dirty="0" sz="2550" spc="110">
                <a:latin typeface="Trebuchet MS"/>
                <a:cs typeface="Trebuchet MS"/>
              </a:rPr>
              <a:t>Poor</a:t>
            </a:r>
            <a:r>
              <a:rPr dirty="0" sz="2550" spc="-45">
                <a:latin typeface="Trebuchet MS"/>
                <a:cs typeface="Trebuchet MS"/>
              </a:rPr>
              <a:t> </a:t>
            </a:r>
            <a:r>
              <a:rPr dirty="0" sz="2550" spc="100">
                <a:latin typeface="Trebuchet MS"/>
                <a:cs typeface="Trebuchet MS"/>
              </a:rPr>
              <a:t>environmental</a:t>
            </a:r>
            <a:r>
              <a:rPr dirty="0" sz="2550" spc="-40">
                <a:latin typeface="Trebuchet MS"/>
                <a:cs typeface="Trebuchet MS"/>
              </a:rPr>
              <a:t> </a:t>
            </a:r>
            <a:r>
              <a:rPr dirty="0" sz="2550" spc="95">
                <a:latin typeface="Trebuchet MS"/>
                <a:cs typeface="Trebuchet MS"/>
              </a:rPr>
              <a:t>conditions</a:t>
            </a:r>
            <a:r>
              <a:rPr dirty="0" sz="2550" spc="-45">
                <a:latin typeface="Trebuchet MS"/>
                <a:cs typeface="Trebuchet MS"/>
              </a:rPr>
              <a:t> </a:t>
            </a:r>
            <a:r>
              <a:rPr dirty="0" sz="2550" spc="110">
                <a:latin typeface="Trebuchet MS"/>
                <a:cs typeface="Trebuchet MS"/>
              </a:rPr>
              <a:t>negatively</a:t>
            </a:r>
            <a:r>
              <a:rPr dirty="0" sz="2550" spc="-45">
                <a:latin typeface="Trebuchet MS"/>
                <a:cs typeface="Trebuchet MS"/>
              </a:rPr>
              <a:t> </a:t>
            </a:r>
            <a:r>
              <a:rPr dirty="0" sz="2550" spc="-10">
                <a:latin typeface="Trebuchet MS"/>
                <a:cs typeface="Trebuchet MS"/>
              </a:rPr>
              <a:t>affect:</a:t>
            </a:r>
            <a:endParaRPr sz="2550">
              <a:latin typeface="Trebuchet MS"/>
              <a:cs typeface="Trebuchet MS"/>
            </a:endParaRPr>
          </a:p>
          <a:p>
            <a:pPr marL="3496310" marR="7680325">
              <a:lnSpc>
                <a:spcPct val="115199"/>
              </a:lnSpc>
            </a:pPr>
            <a:r>
              <a:rPr dirty="0" sz="2550" spc="135">
                <a:latin typeface="Trebuchet MS"/>
                <a:cs typeface="Trebuchet MS"/>
              </a:rPr>
              <a:t>Concentration </a:t>
            </a:r>
            <a:r>
              <a:rPr dirty="0" sz="2550" spc="-20">
                <a:latin typeface="Trebuchet MS"/>
                <a:cs typeface="Trebuchet MS"/>
              </a:rPr>
              <a:t>Stress</a:t>
            </a:r>
            <a:r>
              <a:rPr dirty="0" sz="2550" spc="-150">
                <a:latin typeface="Trebuchet MS"/>
                <a:cs typeface="Trebuchet MS"/>
              </a:rPr>
              <a:t> </a:t>
            </a:r>
            <a:r>
              <a:rPr dirty="0" sz="2550" spc="-10">
                <a:latin typeface="Trebuchet MS"/>
                <a:cs typeface="Trebuchet MS"/>
              </a:rPr>
              <a:t>levels</a:t>
            </a:r>
            <a:endParaRPr sz="2550">
              <a:latin typeface="Trebuchet MS"/>
              <a:cs typeface="Trebuchet MS"/>
            </a:endParaRPr>
          </a:p>
          <a:p>
            <a:pPr marL="560705" marR="6581140" indent="2935605">
              <a:lnSpc>
                <a:spcPct val="115199"/>
              </a:lnSpc>
            </a:pPr>
            <a:r>
              <a:rPr dirty="0" sz="2550" spc="175">
                <a:latin typeface="Trebuchet MS"/>
                <a:cs typeface="Trebuchet MS"/>
              </a:rPr>
              <a:t>Attendance</a:t>
            </a:r>
            <a:r>
              <a:rPr dirty="0" sz="2550" spc="-50">
                <a:latin typeface="Trebuchet MS"/>
                <a:cs typeface="Trebuchet MS"/>
              </a:rPr>
              <a:t> </a:t>
            </a:r>
            <a:r>
              <a:rPr dirty="0" sz="2550" spc="140">
                <a:latin typeface="Trebuchet MS"/>
                <a:cs typeface="Trebuchet MS"/>
              </a:rPr>
              <a:t>behavior </a:t>
            </a:r>
            <a:r>
              <a:rPr dirty="0" sz="2550">
                <a:latin typeface="Trebuchet MS"/>
                <a:cs typeface="Trebuchet MS"/>
              </a:rPr>
              <a:t>Existing</a:t>
            </a:r>
            <a:r>
              <a:rPr dirty="0" sz="2550" spc="-50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systems</a:t>
            </a:r>
            <a:r>
              <a:rPr dirty="0" sz="2550" spc="-50">
                <a:latin typeface="Trebuchet MS"/>
                <a:cs typeface="Trebuchet MS"/>
              </a:rPr>
              <a:t> </a:t>
            </a:r>
            <a:r>
              <a:rPr dirty="0" sz="2550" spc="160">
                <a:latin typeface="Trebuchet MS"/>
                <a:cs typeface="Trebuchet MS"/>
              </a:rPr>
              <a:t>are</a:t>
            </a:r>
            <a:r>
              <a:rPr dirty="0" sz="2550" spc="-50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static,</a:t>
            </a:r>
            <a:r>
              <a:rPr dirty="0" sz="2550" spc="-45">
                <a:latin typeface="Trebuchet MS"/>
                <a:cs typeface="Trebuchet MS"/>
              </a:rPr>
              <a:t> </a:t>
            </a:r>
            <a:r>
              <a:rPr dirty="0" sz="2550" spc="100">
                <a:latin typeface="Trebuchet MS"/>
                <a:cs typeface="Trebuchet MS"/>
              </a:rPr>
              <a:t>not</a:t>
            </a:r>
            <a:r>
              <a:rPr dirty="0" sz="2550" spc="-50">
                <a:latin typeface="Trebuchet MS"/>
                <a:cs typeface="Trebuchet MS"/>
              </a:rPr>
              <a:t> </a:t>
            </a:r>
            <a:r>
              <a:rPr dirty="0" sz="2550" spc="170">
                <a:latin typeface="Trebuchet MS"/>
                <a:cs typeface="Trebuchet MS"/>
              </a:rPr>
              <a:t>adaptive</a:t>
            </a:r>
            <a:endParaRPr sz="2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2550" spc="-240">
                <a:latin typeface="Arial Black"/>
                <a:cs typeface="Arial Black"/>
              </a:rPr>
              <a:t>Research</a:t>
            </a:r>
            <a:r>
              <a:rPr dirty="0" sz="2550" spc="-80">
                <a:latin typeface="Arial Black"/>
                <a:cs typeface="Arial Black"/>
              </a:rPr>
              <a:t> </a:t>
            </a:r>
            <a:r>
              <a:rPr dirty="0" sz="2550" spc="-20">
                <a:latin typeface="Arial Black"/>
                <a:cs typeface="Arial Black"/>
              </a:rPr>
              <a:t>Gap:</a:t>
            </a:r>
            <a:endParaRPr sz="2550">
              <a:latin typeface="Arial Black"/>
              <a:cs typeface="Arial Black"/>
            </a:endParaRPr>
          </a:p>
          <a:p>
            <a:pPr marL="560705" marR="4820920">
              <a:lnSpc>
                <a:spcPct val="115199"/>
              </a:lnSpc>
            </a:pPr>
            <a:r>
              <a:rPr dirty="0" sz="2550" spc="135">
                <a:latin typeface="Trebuchet MS"/>
                <a:cs typeface="Trebuchet MS"/>
              </a:rPr>
              <a:t>Lack</a:t>
            </a:r>
            <a:r>
              <a:rPr dirty="0" sz="2550" spc="-15">
                <a:latin typeface="Trebuchet MS"/>
                <a:cs typeface="Trebuchet MS"/>
              </a:rPr>
              <a:t> </a:t>
            </a:r>
            <a:r>
              <a:rPr dirty="0" sz="2550" spc="75">
                <a:latin typeface="Trebuchet MS"/>
                <a:cs typeface="Trebuchet MS"/>
              </a:rPr>
              <a:t>of</a:t>
            </a:r>
            <a:r>
              <a:rPr dirty="0" sz="2550">
                <a:latin typeface="Trebuchet MS"/>
                <a:cs typeface="Trebuchet MS"/>
              </a:rPr>
              <a:t> intelligent</a:t>
            </a:r>
            <a:r>
              <a:rPr dirty="0" sz="2550" spc="5">
                <a:latin typeface="Trebuchet MS"/>
                <a:cs typeface="Trebuchet MS"/>
              </a:rPr>
              <a:t> </a:t>
            </a:r>
            <a:r>
              <a:rPr dirty="0" sz="2550" spc="-85">
                <a:latin typeface="Trebuchet MS"/>
                <a:cs typeface="Trebuchet MS"/>
              </a:rPr>
              <a:t>IoT-</a:t>
            </a:r>
            <a:r>
              <a:rPr dirty="0" sz="2550" spc="235">
                <a:latin typeface="Trebuchet MS"/>
                <a:cs typeface="Trebuchet MS"/>
              </a:rPr>
              <a:t>based</a:t>
            </a:r>
            <a:r>
              <a:rPr dirty="0" sz="2550" spc="-5">
                <a:latin typeface="Trebuchet MS"/>
                <a:cs typeface="Trebuchet MS"/>
              </a:rPr>
              <a:t> </a:t>
            </a:r>
            <a:r>
              <a:rPr dirty="0" sz="2550" spc="110">
                <a:latin typeface="Trebuchet MS"/>
                <a:cs typeface="Trebuchet MS"/>
              </a:rPr>
              <a:t>classroom</a:t>
            </a:r>
            <a:r>
              <a:rPr dirty="0" sz="2550">
                <a:latin typeface="Trebuchet MS"/>
                <a:cs typeface="Trebuchet MS"/>
              </a:rPr>
              <a:t> systems</a:t>
            </a:r>
            <a:r>
              <a:rPr dirty="0" sz="2550" spc="5">
                <a:latin typeface="Trebuchet MS"/>
                <a:cs typeface="Trebuchet MS"/>
              </a:rPr>
              <a:t> </a:t>
            </a:r>
            <a:r>
              <a:rPr dirty="0" sz="2550" spc="-10">
                <a:latin typeface="Trebuchet MS"/>
                <a:cs typeface="Trebuchet MS"/>
              </a:rPr>
              <a:t>that: </a:t>
            </a:r>
            <a:r>
              <a:rPr dirty="0" sz="2550" spc="229">
                <a:latin typeface="Trebuchet MS"/>
                <a:cs typeface="Trebuchet MS"/>
              </a:rPr>
              <a:t>Combine</a:t>
            </a:r>
            <a:r>
              <a:rPr dirty="0" sz="2550" spc="-55">
                <a:latin typeface="Trebuchet MS"/>
                <a:cs typeface="Trebuchet MS"/>
              </a:rPr>
              <a:t> </a:t>
            </a:r>
            <a:r>
              <a:rPr dirty="0" sz="2550" spc="110">
                <a:latin typeface="Trebuchet MS"/>
                <a:cs typeface="Trebuchet MS"/>
              </a:rPr>
              <a:t>environment</a:t>
            </a:r>
            <a:r>
              <a:rPr dirty="0" sz="2550" spc="-55">
                <a:latin typeface="Trebuchet MS"/>
                <a:cs typeface="Trebuchet MS"/>
              </a:rPr>
              <a:t> </a:t>
            </a:r>
            <a:r>
              <a:rPr dirty="0" sz="2550" spc="200">
                <a:latin typeface="Trebuchet MS"/>
                <a:cs typeface="Trebuchet MS"/>
              </a:rPr>
              <a:t>+</a:t>
            </a:r>
            <a:r>
              <a:rPr dirty="0" sz="2550" spc="-55">
                <a:latin typeface="Trebuchet MS"/>
                <a:cs typeface="Trebuchet MS"/>
              </a:rPr>
              <a:t> </a:t>
            </a:r>
            <a:r>
              <a:rPr dirty="0" sz="2550" spc="180">
                <a:latin typeface="Trebuchet MS"/>
                <a:cs typeface="Trebuchet MS"/>
              </a:rPr>
              <a:t>attendance</a:t>
            </a:r>
            <a:endParaRPr sz="2550">
              <a:latin typeface="Trebuchet MS"/>
              <a:cs typeface="Trebuchet MS"/>
            </a:endParaRPr>
          </a:p>
          <a:p>
            <a:pPr marL="560705">
              <a:lnSpc>
                <a:spcPct val="100000"/>
              </a:lnSpc>
              <a:spcBef>
                <a:spcPts val="465"/>
              </a:spcBef>
            </a:pPr>
            <a:r>
              <a:rPr dirty="0" sz="2550" spc="215">
                <a:latin typeface="Trebuchet MS"/>
                <a:cs typeface="Trebuchet MS"/>
              </a:rPr>
              <a:t>Adapt</a:t>
            </a:r>
            <a:r>
              <a:rPr dirty="0" sz="2550" spc="-60">
                <a:latin typeface="Trebuchet MS"/>
                <a:cs typeface="Trebuchet MS"/>
              </a:rPr>
              <a:t> </a:t>
            </a:r>
            <a:r>
              <a:rPr dirty="0" sz="2550" spc="95">
                <a:latin typeface="Trebuchet MS"/>
                <a:cs typeface="Trebuchet MS"/>
              </a:rPr>
              <a:t>conditions</a:t>
            </a:r>
            <a:r>
              <a:rPr dirty="0" sz="2550" spc="-55">
                <a:latin typeface="Trebuchet MS"/>
                <a:cs typeface="Trebuchet MS"/>
              </a:rPr>
              <a:t> </a:t>
            </a:r>
            <a:r>
              <a:rPr dirty="0" sz="2550" spc="95">
                <a:latin typeface="Trebuchet MS"/>
                <a:cs typeface="Trebuchet MS"/>
              </a:rPr>
              <a:t>automatically</a:t>
            </a:r>
            <a:r>
              <a:rPr dirty="0" sz="2550" spc="-55">
                <a:latin typeface="Trebuchet MS"/>
                <a:cs typeface="Trebuchet MS"/>
              </a:rPr>
              <a:t> </a:t>
            </a:r>
            <a:r>
              <a:rPr dirty="0" sz="2550" spc="100">
                <a:latin typeface="Trebuchet MS"/>
                <a:cs typeface="Trebuchet MS"/>
              </a:rPr>
              <a:t>using</a:t>
            </a:r>
            <a:r>
              <a:rPr dirty="0" sz="2550" spc="-55">
                <a:latin typeface="Trebuchet MS"/>
                <a:cs typeface="Trebuchet MS"/>
              </a:rPr>
              <a:t> </a:t>
            </a:r>
            <a:r>
              <a:rPr dirty="0" sz="2550" spc="75">
                <a:latin typeface="Trebuchet MS"/>
                <a:cs typeface="Trebuchet MS"/>
              </a:rPr>
              <a:t>learning-</a:t>
            </a:r>
            <a:r>
              <a:rPr dirty="0" sz="2550" spc="235">
                <a:latin typeface="Trebuchet MS"/>
                <a:cs typeface="Trebuchet MS"/>
              </a:rPr>
              <a:t>based</a:t>
            </a:r>
            <a:r>
              <a:rPr dirty="0" sz="2550" spc="-60">
                <a:latin typeface="Trebuchet MS"/>
                <a:cs typeface="Trebuchet MS"/>
              </a:rPr>
              <a:t> </a:t>
            </a:r>
            <a:r>
              <a:rPr dirty="0" sz="2550" spc="130">
                <a:latin typeface="Trebuchet MS"/>
                <a:cs typeface="Trebuchet MS"/>
              </a:rPr>
              <a:t>middleware</a:t>
            </a:r>
            <a:endParaRPr sz="2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2550" spc="-75">
                <a:latin typeface="Arial Black"/>
                <a:cs typeface="Arial Black"/>
              </a:rPr>
              <a:t>Objectives</a:t>
            </a:r>
            <a:endParaRPr sz="2550">
              <a:latin typeface="Arial Black"/>
              <a:cs typeface="Arial Black"/>
            </a:endParaRPr>
          </a:p>
          <a:p>
            <a:pPr algn="just" marL="560705" marR="4437380">
              <a:lnSpc>
                <a:spcPct val="115199"/>
              </a:lnSpc>
            </a:pPr>
            <a:r>
              <a:rPr dirty="0" sz="2550" spc="155">
                <a:latin typeface="Trebuchet MS"/>
                <a:cs typeface="Trebuchet MS"/>
              </a:rPr>
              <a:t>Design</a:t>
            </a:r>
            <a:r>
              <a:rPr dirty="0" sz="2550" spc="-50">
                <a:latin typeface="Trebuchet MS"/>
                <a:cs typeface="Trebuchet MS"/>
              </a:rPr>
              <a:t> </a:t>
            </a:r>
            <a:r>
              <a:rPr dirty="0" sz="2550" spc="270">
                <a:latin typeface="Trebuchet MS"/>
                <a:cs typeface="Trebuchet MS"/>
              </a:rPr>
              <a:t>an</a:t>
            </a:r>
            <a:r>
              <a:rPr dirty="0" sz="2550" spc="-50">
                <a:latin typeface="Trebuchet MS"/>
                <a:cs typeface="Trebuchet MS"/>
              </a:rPr>
              <a:t> </a:t>
            </a:r>
            <a:r>
              <a:rPr dirty="0" sz="2550" spc="-85">
                <a:latin typeface="Trebuchet MS"/>
                <a:cs typeface="Trebuchet MS"/>
              </a:rPr>
              <a:t>IoT-</a:t>
            </a:r>
            <a:r>
              <a:rPr dirty="0" sz="2550" spc="235">
                <a:latin typeface="Trebuchet MS"/>
                <a:cs typeface="Trebuchet MS"/>
              </a:rPr>
              <a:t>based</a:t>
            </a:r>
            <a:r>
              <a:rPr dirty="0" sz="2550" spc="-45">
                <a:latin typeface="Trebuchet MS"/>
                <a:cs typeface="Trebuchet MS"/>
              </a:rPr>
              <a:t> </a:t>
            </a:r>
            <a:r>
              <a:rPr dirty="0" sz="2550" spc="100">
                <a:latin typeface="Trebuchet MS"/>
                <a:cs typeface="Trebuchet MS"/>
              </a:rPr>
              <a:t>environmental</a:t>
            </a:r>
            <a:r>
              <a:rPr dirty="0" sz="2550" spc="-45">
                <a:latin typeface="Trebuchet MS"/>
                <a:cs typeface="Trebuchet MS"/>
              </a:rPr>
              <a:t> </a:t>
            </a:r>
            <a:r>
              <a:rPr dirty="0" sz="2550" spc="95">
                <a:latin typeface="Trebuchet MS"/>
                <a:cs typeface="Trebuchet MS"/>
              </a:rPr>
              <a:t>monitoring</a:t>
            </a:r>
            <a:r>
              <a:rPr dirty="0" sz="2550" spc="-45">
                <a:latin typeface="Trebuchet MS"/>
                <a:cs typeface="Trebuchet MS"/>
              </a:rPr>
              <a:t> </a:t>
            </a:r>
            <a:r>
              <a:rPr dirty="0" sz="2550" spc="40">
                <a:latin typeface="Trebuchet MS"/>
                <a:cs typeface="Trebuchet MS"/>
              </a:rPr>
              <a:t>system </a:t>
            </a:r>
            <a:r>
              <a:rPr dirty="0" sz="2550" spc="110">
                <a:latin typeface="Trebuchet MS"/>
                <a:cs typeface="Trebuchet MS"/>
              </a:rPr>
              <a:t>Implement</a:t>
            </a:r>
            <a:r>
              <a:rPr dirty="0" sz="2550" spc="-60">
                <a:latin typeface="Trebuchet MS"/>
                <a:cs typeface="Trebuchet MS"/>
              </a:rPr>
              <a:t> </a:t>
            </a:r>
            <a:r>
              <a:rPr dirty="0" sz="2550" spc="70">
                <a:latin typeface="Trebuchet MS"/>
                <a:cs typeface="Trebuchet MS"/>
              </a:rPr>
              <a:t>student</a:t>
            </a:r>
            <a:r>
              <a:rPr dirty="0" sz="2550" spc="-60">
                <a:latin typeface="Trebuchet MS"/>
                <a:cs typeface="Trebuchet MS"/>
              </a:rPr>
              <a:t> </a:t>
            </a:r>
            <a:r>
              <a:rPr dirty="0" sz="2550" spc="190">
                <a:latin typeface="Trebuchet MS"/>
                <a:cs typeface="Trebuchet MS"/>
              </a:rPr>
              <a:t>attendance</a:t>
            </a:r>
            <a:r>
              <a:rPr dirty="0" sz="2550" spc="-60">
                <a:latin typeface="Trebuchet MS"/>
                <a:cs typeface="Trebuchet MS"/>
              </a:rPr>
              <a:t> </a:t>
            </a:r>
            <a:r>
              <a:rPr dirty="0" sz="2550" spc="95">
                <a:latin typeface="Trebuchet MS"/>
                <a:cs typeface="Trebuchet MS"/>
              </a:rPr>
              <a:t>tracking</a:t>
            </a:r>
            <a:r>
              <a:rPr dirty="0" sz="2550" spc="-60">
                <a:latin typeface="Trebuchet MS"/>
                <a:cs typeface="Trebuchet MS"/>
              </a:rPr>
              <a:t> </a:t>
            </a:r>
            <a:r>
              <a:rPr dirty="0" sz="2550" spc="-10">
                <a:latin typeface="Trebuchet MS"/>
                <a:cs typeface="Trebuchet MS"/>
              </a:rPr>
              <a:t>infrastructure </a:t>
            </a:r>
            <a:r>
              <a:rPr dirty="0" sz="2550" spc="185">
                <a:latin typeface="Trebuchet MS"/>
                <a:cs typeface="Trebuchet MS"/>
              </a:rPr>
              <a:t>Develop</a:t>
            </a:r>
            <a:r>
              <a:rPr dirty="0" sz="2550" spc="-55">
                <a:latin typeface="Trebuchet MS"/>
                <a:cs typeface="Trebuchet MS"/>
              </a:rPr>
              <a:t> </a:t>
            </a:r>
            <a:r>
              <a:rPr dirty="0" sz="2550" spc="385">
                <a:latin typeface="Trebuchet MS"/>
                <a:cs typeface="Trebuchet MS"/>
              </a:rPr>
              <a:t>a</a:t>
            </a:r>
            <a:r>
              <a:rPr dirty="0" sz="2550" spc="-55">
                <a:latin typeface="Trebuchet MS"/>
                <a:cs typeface="Trebuchet MS"/>
              </a:rPr>
              <a:t> </a:t>
            </a:r>
            <a:r>
              <a:rPr dirty="0" sz="2550" spc="240">
                <a:latin typeface="Trebuchet MS"/>
                <a:cs typeface="Trebuchet MS"/>
              </a:rPr>
              <a:t>backend</a:t>
            </a:r>
            <a:r>
              <a:rPr dirty="0" sz="2550" spc="-55">
                <a:latin typeface="Trebuchet MS"/>
                <a:cs typeface="Trebuchet MS"/>
              </a:rPr>
              <a:t> </a:t>
            </a:r>
            <a:r>
              <a:rPr dirty="0" sz="2550" spc="70">
                <a:latin typeface="Trebuchet MS"/>
                <a:cs typeface="Trebuchet MS"/>
              </a:rPr>
              <a:t>student</a:t>
            </a:r>
            <a:r>
              <a:rPr dirty="0" sz="2550" spc="-55">
                <a:latin typeface="Trebuchet MS"/>
                <a:cs typeface="Trebuchet MS"/>
              </a:rPr>
              <a:t> </a:t>
            </a:r>
            <a:r>
              <a:rPr dirty="0" sz="2550" spc="240">
                <a:latin typeface="Trebuchet MS"/>
                <a:cs typeface="Trebuchet MS"/>
              </a:rPr>
              <a:t>management</a:t>
            </a:r>
            <a:r>
              <a:rPr dirty="0" sz="2550" spc="-55">
                <a:latin typeface="Trebuchet MS"/>
                <a:cs typeface="Trebuchet MS"/>
              </a:rPr>
              <a:t> </a:t>
            </a:r>
            <a:r>
              <a:rPr dirty="0" sz="2550" spc="40">
                <a:latin typeface="Trebuchet MS"/>
                <a:cs typeface="Trebuchet MS"/>
              </a:rPr>
              <a:t>system</a:t>
            </a:r>
            <a:endParaRPr sz="2550">
              <a:latin typeface="Trebuchet MS"/>
              <a:cs typeface="Trebuchet MS"/>
            </a:endParaRPr>
          </a:p>
          <a:p>
            <a:pPr algn="just" marL="560705" marR="2635885">
              <a:lnSpc>
                <a:spcPct val="115199"/>
              </a:lnSpc>
            </a:pPr>
            <a:r>
              <a:rPr dirty="0" sz="2550" spc="125">
                <a:latin typeface="Trebuchet MS"/>
                <a:cs typeface="Trebuchet MS"/>
              </a:rPr>
              <a:t>Prepare</a:t>
            </a:r>
            <a:r>
              <a:rPr dirty="0" sz="2550" spc="-45">
                <a:latin typeface="Trebuchet MS"/>
                <a:cs typeface="Trebuchet MS"/>
              </a:rPr>
              <a:t> </a:t>
            </a:r>
            <a:r>
              <a:rPr dirty="0" sz="2550" spc="229">
                <a:latin typeface="Trebuchet MS"/>
                <a:cs typeface="Trebuchet MS"/>
              </a:rPr>
              <a:t>data</a:t>
            </a:r>
            <a:r>
              <a:rPr dirty="0" sz="2550" spc="-45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flow</a:t>
            </a:r>
            <a:r>
              <a:rPr dirty="0" sz="2550" spc="-45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for</a:t>
            </a:r>
            <a:r>
              <a:rPr dirty="0" sz="2550" spc="-45">
                <a:latin typeface="Trebuchet MS"/>
                <a:cs typeface="Trebuchet MS"/>
              </a:rPr>
              <a:t> </a:t>
            </a:r>
            <a:r>
              <a:rPr dirty="0" sz="2550" spc="100">
                <a:latin typeface="Trebuchet MS"/>
                <a:cs typeface="Trebuchet MS"/>
              </a:rPr>
              <a:t>Reinforcement</a:t>
            </a:r>
            <a:r>
              <a:rPr dirty="0" sz="2550" spc="-45">
                <a:latin typeface="Trebuchet MS"/>
                <a:cs typeface="Trebuchet MS"/>
              </a:rPr>
              <a:t> </a:t>
            </a:r>
            <a:r>
              <a:rPr dirty="0" sz="2550" spc="180">
                <a:latin typeface="Trebuchet MS"/>
                <a:cs typeface="Trebuchet MS"/>
              </a:rPr>
              <a:t>Learning–based</a:t>
            </a:r>
            <a:r>
              <a:rPr dirty="0" sz="2550" spc="-45">
                <a:latin typeface="Trebuchet MS"/>
                <a:cs typeface="Trebuchet MS"/>
              </a:rPr>
              <a:t> </a:t>
            </a:r>
            <a:r>
              <a:rPr dirty="0" sz="2550" spc="160">
                <a:latin typeface="Trebuchet MS"/>
                <a:cs typeface="Trebuchet MS"/>
              </a:rPr>
              <a:t>adaptation </a:t>
            </a:r>
            <a:r>
              <a:rPr dirty="0" sz="2550" spc="135">
                <a:latin typeface="Trebuchet MS"/>
                <a:cs typeface="Trebuchet MS"/>
              </a:rPr>
              <a:t>Enable</a:t>
            </a:r>
            <a:r>
              <a:rPr dirty="0" sz="2550" spc="-35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real-</a:t>
            </a:r>
            <a:r>
              <a:rPr dirty="0" sz="2550" spc="50">
                <a:latin typeface="Trebuchet MS"/>
                <a:cs typeface="Trebuchet MS"/>
              </a:rPr>
              <a:t>time</a:t>
            </a:r>
            <a:r>
              <a:rPr dirty="0" sz="2550" spc="-35">
                <a:latin typeface="Trebuchet MS"/>
                <a:cs typeface="Trebuchet MS"/>
              </a:rPr>
              <a:t> </a:t>
            </a:r>
            <a:r>
              <a:rPr dirty="0" sz="2550" spc="229">
                <a:latin typeface="Trebuchet MS"/>
                <a:cs typeface="Trebuchet MS"/>
              </a:rPr>
              <a:t>data</a:t>
            </a:r>
            <a:r>
              <a:rPr dirty="0" sz="2550" spc="-30">
                <a:latin typeface="Trebuchet MS"/>
                <a:cs typeface="Trebuchet MS"/>
              </a:rPr>
              <a:t> </a:t>
            </a:r>
            <a:r>
              <a:rPr dirty="0" sz="2550" spc="75">
                <a:latin typeface="Trebuchet MS"/>
                <a:cs typeface="Trebuchet MS"/>
              </a:rPr>
              <a:t>acquisition</a:t>
            </a:r>
            <a:r>
              <a:rPr dirty="0" sz="2550" spc="-35">
                <a:latin typeface="Trebuchet MS"/>
                <a:cs typeface="Trebuchet MS"/>
              </a:rPr>
              <a:t> </a:t>
            </a:r>
            <a:r>
              <a:rPr dirty="0" sz="2550" spc="100">
                <a:latin typeface="Trebuchet MS"/>
                <a:cs typeface="Trebuchet MS"/>
              </a:rPr>
              <a:t>using</a:t>
            </a:r>
            <a:r>
              <a:rPr dirty="0" sz="2550" spc="-35">
                <a:latin typeface="Trebuchet MS"/>
                <a:cs typeface="Trebuchet MS"/>
              </a:rPr>
              <a:t> </a:t>
            </a:r>
            <a:r>
              <a:rPr dirty="0" sz="2550" spc="-10">
                <a:latin typeface="Trebuchet MS"/>
                <a:cs typeface="Trebuchet MS"/>
              </a:rPr>
              <a:t>ESP32</a:t>
            </a:r>
            <a:endParaRPr sz="2550">
              <a:latin typeface="Trebuchet MS"/>
              <a:cs typeface="Trebuchet MS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478809" y="9192091"/>
            <a:ext cx="802259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IT22132000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-90">
                <a:latin typeface="Trebuchet MS"/>
                <a:cs typeface="Trebuchet MS"/>
              </a:rPr>
              <a:t>S.S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190">
                <a:latin typeface="Trebuchet MS"/>
                <a:cs typeface="Trebuchet MS"/>
              </a:rPr>
              <a:t>Bamunuarachchi</a:t>
            </a:r>
            <a:r>
              <a:rPr dirty="0" sz="2800" spc="-1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3" name="object 3" descr="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6232" y="3056929"/>
            <a:ext cx="114300" cy="1142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6232" y="3952278"/>
            <a:ext cx="114300" cy="1142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6232" y="4847628"/>
            <a:ext cx="114300" cy="1142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6232" y="6190653"/>
            <a:ext cx="114300" cy="11429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6232" y="6638328"/>
            <a:ext cx="114300" cy="11429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6232" y="7086003"/>
            <a:ext cx="114300" cy="11429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6232" y="7533678"/>
            <a:ext cx="114300" cy="114299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300714" y="2374889"/>
            <a:ext cx="15831185" cy="5407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14">
                <a:latin typeface="Arial Black"/>
                <a:cs typeface="Arial Black"/>
              </a:rPr>
              <a:t>Proposed</a:t>
            </a:r>
            <a:r>
              <a:rPr dirty="0" sz="1900" spc="-105">
                <a:latin typeface="Arial Black"/>
                <a:cs typeface="Arial Black"/>
              </a:rPr>
              <a:t> </a:t>
            </a:r>
            <a:r>
              <a:rPr dirty="0" sz="1900" spc="-114">
                <a:latin typeface="Arial Black"/>
                <a:cs typeface="Arial Black"/>
              </a:rPr>
              <a:t>Creative</a:t>
            </a:r>
            <a:r>
              <a:rPr dirty="0" sz="1900" spc="-100">
                <a:latin typeface="Arial Black"/>
                <a:cs typeface="Arial Black"/>
              </a:rPr>
              <a:t> </a:t>
            </a:r>
            <a:r>
              <a:rPr dirty="0" sz="1900" spc="-10">
                <a:latin typeface="Arial Black"/>
                <a:cs typeface="Arial Black"/>
              </a:rPr>
              <a:t>Solution</a:t>
            </a:r>
            <a:endParaRPr sz="1900">
              <a:latin typeface="Arial Black"/>
              <a:cs typeface="Arial Black"/>
            </a:endParaRPr>
          </a:p>
          <a:p>
            <a:pPr marL="816610">
              <a:lnSpc>
                <a:spcPct val="100000"/>
              </a:lnSpc>
              <a:spcBef>
                <a:spcPts val="1789"/>
              </a:spcBef>
            </a:pPr>
            <a:r>
              <a:rPr dirty="0" sz="2550" spc="-365">
                <a:latin typeface="Arial Black"/>
                <a:cs typeface="Arial Black"/>
              </a:rPr>
              <a:t>IoT</a:t>
            </a:r>
            <a:r>
              <a:rPr dirty="0" sz="2550" spc="-90">
                <a:latin typeface="Arial Black"/>
                <a:cs typeface="Arial Black"/>
              </a:rPr>
              <a:t> </a:t>
            </a:r>
            <a:r>
              <a:rPr dirty="0" sz="2550" spc="-590">
                <a:latin typeface="Arial Black"/>
                <a:cs typeface="Arial Black"/>
              </a:rPr>
              <a:t>&amp;</a:t>
            </a:r>
            <a:r>
              <a:rPr dirty="0" sz="2550" spc="-95">
                <a:latin typeface="Arial Black"/>
                <a:cs typeface="Arial Black"/>
              </a:rPr>
              <a:t> </a:t>
            </a:r>
            <a:r>
              <a:rPr dirty="0" sz="2550" spc="-140">
                <a:latin typeface="Arial Black"/>
                <a:cs typeface="Arial Black"/>
              </a:rPr>
              <a:t>Embedded</a:t>
            </a:r>
            <a:r>
              <a:rPr dirty="0" sz="2550" spc="-90">
                <a:latin typeface="Arial Black"/>
                <a:cs typeface="Arial Black"/>
              </a:rPr>
              <a:t> </a:t>
            </a:r>
            <a:r>
              <a:rPr dirty="0" sz="2550" spc="-320">
                <a:latin typeface="Arial Black"/>
                <a:cs typeface="Arial Black"/>
              </a:rPr>
              <a:t>Systems</a:t>
            </a:r>
            <a:r>
              <a:rPr dirty="0" sz="2550" spc="-95">
                <a:latin typeface="Arial Black"/>
                <a:cs typeface="Arial Black"/>
              </a:rPr>
              <a:t> </a:t>
            </a:r>
            <a:r>
              <a:rPr dirty="0" sz="2550" spc="-150">
                <a:latin typeface="Arial Black"/>
                <a:cs typeface="Arial Black"/>
              </a:rPr>
              <a:t>:</a:t>
            </a:r>
            <a:r>
              <a:rPr dirty="0" sz="2550" spc="-95">
                <a:latin typeface="Arial Black"/>
                <a:cs typeface="Arial Black"/>
              </a:rPr>
              <a:t> </a:t>
            </a:r>
            <a:r>
              <a:rPr dirty="0" sz="2550" spc="80">
                <a:latin typeface="Trebuchet MS"/>
                <a:cs typeface="Trebuchet MS"/>
              </a:rPr>
              <a:t>Environmental</a:t>
            </a:r>
            <a:r>
              <a:rPr dirty="0" sz="2550" spc="-15">
                <a:latin typeface="Trebuchet MS"/>
                <a:cs typeface="Trebuchet MS"/>
              </a:rPr>
              <a:t> </a:t>
            </a:r>
            <a:r>
              <a:rPr dirty="0" sz="2550" spc="95">
                <a:latin typeface="Trebuchet MS"/>
                <a:cs typeface="Trebuchet MS"/>
              </a:rPr>
              <a:t>monitoring</a:t>
            </a:r>
            <a:r>
              <a:rPr dirty="0" sz="2550" spc="-25">
                <a:latin typeface="Trebuchet MS"/>
                <a:cs typeface="Trebuchet MS"/>
              </a:rPr>
              <a:t> </a:t>
            </a:r>
            <a:r>
              <a:rPr dirty="0" sz="2550" spc="80">
                <a:latin typeface="Trebuchet MS"/>
                <a:cs typeface="Trebuchet MS"/>
              </a:rPr>
              <a:t>Sensor</a:t>
            </a:r>
            <a:r>
              <a:rPr dirty="0" sz="2550" spc="-25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networks,</a:t>
            </a:r>
            <a:r>
              <a:rPr dirty="0" sz="2550" spc="-15">
                <a:latin typeface="Trebuchet MS"/>
                <a:cs typeface="Trebuchet MS"/>
              </a:rPr>
              <a:t> </a:t>
            </a:r>
            <a:r>
              <a:rPr dirty="0" sz="2550" spc="40">
                <a:latin typeface="Trebuchet MS"/>
                <a:cs typeface="Trebuchet MS"/>
              </a:rPr>
              <a:t>Actuators.</a:t>
            </a:r>
            <a:endParaRPr sz="2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2550">
              <a:latin typeface="Trebuchet MS"/>
              <a:cs typeface="Trebuchet MS"/>
            </a:endParaRPr>
          </a:p>
          <a:p>
            <a:pPr marL="816610">
              <a:lnSpc>
                <a:spcPct val="100000"/>
              </a:lnSpc>
              <a:spcBef>
                <a:spcPts val="5"/>
              </a:spcBef>
            </a:pPr>
            <a:r>
              <a:rPr dirty="0" sz="2550" spc="-220">
                <a:latin typeface="Arial Black"/>
                <a:cs typeface="Arial Black"/>
              </a:rPr>
              <a:t>Networking</a:t>
            </a:r>
            <a:r>
              <a:rPr dirty="0" sz="2550" spc="-125">
                <a:latin typeface="Arial Black"/>
                <a:cs typeface="Arial Black"/>
              </a:rPr>
              <a:t> </a:t>
            </a:r>
            <a:r>
              <a:rPr dirty="0" sz="2550" spc="-590">
                <a:latin typeface="Arial Black"/>
                <a:cs typeface="Arial Black"/>
              </a:rPr>
              <a:t>&amp;</a:t>
            </a:r>
            <a:r>
              <a:rPr dirty="0" sz="2550" spc="-120">
                <a:latin typeface="Arial Black"/>
                <a:cs typeface="Arial Black"/>
              </a:rPr>
              <a:t> </a:t>
            </a:r>
            <a:r>
              <a:rPr dirty="0" sz="2550" spc="-165">
                <a:latin typeface="Arial Black"/>
                <a:cs typeface="Arial Black"/>
              </a:rPr>
              <a:t>Middleware</a:t>
            </a:r>
            <a:r>
              <a:rPr dirty="0" sz="2550" spc="-125">
                <a:latin typeface="Arial Black"/>
                <a:cs typeface="Arial Black"/>
              </a:rPr>
              <a:t> </a:t>
            </a:r>
            <a:r>
              <a:rPr dirty="0" sz="2550" spc="-150">
                <a:latin typeface="Arial Black"/>
                <a:cs typeface="Arial Black"/>
              </a:rPr>
              <a:t>:</a:t>
            </a:r>
            <a:r>
              <a:rPr dirty="0" sz="2550" spc="-135">
                <a:latin typeface="Arial Black"/>
                <a:cs typeface="Arial Black"/>
              </a:rPr>
              <a:t> </a:t>
            </a:r>
            <a:r>
              <a:rPr dirty="0" sz="2550" spc="85">
                <a:latin typeface="Trebuchet MS"/>
                <a:cs typeface="Trebuchet MS"/>
              </a:rPr>
              <a:t>Reinforcement</a:t>
            </a:r>
            <a:r>
              <a:rPr dirty="0" sz="2550" spc="-55">
                <a:latin typeface="Trebuchet MS"/>
                <a:cs typeface="Trebuchet MS"/>
              </a:rPr>
              <a:t> </a:t>
            </a:r>
            <a:r>
              <a:rPr dirty="0" sz="2550" spc="95">
                <a:latin typeface="Trebuchet MS"/>
                <a:cs typeface="Trebuchet MS"/>
              </a:rPr>
              <a:t>learning</a:t>
            </a:r>
            <a:r>
              <a:rPr dirty="0" sz="2550" spc="-55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for</a:t>
            </a:r>
            <a:r>
              <a:rPr dirty="0" sz="2550" spc="-55">
                <a:latin typeface="Trebuchet MS"/>
                <a:cs typeface="Trebuchet MS"/>
              </a:rPr>
              <a:t> multi-</a:t>
            </a:r>
            <a:r>
              <a:rPr dirty="0" sz="2550" spc="85">
                <a:latin typeface="Trebuchet MS"/>
                <a:cs typeface="Trebuchet MS"/>
              </a:rPr>
              <a:t>protocol</a:t>
            </a:r>
            <a:r>
              <a:rPr dirty="0" sz="2550" spc="-50">
                <a:latin typeface="Trebuchet MS"/>
                <a:cs typeface="Trebuchet MS"/>
              </a:rPr>
              <a:t> </a:t>
            </a:r>
            <a:r>
              <a:rPr dirty="0" sz="2550" spc="-110">
                <a:latin typeface="Trebuchet MS"/>
                <a:cs typeface="Trebuchet MS"/>
              </a:rPr>
              <a:t>IoT</a:t>
            </a:r>
            <a:r>
              <a:rPr dirty="0" sz="2550" spc="-105">
                <a:latin typeface="Trebuchet MS"/>
                <a:cs typeface="Trebuchet MS"/>
              </a:rPr>
              <a:t> </a:t>
            </a:r>
            <a:r>
              <a:rPr dirty="0" sz="2550" spc="-10">
                <a:latin typeface="Trebuchet MS"/>
                <a:cs typeface="Trebuchet MS"/>
              </a:rPr>
              <a:t>(Wi-</a:t>
            </a:r>
            <a:r>
              <a:rPr dirty="0" sz="2550" spc="-180">
                <a:latin typeface="Trebuchet MS"/>
                <a:cs typeface="Trebuchet MS"/>
              </a:rPr>
              <a:t>Fi,</a:t>
            </a:r>
            <a:r>
              <a:rPr dirty="0" sz="2550" spc="-45">
                <a:latin typeface="Trebuchet MS"/>
                <a:cs typeface="Trebuchet MS"/>
              </a:rPr>
              <a:t> </a:t>
            </a:r>
            <a:r>
              <a:rPr dirty="0" sz="2550" spc="-80">
                <a:latin typeface="Trebuchet MS"/>
                <a:cs typeface="Trebuchet MS"/>
              </a:rPr>
              <a:t>BLE,</a:t>
            </a:r>
            <a:r>
              <a:rPr dirty="0" sz="2550" spc="-50">
                <a:latin typeface="Trebuchet MS"/>
                <a:cs typeface="Trebuchet MS"/>
              </a:rPr>
              <a:t> </a:t>
            </a:r>
            <a:r>
              <a:rPr dirty="0" sz="2550" spc="55">
                <a:latin typeface="Trebuchet MS"/>
                <a:cs typeface="Trebuchet MS"/>
              </a:rPr>
              <a:t>Zigbee).</a:t>
            </a:r>
            <a:endParaRPr sz="2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2550">
              <a:latin typeface="Trebuchet MS"/>
              <a:cs typeface="Trebuchet MS"/>
            </a:endParaRPr>
          </a:p>
          <a:p>
            <a:pPr marL="816610">
              <a:lnSpc>
                <a:spcPct val="100000"/>
              </a:lnSpc>
            </a:pPr>
            <a:r>
              <a:rPr dirty="0" sz="2550" spc="-180">
                <a:latin typeface="Arial Black"/>
                <a:cs typeface="Arial Black"/>
              </a:rPr>
              <a:t>Database</a:t>
            </a:r>
            <a:r>
              <a:rPr dirty="0" sz="2550" spc="-90">
                <a:latin typeface="Arial Black"/>
                <a:cs typeface="Arial Black"/>
              </a:rPr>
              <a:t> </a:t>
            </a:r>
            <a:r>
              <a:rPr dirty="0" sz="2550" spc="-590">
                <a:latin typeface="Arial Black"/>
                <a:cs typeface="Arial Black"/>
              </a:rPr>
              <a:t>&amp;</a:t>
            </a:r>
            <a:r>
              <a:rPr dirty="0" sz="2550" spc="-90">
                <a:latin typeface="Arial Black"/>
                <a:cs typeface="Arial Black"/>
              </a:rPr>
              <a:t> </a:t>
            </a:r>
            <a:r>
              <a:rPr dirty="0" sz="2550" spc="-210">
                <a:latin typeface="Arial Black"/>
                <a:cs typeface="Arial Black"/>
              </a:rPr>
              <a:t>Identity</a:t>
            </a:r>
            <a:r>
              <a:rPr dirty="0" sz="2550" spc="-95">
                <a:latin typeface="Arial Black"/>
                <a:cs typeface="Arial Black"/>
              </a:rPr>
              <a:t> </a:t>
            </a:r>
            <a:r>
              <a:rPr dirty="0" sz="2550" spc="-150">
                <a:latin typeface="Arial Black"/>
                <a:cs typeface="Arial Black"/>
              </a:rPr>
              <a:t>:</a:t>
            </a:r>
            <a:r>
              <a:rPr dirty="0" sz="2550" spc="-100">
                <a:latin typeface="Arial Black"/>
                <a:cs typeface="Arial Black"/>
              </a:rPr>
              <a:t> </a:t>
            </a:r>
            <a:r>
              <a:rPr dirty="0" sz="2550" spc="75">
                <a:latin typeface="Trebuchet MS"/>
                <a:cs typeface="Trebuchet MS"/>
              </a:rPr>
              <a:t>Student</a:t>
            </a:r>
            <a:r>
              <a:rPr dirty="0" sz="2550" spc="-25">
                <a:latin typeface="Trebuchet MS"/>
                <a:cs typeface="Trebuchet MS"/>
              </a:rPr>
              <a:t> </a:t>
            </a:r>
            <a:r>
              <a:rPr dirty="0" sz="2550" spc="235">
                <a:latin typeface="Trebuchet MS"/>
                <a:cs typeface="Trebuchet MS"/>
              </a:rPr>
              <a:t>management</a:t>
            </a:r>
            <a:r>
              <a:rPr dirty="0" sz="2550" spc="-20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system</a:t>
            </a:r>
            <a:r>
              <a:rPr dirty="0" sz="2550" spc="-25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with</a:t>
            </a:r>
            <a:r>
              <a:rPr dirty="0" sz="2550" spc="-20">
                <a:latin typeface="Trebuchet MS"/>
                <a:cs typeface="Trebuchet MS"/>
              </a:rPr>
              <a:t> </a:t>
            </a:r>
            <a:r>
              <a:rPr dirty="0" sz="2550" spc="180">
                <a:latin typeface="Trebuchet MS"/>
                <a:cs typeface="Trebuchet MS"/>
              </a:rPr>
              <a:t>attendance</a:t>
            </a:r>
            <a:r>
              <a:rPr dirty="0" sz="2550" spc="-25">
                <a:latin typeface="Trebuchet MS"/>
                <a:cs typeface="Trebuchet MS"/>
              </a:rPr>
              <a:t> </a:t>
            </a:r>
            <a:r>
              <a:rPr dirty="0" sz="2550" spc="90">
                <a:latin typeface="Trebuchet MS"/>
                <a:cs typeface="Trebuchet MS"/>
              </a:rPr>
              <a:t>tracking</a:t>
            </a:r>
            <a:r>
              <a:rPr dirty="0" sz="2550" spc="-20">
                <a:latin typeface="Trebuchet MS"/>
                <a:cs typeface="Trebuchet MS"/>
              </a:rPr>
              <a:t> </a:t>
            </a:r>
            <a:r>
              <a:rPr dirty="0" sz="2550" spc="70">
                <a:latin typeface="Trebuchet MS"/>
                <a:cs typeface="Trebuchet MS"/>
              </a:rPr>
              <a:t>from</a:t>
            </a:r>
            <a:r>
              <a:rPr dirty="0" sz="2550" spc="-25">
                <a:latin typeface="Trebuchet MS"/>
                <a:cs typeface="Trebuchet MS"/>
              </a:rPr>
              <a:t> </a:t>
            </a:r>
            <a:r>
              <a:rPr dirty="0" sz="2550" spc="180">
                <a:latin typeface="Trebuchet MS"/>
                <a:cs typeface="Trebuchet MS"/>
              </a:rPr>
              <a:t>MERN</a:t>
            </a:r>
            <a:r>
              <a:rPr dirty="0" sz="2550" spc="-20">
                <a:latin typeface="Trebuchet MS"/>
                <a:cs typeface="Trebuchet MS"/>
              </a:rPr>
              <a:t> </a:t>
            </a:r>
            <a:r>
              <a:rPr dirty="0" sz="2550" spc="-10">
                <a:latin typeface="Trebuchet MS"/>
                <a:cs typeface="Trebuchet MS"/>
              </a:rPr>
              <a:t>stack.</a:t>
            </a:r>
            <a:endParaRPr sz="2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550">
              <a:latin typeface="Trebuchet MS"/>
              <a:cs typeface="Trebuchet MS"/>
            </a:endParaRPr>
          </a:p>
          <a:p>
            <a:pPr marL="267970">
              <a:lnSpc>
                <a:spcPct val="100000"/>
              </a:lnSpc>
            </a:pPr>
            <a:r>
              <a:rPr dirty="0" sz="2550" spc="-220">
                <a:latin typeface="Arial Black"/>
                <a:cs typeface="Arial Black"/>
              </a:rPr>
              <a:t>Technologies</a:t>
            </a:r>
            <a:r>
              <a:rPr dirty="0" sz="2550" spc="-114">
                <a:latin typeface="Arial Black"/>
                <a:cs typeface="Arial Black"/>
              </a:rPr>
              <a:t> </a:t>
            </a:r>
            <a:r>
              <a:rPr dirty="0" sz="2550" spc="-110">
                <a:latin typeface="Arial Black"/>
                <a:cs typeface="Arial Black"/>
              </a:rPr>
              <a:t>Utilized</a:t>
            </a:r>
            <a:endParaRPr sz="2550">
              <a:latin typeface="Arial Black"/>
              <a:cs typeface="Arial Black"/>
            </a:endParaRPr>
          </a:p>
          <a:p>
            <a:pPr marL="816610">
              <a:lnSpc>
                <a:spcPct val="100000"/>
              </a:lnSpc>
              <a:spcBef>
                <a:spcPts val="465"/>
              </a:spcBef>
            </a:pPr>
            <a:r>
              <a:rPr dirty="0" sz="2550" spc="-280">
                <a:latin typeface="Arial Black"/>
                <a:cs typeface="Arial Black"/>
              </a:rPr>
              <a:t>Sensors:</a:t>
            </a:r>
            <a:r>
              <a:rPr dirty="0" sz="2550" spc="-125">
                <a:latin typeface="Arial Black"/>
                <a:cs typeface="Arial Black"/>
              </a:rPr>
              <a:t> </a:t>
            </a:r>
            <a:r>
              <a:rPr dirty="0" sz="2550">
                <a:latin typeface="Trebuchet MS"/>
                <a:cs typeface="Trebuchet MS"/>
              </a:rPr>
              <a:t>DHT22/Si7021</a:t>
            </a:r>
            <a:r>
              <a:rPr dirty="0" sz="2550" spc="-40">
                <a:latin typeface="Trebuchet MS"/>
                <a:cs typeface="Trebuchet MS"/>
              </a:rPr>
              <a:t> </a:t>
            </a:r>
            <a:r>
              <a:rPr dirty="0" sz="2550" spc="80">
                <a:latin typeface="Trebuchet MS"/>
                <a:cs typeface="Trebuchet MS"/>
              </a:rPr>
              <a:t>(Temp</a:t>
            </a:r>
            <a:r>
              <a:rPr dirty="0" sz="2550" spc="-45">
                <a:latin typeface="Trebuchet MS"/>
                <a:cs typeface="Trebuchet MS"/>
              </a:rPr>
              <a:t> </a:t>
            </a:r>
            <a:r>
              <a:rPr dirty="0" sz="2550" spc="70">
                <a:latin typeface="Trebuchet MS"/>
                <a:cs typeface="Trebuchet MS"/>
              </a:rPr>
              <a:t>&amp;</a:t>
            </a:r>
            <a:r>
              <a:rPr dirty="0" sz="2550" spc="-40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Humidity),</a:t>
            </a:r>
            <a:r>
              <a:rPr dirty="0" sz="2550" spc="-35">
                <a:latin typeface="Trebuchet MS"/>
                <a:cs typeface="Trebuchet MS"/>
              </a:rPr>
              <a:t> </a:t>
            </a:r>
            <a:r>
              <a:rPr dirty="0" sz="2550" spc="150">
                <a:latin typeface="Trebuchet MS"/>
                <a:cs typeface="Trebuchet MS"/>
              </a:rPr>
              <a:t>MH-</a:t>
            </a:r>
            <a:r>
              <a:rPr dirty="0" sz="2550">
                <a:latin typeface="Trebuchet MS"/>
                <a:cs typeface="Trebuchet MS"/>
              </a:rPr>
              <a:t>Z19B</a:t>
            </a:r>
            <a:r>
              <a:rPr dirty="0" sz="2550" spc="-45">
                <a:latin typeface="Trebuchet MS"/>
                <a:cs typeface="Trebuchet MS"/>
              </a:rPr>
              <a:t> </a:t>
            </a:r>
            <a:r>
              <a:rPr dirty="0" sz="2550" spc="70">
                <a:latin typeface="Trebuchet MS"/>
                <a:cs typeface="Trebuchet MS"/>
              </a:rPr>
              <a:t>(CO₂),</a:t>
            </a:r>
            <a:r>
              <a:rPr dirty="0" sz="2550" spc="-35">
                <a:latin typeface="Trebuchet MS"/>
                <a:cs typeface="Trebuchet MS"/>
              </a:rPr>
              <a:t> </a:t>
            </a:r>
            <a:r>
              <a:rPr dirty="0" sz="2550" spc="245">
                <a:latin typeface="Trebuchet MS"/>
                <a:cs typeface="Trebuchet MS"/>
              </a:rPr>
              <a:t>MEMS</a:t>
            </a:r>
            <a:r>
              <a:rPr dirty="0" sz="2550" spc="-45">
                <a:latin typeface="Trebuchet MS"/>
                <a:cs typeface="Trebuchet MS"/>
              </a:rPr>
              <a:t> </a:t>
            </a:r>
            <a:r>
              <a:rPr dirty="0" sz="2550" spc="210">
                <a:latin typeface="Trebuchet MS"/>
                <a:cs typeface="Trebuchet MS"/>
              </a:rPr>
              <a:t>Mic</a:t>
            </a:r>
            <a:r>
              <a:rPr dirty="0" sz="2550" spc="-40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(Noise),</a:t>
            </a:r>
            <a:r>
              <a:rPr dirty="0" sz="2550" spc="-35">
                <a:latin typeface="Trebuchet MS"/>
                <a:cs typeface="Trebuchet MS"/>
              </a:rPr>
              <a:t> </a:t>
            </a:r>
            <a:r>
              <a:rPr dirty="0" sz="2550" spc="-25">
                <a:latin typeface="Trebuchet MS"/>
                <a:cs typeface="Trebuchet MS"/>
              </a:rPr>
              <a:t>LDR/TSL2591</a:t>
            </a:r>
            <a:r>
              <a:rPr dirty="0" sz="2550" spc="-45">
                <a:latin typeface="Trebuchet MS"/>
                <a:cs typeface="Trebuchet MS"/>
              </a:rPr>
              <a:t> </a:t>
            </a:r>
            <a:r>
              <a:rPr dirty="0" sz="2550" spc="-10">
                <a:latin typeface="Trebuchet MS"/>
                <a:cs typeface="Trebuchet MS"/>
              </a:rPr>
              <a:t>(Light).</a:t>
            </a:r>
            <a:endParaRPr sz="2550">
              <a:latin typeface="Trebuchet MS"/>
              <a:cs typeface="Trebuchet MS"/>
            </a:endParaRPr>
          </a:p>
          <a:p>
            <a:pPr marL="816610">
              <a:lnSpc>
                <a:spcPct val="100000"/>
              </a:lnSpc>
              <a:spcBef>
                <a:spcPts val="465"/>
              </a:spcBef>
            </a:pPr>
            <a:r>
              <a:rPr dirty="0" sz="2550" spc="-165">
                <a:latin typeface="Arial Black"/>
                <a:cs typeface="Arial Black"/>
              </a:rPr>
              <a:t>Communication:</a:t>
            </a:r>
            <a:r>
              <a:rPr dirty="0" sz="2550" spc="-125">
                <a:latin typeface="Arial Black"/>
                <a:cs typeface="Arial Black"/>
              </a:rPr>
              <a:t> </a:t>
            </a:r>
            <a:r>
              <a:rPr dirty="0" sz="2550" spc="-10">
                <a:latin typeface="Trebuchet MS"/>
                <a:cs typeface="Trebuchet MS"/>
              </a:rPr>
              <a:t>Wi-</a:t>
            </a:r>
            <a:r>
              <a:rPr dirty="0" sz="2550" spc="-180">
                <a:latin typeface="Trebuchet MS"/>
                <a:cs typeface="Trebuchet MS"/>
              </a:rPr>
              <a:t>Fi,</a:t>
            </a:r>
            <a:r>
              <a:rPr dirty="0" sz="2550" spc="-50">
                <a:latin typeface="Trebuchet MS"/>
                <a:cs typeface="Trebuchet MS"/>
              </a:rPr>
              <a:t> </a:t>
            </a:r>
            <a:r>
              <a:rPr dirty="0" sz="2550" spc="-80">
                <a:latin typeface="Trebuchet MS"/>
                <a:cs typeface="Trebuchet MS"/>
              </a:rPr>
              <a:t>BLE,</a:t>
            </a:r>
            <a:r>
              <a:rPr dirty="0" sz="2550" spc="-50">
                <a:latin typeface="Trebuchet MS"/>
                <a:cs typeface="Trebuchet MS"/>
              </a:rPr>
              <a:t> </a:t>
            </a:r>
            <a:r>
              <a:rPr dirty="0" sz="2550" spc="70">
                <a:latin typeface="Trebuchet MS"/>
                <a:cs typeface="Trebuchet MS"/>
              </a:rPr>
              <a:t>Zigbee.</a:t>
            </a:r>
            <a:endParaRPr sz="2550">
              <a:latin typeface="Trebuchet MS"/>
              <a:cs typeface="Trebuchet MS"/>
            </a:endParaRPr>
          </a:p>
          <a:p>
            <a:pPr marL="816610">
              <a:lnSpc>
                <a:spcPct val="100000"/>
              </a:lnSpc>
              <a:spcBef>
                <a:spcPts val="465"/>
              </a:spcBef>
            </a:pPr>
            <a:r>
              <a:rPr dirty="0" sz="2550" spc="-155">
                <a:latin typeface="Arial Black"/>
                <a:cs typeface="Arial Black"/>
              </a:rPr>
              <a:t>Middleware:</a:t>
            </a:r>
            <a:r>
              <a:rPr dirty="0" sz="2550" spc="-114">
                <a:latin typeface="Arial Black"/>
                <a:cs typeface="Arial Black"/>
              </a:rPr>
              <a:t> </a:t>
            </a:r>
            <a:r>
              <a:rPr dirty="0" sz="2550">
                <a:latin typeface="Trebuchet MS"/>
                <a:cs typeface="Trebuchet MS"/>
              </a:rPr>
              <a:t>RL</a:t>
            </a:r>
            <a:r>
              <a:rPr dirty="0" sz="2550" spc="-30">
                <a:latin typeface="Trebuchet MS"/>
                <a:cs typeface="Trebuchet MS"/>
              </a:rPr>
              <a:t> </a:t>
            </a:r>
            <a:r>
              <a:rPr dirty="0" sz="2550" spc="225">
                <a:latin typeface="Trebuchet MS"/>
                <a:cs typeface="Trebuchet MS"/>
              </a:rPr>
              <a:t>(Deep</a:t>
            </a:r>
            <a:r>
              <a:rPr dirty="0" sz="2550" spc="-30">
                <a:latin typeface="Trebuchet MS"/>
                <a:cs typeface="Trebuchet MS"/>
              </a:rPr>
              <a:t> </a:t>
            </a:r>
            <a:r>
              <a:rPr dirty="0" sz="2550" spc="175">
                <a:latin typeface="Trebuchet MS"/>
                <a:cs typeface="Trebuchet MS"/>
              </a:rPr>
              <a:t>Q-</a:t>
            </a:r>
            <a:r>
              <a:rPr dirty="0" sz="2550" spc="114">
                <a:latin typeface="Trebuchet MS"/>
                <a:cs typeface="Trebuchet MS"/>
              </a:rPr>
              <a:t>Learning</a:t>
            </a:r>
            <a:r>
              <a:rPr dirty="0" sz="2550" spc="-30">
                <a:latin typeface="Trebuchet MS"/>
                <a:cs typeface="Trebuchet MS"/>
              </a:rPr>
              <a:t> </a:t>
            </a:r>
            <a:r>
              <a:rPr dirty="0" sz="2550" spc="-250">
                <a:latin typeface="Trebuchet MS"/>
                <a:cs typeface="Trebuchet MS"/>
              </a:rPr>
              <a:t>/</a:t>
            </a:r>
            <a:r>
              <a:rPr dirty="0" sz="2550" spc="-30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Policy</a:t>
            </a:r>
            <a:r>
              <a:rPr dirty="0" sz="2550" spc="-30">
                <a:latin typeface="Trebuchet MS"/>
                <a:cs typeface="Trebuchet MS"/>
              </a:rPr>
              <a:t> </a:t>
            </a:r>
            <a:r>
              <a:rPr dirty="0" sz="2550" spc="110">
                <a:latin typeface="Trebuchet MS"/>
                <a:cs typeface="Trebuchet MS"/>
              </a:rPr>
              <a:t>Gradient)</a:t>
            </a:r>
            <a:endParaRPr sz="2550">
              <a:latin typeface="Trebuchet MS"/>
              <a:cs typeface="Trebuchet MS"/>
            </a:endParaRPr>
          </a:p>
          <a:p>
            <a:pPr marL="816610">
              <a:lnSpc>
                <a:spcPct val="100000"/>
              </a:lnSpc>
              <a:spcBef>
                <a:spcPts val="465"/>
              </a:spcBef>
            </a:pPr>
            <a:r>
              <a:rPr dirty="0" sz="2550" spc="-185">
                <a:latin typeface="Arial Black"/>
                <a:cs typeface="Arial Black"/>
              </a:rPr>
              <a:t>Attendance:</a:t>
            </a:r>
            <a:r>
              <a:rPr dirty="0" sz="2550" spc="-135">
                <a:latin typeface="Arial Black"/>
                <a:cs typeface="Arial Black"/>
              </a:rPr>
              <a:t> </a:t>
            </a:r>
            <a:r>
              <a:rPr dirty="0" sz="2550" spc="220">
                <a:latin typeface="Trebuchet MS"/>
                <a:cs typeface="Trebuchet MS"/>
              </a:rPr>
              <a:t>NFC</a:t>
            </a:r>
            <a:r>
              <a:rPr dirty="0" sz="2550" spc="-50">
                <a:latin typeface="Trebuchet MS"/>
                <a:cs typeface="Trebuchet MS"/>
              </a:rPr>
              <a:t> </a:t>
            </a:r>
            <a:r>
              <a:rPr dirty="0" sz="2550" spc="175">
                <a:latin typeface="Trebuchet MS"/>
                <a:cs typeface="Trebuchet MS"/>
              </a:rPr>
              <a:t>Reader</a:t>
            </a:r>
            <a:r>
              <a:rPr dirty="0" sz="2550" spc="-50">
                <a:latin typeface="Trebuchet MS"/>
                <a:cs typeface="Trebuchet MS"/>
              </a:rPr>
              <a:t> </a:t>
            </a:r>
            <a:r>
              <a:rPr dirty="0" sz="2550" spc="-10">
                <a:latin typeface="Trebuchet MS"/>
                <a:cs typeface="Trebuchet MS"/>
              </a:rPr>
              <a:t>(PN532/RC522).</a:t>
            </a:r>
            <a:endParaRPr sz="2550">
              <a:latin typeface="Trebuchet MS"/>
              <a:cs typeface="Trebuchet M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478809" y="9192091"/>
            <a:ext cx="802259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IT22132000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-90">
                <a:latin typeface="Trebuchet MS"/>
                <a:cs typeface="Trebuchet MS"/>
              </a:rPr>
              <a:t>S.S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190">
                <a:latin typeface="Trebuchet MS"/>
                <a:cs typeface="Trebuchet MS"/>
              </a:rPr>
              <a:t>Bamunuarachchi</a:t>
            </a:r>
            <a:r>
              <a:rPr dirty="0" sz="2800" spc="-1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22020" rIns="0" bIns="0" rtlCol="0" vert="horz">
            <a:spAutoFit/>
          </a:bodyPr>
          <a:lstStyle/>
          <a:p>
            <a:pPr marL="123189" marR="5080">
              <a:lnSpc>
                <a:spcPct val="116100"/>
              </a:lnSpc>
              <a:spcBef>
                <a:spcPts val="95"/>
              </a:spcBef>
            </a:pPr>
            <a:r>
              <a:rPr dirty="0" sz="3500" spc="-509"/>
              <a:t>ADAPTIVE</a:t>
            </a:r>
            <a:r>
              <a:rPr dirty="0" sz="3500" spc="-180"/>
              <a:t> </a:t>
            </a:r>
            <a:r>
              <a:rPr dirty="0" sz="3500" spc="-465"/>
              <a:t>IOT</a:t>
            </a:r>
            <a:r>
              <a:rPr dirty="0" sz="3500" spc="-175"/>
              <a:t> </a:t>
            </a:r>
            <a:r>
              <a:rPr dirty="0" sz="3500" spc="-484"/>
              <a:t>ENVIRONMENTAL</a:t>
            </a:r>
            <a:r>
              <a:rPr dirty="0" sz="3500" spc="-175"/>
              <a:t> </a:t>
            </a:r>
            <a:r>
              <a:rPr dirty="0" sz="3500" spc="-810"/>
              <a:t>&amp;</a:t>
            </a:r>
            <a:r>
              <a:rPr dirty="0" sz="3500" spc="-175"/>
              <a:t> </a:t>
            </a:r>
            <a:r>
              <a:rPr dirty="0" sz="3500" spc="-530"/>
              <a:t>ATTENDANCE</a:t>
            </a:r>
            <a:r>
              <a:rPr dirty="0" sz="3500" spc="-175"/>
              <a:t> </a:t>
            </a:r>
            <a:r>
              <a:rPr dirty="0" sz="3500" spc="-335"/>
              <a:t>MONITORING</a:t>
            </a:r>
            <a:r>
              <a:rPr dirty="0" sz="3500" spc="-175"/>
              <a:t> </a:t>
            </a:r>
            <a:r>
              <a:rPr dirty="0" sz="3500" spc="-595"/>
              <a:t>WITH </a:t>
            </a:r>
            <a:r>
              <a:rPr dirty="0" sz="3500" spc="-515"/>
              <a:t>REINFORCEMENT</a:t>
            </a:r>
            <a:r>
              <a:rPr dirty="0" sz="3500" spc="-155"/>
              <a:t> </a:t>
            </a:r>
            <a:r>
              <a:rPr dirty="0" sz="3500" spc="-459"/>
              <a:t>LEARNING</a:t>
            </a:r>
            <a:r>
              <a:rPr dirty="0" sz="3500" spc="-155"/>
              <a:t> </a:t>
            </a:r>
            <a:r>
              <a:rPr dirty="0" sz="3500" spc="-495"/>
              <a:t>MIDDLEWARE</a:t>
            </a:r>
            <a:endParaRPr sz="3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4" name="object 4" descr="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4552" y="2172070"/>
            <a:ext cx="8063551" cy="575141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64495" y="2669042"/>
            <a:ext cx="7705724" cy="5057774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4938" rIns="0" bIns="0" rtlCol="0" vert="horz">
            <a:spAutoFit/>
          </a:bodyPr>
          <a:lstStyle/>
          <a:p>
            <a:pPr marL="60960" marR="5080">
              <a:lnSpc>
                <a:spcPct val="116100"/>
              </a:lnSpc>
              <a:spcBef>
                <a:spcPts val="95"/>
              </a:spcBef>
            </a:pPr>
            <a:r>
              <a:rPr dirty="0" sz="3500" spc="-509"/>
              <a:t>ADAPTIVE</a:t>
            </a:r>
            <a:r>
              <a:rPr dirty="0" sz="3500" spc="-180"/>
              <a:t> </a:t>
            </a:r>
            <a:r>
              <a:rPr dirty="0" sz="3500" spc="-465"/>
              <a:t>IOT</a:t>
            </a:r>
            <a:r>
              <a:rPr dirty="0" sz="3500" spc="-175"/>
              <a:t> </a:t>
            </a:r>
            <a:r>
              <a:rPr dirty="0" sz="3500" spc="-484"/>
              <a:t>ENVIRONMENTAL</a:t>
            </a:r>
            <a:r>
              <a:rPr dirty="0" sz="3500" spc="-175"/>
              <a:t> </a:t>
            </a:r>
            <a:r>
              <a:rPr dirty="0" sz="3500" spc="-810"/>
              <a:t>&amp;</a:t>
            </a:r>
            <a:r>
              <a:rPr dirty="0" sz="3500" spc="-175"/>
              <a:t> </a:t>
            </a:r>
            <a:r>
              <a:rPr dirty="0" sz="3500" spc="-530"/>
              <a:t>ATTENDANCE</a:t>
            </a:r>
            <a:r>
              <a:rPr dirty="0" sz="3500" spc="-175"/>
              <a:t> </a:t>
            </a:r>
            <a:r>
              <a:rPr dirty="0" sz="3500" spc="-335"/>
              <a:t>MONITORING</a:t>
            </a:r>
            <a:r>
              <a:rPr dirty="0" sz="3500" spc="-175"/>
              <a:t> </a:t>
            </a:r>
            <a:r>
              <a:rPr dirty="0" sz="3500" spc="-595"/>
              <a:t>WITH </a:t>
            </a:r>
            <a:r>
              <a:rPr dirty="0" sz="3500" spc="-515"/>
              <a:t>REINFORCEMENT</a:t>
            </a:r>
            <a:r>
              <a:rPr dirty="0" sz="3500" spc="-155"/>
              <a:t> </a:t>
            </a:r>
            <a:r>
              <a:rPr dirty="0" sz="3500" spc="-459"/>
              <a:t>LEARNING</a:t>
            </a:r>
            <a:r>
              <a:rPr dirty="0" sz="3500" spc="-155"/>
              <a:t> </a:t>
            </a:r>
            <a:r>
              <a:rPr dirty="0" sz="3500" spc="-495"/>
              <a:t>MIDDLEWARE</a:t>
            </a:r>
            <a:endParaRPr sz="3500"/>
          </a:p>
        </p:txBody>
      </p:sp>
      <p:sp>
        <p:nvSpPr>
          <p:cNvPr id="13" name="object 13" descr=""/>
          <p:cNvSpPr txBox="1"/>
          <p:nvPr/>
        </p:nvSpPr>
        <p:spPr>
          <a:xfrm>
            <a:off x="4478809" y="9192091"/>
            <a:ext cx="802259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IT22132000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-90">
                <a:latin typeface="Trebuchet MS"/>
                <a:cs typeface="Trebuchet MS"/>
              </a:rPr>
              <a:t>S.S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190">
                <a:latin typeface="Trebuchet MS"/>
                <a:cs typeface="Trebuchet MS"/>
              </a:rPr>
              <a:t>Bamunuarachchi</a:t>
            </a:r>
            <a:r>
              <a:rPr dirty="0" sz="2800" spc="-1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3" name="object 3" descr="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4253" y="1603374"/>
            <a:ext cx="10191749" cy="395287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4306" y="6286051"/>
            <a:ext cx="7715249" cy="30098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32426" y="2839427"/>
            <a:ext cx="9353548" cy="6572249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89931" y="428688"/>
            <a:ext cx="14070965" cy="558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509"/>
              <a:t>ADAPTIVE</a:t>
            </a:r>
            <a:r>
              <a:rPr dirty="0" sz="3500" spc="-180"/>
              <a:t> </a:t>
            </a:r>
            <a:r>
              <a:rPr dirty="0" sz="3500" spc="-465"/>
              <a:t>IOT</a:t>
            </a:r>
            <a:r>
              <a:rPr dirty="0" sz="3500" spc="-175"/>
              <a:t> </a:t>
            </a:r>
            <a:r>
              <a:rPr dirty="0" sz="3500" spc="-484"/>
              <a:t>ENVIRONMENTAL</a:t>
            </a:r>
            <a:r>
              <a:rPr dirty="0" sz="3500" spc="-175"/>
              <a:t> </a:t>
            </a:r>
            <a:r>
              <a:rPr dirty="0" sz="3500" spc="-810"/>
              <a:t>&amp;</a:t>
            </a:r>
            <a:r>
              <a:rPr dirty="0" sz="3500" spc="-175"/>
              <a:t> </a:t>
            </a:r>
            <a:r>
              <a:rPr dirty="0" sz="3500" spc="-530"/>
              <a:t>ATTENDANCE</a:t>
            </a:r>
            <a:r>
              <a:rPr dirty="0" sz="3500" spc="-175"/>
              <a:t> </a:t>
            </a:r>
            <a:r>
              <a:rPr dirty="0" sz="3500" spc="-335"/>
              <a:t>MONITORING</a:t>
            </a:r>
            <a:r>
              <a:rPr dirty="0" sz="3500" spc="-175"/>
              <a:t> </a:t>
            </a:r>
            <a:r>
              <a:rPr dirty="0" sz="3500" spc="-595"/>
              <a:t>WITH</a:t>
            </a:r>
            <a:endParaRPr sz="3500"/>
          </a:p>
        </p:txBody>
      </p:sp>
      <p:sp>
        <p:nvSpPr>
          <p:cNvPr id="15" name="object 15" descr=""/>
          <p:cNvSpPr txBox="1"/>
          <p:nvPr/>
        </p:nvSpPr>
        <p:spPr>
          <a:xfrm>
            <a:off x="4478809" y="9192091"/>
            <a:ext cx="802259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IT22132000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-90">
                <a:latin typeface="Trebuchet MS"/>
                <a:cs typeface="Trebuchet MS"/>
              </a:rPr>
              <a:t>S.S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190">
                <a:latin typeface="Trebuchet MS"/>
                <a:cs typeface="Trebuchet MS"/>
              </a:rPr>
              <a:t>Bamunuarachchi</a:t>
            </a:r>
            <a:r>
              <a:rPr dirty="0" sz="2800" spc="-1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89931" y="1047813"/>
            <a:ext cx="870839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515">
                <a:latin typeface="Arial Black"/>
                <a:cs typeface="Arial Black"/>
              </a:rPr>
              <a:t>REINFORCEMENT</a:t>
            </a:r>
            <a:r>
              <a:rPr dirty="0" sz="3500" spc="-155">
                <a:latin typeface="Arial Black"/>
                <a:cs typeface="Arial Black"/>
              </a:rPr>
              <a:t> </a:t>
            </a:r>
            <a:r>
              <a:rPr dirty="0" sz="3500" spc="-459">
                <a:latin typeface="Arial Black"/>
                <a:cs typeface="Arial Black"/>
              </a:rPr>
              <a:t>LEARNING</a:t>
            </a:r>
            <a:r>
              <a:rPr dirty="0" sz="3500" spc="-155">
                <a:latin typeface="Arial Black"/>
                <a:cs typeface="Arial Black"/>
              </a:rPr>
              <a:t> </a:t>
            </a:r>
            <a:r>
              <a:rPr dirty="0" sz="3500" spc="-495">
                <a:latin typeface="Arial Black"/>
                <a:cs typeface="Arial Black"/>
              </a:rPr>
              <a:t>MIDDLEWARE</a:t>
            </a:r>
            <a:endParaRPr sz="3500">
              <a:latin typeface="Arial Black"/>
              <a:cs typeface="Arial Black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419355" y="1424364"/>
            <a:ext cx="4449445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-35">
                <a:latin typeface="Lucida Sans Unicode"/>
                <a:cs typeface="Lucida Sans Unicode"/>
              </a:rPr>
              <a:t>Student</a:t>
            </a:r>
            <a:r>
              <a:rPr dirty="0" sz="2550" spc="-135">
                <a:latin typeface="Lucida Sans Unicode"/>
                <a:cs typeface="Lucida Sans Unicode"/>
              </a:rPr>
              <a:t> </a:t>
            </a:r>
            <a:r>
              <a:rPr dirty="0" sz="2550" spc="-45">
                <a:latin typeface="Lucida Sans Unicode"/>
                <a:cs typeface="Lucida Sans Unicode"/>
              </a:rPr>
              <a:t>management</a:t>
            </a:r>
            <a:r>
              <a:rPr dirty="0" sz="2550" spc="-135">
                <a:latin typeface="Lucida Sans Unicode"/>
                <a:cs typeface="Lucida Sans Unicode"/>
              </a:rPr>
              <a:t> </a:t>
            </a:r>
            <a:r>
              <a:rPr dirty="0" sz="2550" spc="-20">
                <a:latin typeface="Lucida Sans Unicode"/>
                <a:cs typeface="Lucida Sans Unicode"/>
              </a:rPr>
              <a:t>system</a:t>
            </a:r>
            <a:endParaRPr sz="25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295" y="537937"/>
            <a:ext cx="8486774" cy="39052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67626" y="1711832"/>
            <a:ext cx="8972549" cy="57912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022" y="5143500"/>
            <a:ext cx="8591549" cy="44481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06047" y="496185"/>
            <a:ext cx="4295775" cy="4997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100" spc="-105">
                <a:latin typeface="Lucida Sans Unicode"/>
                <a:cs typeface="Lucida Sans Unicode"/>
              </a:rPr>
              <a:t>IOT</a:t>
            </a:r>
            <a:r>
              <a:rPr dirty="0" sz="3100" spc="-170">
                <a:latin typeface="Lucida Sans Unicode"/>
                <a:cs typeface="Lucida Sans Unicode"/>
              </a:rPr>
              <a:t> </a:t>
            </a:r>
            <a:r>
              <a:rPr dirty="0" sz="3100" spc="-30">
                <a:latin typeface="Lucida Sans Unicode"/>
                <a:cs typeface="Lucida Sans Unicode"/>
              </a:rPr>
              <a:t>embedded</a:t>
            </a:r>
            <a:r>
              <a:rPr dirty="0" sz="3100" spc="-165">
                <a:latin typeface="Lucida Sans Unicode"/>
                <a:cs typeface="Lucida Sans Unicode"/>
              </a:rPr>
              <a:t> </a:t>
            </a:r>
            <a:r>
              <a:rPr dirty="0" sz="3100" spc="-10">
                <a:latin typeface="Lucida Sans Unicode"/>
                <a:cs typeface="Lucida Sans Unicode"/>
              </a:rPr>
              <a:t>sensors</a:t>
            </a:r>
            <a:endParaRPr sz="3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6622665" y="0"/>
            <a:ext cx="1010919" cy="1821180"/>
          </a:xfrm>
          <a:custGeom>
            <a:avLst/>
            <a:gdLst/>
            <a:ahLst/>
            <a:cxnLst/>
            <a:rect l="l" t="t" r="r" b="b"/>
            <a:pathLst>
              <a:path w="1010919" h="1821180">
                <a:moveTo>
                  <a:pt x="524918" y="1820811"/>
                </a:moveTo>
                <a:lnTo>
                  <a:pt x="485775" y="1820811"/>
                </a:lnTo>
                <a:lnTo>
                  <a:pt x="437761" y="1818434"/>
                </a:lnTo>
                <a:lnTo>
                  <a:pt x="390562" y="1811390"/>
                </a:lnTo>
                <a:lnTo>
                  <a:pt x="344494" y="1799813"/>
                </a:lnTo>
                <a:lnTo>
                  <a:pt x="299876" y="1783833"/>
                </a:lnTo>
                <a:lnTo>
                  <a:pt x="257027" y="1763583"/>
                </a:lnTo>
                <a:lnTo>
                  <a:pt x="216266" y="1739195"/>
                </a:lnTo>
                <a:lnTo>
                  <a:pt x="177910" y="1710800"/>
                </a:lnTo>
                <a:lnTo>
                  <a:pt x="142279" y="1678531"/>
                </a:lnTo>
                <a:lnTo>
                  <a:pt x="110010" y="1642900"/>
                </a:lnTo>
                <a:lnTo>
                  <a:pt x="81615" y="1604544"/>
                </a:lnTo>
                <a:lnTo>
                  <a:pt x="57227" y="1563783"/>
                </a:lnTo>
                <a:lnTo>
                  <a:pt x="36977" y="1520934"/>
                </a:lnTo>
                <a:lnTo>
                  <a:pt x="20997" y="1476316"/>
                </a:lnTo>
                <a:lnTo>
                  <a:pt x="9420" y="1430248"/>
                </a:lnTo>
                <a:lnTo>
                  <a:pt x="2377" y="1383049"/>
                </a:lnTo>
                <a:lnTo>
                  <a:pt x="0" y="1335036"/>
                </a:lnTo>
                <a:lnTo>
                  <a:pt x="0" y="0"/>
                </a:lnTo>
                <a:lnTo>
                  <a:pt x="1010693" y="0"/>
                </a:lnTo>
                <a:lnTo>
                  <a:pt x="1010693" y="1335036"/>
                </a:lnTo>
                <a:lnTo>
                  <a:pt x="1008316" y="1383049"/>
                </a:lnTo>
                <a:lnTo>
                  <a:pt x="1001273" y="1430248"/>
                </a:lnTo>
                <a:lnTo>
                  <a:pt x="989695" y="1476316"/>
                </a:lnTo>
                <a:lnTo>
                  <a:pt x="973716" y="1520934"/>
                </a:lnTo>
                <a:lnTo>
                  <a:pt x="953466" y="1563783"/>
                </a:lnTo>
                <a:lnTo>
                  <a:pt x="929077" y="1604544"/>
                </a:lnTo>
                <a:lnTo>
                  <a:pt x="900683" y="1642900"/>
                </a:lnTo>
                <a:lnTo>
                  <a:pt x="868413" y="1678531"/>
                </a:lnTo>
                <a:lnTo>
                  <a:pt x="832782" y="1710800"/>
                </a:lnTo>
                <a:lnTo>
                  <a:pt x="794426" y="1739195"/>
                </a:lnTo>
                <a:lnTo>
                  <a:pt x="753665" y="1763583"/>
                </a:lnTo>
                <a:lnTo>
                  <a:pt x="710816" y="1783833"/>
                </a:lnTo>
                <a:lnTo>
                  <a:pt x="666199" y="1799813"/>
                </a:lnTo>
                <a:lnTo>
                  <a:pt x="620131" y="1811390"/>
                </a:lnTo>
                <a:lnTo>
                  <a:pt x="572931" y="1818434"/>
                </a:lnTo>
                <a:lnTo>
                  <a:pt x="524918" y="1820811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-85725" y="9753293"/>
            <a:ext cx="18459450" cy="534035"/>
            <a:chOff x="-85725" y="9753293"/>
            <a:chExt cx="18459450" cy="534035"/>
          </a:xfrm>
        </p:grpSpPr>
        <p:sp>
          <p:nvSpPr>
            <p:cNvPr id="4" name="object 4" descr=""/>
            <p:cNvSpPr/>
            <p:nvPr/>
          </p:nvSpPr>
          <p:spPr>
            <a:xfrm>
              <a:off x="0" y="9839019"/>
              <a:ext cx="18288000" cy="448309"/>
            </a:xfrm>
            <a:custGeom>
              <a:avLst/>
              <a:gdLst/>
              <a:ahLst/>
              <a:cxnLst/>
              <a:rect l="l" t="t" r="r" b="b"/>
              <a:pathLst>
                <a:path w="18288000" h="448309">
                  <a:moveTo>
                    <a:pt x="18288000" y="447980"/>
                  </a:moveTo>
                  <a:lnTo>
                    <a:pt x="0" y="447980"/>
                  </a:lnTo>
                  <a:lnTo>
                    <a:pt x="0" y="9187"/>
                  </a:lnTo>
                  <a:lnTo>
                    <a:pt x="36763" y="2764"/>
                  </a:lnTo>
                  <a:lnTo>
                    <a:pt x="84690" y="0"/>
                  </a:lnTo>
                  <a:lnTo>
                    <a:pt x="18288000" y="0"/>
                  </a:lnTo>
                  <a:lnTo>
                    <a:pt x="18288000" y="447980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9839018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0" y="9353"/>
                  </a:moveTo>
                  <a:lnTo>
                    <a:pt x="37716" y="2764"/>
                  </a:lnTo>
                  <a:lnTo>
                    <a:pt x="85637" y="0"/>
                  </a:lnTo>
                  <a:lnTo>
                    <a:pt x="18287999" y="0"/>
                  </a:lnTo>
                </a:path>
              </a:pathLst>
            </a:custGeom>
            <a:ln w="1714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17432126" y="3449184"/>
            <a:ext cx="982344" cy="3914140"/>
          </a:xfrm>
          <a:custGeom>
            <a:avLst/>
            <a:gdLst/>
            <a:ahLst/>
            <a:cxnLst/>
            <a:rect l="l" t="t" r="r" b="b"/>
            <a:pathLst>
              <a:path w="982344" h="3914140">
                <a:moveTo>
                  <a:pt x="224816" y="80184"/>
                </a:moveTo>
                <a:lnTo>
                  <a:pt x="855873" y="80184"/>
                </a:lnTo>
                <a:lnTo>
                  <a:pt x="855873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8" y="79871"/>
                </a:lnTo>
                <a:lnTo>
                  <a:pt x="121187" y="79871"/>
                </a:lnTo>
                <a:lnTo>
                  <a:pt x="224816" y="80184"/>
                </a:lnTo>
                <a:close/>
              </a:path>
              <a:path w="982344" h="3914140">
                <a:moveTo>
                  <a:pt x="37646" y="1583241"/>
                </a:moveTo>
                <a:lnTo>
                  <a:pt x="55287" y="1579445"/>
                </a:lnTo>
                <a:lnTo>
                  <a:pt x="69417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6" y="631256"/>
                </a:lnTo>
                <a:lnTo>
                  <a:pt x="85819" y="579304"/>
                </a:lnTo>
                <a:lnTo>
                  <a:pt x="86406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8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7" y="79871"/>
                </a:lnTo>
                <a:lnTo>
                  <a:pt x="8588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1" y="672109"/>
                </a:lnTo>
                <a:lnTo>
                  <a:pt x="8095" y="702303"/>
                </a:lnTo>
                <a:lnTo>
                  <a:pt x="2189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1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982344" h="3914140">
                <a:moveTo>
                  <a:pt x="855873" y="80888"/>
                </a:moveTo>
                <a:lnTo>
                  <a:pt x="981887" y="80888"/>
                </a:lnTo>
                <a:lnTo>
                  <a:pt x="273464" y="80184"/>
                </a:lnTo>
                <a:lnTo>
                  <a:pt x="855873" y="80184"/>
                </a:lnTo>
                <a:lnTo>
                  <a:pt x="855873" y="80888"/>
                </a:lnTo>
                <a:close/>
              </a:path>
              <a:path w="982344" h="3914140">
                <a:moveTo>
                  <a:pt x="846627" y="81090"/>
                </a:moveTo>
                <a:lnTo>
                  <a:pt x="855873" y="81090"/>
                </a:lnTo>
                <a:lnTo>
                  <a:pt x="855873" y="80888"/>
                </a:lnTo>
                <a:lnTo>
                  <a:pt x="794810" y="80888"/>
                </a:lnTo>
                <a:lnTo>
                  <a:pt x="846627" y="81090"/>
                </a:lnTo>
                <a:close/>
              </a:path>
              <a:path w="982344" h="3914140">
                <a:moveTo>
                  <a:pt x="855873" y="3914045"/>
                </a:moveTo>
                <a:lnTo>
                  <a:pt x="855873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89" y="3911342"/>
                </a:lnTo>
                <a:lnTo>
                  <a:pt x="451175" y="3913864"/>
                </a:lnTo>
                <a:lnTo>
                  <a:pt x="808179" y="3913864"/>
                </a:lnTo>
                <a:lnTo>
                  <a:pt x="855873" y="3914045"/>
                </a:lnTo>
                <a:close/>
              </a:path>
              <a:path w="982344" h="3914140">
                <a:moveTo>
                  <a:pt x="222372" y="3832831"/>
                </a:moveTo>
                <a:lnTo>
                  <a:pt x="320227" y="3832831"/>
                </a:lnTo>
                <a:lnTo>
                  <a:pt x="288307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0" y="3310410"/>
            <a:ext cx="1024890" cy="3916045"/>
          </a:xfrm>
          <a:custGeom>
            <a:avLst/>
            <a:gdLst/>
            <a:ahLst/>
            <a:cxnLst/>
            <a:rect l="l" t="t" r="r" b="b"/>
            <a:pathLst>
              <a:path w="1024890" h="3916045">
                <a:moveTo>
                  <a:pt x="0" y="82284"/>
                </a:moveTo>
                <a:lnTo>
                  <a:pt x="0" y="1179"/>
                </a:lnTo>
                <a:lnTo>
                  <a:pt x="247544" y="642"/>
                </a:lnTo>
                <a:lnTo>
                  <a:pt x="955409" y="0"/>
                </a:lnTo>
                <a:lnTo>
                  <a:pt x="988201" y="1624"/>
                </a:lnTo>
                <a:lnTo>
                  <a:pt x="1006495" y="9727"/>
                </a:lnTo>
                <a:lnTo>
                  <a:pt x="1014456" y="28455"/>
                </a:lnTo>
                <a:lnTo>
                  <a:pt x="1016246" y="61956"/>
                </a:lnTo>
                <a:lnTo>
                  <a:pt x="1016254" y="79871"/>
                </a:lnTo>
                <a:lnTo>
                  <a:pt x="903655" y="79871"/>
                </a:lnTo>
                <a:lnTo>
                  <a:pt x="751378" y="80184"/>
                </a:lnTo>
                <a:lnTo>
                  <a:pt x="230033" y="80888"/>
                </a:lnTo>
                <a:lnTo>
                  <a:pt x="137398" y="81280"/>
                </a:lnTo>
                <a:lnTo>
                  <a:pt x="0" y="82284"/>
                </a:lnTo>
                <a:close/>
              </a:path>
              <a:path w="1024890" h="3916045">
                <a:moveTo>
                  <a:pt x="987196" y="1583241"/>
                </a:moveTo>
                <a:lnTo>
                  <a:pt x="969555" y="1579445"/>
                </a:lnTo>
                <a:lnTo>
                  <a:pt x="955425" y="1567192"/>
                </a:lnTo>
                <a:lnTo>
                  <a:pt x="946030" y="1547988"/>
                </a:lnTo>
                <a:lnTo>
                  <a:pt x="942595" y="1523337"/>
                </a:lnTo>
                <a:lnTo>
                  <a:pt x="942664" y="928570"/>
                </a:lnTo>
                <a:lnTo>
                  <a:pt x="942447" y="879013"/>
                </a:lnTo>
                <a:lnTo>
                  <a:pt x="942174" y="834617"/>
                </a:lnTo>
                <a:lnTo>
                  <a:pt x="941735" y="779904"/>
                </a:lnTo>
                <a:lnTo>
                  <a:pt x="941239" y="732463"/>
                </a:lnTo>
                <a:lnTo>
                  <a:pt x="940574" y="680803"/>
                </a:lnTo>
                <a:lnTo>
                  <a:pt x="939796" y="631256"/>
                </a:lnTo>
                <a:lnTo>
                  <a:pt x="939023" y="579304"/>
                </a:lnTo>
                <a:lnTo>
                  <a:pt x="938436" y="527356"/>
                </a:lnTo>
                <a:lnTo>
                  <a:pt x="937999" y="475410"/>
                </a:lnTo>
                <a:lnTo>
                  <a:pt x="937679" y="423467"/>
                </a:lnTo>
                <a:lnTo>
                  <a:pt x="937440" y="371527"/>
                </a:lnTo>
                <a:lnTo>
                  <a:pt x="936864" y="215715"/>
                </a:lnTo>
                <a:lnTo>
                  <a:pt x="936603" y="163779"/>
                </a:lnTo>
                <a:lnTo>
                  <a:pt x="936250" y="111844"/>
                </a:lnTo>
                <a:lnTo>
                  <a:pt x="903655" y="79871"/>
                </a:lnTo>
                <a:lnTo>
                  <a:pt x="1016254" y="79871"/>
                </a:lnTo>
                <a:lnTo>
                  <a:pt x="1016299" y="163779"/>
                </a:lnTo>
                <a:lnTo>
                  <a:pt x="1016557" y="196132"/>
                </a:lnTo>
                <a:lnTo>
                  <a:pt x="1017859" y="300020"/>
                </a:lnTo>
                <a:lnTo>
                  <a:pt x="1022031" y="611661"/>
                </a:lnTo>
                <a:lnTo>
                  <a:pt x="1016670" y="641891"/>
                </a:lnTo>
                <a:lnTo>
                  <a:pt x="1014831" y="672109"/>
                </a:lnTo>
                <a:lnTo>
                  <a:pt x="1016747" y="702303"/>
                </a:lnTo>
                <a:lnTo>
                  <a:pt x="1022653" y="732463"/>
                </a:lnTo>
                <a:lnTo>
                  <a:pt x="1022754" y="834617"/>
                </a:lnTo>
                <a:lnTo>
                  <a:pt x="1022879" y="978129"/>
                </a:lnTo>
                <a:lnTo>
                  <a:pt x="1022936" y="1038941"/>
                </a:lnTo>
                <a:lnTo>
                  <a:pt x="1023061" y="1141106"/>
                </a:lnTo>
                <a:lnTo>
                  <a:pt x="1023142" y="1192187"/>
                </a:lnTo>
                <a:lnTo>
                  <a:pt x="1023238" y="1243268"/>
                </a:lnTo>
                <a:lnTo>
                  <a:pt x="1023489" y="1345425"/>
                </a:lnTo>
                <a:lnTo>
                  <a:pt x="1023648" y="1396501"/>
                </a:lnTo>
                <a:lnTo>
                  <a:pt x="1024842" y="1440129"/>
                </a:lnTo>
                <a:lnTo>
                  <a:pt x="1024842" y="1548977"/>
                </a:lnTo>
                <a:lnTo>
                  <a:pt x="1017179" y="1565886"/>
                </a:lnTo>
                <a:lnTo>
                  <a:pt x="1004030" y="1578249"/>
                </a:lnTo>
                <a:lnTo>
                  <a:pt x="987196" y="1583241"/>
                </a:lnTo>
                <a:close/>
              </a:path>
              <a:path w="1024890" h="3916045">
                <a:moveTo>
                  <a:pt x="0" y="3915842"/>
                </a:moveTo>
                <a:lnTo>
                  <a:pt x="0" y="3833363"/>
                </a:lnTo>
                <a:lnTo>
                  <a:pt x="710935" y="3832831"/>
                </a:lnTo>
                <a:lnTo>
                  <a:pt x="837339" y="3832831"/>
                </a:lnTo>
                <a:lnTo>
                  <a:pt x="869131" y="3832325"/>
                </a:lnTo>
                <a:lnTo>
                  <a:pt x="888127" y="3833824"/>
                </a:lnTo>
                <a:lnTo>
                  <a:pt x="903251" y="3839976"/>
                </a:lnTo>
                <a:lnTo>
                  <a:pt x="913849" y="3851587"/>
                </a:lnTo>
                <a:lnTo>
                  <a:pt x="919268" y="3869462"/>
                </a:lnTo>
                <a:lnTo>
                  <a:pt x="917063" y="3885166"/>
                </a:lnTo>
                <a:lnTo>
                  <a:pt x="867701" y="3908277"/>
                </a:lnTo>
                <a:lnTo>
                  <a:pt x="767553" y="3911342"/>
                </a:lnTo>
                <a:lnTo>
                  <a:pt x="573667" y="3913864"/>
                </a:lnTo>
                <a:lnTo>
                  <a:pt x="216663" y="3913864"/>
                </a:lnTo>
                <a:lnTo>
                  <a:pt x="0" y="3915842"/>
                </a:lnTo>
                <a:close/>
              </a:path>
              <a:path w="1024890" h="3916045">
                <a:moveTo>
                  <a:pt x="802471" y="3832831"/>
                </a:moveTo>
                <a:lnTo>
                  <a:pt x="704615" y="3832831"/>
                </a:lnTo>
                <a:lnTo>
                  <a:pt x="736535" y="3832631"/>
                </a:lnTo>
                <a:lnTo>
                  <a:pt x="769120" y="3832631"/>
                </a:lnTo>
                <a:lnTo>
                  <a:pt x="802471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88342" y="0"/>
            <a:ext cx="1080770" cy="1819275"/>
          </a:xfrm>
          <a:custGeom>
            <a:avLst/>
            <a:gdLst/>
            <a:ahLst/>
            <a:cxnLst/>
            <a:rect l="l" t="t" r="r" b="b"/>
            <a:pathLst>
              <a:path w="1080770" h="1819275">
                <a:moveTo>
                  <a:pt x="627352" y="1819206"/>
                </a:moveTo>
                <a:lnTo>
                  <a:pt x="453362" y="1819206"/>
                </a:lnTo>
                <a:lnTo>
                  <a:pt x="437762" y="1818433"/>
                </a:lnTo>
                <a:lnTo>
                  <a:pt x="390562" y="1811390"/>
                </a:lnTo>
                <a:lnTo>
                  <a:pt x="344494" y="1799813"/>
                </a:lnTo>
                <a:lnTo>
                  <a:pt x="299876" y="1783833"/>
                </a:lnTo>
                <a:lnTo>
                  <a:pt x="257028" y="1763583"/>
                </a:lnTo>
                <a:lnTo>
                  <a:pt x="216266" y="1739195"/>
                </a:lnTo>
                <a:lnTo>
                  <a:pt x="177911" y="1710800"/>
                </a:lnTo>
                <a:lnTo>
                  <a:pt x="142280" y="1678530"/>
                </a:lnTo>
                <a:lnTo>
                  <a:pt x="110010" y="1642899"/>
                </a:lnTo>
                <a:lnTo>
                  <a:pt x="81615" y="1604544"/>
                </a:lnTo>
                <a:lnTo>
                  <a:pt x="57227" y="1563782"/>
                </a:lnTo>
                <a:lnTo>
                  <a:pt x="36977" y="1520934"/>
                </a:lnTo>
                <a:lnTo>
                  <a:pt x="20997" y="1476316"/>
                </a:lnTo>
                <a:lnTo>
                  <a:pt x="9420" y="1430248"/>
                </a:lnTo>
                <a:lnTo>
                  <a:pt x="2377" y="1383049"/>
                </a:lnTo>
                <a:lnTo>
                  <a:pt x="0" y="1335036"/>
                </a:lnTo>
                <a:lnTo>
                  <a:pt x="0" y="0"/>
                </a:lnTo>
                <a:lnTo>
                  <a:pt x="1080714" y="0"/>
                </a:lnTo>
                <a:lnTo>
                  <a:pt x="1080714" y="1335036"/>
                </a:lnTo>
                <a:lnTo>
                  <a:pt x="1078337" y="1383049"/>
                </a:lnTo>
                <a:lnTo>
                  <a:pt x="1071294" y="1430248"/>
                </a:lnTo>
                <a:lnTo>
                  <a:pt x="1059717" y="1476316"/>
                </a:lnTo>
                <a:lnTo>
                  <a:pt x="1043737" y="1520934"/>
                </a:lnTo>
                <a:lnTo>
                  <a:pt x="1023487" y="1563782"/>
                </a:lnTo>
                <a:lnTo>
                  <a:pt x="999098" y="1604544"/>
                </a:lnTo>
                <a:lnTo>
                  <a:pt x="970704" y="1642899"/>
                </a:lnTo>
                <a:lnTo>
                  <a:pt x="938434" y="1678530"/>
                </a:lnTo>
                <a:lnTo>
                  <a:pt x="902803" y="1710800"/>
                </a:lnTo>
                <a:lnTo>
                  <a:pt x="864448" y="1739195"/>
                </a:lnTo>
                <a:lnTo>
                  <a:pt x="823686" y="1763583"/>
                </a:lnTo>
                <a:lnTo>
                  <a:pt x="780837" y="1783833"/>
                </a:lnTo>
                <a:lnTo>
                  <a:pt x="736220" y="1799813"/>
                </a:lnTo>
                <a:lnTo>
                  <a:pt x="690152" y="1811390"/>
                </a:lnTo>
                <a:lnTo>
                  <a:pt x="642952" y="1818433"/>
                </a:lnTo>
                <a:lnTo>
                  <a:pt x="627352" y="1819206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79602"/>
            <a:ext cx="4190999" cy="8000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36029" y="465150"/>
            <a:ext cx="4152899" cy="5095874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106737" y="6472585"/>
            <a:ext cx="14069694" cy="1819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254">
                <a:latin typeface="Arial Black"/>
                <a:cs typeface="Arial Black"/>
              </a:rPr>
              <a:t>SDN-</a:t>
            </a:r>
            <a:r>
              <a:rPr dirty="0" sz="4000" spc="-290">
                <a:latin typeface="Arial Black"/>
                <a:cs typeface="Arial Black"/>
              </a:rPr>
              <a:t> </a:t>
            </a:r>
            <a:r>
              <a:rPr dirty="0" sz="4000" spc="-200">
                <a:latin typeface="Arial Black"/>
                <a:cs typeface="Arial Black"/>
              </a:rPr>
              <a:t>enabled</a:t>
            </a:r>
            <a:r>
              <a:rPr dirty="0" sz="4000" spc="-285">
                <a:latin typeface="Arial Black"/>
                <a:cs typeface="Arial Black"/>
              </a:rPr>
              <a:t> </a:t>
            </a:r>
            <a:r>
              <a:rPr dirty="0" sz="4000" spc="-265">
                <a:latin typeface="Arial Black"/>
                <a:cs typeface="Arial Black"/>
              </a:rPr>
              <a:t>classroom</a:t>
            </a:r>
            <a:r>
              <a:rPr dirty="0" sz="4000" spc="-285">
                <a:latin typeface="Arial Black"/>
                <a:cs typeface="Arial Black"/>
              </a:rPr>
              <a:t> </a:t>
            </a:r>
            <a:r>
              <a:rPr dirty="0" sz="4000" spc="-170">
                <a:latin typeface="Arial Black"/>
                <a:cs typeface="Arial Black"/>
              </a:rPr>
              <a:t>network</a:t>
            </a:r>
            <a:r>
              <a:rPr dirty="0" sz="4000" spc="-285">
                <a:latin typeface="Arial Black"/>
                <a:cs typeface="Arial Black"/>
              </a:rPr>
              <a:t> </a:t>
            </a:r>
            <a:r>
              <a:rPr dirty="0" sz="4000" spc="-25">
                <a:latin typeface="Arial Black"/>
                <a:cs typeface="Arial Black"/>
              </a:rPr>
              <a:t>optimizer.</a:t>
            </a:r>
            <a:endParaRPr sz="4000">
              <a:latin typeface="Arial Black"/>
              <a:cs typeface="Arial Black"/>
            </a:endParaRPr>
          </a:p>
          <a:p>
            <a:pPr marL="168910">
              <a:lnSpc>
                <a:spcPct val="100000"/>
              </a:lnSpc>
              <a:spcBef>
                <a:spcPts val="4645"/>
              </a:spcBef>
            </a:pPr>
            <a:r>
              <a:rPr dirty="0" sz="3900" spc="-114">
                <a:latin typeface="Lucida Sans Unicode"/>
                <a:cs typeface="Lucida Sans Unicode"/>
              </a:rPr>
              <a:t>Specialization</a:t>
            </a:r>
            <a:r>
              <a:rPr dirty="0" sz="3900" spc="-204">
                <a:latin typeface="Lucida Sans Unicode"/>
                <a:cs typeface="Lucida Sans Unicode"/>
              </a:rPr>
              <a:t> </a:t>
            </a:r>
            <a:r>
              <a:rPr dirty="0" sz="3900" spc="-220">
                <a:latin typeface="Lucida Sans Unicode"/>
                <a:cs typeface="Lucida Sans Unicode"/>
              </a:rPr>
              <a:t>:</a:t>
            </a:r>
            <a:r>
              <a:rPr dirty="0" sz="3900" spc="-200">
                <a:latin typeface="Lucida Sans Unicode"/>
                <a:cs typeface="Lucida Sans Unicode"/>
              </a:rPr>
              <a:t> </a:t>
            </a:r>
            <a:r>
              <a:rPr dirty="0" sz="3900" spc="-80">
                <a:latin typeface="Lucida Sans Unicode"/>
                <a:cs typeface="Lucida Sans Unicode"/>
              </a:rPr>
              <a:t>Computer</a:t>
            </a:r>
            <a:r>
              <a:rPr dirty="0" sz="3900" spc="-200">
                <a:latin typeface="Lucida Sans Unicode"/>
                <a:cs typeface="Lucida Sans Unicode"/>
              </a:rPr>
              <a:t> </a:t>
            </a:r>
            <a:r>
              <a:rPr dirty="0" sz="3900" spc="-75">
                <a:latin typeface="Lucida Sans Unicode"/>
                <a:cs typeface="Lucida Sans Unicode"/>
              </a:rPr>
              <a:t>Systems</a:t>
            </a:r>
            <a:r>
              <a:rPr dirty="0" sz="3900" spc="-200">
                <a:latin typeface="Lucida Sans Unicode"/>
                <a:cs typeface="Lucida Sans Unicode"/>
              </a:rPr>
              <a:t> </a:t>
            </a:r>
            <a:r>
              <a:rPr dirty="0" sz="3900" spc="-25">
                <a:latin typeface="Lucida Sans Unicode"/>
                <a:cs typeface="Lucida Sans Unicode"/>
              </a:rPr>
              <a:t>and</a:t>
            </a:r>
            <a:r>
              <a:rPr dirty="0" sz="3900" spc="-200">
                <a:latin typeface="Lucida Sans Unicode"/>
                <a:cs typeface="Lucida Sans Unicode"/>
              </a:rPr>
              <a:t> </a:t>
            </a:r>
            <a:r>
              <a:rPr dirty="0" sz="3900" spc="-45">
                <a:latin typeface="Lucida Sans Unicode"/>
                <a:cs typeface="Lucida Sans Unicode"/>
              </a:rPr>
              <a:t>Network</a:t>
            </a:r>
            <a:r>
              <a:rPr dirty="0" sz="3900" spc="-200">
                <a:latin typeface="Lucida Sans Unicode"/>
                <a:cs typeface="Lucida Sans Unicode"/>
              </a:rPr>
              <a:t> </a:t>
            </a:r>
            <a:r>
              <a:rPr dirty="0" sz="3900" spc="-30">
                <a:latin typeface="Lucida Sans Unicode"/>
                <a:cs typeface="Lucida Sans Unicode"/>
              </a:rPr>
              <a:t>Engineering</a:t>
            </a:r>
            <a:endParaRPr sz="3900">
              <a:latin typeface="Lucida Sans Unicode"/>
              <a:cs typeface="Lucida Sans Unicod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175916" y="9313071"/>
            <a:ext cx="911352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IT22078278</a:t>
            </a:r>
            <a:r>
              <a:rPr dirty="0" sz="2800" spc="-5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V.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105">
                <a:latin typeface="Trebuchet MS"/>
                <a:cs typeface="Trebuchet MS"/>
              </a:rPr>
              <a:t>G.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95">
                <a:latin typeface="Trebuchet MS"/>
                <a:cs typeface="Trebuchet MS"/>
              </a:rPr>
              <a:t>Karunathilake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3" name="object 3" descr="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176501" y="476313"/>
            <a:ext cx="13935075" cy="8331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300">
                <a:latin typeface="Lucida Sans Unicode"/>
                <a:cs typeface="Lucida Sans Unicode"/>
              </a:rPr>
              <a:t>SDN</a:t>
            </a:r>
            <a:r>
              <a:rPr dirty="0" sz="5300" spc="-305">
                <a:latin typeface="Lucida Sans Unicode"/>
                <a:cs typeface="Lucida Sans Unicode"/>
              </a:rPr>
              <a:t> </a:t>
            </a:r>
            <a:r>
              <a:rPr dirty="0" sz="5300">
                <a:latin typeface="Lucida Sans Unicode"/>
                <a:cs typeface="Lucida Sans Unicode"/>
              </a:rPr>
              <a:t>–</a:t>
            </a:r>
            <a:r>
              <a:rPr dirty="0" sz="5300" spc="-305">
                <a:latin typeface="Lucida Sans Unicode"/>
                <a:cs typeface="Lucida Sans Unicode"/>
              </a:rPr>
              <a:t> </a:t>
            </a:r>
            <a:r>
              <a:rPr dirty="0" sz="5300" spc="-55">
                <a:latin typeface="Lucida Sans Unicode"/>
                <a:cs typeface="Lucida Sans Unicode"/>
              </a:rPr>
              <a:t>Enabled</a:t>
            </a:r>
            <a:r>
              <a:rPr dirty="0" sz="5300" spc="-300">
                <a:latin typeface="Lucida Sans Unicode"/>
                <a:cs typeface="Lucida Sans Unicode"/>
              </a:rPr>
              <a:t> </a:t>
            </a:r>
            <a:r>
              <a:rPr dirty="0" sz="5300" spc="-114">
                <a:latin typeface="Lucida Sans Unicode"/>
                <a:cs typeface="Lucida Sans Unicode"/>
              </a:rPr>
              <a:t>classroom</a:t>
            </a:r>
            <a:r>
              <a:rPr dirty="0" sz="5300" spc="-305">
                <a:latin typeface="Lucida Sans Unicode"/>
                <a:cs typeface="Lucida Sans Unicode"/>
              </a:rPr>
              <a:t> </a:t>
            </a:r>
            <a:r>
              <a:rPr dirty="0" sz="5300" spc="-90">
                <a:latin typeface="Lucida Sans Unicode"/>
                <a:cs typeface="Lucida Sans Unicode"/>
              </a:rPr>
              <a:t>network</a:t>
            </a:r>
            <a:r>
              <a:rPr dirty="0" sz="5300" spc="-305">
                <a:latin typeface="Lucida Sans Unicode"/>
                <a:cs typeface="Lucida Sans Unicode"/>
              </a:rPr>
              <a:t> </a:t>
            </a:r>
            <a:r>
              <a:rPr dirty="0" sz="5300" spc="-80">
                <a:latin typeface="Lucida Sans Unicode"/>
                <a:cs typeface="Lucida Sans Unicode"/>
              </a:rPr>
              <a:t>optimizer</a:t>
            </a:r>
            <a:endParaRPr sz="5300">
              <a:latin typeface="Lucida Sans Unicode"/>
              <a:cs typeface="Lucida Sans Unicode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37866" y="2517359"/>
            <a:ext cx="110802" cy="110802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37866" y="3403780"/>
            <a:ext cx="110802" cy="110802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37866" y="4733412"/>
            <a:ext cx="110802" cy="110802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37866" y="5176623"/>
            <a:ext cx="110802" cy="110802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37866" y="5619833"/>
            <a:ext cx="110802" cy="110802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37866" y="6063044"/>
            <a:ext cx="110802" cy="110802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37866" y="7392676"/>
            <a:ext cx="110802" cy="110802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37866" y="7835886"/>
            <a:ext cx="110802" cy="110802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37866" y="8279097"/>
            <a:ext cx="110802" cy="110802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37866" y="8722308"/>
            <a:ext cx="110802" cy="110801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1663988" y="1848153"/>
            <a:ext cx="15067915" cy="711708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2500" spc="-175">
                <a:latin typeface="Arial Black"/>
                <a:cs typeface="Arial Black"/>
              </a:rPr>
              <a:t>Knowledge</a:t>
            </a:r>
            <a:r>
              <a:rPr dirty="0" sz="2500" spc="-140">
                <a:latin typeface="Arial Black"/>
                <a:cs typeface="Arial Black"/>
              </a:rPr>
              <a:t> </a:t>
            </a:r>
            <a:r>
              <a:rPr dirty="0" sz="2500" spc="-20">
                <a:latin typeface="Arial Black"/>
                <a:cs typeface="Arial Black"/>
              </a:rPr>
              <a:t>Gap:</a:t>
            </a:r>
            <a:endParaRPr sz="2500">
              <a:latin typeface="Arial Black"/>
              <a:cs typeface="Arial Black"/>
            </a:endParaRPr>
          </a:p>
          <a:p>
            <a:pPr marL="553720" marR="5080">
              <a:lnSpc>
                <a:spcPct val="116300"/>
              </a:lnSpc>
              <a:spcBef>
                <a:spcPts val="5"/>
              </a:spcBef>
            </a:pPr>
            <a:r>
              <a:rPr dirty="0" sz="2500" spc="-55">
                <a:latin typeface="Lucida Sans Unicode"/>
                <a:cs typeface="Lucida Sans Unicode"/>
              </a:rPr>
              <a:t>Traditional</a:t>
            </a:r>
            <a:r>
              <a:rPr dirty="0" sz="2500" spc="-145">
                <a:latin typeface="Lucida Sans Unicode"/>
                <a:cs typeface="Lucida Sans Unicode"/>
              </a:rPr>
              <a:t> </a:t>
            </a:r>
            <a:r>
              <a:rPr dirty="0" sz="2500" spc="-35">
                <a:latin typeface="Lucida Sans Unicode"/>
                <a:cs typeface="Lucida Sans Unicode"/>
              </a:rPr>
              <a:t>classroom</a:t>
            </a:r>
            <a:r>
              <a:rPr dirty="0" sz="2500" spc="-160">
                <a:latin typeface="Lucida Sans Unicode"/>
                <a:cs typeface="Lucida Sans Unicode"/>
              </a:rPr>
              <a:t> </a:t>
            </a:r>
            <a:r>
              <a:rPr dirty="0" sz="2500" spc="-35">
                <a:latin typeface="Lucida Sans Unicode"/>
                <a:cs typeface="Lucida Sans Unicode"/>
              </a:rPr>
              <a:t>networks</a:t>
            </a:r>
            <a:r>
              <a:rPr dirty="0" sz="2500" spc="-150">
                <a:latin typeface="Lucida Sans Unicode"/>
                <a:cs typeface="Lucida Sans Unicode"/>
              </a:rPr>
              <a:t> </a:t>
            </a:r>
            <a:r>
              <a:rPr dirty="0" sz="2500">
                <a:latin typeface="Lucida Sans Unicode"/>
                <a:cs typeface="Lucida Sans Unicode"/>
              </a:rPr>
              <a:t>treat</a:t>
            </a:r>
            <a:r>
              <a:rPr dirty="0" sz="2500" spc="-145">
                <a:latin typeface="Lucida Sans Unicode"/>
                <a:cs typeface="Lucida Sans Unicode"/>
              </a:rPr>
              <a:t> </a:t>
            </a:r>
            <a:r>
              <a:rPr dirty="0" sz="2500" spc="-25">
                <a:latin typeface="Lucida Sans Unicode"/>
                <a:cs typeface="Lucida Sans Unicode"/>
              </a:rPr>
              <a:t>all</a:t>
            </a:r>
            <a:r>
              <a:rPr dirty="0" sz="2500" spc="-145">
                <a:latin typeface="Lucida Sans Unicode"/>
                <a:cs typeface="Lucida Sans Unicode"/>
              </a:rPr>
              <a:t> </a:t>
            </a:r>
            <a:r>
              <a:rPr dirty="0" sz="2500" spc="-40">
                <a:latin typeface="Lucida Sans Unicode"/>
                <a:cs typeface="Lucida Sans Unicode"/>
              </a:rPr>
              <a:t>traffic</a:t>
            </a:r>
            <a:r>
              <a:rPr dirty="0" sz="2500" spc="-145">
                <a:latin typeface="Lucida Sans Unicode"/>
                <a:cs typeface="Lucida Sans Unicode"/>
              </a:rPr>
              <a:t> </a:t>
            </a:r>
            <a:r>
              <a:rPr dirty="0" sz="2500" spc="-50">
                <a:latin typeface="Lucida Sans Unicode"/>
                <a:cs typeface="Lucida Sans Unicode"/>
              </a:rPr>
              <a:t>equally,</a:t>
            </a:r>
            <a:r>
              <a:rPr dirty="0" sz="2500" spc="-145">
                <a:latin typeface="Lucida Sans Unicode"/>
                <a:cs typeface="Lucida Sans Unicode"/>
              </a:rPr>
              <a:t> </a:t>
            </a:r>
            <a:r>
              <a:rPr dirty="0" sz="2500" spc="-70">
                <a:latin typeface="Lucida Sans Unicode"/>
                <a:cs typeface="Lucida Sans Unicode"/>
              </a:rPr>
              <a:t>causing</a:t>
            </a:r>
            <a:r>
              <a:rPr dirty="0" sz="2500" spc="-130">
                <a:latin typeface="Lucida Sans Unicode"/>
                <a:cs typeface="Lucida Sans Unicode"/>
              </a:rPr>
              <a:t> </a:t>
            </a:r>
            <a:r>
              <a:rPr dirty="0" sz="2500">
                <a:latin typeface="Lucida Sans Unicode"/>
                <a:cs typeface="Lucida Sans Unicode"/>
              </a:rPr>
              <a:t>poor</a:t>
            </a:r>
            <a:r>
              <a:rPr dirty="0" sz="2500" spc="-145">
                <a:latin typeface="Lucida Sans Unicode"/>
                <a:cs typeface="Lucida Sans Unicode"/>
              </a:rPr>
              <a:t> </a:t>
            </a:r>
            <a:r>
              <a:rPr dirty="0" sz="2500" spc="-20">
                <a:latin typeface="Lucida Sans Unicode"/>
                <a:cs typeface="Lucida Sans Unicode"/>
              </a:rPr>
              <a:t>performance</a:t>
            </a:r>
            <a:r>
              <a:rPr dirty="0" sz="2500" spc="-145">
                <a:latin typeface="Lucida Sans Unicode"/>
                <a:cs typeface="Lucida Sans Unicode"/>
              </a:rPr>
              <a:t> </a:t>
            </a:r>
            <a:r>
              <a:rPr dirty="0" sz="2500">
                <a:latin typeface="Lucida Sans Unicode"/>
                <a:cs typeface="Lucida Sans Unicode"/>
              </a:rPr>
              <a:t>for</a:t>
            </a:r>
            <a:r>
              <a:rPr dirty="0" sz="2500" spc="-145">
                <a:latin typeface="Lucida Sans Unicode"/>
                <a:cs typeface="Lucida Sans Unicode"/>
              </a:rPr>
              <a:t> </a:t>
            </a:r>
            <a:r>
              <a:rPr dirty="0" sz="2500" spc="-10">
                <a:latin typeface="Lucida Sans Unicode"/>
                <a:cs typeface="Lucida Sans Unicode"/>
              </a:rPr>
              <a:t>educational tools.</a:t>
            </a:r>
            <a:endParaRPr sz="2500">
              <a:latin typeface="Lucida Sans Unicode"/>
              <a:cs typeface="Lucida Sans Unicode"/>
            </a:endParaRPr>
          </a:p>
          <a:p>
            <a:pPr marL="553720">
              <a:lnSpc>
                <a:spcPct val="100000"/>
              </a:lnSpc>
              <a:spcBef>
                <a:spcPts val="484"/>
              </a:spcBef>
            </a:pPr>
            <a:r>
              <a:rPr dirty="0" sz="2500">
                <a:latin typeface="Lucida Sans Unicode"/>
                <a:cs typeface="Lucida Sans Unicode"/>
              </a:rPr>
              <a:t>No</a:t>
            </a:r>
            <a:r>
              <a:rPr dirty="0" sz="2500" spc="-135">
                <a:latin typeface="Lucida Sans Unicode"/>
                <a:cs typeface="Lucida Sans Unicode"/>
              </a:rPr>
              <a:t> </a:t>
            </a:r>
            <a:r>
              <a:rPr dirty="0" sz="2500" spc="-50">
                <a:latin typeface="Lucida Sans Unicode"/>
                <a:cs typeface="Lucida Sans Unicode"/>
              </a:rPr>
              <a:t>integration</a:t>
            </a:r>
            <a:r>
              <a:rPr dirty="0" sz="2500" spc="-135">
                <a:latin typeface="Lucida Sans Unicode"/>
                <a:cs typeface="Lucida Sans Unicode"/>
              </a:rPr>
              <a:t> </a:t>
            </a:r>
            <a:r>
              <a:rPr dirty="0" sz="2500" spc="-40">
                <a:latin typeface="Lucida Sans Unicode"/>
                <a:cs typeface="Lucida Sans Unicode"/>
              </a:rPr>
              <a:t>with</a:t>
            </a:r>
            <a:r>
              <a:rPr dirty="0" sz="2500" spc="-130">
                <a:latin typeface="Lucida Sans Unicode"/>
                <a:cs typeface="Lucida Sans Unicode"/>
              </a:rPr>
              <a:t> </a:t>
            </a:r>
            <a:r>
              <a:rPr dirty="0" sz="2500" spc="-40">
                <a:latin typeface="Lucida Sans Unicode"/>
                <a:cs typeface="Lucida Sans Unicode"/>
              </a:rPr>
              <a:t>classroom</a:t>
            </a:r>
            <a:r>
              <a:rPr dirty="0" sz="2500" spc="-135">
                <a:latin typeface="Lucida Sans Unicode"/>
                <a:cs typeface="Lucida Sans Unicode"/>
              </a:rPr>
              <a:t> </a:t>
            </a:r>
            <a:r>
              <a:rPr dirty="0" sz="2500" spc="-75">
                <a:latin typeface="Lucida Sans Unicode"/>
                <a:cs typeface="Lucida Sans Unicode"/>
              </a:rPr>
              <a:t>context</a:t>
            </a:r>
            <a:r>
              <a:rPr dirty="0" sz="2500" spc="-130">
                <a:latin typeface="Lucida Sans Unicode"/>
                <a:cs typeface="Lucida Sans Unicode"/>
              </a:rPr>
              <a:t> </a:t>
            </a:r>
            <a:r>
              <a:rPr dirty="0" sz="2500">
                <a:latin typeface="Lucida Sans Unicode"/>
                <a:cs typeface="Lucida Sans Unicode"/>
              </a:rPr>
              <a:t>or</a:t>
            </a:r>
            <a:r>
              <a:rPr dirty="0" sz="2500" spc="-135">
                <a:latin typeface="Lucida Sans Unicode"/>
                <a:cs typeface="Lucida Sans Unicode"/>
              </a:rPr>
              <a:t> </a:t>
            </a:r>
            <a:r>
              <a:rPr dirty="0" sz="2500" spc="-40">
                <a:latin typeface="Lucida Sans Unicode"/>
                <a:cs typeface="Lucida Sans Unicode"/>
              </a:rPr>
              <a:t>student</a:t>
            </a:r>
            <a:r>
              <a:rPr dirty="0" sz="2500" spc="-135">
                <a:latin typeface="Lucida Sans Unicode"/>
                <a:cs typeface="Lucida Sans Unicode"/>
              </a:rPr>
              <a:t> </a:t>
            </a:r>
            <a:r>
              <a:rPr dirty="0" sz="2500" spc="-45">
                <a:latin typeface="Lucida Sans Unicode"/>
                <a:cs typeface="Lucida Sans Unicode"/>
              </a:rPr>
              <a:t>engagement</a:t>
            </a:r>
            <a:r>
              <a:rPr dirty="0" sz="2500" spc="-130">
                <a:latin typeface="Lucida Sans Unicode"/>
                <a:cs typeface="Lucida Sans Unicode"/>
              </a:rPr>
              <a:t> </a:t>
            </a:r>
            <a:r>
              <a:rPr dirty="0" sz="2500" spc="-10">
                <a:latin typeface="Lucida Sans Unicode"/>
                <a:cs typeface="Lucida Sans Unicode"/>
              </a:rPr>
              <a:t>data.</a:t>
            </a:r>
            <a:endParaRPr sz="25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5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2500" spc="-145">
                <a:latin typeface="Arial Black"/>
                <a:cs typeface="Arial Black"/>
              </a:rPr>
              <a:t>Shortcomings</a:t>
            </a:r>
            <a:r>
              <a:rPr dirty="0" sz="2500" spc="-160">
                <a:latin typeface="Arial Black"/>
                <a:cs typeface="Arial Black"/>
              </a:rPr>
              <a:t> </a:t>
            </a:r>
            <a:r>
              <a:rPr dirty="0" sz="2500" spc="-75">
                <a:latin typeface="Arial Black"/>
                <a:cs typeface="Arial Black"/>
              </a:rPr>
              <a:t>of</a:t>
            </a:r>
            <a:r>
              <a:rPr dirty="0" sz="2500" spc="-155">
                <a:latin typeface="Arial Black"/>
                <a:cs typeface="Arial Black"/>
              </a:rPr>
              <a:t> </a:t>
            </a:r>
            <a:r>
              <a:rPr dirty="0" sz="2500" spc="-170">
                <a:latin typeface="Arial Black"/>
                <a:cs typeface="Arial Black"/>
              </a:rPr>
              <a:t>Existing</a:t>
            </a:r>
            <a:r>
              <a:rPr dirty="0" sz="2500" spc="-155">
                <a:latin typeface="Arial Black"/>
                <a:cs typeface="Arial Black"/>
              </a:rPr>
              <a:t> </a:t>
            </a:r>
            <a:r>
              <a:rPr dirty="0" sz="2500" spc="-60">
                <a:latin typeface="Arial Black"/>
                <a:cs typeface="Arial Black"/>
              </a:rPr>
              <a:t>Systems:</a:t>
            </a:r>
            <a:endParaRPr sz="2500">
              <a:latin typeface="Arial Black"/>
              <a:cs typeface="Arial Black"/>
            </a:endParaRPr>
          </a:p>
          <a:p>
            <a:pPr marL="553720">
              <a:lnSpc>
                <a:spcPct val="100000"/>
              </a:lnSpc>
              <a:spcBef>
                <a:spcPts val="490"/>
              </a:spcBef>
            </a:pPr>
            <a:r>
              <a:rPr dirty="0" sz="2500" spc="-75">
                <a:latin typeface="Lucida Sans Unicode"/>
                <a:cs typeface="Lucida Sans Unicode"/>
              </a:rPr>
              <a:t>Lack</a:t>
            </a:r>
            <a:r>
              <a:rPr dirty="0" sz="2500" spc="-125">
                <a:latin typeface="Lucida Sans Unicode"/>
                <a:cs typeface="Lucida Sans Unicode"/>
              </a:rPr>
              <a:t> </a:t>
            </a:r>
            <a:r>
              <a:rPr dirty="0" sz="2500" spc="-50">
                <a:latin typeface="Lucida Sans Unicode"/>
                <a:cs typeface="Lucida Sans Unicode"/>
              </a:rPr>
              <a:t>of</a:t>
            </a:r>
            <a:r>
              <a:rPr dirty="0" sz="2500" spc="-125">
                <a:latin typeface="Lucida Sans Unicode"/>
                <a:cs typeface="Lucida Sans Unicode"/>
              </a:rPr>
              <a:t> </a:t>
            </a:r>
            <a:r>
              <a:rPr dirty="0" sz="2500" spc="-60">
                <a:latin typeface="Lucida Sans Unicode"/>
                <a:cs typeface="Lucida Sans Unicode"/>
              </a:rPr>
              <a:t>traffic</a:t>
            </a:r>
            <a:r>
              <a:rPr dirty="0" sz="2500" spc="-125">
                <a:latin typeface="Lucida Sans Unicode"/>
                <a:cs typeface="Lucida Sans Unicode"/>
              </a:rPr>
              <a:t> </a:t>
            </a:r>
            <a:r>
              <a:rPr dirty="0" sz="2500" spc="-70">
                <a:latin typeface="Lucida Sans Unicode"/>
                <a:cs typeface="Lucida Sans Unicode"/>
              </a:rPr>
              <a:t>prioritization</a:t>
            </a:r>
            <a:r>
              <a:rPr dirty="0" sz="2500" spc="-125">
                <a:latin typeface="Lucida Sans Unicode"/>
                <a:cs typeface="Lucida Sans Unicode"/>
              </a:rPr>
              <a:t> </a:t>
            </a:r>
            <a:r>
              <a:rPr dirty="0" sz="2500" spc="-25">
                <a:latin typeface="Lucida Sans Unicode"/>
                <a:cs typeface="Lucida Sans Unicode"/>
              </a:rPr>
              <a:t>for</a:t>
            </a:r>
            <a:r>
              <a:rPr dirty="0" sz="2500" spc="-125">
                <a:latin typeface="Lucida Sans Unicode"/>
                <a:cs typeface="Lucida Sans Unicode"/>
              </a:rPr>
              <a:t> </a:t>
            </a:r>
            <a:r>
              <a:rPr dirty="0" sz="2500" spc="-50">
                <a:latin typeface="Lucida Sans Unicode"/>
                <a:cs typeface="Lucida Sans Unicode"/>
              </a:rPr>
              <a:t>learning</a:t>
            </a:r>
            <a:r>
              <a:rPr dirty="0" sz="2500" spc="-125">
                <a:latin typeface="Lucida Sans Unicode"/>
                <a:cs typeface="Lucida Sans Unicode"/>
              </a:rPr>
              <a:t> </a:t>
            </a:r>
            <a:r>
              <a:rPr dirty="0" sz="2500" spc="-10">
                <a:latin typeface="Lucida Sans Unicode"/>
                <a:cs typeface="Lucida Sans Unicode"/>
              </a:rPr>
              <a:t>apps.</a:t>
            </a:r>
            <a:endParaRPr sz="2500">
              <a:latin typeface="Lucida Sans Unicode"/>
              <a:cs typeface="Lucida Sans Unicode"/>
            </a:endParaRPr>
          </a:p>
          <a:p>
            <a:pPr marL="553720" marR="5271135">
              <a:lnSpc>
                <a:spcPct val="116300"/>
              </a:lnSpc>
            </a:pPr>
            <a:r>
              <a:rPr dirty="0" sz="2500">
                <a:latin typeface="Lucida Sans Unicode"/>
                <a:cs typeface="Lucida Sans Unicode"/>
              </a:rPr>
              <a:t>No</a:t>
            </a:r>
            <a:r>
              <a:rPr dirty="0" sz="2500" spc="-145">
                <a:latin typeface="Lucida Sans Unicode"/>
                <a:cs typeface="Lucida Sans Unicode"/>
              </a:rPr>
              <a:t> </a:t>
            </a:r>
            <a:r>
              <a:rPr dirty="0" sz="2500" spc="-45">
                <a:latin typeface="Lucida Sans Unicode"/>
                <a:cs typeface="Lucida Sans Unicode"/>
              </a:rPr>
              <a:t>dynamic</a:t>
            </a:r>
            <a:r>
              <a:rPr dirty="0" sz="2500" spc="-140">
                <a:latin typeface="Lucida Sans Unicode"/>
                <a:cs typeface="Lucida Sans Unicode"/>
              </a:rPr>
              <a:t> </a:t>
            </a:r>
            <a:r>
              <a:rPr dirty="0" sz="2500" spc="-30">
                <a:latin typeface="Lucida Sans Unicode"/>
                <a:cs typeface="Lucida Sans Unicode"/>
              </a:rPr>
              <a:t>bandwidth</a:t>
            </a:r>
            <a:r>
              <a:rPr dirty="0" sz="2500" spc="-145">
                <a:latin typeface="Lucida Sans Unicode"/>
                <a:cs typeface="Lucida Sans Unicode"/>
              </a:rPr>
              <a:t> </a:t>
            </a:r>
            <a:r>
              <a:rPr dirty="0" sz="2500" spc="-50">
                <a:latin typeface="Lucida Sans Unicode"/>
                <a:cs typeface="Lucida Sans Unicode"/>
              </a:rPr>
              <a:t>allocation</a:t>
            </a:r>
            <a:r>
              <a:rPr dirty="0" sz="2500" spc="-140">
                <a:latin typeface="Lucida Sans Unicode"/>
                <a:cs typeface="Lucida Sans Unicode"/>
              </a:rPr>
              <a:t> </a:t>
            </a:r>
            <a:r>
              <a:rPr dirty="0" sz="2500" spc="-25">
                <a:latin typeface="Lucida Sans Unicode"/>
                <a:cs typeface="Lucida Sans Unicode"/>
              </a:rPr>
              <a:t>based</a:t>
            </a:r>
            <a:r>
              <a:rPr dirty="0" sz="2500" spc="-145">
                <a:latin typeface="Lucida Sans Unicode"/>
                <a:cs typeface="Lucida Sans Unicode"/>
              </a:rPr>
              <a:t> </a:t>
            </a:r>
            <a:r>
              <a:rPr dirty="0" sz="2500" spc="-10">
                <a:latin typeface="Lucida Sans Unicode"/>
                <a:cs typeface="Lucida Sans Unicode"/>
              </a:rPr>
              <a:t>on</a:t>
            </a:r>
            <a:r>
              <a:rPr dirty="0" sz="2500" spc="-140">
                <a:latin typeface="Lucida Sans Unicode"/>
                <a:cs typeface="Lucida Sans Unicode"/>
              </a:rPr>
              <a:t> </a:t>
            </a:r>
            <a:r>
              <a:rPr dirty="0" sz="2500" spc="-40">
                <a:latin typeface="Lucida Sans Unicode"/>
                <a:cs typeface="Lucida Sans Unicode"/>
              </a:rPr>
              <a:t>classroom</a:t>
            </a:r>
            <a:r>
              <a:rPr dirty="0" sz="2500" spc="-145">
                <a:latin typeface="Lucida Sans Unicode"/>
                <a:cs typeface="Lucida Sans Unicode"/>
              </a:rPr>
              <a:t> </a:t>
            </a:r>
            <a:r>
              <a:rPr dirty="0" sz="2500" spc="-45">
                <a:latin typeface="Lucida Sans Unicode"/>
                <a:cs typeface="Lucida Sans Unicode"/>
              </a:rPr>
              <a:t>activity. </a:t>
            </a:r>
            <a:r>
              <a:rPr dirty="0" sz="2500">
                <a:latin typeface="Lucida Sans Unicode"/>
                <a:cs typeface="Lucida Sans Unicode"/>
              </a:rPr>
              <a:t>No</a:t>
            </a:r>
            <a:r>
              <a:rPr dirty="0" sz="2500" spc="-125">
                <a:latin typeface="Lucida Sans Unicode"/>
                <a:cs typeface="Lucida Sans Unicode"/>
              </a:rPr>
              <a:t> </a:t>
            </a:r>
            <a:r>
              <a:rPr dirty="0" sz="2500" spc="-65">
                <a:latin typeface="Lucida Sans Unicode"/>
                <a:cs typeface="Lucida Sans Unicode"/>
              </a:rPr>
              <a:t>offline</a:t>
            </a:r>
            <a:r>
              <a:rPr dirty="0" sz="2500" spc="-125">
                <a:latin typeface="Lucida Sans Unicode"/>
                <a:cs typeface="Lucida Sans Unicode"/>
              </a:rPr>
              <a:t> </a:t>
            </a:r>
            <a:r>
              <a:rPr dirty="0" sz="2500" spc="-40">
                <a:latin typeface="Lucida Sans Unicode"/>
                <a:cs typeface="Lucida Sans Unicode"/>
              </a:rPr>
              <a:t>support</a:t>
            </a:r>
            <a:r>
              <a:rPr dirty="0" sz="2500" spc="-125">
                <a:latin typeface="Lucida Sans Unicode"/>
                <a:cs typeface="Lucida Sans Unicode"/>
              </a:rPr>
              <a:t> </a:t>
            </a:r>
            <a:r>
              <a:rPr dirty="0" sz="2500">
                <a:latin typeface="Lucida Sans Unicode"/>
                <a:cs typeface="Lucida Sans Unicode"/>
              </a:rPr>
              <a:t>or</a:t>
            </a:r>
            <a:r>
              <a:rPr dirty="0" sz="2500" spc="-125">
                <a:latin typeface="Lucida Sans Unicode"/>
                <a:cs typeface="Lucida Sans Unicode"/>
              </a:rPr>
              <a:t> </a:t>
            </a:r>
            <a:r>
              <a:rPr dirty="0" sz="2500" spc="-65">
                <a:latin typeface="Lucida Sans Unicode"/>
                <a:cs typeface="Lucida Sans Unicode"/>
              </a:rPr>
              <a:t>local</a:t>
            </a:r>
            <a:r>
              <a:rPr dirty="0" sz="2500" spc="-125">
                <a:latin typeface="Lucida Sans Unicode"/>
                <a:cs typeface="Lucida Sans Unicode"/>
              </a:rPr>
              <a:t> </a:t>
            </a:r>
            <a:r>
              <a:rPr dirty="0" sz="2500" spc="-10">
                <a:latin typeface="Lucida Sans Unicode"/>
                <a:cs typeface="Lucida Sans Unicode"/>
              </a:rPr>
              <a:t>caching.</a:t>
            </a:r>
            <a:endParaRPr sz="2500">
              <a:latin typeface="Lucida Sans Unicode"/>
              <a:cs typeface="Lucida Sans Unicode"/>
            </a:endParaRPr>
          </a:p>
          <a:p>
            <a:pPr marL="553720">
              <a:lnSpc>
                <a:spcPct val="100000"/>
              </a:lnSpc>
              <a:spcBef>
                <a:spcPts val="490"/>
              </a:spcBef>
            </a:pPr>
            <a:r>
              <a:rPr dirty="0" sz="2500">
                <a:latin typeface="Lucida Sans Unicode"/>
                <a:cs typeface="Lucida Sans Unicode"/>
              </a:rPr>
              <a:t>No</a:t>
            </a:r>
            <a:r>
              <a:rPr dirty="0" sz="2500" spc="-130">
                <a:latin typeface="Lucida Sans Unicode"/>
                <a:cs typeface="Lucida Sans Unicode"/>
              </a:rPr>
              <a:t> </a:t>
            </a:r>
            <a:r>
              <a:rPr dirty="0" sz="2500" spc="-50">
                <a:latin typeface="Lucida Sans Unicode"/>
                <a:cs typeface="Lucida Sans Unicode"/>
              </a:rPr>
              <a:t>integration</a:t>
            </a:r>
            <a:r>
              <a:rPr dirty="0" sz="2500" spc="-130">
                <a:latin typeface="Lucida Sans Unicode"/>
                <a:cs typeface="Lucida Sans Unicode"/>
              </a:rPr>
              <a:t> </a:t>
            </a:r>
            <a:r>
              <a:rPr dirty="0" sz="2500" spc="-40">
                <a:latin typeface="Lucida Sans Unicode"/>
                <a:cs typeface="Lucida Sans Unicode"/>
              </a:rPr>
              <a:t>with</a:t>
            </a:r>
            <a:r>
              <a:rPr dirty="0" sz="2500" spc="-125">
                <a:latin typeface="Lucida Sans Unicode"/>
                <a:cs typeface="Lucida Sans Unicode"/>
              </a:rPr>
              <a:t> </a:t>
            </a:r>
            <a:r>
              <a:rPr dirty="0" sz="2500" spc="-114">
                <a:latin typeface="Lucida Sans Unicode"/>
                <a:cs typeface="Lucida Sans Unicode"/>
              </a:rPr>
              <a:t>IoT-based</a:t>
            </a:r>
            <a:r>
              <a:rPr dirty="0" sz="2500" spc="-130">
                <a:latin typeface="Lucida Sans Unicode"/>
                <a:cs typeface="Lucida Sans Unicode"/>
              </a:rPr>
              <a:t> </a:t>
            </a:r>
            <a:r>
              <a:rPr dirty="0" sz="2500" spc="-25">
                <a:latin typeface="Lucida Sans Unicode"/>
                <a:cs typeface="Lucida Sans Unicode"/>
              </a:rPr>
              <a:t>behavioral</a:t>
            </a:r>
            <a:r>
              <a:rPr dirty="0" sz="2500" spc="-130">
                <a:latin typeface="Lucida Sans Unicode"/>
                <a:cs typeface="Lucida Sans Unicode"/>
              </a:rPr>
              <a:t> </a:t>
            </a:r>
            <a:r>
              <a:rPr dirty="0" sz="2500" spc="-10">
                <a:latin typeface="Lucida Sans Unicode"/>
                <a:cs typeface="Lucida Sans Unicode"/>
              </a:rPr>
              <a:t>monitoring.</a:t>
            </a:r>
            <a:endParaRPr sz="25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5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2500" spc="-135">
                <a:latin typeface="Arial Black"/>
                <a:cs typeface="Arial Black"/>
              </a:rPr>
              <a:t>Creative</a:t>
            </a:r>
            <a:r>
              <a:rPr dirty="0" sz="2500" spc="-145">
                <a:latin typeface="Arial Black"/>
                <a:cs typeface="Arial Black"/>
              </a:rPr>
              <a:t> </a:t>
            </a:r>
            <a:r>
              <a:rPr dirty="0" sz="2500" spc="-10">
                <a:latin typeface="Arial Black"/>
                <a:cs typeface="Arial Black"/>
              </a:rPr>
              <a:t>Solution:</a:t>
            </a:r>
            <a:endParaRPr sz="2500">
              <a:latin typeface="Arial Black"/>
              <a:cs typeface="Arial Black"/>
            </a:endParaRPr>
          </a:p>
          <a:p>
            <a:pPr marL="553720" marR="5243195">
              <a:lnSpc>
                <a:spcPct val="116300"/>
              </a:lnSpc>
            </a:pPr>
            <a:r>
              <a:rPr dirty="0" sz="2500" spc="-85">
                <a:latin typeface="Lucida Sans Unicode"/>
                <a:cs typeface="Lucida Sans Unicode"/>
              </a:rPr>
              <a:t>An</a:t>
            </a:r>
            <a:r>
              <a:rPr dirty="0" sz="2500" spc="-130">
                <a:latin typeface="Lucida Sans Unicode"/>
                <a:cs typeface="Lucida Sans Unicode"/>
              </a:rPr>
              <a:t> </a:t>
            </a:r>
            <a:r>
              <a:rPr dirty="0" sz="2500">
                <a:latin typeface="Lucida Sans Unicode"/>
                <a:cs typeface="Lucida Sans Unicode"/>
              </a:rPr>
              <a:t>SDN</a:t>
            </a:r>
            <a:r>
              <a:rPr dirty="0" sz="2500" spc="-125">
                <a:latin typeface="Lucida Sans Unicode"/>
                <a:cs typeface="Lucida Sans Unicode"/>
              </a:rPr>
              <a:t> </a:t>
            </a:r>
            <a:r>
              <a:rPr dirty="0" sz="2500" spc="-35">
                <a:latin typeface="Lucida Sans Unicode"/>
                <a:cs typeface="Lucida Sans Unicode"/>
              </a:rPr>
              <a:t>controller</a:t>
            </a:r>
            <a:r>
              <a:rPr dirty="0" sz="2500" spc="-130">
                <a:latin typeface="Lucida Sans Unicode"/>
                <a:cs typeface="Lucida Sans Unicode"/>
              </a:rPr>
              <a:t> </a:t>
            </a:r>
            <a:r>
              <a:rPr dirty="0" sz="2500" spc="-20">
                <a:latin typeface="Lucida Sans Unicode"/>
                <a:cs typeface="Lucida Sans Unicode"/>
              </a:rPr>
              <a:t>that</a:t>
            </a:r>
            <a:r>
              <a:rPr dirty="0" sz="2500" spc="-125">
                <a:latin typeface="Lucida Sans Unicode"/>
                <a:cs typeface="Lucida Sans Unicode"/>
              </a:rPr>
              <a:t> </a:t>
            </a:r>
            <a:r>
              <a:rPr dirty="0" sz="2500" spc="-45">
                <a:latin typeface="Lucida Sans Unicode"/>
                <a:cs typeface="Lucida Sans Unicode"/>
              </a:rPr>
              <a:t>uses</a:t>
            </a:r>
            <a:r>
              <a:rPr dirty="0" sz="2500" spc="-125">
                <a:latin typeface="Lucida Sans Unicode"/>
                <a:cs typeface="Lucida Sans Unicode"/>
              </a:rPr>
              <a:t> </a:t>
            </a:r>
            <a:r>
              <a:rPr dirty="0" sz="2500">
                <a:latin typeface="Lucida Sans Unicode"/>
                <a:cs typeface="Lucida Sans Unicode"/>
              </a:rPr>
              <a:t>ML</a:t>
            </a:r>
            <a:r>
              <a:rPr dirty="0" sz="2500" spc="-130">
                <a:latin typeface="Lucida Sans Unicode"/>
                <a:cs typeface="Lucida Sans Unicode"/>
              </a:rPr>
              <a:t> </a:t>
            </a:r>
            <a:r>
              <a:rPr dirty="0" sz="2500" spc="-50">
                <a:latin typeface="Lucida Sans Unicode"/>
                <a:cs typeface="Lucida Sans Unicode"/>
              </a:rPr>
              <a:t>to</a:t>
            </a:r>
            <a:r>
              <a:rPr dirty="0" sz="2500" spc="-125">
                <a:latin typeface="Lucida Sans Unicode"/>
                <a:cs typeface="Lucida Sans Unicode"/>
              </a:rPr>
              <a:t> </a:t>
            </a:r>
            <a:r>
              <a:rPr dirty="0" sz="2500" spc="-75">
                <a:latin typeface="Lucida Sans Unicode"/>
                <a:cs typeface="Lucida Sans Unicode"/>
              </a:rPr>
              <a:t>classify</a:t>
            </a:r>
            <a:r>
              <a:rPr dirty="0" sz="2500" spc="-130">
                <a:latin typeface="Lucida Sans Unicode"/>
                <a:cs typeface="Lucida Sans Unicode"/>
              </a:rPr>
              <a:t> </a:t>
            </a:r>
            <a:r>
              <a:rPr dirty="0" sz="2500">
                <a:latin typeface="Lucida Sans Unicode"/>
                <a:cs typeface="Lucida Sans Unicode"/>
              </a:rPr>
              <a:t>and</a:t>
            </a:r>
            <a:r>
              <a:rPr dirty="0" sz="2500" spc="-125">
                <a:latin typeface="Lucida Sans Unicode"/>
                <a:cs typeface="Lucida Sans Unicode"/>
              </a:rPr>
              <a:t> </a:t>
            </a:r>
            <a:r>
              <a:rPr dirty="0" sz="2500" spc="-70">
                <a:latin typeface="Lucida Sans Unicode"/>
                <a:cs typeface="Lucida Sans Unicode"/>
              </a:rPr>
              <a:t>prioritize</a:t>
            </a:r>
            <a:r>
              <a:rPr dirty="0" sz="2500" spc="-125">
                <a:latin typeface="Lucida Sans Unicode"/>
                <a:cs typeface="Lucida Sans Unicode"/>
              </a:rPr>
              <a:t> </a:t>
            </a:r>
            <a:r>
              <a:rPr dirty="0" sz="2500" spc="-45">
                <a:latin typeface="Lucida Sans Unicode"/>
                <a:cs typeface="Lucida Sans Unicode"/>
              </a:rPr>
              <a:t>traffic. Dynamic</a:t>
            </a:r>
            <a:r>
              <a:rPr dirty="0" sz="2500" spc="-140">
                <a:latin typeface="Lucida Sans Unicode"/>
                <a:cs typeface="Lucida Sans Unicode"/>
              </a:rPr>
              <a:t> </a:t>
            </a:r>
            <a:r>
              <a:rPr dirty="0" sz="2500">
                <a:latin typeface="Lucida Sans Unicode"/>
                <a:cs typeface="Lucida Sans Unicode"/>
              </a:rPr>
              <a:t>QoS</a:t>
            </a:r>
            <a:r>
              <a:rPr dirty="0" sz="2500" spc="-140">
                <a:latin typeface="Lucida Sans Unicode"/>
                <a:cs typeface="Lucida Sans Unicode"/>
              </a:rPr>
              <a:t> </a:t>
            </a:r>
            <a:r>
              <a:rPr dirty="0" sz="2500" spc="-70">
                <a:latin typeface="Lucida Sans Unicode"/>
                <a:cs typeface="Lucida Sans Unicode"/>
              </a:rPr>
              <a:t>policies</a:t>
            </a:r>
            <a:r>
              <a:rPr dirty="0" sz="2500" spc="-135">
                <a:latin typeface="Lucida Sans Unicode"/>
                <a:cs typeface="Lucida Sans Unicode"/>
              </a:rPr>
              <a:t> </a:t>
            </a:r>
            <a:r>
              <a:rPr dirty="0" sz="2500" spc="-25">
                <a:latin typeface="Lucida Sans Unicode"/>
                <a:cs typeface="Lucida Sans Unicode"/>
              </a:rPr>
              <a:t>based</a:t>
            </a:r>
            <a:r>
              <a:rPr dirty="0" sz="2500" spc="-140">
                <a:latin typeface="Lucida Sans Unicode"/>
                <a:cs typeface="Lucida Sans Unicode"/>
              </a:rPr>
              <a:t> </a:t>
            </a:r>
            <a:r>
              <a:rPr dirty="0" sz="2500" spc="-10">
                <a:latin typeface="Lucida Sans Unicode"/>
                <a:cs typeface="Lucida Sans Unicode"/>
              </a:rPr>
              <a:t>on</a:t>
            </a:r>
            <a:r>
              <a:rPr dirty="0" sz="2500" spc="-135">
                <a:latin typeface="Lucida Sans Unicode"/>
                <a:cs typeface="Lucida Sans Unicode"/>
              </a:rPr>
              <a:t> </a:t>
            </a:r>
            <a:r>
              <a:rPr dirty="0" sz="2500" spc="-105">
                <a:latin typeface="Lucida Sans Unicode"/>
                <a:cs typeface="Lucida Sans Unicode"/>
              </a:rPr>
              <a:t>real-</a:t>
            </a:r>
            <a:r>
              <a:rPr dirty="0" sz="2500" spc="-114">
                <a:latin typeface="Lucida Sans Unicode"/>
                <a:cs typeface="Lucida Sans Unicode"/>
              </a:rPr>
              <a:t>time</a:t>
            </a:r>
            <a:r>
              <a:rPr dirty="0" sz="2500" spc="-140">
                <a:latin typeface="Lucida Sans Unicode"/>
                <a:cs typeface="Lucida Sans Unicode"/>
              </a:rPr>
              <a:t> </a:t>
            </a:r>
            <a:r>
              <a:rPr dirty="0" sz="2500" spc="-40">
                <a:latin typeface="Lucida Sans Unicode"/>
                <a:cs typeface="Lucida Sans Unicode"/>
              </a:rPr>
              <a:t>classroom</a:t>
            </a:r>
            <a:r>
              <a:rPr dirty="0" sz="2500" spc="-140">
                <a:latin typeface="Lucida Sans Unicode"/>
                <a:cs typeface="Lucida Sans Unicode"/>
              </a:rPr>
              <a:t> </a:t>
            </a:r>
            <a:r>
              <a:rPr dirty="0" sz="2500" spc="-10">
                <a:latin typeface="Lucida Sans Unicode"/>
                <a:cs typeface="Lucida Sans Unicode"/>
              </a:rPr>
              <a:t>context.</a:t>
            </a:r>
            <a:endParaRPr sz="2500">
              <a:latin typeface="Lucida Sans Unicode"/>
              <a:cs typeface="Lucida Sans Unicode"/>
            </a:endParaRPr>
          </a:p>
          <a:p>
            <a:pPr marL="553720">
              <a:lnSpc>
                <a:spcPct val="100000"/>
              </a:lnSpc>
              <a:spcBef>
                <a:spcPts val="490"/>
              </a:spcBef>
            </a:pPr>
            <a:r>
              <a:rPr dirty="0" sz="2500" spc="-55">
                <a:latin typeface="Lucida Sans Unicode"/>
                <a:cs typeface="Lucida Sans Unicode"/>
              </a:rPr>
              <a:t>Local</a:t>
            </a:r>
            <a:r>
              <a:rPr dirty="0" sz="2500" spc="-114">
                <a:latin typeface="Lucida Sans Unicode"/>
                <a:cs typeface="Lucida Sans Unicode"/>
              </a:rPr>
              <a:t> </a:t>
            </a:r>
            <a:r>
              <a:rPr dirty="0" sz="2500" spc="-75">
                <a:latin typeface="Lucida Sans Unicode"/>
                <a:cs typeface="Lucida Sans Unicode"/>
              </a:rPr>
              <a:t>caching</a:t>
            </a:r>
            <a:r>
              <a:rPr dirty="0" sz="2500" spc="-114">
                <a:latin typeface="Lucida Sans Unicode"/>
                <a:cs typeface="Lucida Sans Unicode"/>
              </a:rPr>
              <a:t> </a:t>
            </a:r>
            <a:r>
              <a:rPr dirty="0" sz="2500" spc="-50">
                <a:latin typeface="Lucida Sans Unicode"/>
                <a:cs typeface="Lucida Sans Unicode"/>
              </a:rPr>
              <a:t>of</a:t>
            </a:r>
            <a:r>
              <a:rPr dirty="0" sz="2500" spc="-114">
                <a:latin typeface="Lucida Sans Unicode"/>
                <a:cs typeface="Lucida Sans Unicode"/>
              </a:rPr>
              <a:t> </a:t>
            </a:r>
            <a:r>
              <a:rPr dirty="0" sz="2500" spc="-40">
                <a:latin typeface="Lucida Sans Unicode"/>
                <a:cs typeface="Lucida Sans Unicode"/>
              </a:rPr>
              <a:t>educational</a:t>
            </a:r>
            <a:r>
              <a:rPr dirty="0" sz="2500" spc="-110">
                <a:latin typeface="Lucida Sans Unicode"/>
                <a:cs typeface="Lucida Sans Unicode"/>
              </a:rPr>
              <a:t> </a:t>
            </a:r>
            <a:r>
              <a:rPr dirty="0" sz="2500" spc="-10">
                <a:latin typeface="Lucida Sans Unicode"/>
                <a:cs typeface="Lucida Sans Unicode"/>
              </a:rPr>
              <a:t>content.</a:t>
            </a:r>
            <a:endParaRPr sz="2500">
              <a:latin typeface="Lucida Sans Unicode"/>
              <a:cs typeface="Lucida Sans Unicode"/>
            </a:endParaRPr>
          </a:p>
          <a:p>
            <a:pPr marL="553720">
              <a:lnSpc>
                <a:spcPct val="100000"/>
              </a:lnSpc>
              <a:spcBef>
                <a:spcPts val="490"/>
              </a:spcBef>
            </a:pPr>
            <a:r>
              <a:rPr dirty="0" sz="2500" spc="-114">
                <a:latin typeface="Lucida Sans Unicode"/>
                <a:cs typeface="Lucida Sans Unicode"/>
              </a:rPr>
              <a:t>Offline-</a:t>
            </a:r>
            <a:r>
              <a:rPr dirty="0" sz="2500" spc="-95">
                <a:latin typeface="Lucida Sans Unicode"/>
                <a:cs typeface="Lucida Sans Unicode"/>
              </a:rPr>
              <a:t>first</a:t>
            </a:r>
            <a:r>
              <a:rPr dirty="0" sz="2500" spc="-120">
                <a:latin typeface="Lucida Sans Unicode"/>
                <a:cs typeface="Lucida Sans Unicode"/>
              </a:rPr>
              <a:t> </a:t>
            </a:r>
            <a:r>
              <a:rPr dirty="0" sz="2500">
                <a:latin typeface="Lucida Sans Unicode"/>
                <a:cs typeface="Lucida Sans Unicode"/>
              </a:rPr>
              <a:t>SDN</a:t>
            </a:r>
            <a:r>
              <a:rPr dirty="0" sz="2500" spc="-114">
                <a:latin typeface="Lucida Sans Unicode"/>
                <a:cs typeface="Lucida Sans Unicode"/>
              </a:rPr>
              <a:t> </a:t>
            </a:r>
            <a:r>
              <a:rPr dirty="0" sz="2500" spc="-35">
                <a:latin typeface="Lucida Sans Unicode"/>
                <a:cs typeface="Lucida Sans Unicode"/>
              </a:rPr>
              <a:t>controller</a:t>
            </a:r>
            <a:r>
              <a:rPr dirty="0" sz="2500" spc="-114">
                <a:latin typeface="Lucida Sans Unicode"/>
                <a:cs typeface="Lucida Sans Unicode"/>
              </a:rPr>
              <a:t> </a:t>
            </a:r>
            <a:r>
              <a:rPr dirty="0" sz="2500" spc="-40">
                <a:latin typeface="Lucida Sans Unicode"/>
                <a:cs typeface="Lucida Sans Unicode"/>
              </a:rPr>
              <a:t>with</a:t>
            </a:r>
            <a:r>
              <a:rPr dirty="0" sz="2500" spc="-120">
                <a:latin typeface="Lucida Sans Unicode"/>
                <a:cs typeface="Lucida Sans Unicode"/>
              </a:rPr>
              <a:t> </a:t>
            </a:r>
            <a:r>
              <a:rPr dirty="0" sz="2500" spc="-105">
                <a:latin typeface="Lucida Sans Unicode"/>
                <a:cs typeface="Lucida Sans Unicode"/>
              </a:rPr>
              <a:t>ML-</a:t>
            </a:r>
            <a:r>
              <a:rPr dirty="0" sz="2500" spc="-95">
                <a:latin typeface="Lucida Sans Unicode"/>
                <a:cs typeface="Lucida Sans Unicode"/>
              </a:rPr>
              <a:t>based</a:t>
            </a:r>
            <a:r>
              <a:rPr dirty="0" sz="2500" spc="-114">
                <a:latin typeface="Lucida Sans Unicode"/>
                <a:cs typeface="Lucida Sans Unicode"/>
              </a:rPr>
              <a:t> </a:t>
            </a:r>
            <a:r>
              <a:rPr dirty="0" sz="2500" spc="-60">
                <a:latin typeface="Lucida Sans Unicode"/>
                <a:cs typeface="Lucida Sans Unicode"/>
              </a:rPr>
              <a:t>traffic</a:t>
            </a:r>
            <a:r>
              <a:rPr dirty="0" sz="2500" spc="-114">
                <a:latin typeface="Lucida Sans Unicode"/>
                <a:cs typeface="Lucida Sans Unicode"/>
              </a:rPr>
              <a:t> </a:t>
            </a:r>
            <a:r>
              <a:rPr dirty="0" sz="2500" spc="-70">
                <a:latin typeface="Lucida Sans Unicode"/>
                <a:cs typeface="Lucida Sans Unicode"/>
              </a:rPr>
              <a:t>classification</a:t>
            </a:r>
            <a:r>
              <a:rPr dirty="0" sz="2500" spc="-120">
                <a:latin typeface="Lucida Sans Unicode"/>
                <a:cs typeface="Lucida Sans Unicode"/>
              </a:rPr>
              <a:t> </a:t>
            </a:r>
            <a:r>
              <a:rPr dirty="0" sz="2500">
                <a:latin typeface="Lucida Sans Unicode"/>
                <a:cs typeface="Lucida Sans Unicode"/>
              </a:rPr>
              <a:t>and</a:t>
            </a:r>
            <a:r>
              <a:rPr dirty="0" sz="2500" spc="-114">
                <a:latin typeface="Lucida Sans Unicode"/>
                <a:cs typeface="Lucida Sans Unicode"/>
              </a:rPr>
              <a:t> </a:t>
            </a:r>
            <a:r>
              <a:rPr dirty="0" sz="2500" spc="-45">
                <a:latin typeface="Lucida Sans Unicode"/>
                <a:cs typeface="Lucida Sans Unicode"/>
              </a:rPr>
              <a:t>dynamic</a:t>
            </a:r>
            <a:r>
              <a:rPr dirty="0" sz="2500" spc="-114">
                <a:latin typeface="Lucida Sans Unicode"/>
                <a:cs typeface="Lucida Sans Unicode"/>
              </a:rPr>
              <a:t> </a:t>
            </a:r>
            <a:r>
              <a:rPr dirty="0" sz="2500" spc="-55">
                <a:latin typeface="Lucida Sans Unicode"/>
                <a:cs typeface="Lucida Sans Unicode"/>
              </a:rPr>
              <a:t>flow</a:t>
            </a:r>
            <a:r>
              <a:rPr dirty="0" sz="2500" spc="-114">
                <a:latin typeface="Lucida Sans Unicode"/>
                <a:cs typeface="Lucida Sans Unicode"/>
              </a:rPr>
              <a:t> </a:t>
            </a:r>
            <a:r>
              <a:rPr dirty="0" sz="2500" spc="-10">
                <a:latin typeface="Lucida Sans Unicode"/>
                <a:cs typeface="Lucida Sans Unicode"/>
              </a:rPr>
              <a:t>control..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5163091" y="1511748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 h="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4478809" y="9192091"/>
            <a:ext cx="911352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IT22078278</a:t>
            </a:r>
            <a:r>
              <a:rPr dirty="0" sz="2800" spc="-5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V.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105">
                <a:latin typeface="Trebuchet MS"/>
                <a:cs typeface="Trebuchet MS"/>
              </a:rPr>
              <a:t>G.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95">
                <a:latin typeface="Trebuchet MS"/>
                <a:cs typeface="Trebuchet MS"/>
              </a:rPr>
              <a:t>Karunathilake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6501" y="459526"/>
            <a:ext cx="13935075" cy="8331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300">
                <a:latin typeface="Lucida Sans Unicode"/>
                <a:cs typeface="Lucida Sans Unicode"/>
              </a:rPr>
              <a:t>SDN</a:t>
            </a:r>
            <a:r>
              <a:rPr dirty="0" sz="5300" spc="-305">
                <a:latin typeface="Lucida Sans Unicode"/>
                <a:cs typeface="Lucida Sans Unicode"/>
              </a:rPr>
              <a:t> </a:t>
            </a:r>
            <a:r>
              <a:rPr dirty="0" sz="5300">
                <a:latin typeface="Lucida Sans Unicode"/>
                <a:cs typeface="Lucida Sans Unicode"/>
              </a:rPr>
              <a:t>–</a:t>
            </a:r>
            <a:r>
              <a:rPr dirty="0" sz="5300" spc="-305">
                <a:latin typeface="Lucida Sans Unicode"/>
                <a:cs typeface="Lucida Sans Unicode"/>
              </a:rPr>
              <a:t> </a:t>
            </a:r>
            <a:r>
              <a:rPr dirty="0" sz="5300" spc="-55">
                <a:latin typeface="Lucida Sans Unicode"/>
                <a:cs typeface="Lucida Sans Unicode"/>
              </a:rPr>
              <a:t>Enabled</a:t>
            </a:r>
            <a:r>
              <a:rPr dirty="0" sz="5300" spc="-300">
                <a:latin typeface="Lucida Sans Unicode"/>
                <a:cs typeface="Lucida Sans Unicode"/>
              </a:rPr>
              <a:t> </a:t>
            </a:r>
            <a:r>
              <a:rPr dirty="0" sz="5300" spc="-114">
                <a:latin typeface="Lucida Sans Unicode"/>
                <a:cs typeface="Lucida Sans Unicode"/>
              </a:rPr>
              <a:t>classroom</a:t>
            </a:r>
            <a:r>
              <a:rPr dirty="0" sz="5300" spc="-305">
                <a:latin typeface="Lucida Sans Unicode"/>
                <a:cs typeface="Lucida Sans Unicode"/>
              </a:rPr>
              <a:t> </a:t>
            </a:r>
            <a:r>
              <a:rPr dirty="0" sz="5300" spc="-90">
                <a:latin typeface="Lucida Sans Unicode"/>
                <a:cs typeface="Lucida Sans Unicode"/>
              </a:rPr>
              <a:t>network</a:t>
            </a:r>
            <a:r>
              <a:rPr dirty="0" sz="5300" spc="-305">
                <a:latin typeface="Lucida Sans Unicode"/>
                <a:cs typeface="Lucida Sans Unicode"/>
              </a:rPr>
              <a:t> </a:t>
            </a:r>
            <a:r>
              <a:rPr dirty="0" sz="5300" spc="-80">
                <a:latin typeface="Lucida Sans Unicode"/>
                <a:cs typeface="Lucida Sans Unicode"/>
              </a:rPr>
              <a:t>optimizer</a:t>
            </a:r>
            <a:endParaRPr sz="5300">
              <a:latin typeface="Lucida Sans Unicode"/>
              <a:cs typeface="Lucida Sans Unicode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163091" y="1511748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 h="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9173" y="2853921"/>
            <a:ext cx="123825" cy="1238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9173" y="3806421"/>
            <a:ext cx="123825" cy="1238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9173" y="5235171"/>
            <a:ext cx="123825" cy="12382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9173" y="7197321"/>
            <a:ext cx="123825" cy="12382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39173" y="8149821"/>
            <a:ext cx="123825" cy="123824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algn="just" marL="593090" marR="5080" indent="-581025">
              <a:lnSpc>
                <a:spcPct val="115999"/>
              </a:lnSpc>
              <a:spcBef>
                <a:spcPts val="140"/>
              </a:spcBef>
            </a:pPr>
            <a:r>
              <a:rPr dirty="0" sz="2850" spc="-315">
                <a:latin typeface="Arial Black"/>
                <a:cs typeface="Arial Black"/>
              </a:rPr>
              <a:t>How</a:t>
            </a:r>
            <a:r>
              <a:rPr dirty="0" sz="2850" spc="70">
                <a:latin typeface="Arial Black"/>
                <a:cs typeface="Arial Black"/>
              </a:rPr>
              <a:t> </a:t>
            </a:r>
            <a:r>
              <a:rPr dirty="0" sz="2850" spc="-155">
                <a:latin typeface="Arial Black"/>
                <a:cs typeface="Arial Black"/>
              </a:rPr>
              <a:t>the</a:t>
            </a:r>
            <a:r>
              <a:rPr dirty="0" sz="2850" spc="-85">
                <a:latin typeface="Arial Black"/>
                <a:cs typeface="Arial Black"/>
              </a:rPr>
              <a:t> </a:t>
            </a:r>
            <a:r>
              <a:rPr dirty="0" sz="2850" spc="-165">
                <a:latin typeface="Arial Black"/>
                <a:cs typeface="Arial Black"/>
              </a:rPr>
              <a:t>Solution</a:t>
            </a:r>
            <a:r>
              <a:rPr dirty="0" sz="2850" spc="-10">
                <a:latin typeface="Arial Black"/>
                <a:cs typeface="Arial Black"/>
              </a:rPr>
              <a:t> </a:t>
            </a:r>
            <a:r>
              <a:rPr dirty="0" sz="2850" spc="-245">
                <a:latin typeface="Arial Black"/>
                <a:cs typeface="Arial Black"/>
              </a:rPr>
              <a:t>Addresses</a:t>
            </a:r>
            <a:r>
              <a:rPr dirty="0" sz="2850" spc="10">
                <a:latin typeface="Arial Black"/>
                <a:cs typeface="Arial Black"/>
              </a:rPr>
              <a:t> </a:t>
            </a:r>
            <a:r>
              <a:rPr dirty="0" sz="2850" spc="-155">
                <a:latin typeface="Arial Black"/>
                <a:cs typeface="Arial Black"/>
              </a:rPr>
              <a:t>the</a:t>
            </a:r>
            <a:r>
              <a:rPr dirty="0" sz="2850">
                <a:latin typeface="Arial Black"/>
                <a:cs typeface="Arial Black"/>
              </a:rPr>
              <a:t> </a:t>
            </a:r>
            <a:r>
              <a:rPr dirty="0" sz="2850" spc="-190">
                <a:latin typeface="Arial Black"/>
                <a:cs typeface="Arial Black"/>
              </a:rPr>
              <a:t>Sub-</a:t>
            </a:r>
            <a:r>
              <a:rPr dirty="0" sz="2850" spc="-50">
                <a:latin typeface="Arial Black"/>
                <a:cs typeface="Arial Black"/>
              </a:rPr>
              <a:t>Problem </a:t>
            </a:r>
            <a:r>
              <a:rPr dirty="0"/>
              <a:t>Implements</a:t>
            </a:r>
            <a:r>
              <a:rPr dirty="0" spc="-45"/>
              <a:t>  </a:t>
            </a:r>
            <a:r>
              <a:rPr dirty="0"/>
              <a:t>Ryu</a:t>
            </a:r>
            <a:r>
              <a:rPr dirty="0" spc="-45"/>
              <a:t>  </a:t>
            </a:r>
            <a:r>
              <a:rPr dirty="0"/>
              <a:t>SDN</a:t>
            </a:r>
            <a:r>
              <a:rPr dirty="0" spc="-45"/>
              <a:t>  </a:t>
            </a:r>
            <a:r>
              <a:rPr dirty="0"/>
              <a:t>controller</a:t>
            </a:r>
            <a:r>
              <a:rPr dirty="0" spc="-40"/>
              <a:t>  </a:t>
            </a:r>
            <a:r>
              <a:rPr dirty="0"/>
              <a:t>on</a:t>
            </a:r>
            <a:r>
              <a:rPr dirty="0" spc="-45"/>
              <a:t>  </a:t>
            </a:r>
            <a:r>
              <a:rPr dirty="0" spc="-10"/>
              <a:t>Ubuntu </a:t>
            </a:r>
            <a:r>
              <a:rPr dirty="0" spc="-60"/>
              <a:t>with</a:t>
            </a:r>
            <a:r>
              <a:rPr dirty="0" spc="-140"/>
              <a:t> </a:t>
            </a:r>
            <a:r>
              <a:rPr dirty="0" spc="-25"/>
              <a:t>Open</a:t>
            </a:r>
            <a:r>
              <a:rPr dirty="0" spc="-140"/>
              <a:t> </a:t>
            </a:r>
            <a:r>
              <a:rPr dirty="0" spc="-65"/>
              <a:t>vSwitch</a:t>
            </a:r>
            <a:r>
              <a:rPr dirty="0" spc="-135"/>
              <a:t> </a:t>
            </a:r>
            <a:r>
              <a:rPr dirty="0" spc="-10"/>
              <a:t>bridge.</a:t>
            </a:r>
            <a:endParaRPr sz="2850">
              <a:latin typeface="Arial Black"/>
              <a:cs typeface="Arial Black"/>
            </a:endParaRPr>
          </a:p>
          <a:p>
            <a:pPr algn="just" marL="593090" marR="5080">
              <a:lnSpc>
                <a:spcPct val="115700"/>
              </a:lnSpc>
            </a:pPr>
            <a:r>
              <a:rPr dirty="0"/>
              <a:t>Uses</a:t>
            </a:r>
            <a:r>
              <a:rPr dirty="0" spc="-5"/>
              <a:t> </a:t>
            </a:r>
            <a:r>
              <a:rPr dirty="0"/>
              <a:t>ML</a:t>
            </a:r>
            <a:r>
              <a:rPr dirty="0" spc="-5"/>
              <a:t> </a:t>
            </a:r>
            <a:r>
              <a:rPr dirty="0"/>
              <a:t>model</a:t>
            </a:r>
            <a:r>
              <a:rPr dirty="0" spc="-5"/>
              <a:t> </a:t>
            </a:r>
            <a:r>
              <a:rPr dirty="0"/>
              <a:t>to</a:t>
            </a:r>
            <a:r>
              <a:rPr dirty="0" spc="-5"/>
              <a:t> </a:t>
            </a:r>
            <a:r>
              <a:rPr dirty="0" spc="-35"/>
              <a:t>classify</a:t>
            </a:r>
            <a:r>
              <a:rPr dirty="0" spc="-5"/>
              <a:t> </a:t>
            </a:r>
            <a:r>
              <a:rPr dirty="0" spc="-10"/>
              <a:t>traffic</a:t>
            </a:r>
            <a:r>
              <a:rPr dirty="0" spc="-5"/>
              <a:t> </a:t>
            </a:r>
            <a:r>
              <a:rPr dirty="0" spc="-20"/>
              <a:t>(academic</a:t>
            </a:r>
            <a:r>
              <a:rPr dirty="0" spc="-5"/>
              <a:t> </a:t>
            </a:r>
            <a:r>
              <a:rPr dirty="0" spc="-25"/>
              <a:t>vs </a:t>
            </a:r>
            <a:r>
              <a:rPr dirty="0" spc="-210"/>
              <a:t>non-</a:t>
            </a:r>
            <a:r>
              <a:rPr dirty="0" spc="-30"/>
              <a:t>academic)</a:t>
            </a:r>
            <a:r>
              <a:rPr dirty="0" spc="-120"/>
              <a:t> </a:t>
            </a:r>
            <a:r>
              <a:rPr dirty="0"/>
              <a:t>based</a:t>
            </a:r>
            <a:r>
              <a:rPr dirty="0" spc="-114"/>
              <a:t> </a:t>
            </a:r>
            <a:r>
              <a:rPr dirty="0"/>
              <a:t>on</a:t>
            </a:r>
            <a:r>
              <a:rPr dirty="0" spc="-110"/>
              <a:t> </a:t>
            </a:r>
            <a:r>
              <a:rPr dirty="0" spc="-25"/>
              <a:t>port,</a:t>
            </a:r>
            <a:r>
              <a:rPr dirty="0" spc="-114"/>
              <a:t> </a:t>
            </a:r>
            <a:r>
              <a:rPr dirty="0" spc="-25"/>
              <a:t>packet</a:t>
            </a:r>
            <a:r>
              <a:rPr dirty="0" spc="-114"/>
              <a:t> </a:t>
            </a:r>
            <a:r>
              <a:rPr dirty="0" spc="-100"/>
              <a:t>size,</a:t>
            </a:r>
            <a:r>
              <a:rPr dirty="0" spc="-114"/>
              <a:t> </a:t>
            </a:r>
            <a:r>
              <a:rPr dirty="0" spc="-25"/>
              <a:t>and </a:t>
            </a:r>
            <a:r>
              <a:rPr dirty="0" spc="-80"/>
              <a:t>packet</a:t>
            </a:r>
            <a:r>
              <a:rPr dirty="0" spc="-114"/>
              <a:t> </a:t>
            </a:r>
            <a:r>
              <a:rPr dirty="0" spc="-10"/>
              <a:t>rate.</a:t>
            </a:r>
          </a:p>
          <a:p>
            <a:pPr algn="just" marL="593090" marR="5080">
              <a:lnSpc>
                <a:spcPct val="115700"/>
              </a:lnSpc>
            </a:pPr>
            <a:r>
              <a:rPr dirty="0"/>
              <a:t>Enforces</a:t>
            </a:r>
            <a:r>
              <a:rPr dirty="0" spc="5"/>
              <a:t> </a:t>
            </a:r>
            <a:r>
              <a:rPr dirty="0" spc="-175"/>
              <a:t>real-</a:t>
            </a:r>
            <a:r>
              <a:rPr dirty="0"/>
              <a:t>time</a:t>
            </a:r>
            <a:r>
              <a:rPr dirty="0" spc="5"/>
              <a:t> </a:t>
            </a:r>
            <a:r>
              <a:rPr dirty="0"/>
              <a:t>flow</a:t>
            </a:r>
            <a:r>
              <a:rPr dirty="0" spc="5"/>
              <a:t> </a:t>
            </a:r>
            <a:r>
              <a:rPr dirty="0"/>
              <a:t>rules:</a:t>
            </a:r>
            <a:r>
              <a:rPr dirty="0" spc="5"/>
              <a:t> </a:t>
            </a:r>
            <a:r>
              <a:rPr dirty="0"/>
              <a:t>academic</a:t>
            </a:r>
            <a:r>
              <a:rPr dirty="0" spc="10"/>
              <a:t> </a:t>
            </a:r>
            <a:r>
              <a:rPr dirty="0" spc="-10"/>
              <a:t>traffic </a:t>
            </a:r>
            <a:r>
              <a:rPr dirty="0" spc="-70"/>
              <a:t>allowed,</a:t>
            </a:r>
            <a:r>
              <a:rPr dirty="0" spc="-145"/>
              <a:t> </a:t>
            </a:r>
            <a:r>
              <a:rPr dirty="0" spc="-210"/>
              <a:t>non-</a:t>
            </a:r>
            <a:r>
              <a:rPr dirty="0" spc="-55"/>
              <a:t>academic</a:t>
            </a:r>
            <a:r>
              <a:rPr dirty="0" spc="-140"/>
              <a:t> </a:t>
            </a:r>
            <a:r>
              <a:rPr dirty="0" spc="-90"/>
              <a:t>blocked</a:t>
            </a:r>
            <a:r>
              <a:rPr dirty="0" spc="-145"/>
              <a:t> </a:t>
            </a:r>
            <a:r>
              <a:rPr dirty="0" spc="-20"/>
              <a:t>or</a:t>
            </a:r>
            <a:r>
              <a:rPr dirty="0" spc="-140"/>
              <a:t> </a:t>
            </a:r>
            <a:r>
              <a:rPr dirty="0" spc="-10"/>
              <a:t>throttled.</a:t>
            </a:r>
          </a:p>
          <a:p>
            <a:pPr>
              <a:lnSpc>
                <a:spcPct val="100000"/>
              </a:lnSpc>
              <a:spcBef>
                <a:spcPts val="509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750" spc="-190">
                <a:latin typeface="Arial Black"/>
                <a:cs typeface="Arial Black"/>
              </a:rPr>
              <a:t>User</a:t>
            </a:r>
            <a:r>
              <a:rPr dirty="0" sz="2750" spc="-175">
                <a:latin typeface="Arial Black"/>
                <a:cs typeface="Arial Black"/>
              </a:rPr>
              <a:t> </a:t>
            </a:r>
            <a:r>
              <a:rPr dirty="0" sz="2750" spc="-145">
                <a:latin typeface="Arial Black"/>
                <a:cs typeface="Arial Black"/>
              </a:rPr>
              <a:t>Requirements</a:t>
            </a:r>
            <a:r>
              <a:rPr dirty="0" sz="2750" spc="-175">
                <a:latin typeface="Arial Black"/>
                <a:cs typeface="Arial Black"/>
              </a:rPr>
              <a:t> </a:t>
            </a:r>
            <a:r>
              <a:rPr dirty="0" sz="2750" spc="-60">
                <a:latin typeface="Arial Black"/>
                <a:cs typeface="Arial Black"/>
              </a:rPr>
              <a:t>Addressed</a:t>
            </a:r>
            <a:endParaRPr sz="2750">
              <a:latin typeface="Arial Black"/>
              <a:cs typeface="Arial Black"/>
            </a:endParaRPr>
          </a:p>
          <a:p>
            <a:pPr algn="just" marL="593725" marR="32384">
              <a:lnSpc>
                <a:spcPts val="3750"/>
              </a:lnSpc>
              <a:spcBef>
                <a:spcPts val="200"/>
              </a:spcBef>
            </a:pPr>
            <a:r>
              <a:rPr dirty="0" spc="-40"/>
              <a:t>Stable</a:t>
            </a:r>
            <a:r>
              <a:rPr dirty="0" spc="-150"/>
              <a:t> </a:t>
            </a:r>
            <a:r>
              <a:rPr dirty="0" spc="-75"/>
              <a:t>connectivity</a:t>
            </a:r>
            <a:r>
              <a:rPr dirty="0" spc="-135"/>
              <a:t> </a:t>
            </a:r>
            <a:r>
              <a:rPr dirty="0" spc="-50"/>
              <a:t>for</a:t>
            </a:r>
            <a:r>
              <a:rPr dirty="0" spc="-145"/>
              <a:t> </a:t>
            </a:r>
            <a:r>
              <a:rPr dirty="0" spc="-55"/>
              <a:t>educational</a:t>
            </a:r>
            <a:r>
              <a:rPr dirty="0" spc="-140"/>
              <a:t> </a:t>
            </a:r>
            <a:r>
              <a:rPr dirty="0" spc="-60"/>
              <a:t>apps</a:t>
            </a:r>
            <a:r>
              <a:rPr dirty="0" spc="-145"/>
              <a:t> </a:t>
            </a:r>
            <a:r>
              <a:rPr dirty="0" spc="-10"/>
              <a:t>(Zoom, </a:t>
            </a:r>
            <a:r>
              <a:rPr dirty="0" spc="-80"/>
              <a:t>GitHub,</a:t>
            </a:r>
            <a:r>
              <a:rPr dirty="0" spc="-105"/>
              <a:t> </a:t>
            </a:r>
            <a:r>
              <a:rPr dirty="0" spc="-20"/>
              <a:t>LMS).</a:t>
            </a:r>
          </a:p>
          <a:p>
            <a:pPr algn="just" marL="593725" marR="17780">
              <a:lnSpc>
                <a:spcPts val="3750"/>
              </a:lnSpc>
            </a:pPr>
            <a:r>
              <a:rPr dirty="0" spc="-55"/>
              <a:t>Reduced</a:t>
            </a:r>
            <a:r>
              <a:rPr dirty="0" spc="-130"/>
              <a:t> </a:t>
            </a:r>
            <a:r>
              <a:rPr dirty="0" spc="-85"/>
              <a:t>congestion</a:t>
            </a:r>
            <a:r>
              <a:rPr dirty="0" spc="-120"/>
              <a:t> </a:t>
            </a:r>
            <a:r>
              <a:rPr dirty="0" spc="-90"/>
              <a:t>during</a:t>
            </a:r>
            <a:r>
              <a:rPr dirty="0" spc="-125"/>
              <a:t> </a:t>
            </a:r>
            <a:r>
              <a:rPr dirty="0" spc="-60"/>
              <a:t>lectures</a:t>
            </a:r>
            <a:r>
              <a:rPr dirty="0" spc="-125"/>
              <a:t> </a:t>
            </a:r>
            <a:r>
              <a:rPr dirty="0" spc="-30"/>
              <a:t>and</a:t>
            </a:r>
            <a:r>
              <a:rPr dirty="0" spc="-120"/>
              <a:t> </a:t>
            </a:r>
            <a:r>
              <a:rPr dirty="0" spc="-25"/>
              <a:t>coding </a:t>
            </a:r>
            <a:r>
              <a:rPr dirty="0" spc="-10"/>
              <a:t>sessions.</a:t>
            </a: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95623" y="2895599"/>
            <a:ext cx="123825" cy="12382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95623" y="3867150"/>
            <a:ext cx="123825" cy="12382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95623" y="4838699"/>
            <a:ext cx="123825" cy="12382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95623" y="6781799"/>
            <a:ext cx="123825" cy="123824"/>
          </a:xfrm>
          <a:prstGeom prst="rect">
            <a:avLst/>
          </a:prstGeom>
        </p:spPr>
      </p:pic>
      <p:sp>
        <p:nvSpPr>
          <p:cNvPr id="14" name="object 14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07060" marR="243204" indent="-594995">
              <a:lnSpc>
                <a:spcPct val="115900"/>
              </a:lnSpc>
              <a:spcBef>
                <a:spcPts val="100"/>
              </a:spcBef>
            </a:pPr>
            <a:r>
              <a:rPr dirty="0" spc="-180">
                <a:latin typeface="Arial Black"/>
                <a:cs typeface="Arial Black"/>
              </a:rPr>
              <a:t>Design</a:t>
            </a:r>
            <a:r>
              <a:rPr dirty="0" spc="-175">
                <a:latin typeface="Arial Black"/>
                <a:cs typeface="Arial Black"/>
              </a:rPr>
              <a:t> </a:t>
            </a:r>
            <a:r>
              <a:rPr dirty="0" spc="-250">
                <a:latin typeface="Arial Black"/>
                <a:cs typeface="Arial Black"/>
              </a:rPr>
              <a:t>Excellence</a:t>
            </a:r>
            <a:r>
              <a:rPr dirty="0" spc="-175">
                <a:latin typeface="Arial Black"/>
                <a:cs typeface="Arial Black"/>
              </a:rPr>
              <a:t> </a:t>
            </a:r>
            <a:r>
              <a:rPr dirty="0" spc="370">
                <a:latin typeface="Arial Black"/>
                <a:cs typeface="Arial Black"/>
              </a:rPr>
              <a:t>/</a:t>
            </a:r>
            <a:r>
              <a:rPr dirty="0" spc="-175">
                <a:latin typeface="Arial Black"/>
                <a:cs typeface="Arial Black"/>
              </a:rPr>
              <a:t> </a:t>
            </a:r>
            <a:r>
              <a:rPr dirty="0" spc="-10">
                <a:latin typeface="Arial Black"/>
                <a:cs typeface="Arial Black"/>
              </a:rPr>
              <a:t>Contribution </a:t>
            </a:r>
            <a:r>
              <a:rPr dirty="0" spc="-35"/>
              <a:t>Novel</a:t>
            </a:r>
            <a:r>
              <a:rPr dirty="0" spc="-150"/>
              <a:t> </a:t>
            </a:r>
            <a:r>
              <a:rPr dirty="0" spc="-60"/>
              <a:t>integration</a:t>
            </a:r>
            <a:r>
              <a:rPr dirty="0" spc="-150"/>
              <a:t> </a:t>
            </a:r>
            <a:r>
              <a:rPr dirty="0" spc="-60"/>
              <a:t>of</a:t>
            </a:r>
            <a:r>
              <a:rPr dirty="0" spc="-150"/>
              <a:t> </a:t>
            </a:r>
            <a:r>
              <a:rPr dirty="0"/>
              <a:t>SDN</a:t>
            </a:r>
            <a:r>
              <a:rPr dirty="0" spc="-150"/>
              <a:t> </a:t>
            </a:r>
            <a:r>
              <a:rPr dirty="0" spc="-635"/>
              <a:t>+</a:t>
            </a:r>
            <a:r>
              <a:rPr dirty="0" spc="-150"/>
              <a:t> </a:t>
            </a:r>
            <a:r>
              <a:rPr dirty="0"/>
              <a:t>ML</a:t>
            </a:r>
            <a:r>
              <a:rPr dirty="0" spc="-150"/>
              <a:t> </a:t>
            </a:r>
            <a:r>
              <a:rPr dirty="0" spc="-25"/>
              <a:t>for </a:t>
            </a:r>
            <a:r>
              <a:rPr dirty="0" spc="-130"/>
              <a:t>classroom-</a:t>
            </a:r>
            <a:r>
              <a:rPr dirty="0" spc="-85"/>
              <a:t>specific</a:t>
            </a:r>
            <a:r>
              <a:rPr dirty="0" spc="-90"/>
              <a:t> </a:t>
            </a:r>
            <a:r>
              <a:rPr dirty="0" spc="-20"/>
              <a:t>QoS.</a:t>
            </a:r>
          </a:p>
          <a:p>
            <a:pPr marL="607060" marR="5080">
              <a:lnSpc>
                <a:spcPct val="115900"/>
              </a:lnSpc>
            </a:pPr>
            <a:r>
              <a:rPr dirty="0" spc="-150"/>
              <a:t>Offline-</a:t>
            </a:r>
            <a:r>
              <a:rPr dirty="0" spc="-75"/>
              <a:t>first</a:t>
            </a:r>
            <a:r>
              <a:rPr dirty="0" spc="-100"/>
              <a:t> </a:t>
            </a:r>
            <a:r>
              <a:rPr dirty="0" spc="-50"/>
              <a:t>architecture</a:t>
            </a:r>
            <a:r>
              <a:rPr dirty="0" spc="-95"/>
              <a:t> </a:t>
            </a:r>
            <a:r>
              <a:rPr dirty="0" spc="-105"/>
              <a:t>using</a:t>
            </a:r>
            <a:r>
              <a:rPr dirty="0" spc="-95"/>
              <a:t> </a:t>
            </a:r>
            <a:r>
              <a:rPr dirty="0" spc="-25"/>
              <a:t>local </a:t>
            </a:r>
            <a:r>
              <a:rPr dirty="0" spc="-45"/>
              <a:t>gateway</a:t>
            </a:r>
            <a:r>
              <a:rPr dirty="0" spc="-155"/>
              <a:t> </a:t>
            </a:r>
            <a:r>
              <a:rPr dirty="0" spc="-50"/>
              <a:t>(no</a:t>
            </a:r>
            <a:r>
              <a:rPr dirty="0" spc="-150"/>
              <a:t> </a:t>
            </a:r>
            <a:r>
              <a:rPr dirty="0" spc="-75"/>
              <a:t>cloud</a:t>
            </a:r>
            <a:r>
              <a:rPr dirty="0" spc="-150"/>
              <a:t> </a:t>
            </a:r>
            <a:r>
              <a:rPr dirty="0" spc="-10"/>
              <a:t>dependency).</a:t>
            </a:r>
          </a:p>
          <a:p>
            <a:pPr marL="607060" marR="490220">
              <a:lnSpc>
                <a:spcPct val="115900"/>
              </a:lnSpc>
            </a:pPr>
            <a:r>
              <a:rPr dirty="0" spc="-225"/>
              <a:t>Cost-</a:t>
            </a:r>
            <a:r>
              <a:rPr dirty="0" spc="-65"/>
              <a:t>effective</a:t>
            </a:r>
            <a:r>
              <a:rPr dirty="0" spc="-105"/>
              <a:t> </a:t>
            </a:r>
            <a:r>
              <a:rPr dirty="0" spc="-45"/>
              <a:t>deployment</a:t>
            </a:r>
            <a:r>
              <a:rPr dirty="0" spc="-100"/>
              <a:t> </a:t>
            </a:r>
            <a:r>
              <a:rPr dirty="0" spc="-50"/>
              <a:t>using </a:t>
            </a:r>
            <a:r>
              <a:rPr dirty="0" spc="-110"/>
              <a:t>existing</a:t>
            </a:r>
            <a:r>
              <a:rPr dirty="0" spc="-155"/>
              <a:t> </a:t>
            </a:r>
            <a:r>
              <a:rPr dirty="0" spc="-10"/>
              <a:t>hardware</a:t>
            </a:r>
            <a:r>
              <a:rPr dirty="0" spc="-175"/>
              <a:t> </a:t>
            </a:r>
            <a:r>
              <a:rPr dirty="0" spc="-55"/>
              <a:t>(laptop</a:t>
            </a:r>
            <a:r>
              <a:rPr dirty="0" spc="-160"/>
              <a:t> </a:t>
            </a:r>
            <a:r>
              <a:rPr dirty="0" spc="-635"/>
              <a:t>+</a:t>
            </a:r>
            <a:r>
              <a:rPr dirty="0" spc="-155"/>
              <a:t> </a:t>
            </a:r>
            <a:r>
              <a:rPr dirty="0" spc="-20"/>
              <a:t>AP).</a:t>
            </a:r>
          </a:p>
          <a:p>
            <a:pPr>
              <a:lnSpc>
                <a:spcPct val="100000"/>
              </a:lnSpc>
              <a:spcBef>
                <a:spcPts val="120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85">
                <a:latin typeface="Arial Black"/>
                <a:cs typeface="Arial Black"/>
              </a:rPr>
              <a:t>User</a:t>
            </a:r>
            <a:r>
              <a:rPr dirty="0" spc="-200">
                <a:latin typeface="Arial Black"/>
                <a:cs typeface="Arial Black"/>
              </a:rPr>
              <a:t> </a:t>
            </a:r>
            <a:r>
              <a:rPr dirty="0" spc="-95">
                <a:latin typeface="Arial Black"/>
                <a:cs typeface="Arial Black"/>
              </a:rPr>
              <a:t>Feedback</a:t>
            </a:r>
          </a:p>
          <a:p>
            <a:pPr marL="607060" marR="44450">
              <a:lnSpc>
                <a:spcPct val="115900"/>
              </a:lnSpc>
            </a:pPr>
            <a:r>
              <a:rPr dirty="0" spc="-10"/>
              <a:t>Planned</a:t>
            </a:r>
            <a:r>
              <a:rPr dirty="0" spc="-135"/>
              <a:t> </a:t>
            </a:r>
            <a:r>
              <a:rPr dirty="0" spc="-60"/>
              <a:t>surveys</a:t>
            </a:r>
            <a:r>
              <a:rPr dirty="0" spc="-135"/>
              <a:t> </a:t>
            </a:r>
            <a:r>
              <a:rPr dirty="0" spc="-55"/>
              <a:t>with</a:t>
            </a:r>
            <a:r>
              <a:rPr dirty="0" spc="-130"/>
              <a:t> </a:t>
            </a:r>
            <a:r>
              <a:rPr dirty="0" spc="-65"/>
              <a:t>students</a:t>
            </a:r>
            <a:r>
              <a:rPr dirty="0" spc="-135"/>
              <a:t> </a:t>
            </a:r>
            <a:r>
              <a:rPr dirty="0" spc="-25"/>
              <a:t>and </a:t>
            </a:r>
            <a:r>
              <a:rPr dirty="0" spc="-45"/>
              <a:t>educators</a:t>
            </a:r>
            <a:r>
              <a:rPr dirty="0" spc="-160"/>
              <a:t> </a:t>
            </a:r>
            <a:r>
              <a:rPr dirty="0" spc="-25"/>
              <a:t>after</a:t>
            </a:r>
            <a:r>
              <a:rPr dirty="0" spc="-160"/>
              <a:t> </a:t>
            </a:r>
            <a:r>
              <a:rPr dirty="0" spc="-45"/>
              <a:t>prototype</a:t>
            </a:r>
            <a:r>
              <a:rPr dirty="0" spc="-155"/>
              <a:t> </a:t>
            </a:r>
            <a:r>
              <a:rPr dirty="0" spc="-10"/>
              <a:t>testing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4478809" y="9192091"/>
            <a:ext cx="911352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IT22078278</a:t>
            </a:r>
            <a:r>
              <a:rPr dirty="0" sz="2800" spc="-5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V.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105">
                <a:latin typeface="Trebuchet MS"/>
                <a:cs typeface="Trebuchet MS"/>
              </a:rPr>
              <a:t>G.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95">
                <a:latin typeface="Trebuchet MS"/>
                <a:cs typeface="Trebuchet MS"/>
              </a:rPr>
              <a:t>Karunathilake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4619" rIns="0" bIns="0" rtlCol="0" vert="horz">
            <a:spAutoFit/>
          </a:bodyPr>
          <a:lstStyle/>
          <a:p>
            <a:pPr marL="998855">
              <a:lnSpc>
                <a:spcPct val="100000"/>
              </a:lnSpc>
              <a:spcBef>
                <a:spcPts val="100"/>
              </a:spcBef>
            </a:pPr>
            <a:r>
              <a:rPr dirty="0" sz="5300">
                <a:latin typeface="Lucida Sans Unicode"/>
                <a:cs typeface="Lucida Sans Unicode"/>
              </a:rPr>
              <a:t>SDN</a:t>
            </a:r>
            <a:r>
              <a:rPr dirty="0" sz="5300" spc="-305">
                <a:latin typeface="Lucida Sans Unicode"/>
                <a:cs typeface="Lucida Sans Unicode"/>
              </a:rPr>
              <a:t> </a:t>
            </a:r>
            <a:r>
              <a:rPr dirty="0" sz="5300">
                <a:latin typeface="Lucida Sans Unicode"/>
                <a:cs typeface="Lucida Sans Unicode"/>
              </a:rPr>
              <a:t>–</a:t>
            </a:r>
            <a:r>
              <a:rPr dirty="0" sz="5300" spc="-305">
                <a:latin typeface="Lucida Sans Unicode"/>
                <a:cs typeface="Lucida Sans Unicode"/>
              </a:rPr>
              <a:t> </a:t>
            </a:r>
            <a:r>
              <a:rPr dirty="0" sz="5300" spc="-55">
                <a:latin typeface="Lucida Sans Unicode"/>
                <a:cs typeface="Lucida Sans Unicode"/>
              </a:rPr>
              <a:t>Enabled</a:t>
            </a:r>
            <a:r>
              <a:rPr dirty="0" sz="5300" spc="-300">
                <a:latin typeface="Lucida Sans Unicode"/>
                <a:cs typeface="Lucida Sans Unicode"/>
              </a:rPr>
              <a:t> </a:t>
            </a:r>
            <a:r>
              <a:rPr dirty="0" sz="5300" spc="-114">
                <a:latin typeface="Lucida Sans Unicode"/>
                <a:cs typeface="Lucida Sans Unicode"/>
              </a:rPr>
              <a:t>classroom</a:t>
            </a:r>
            <a:r>
              <a:rPr dirty="0" sz="5300" spc="-305">
                <a:latin typeface="Lucida Sans Unicode"/>
                <a:cs typeface="Lucida Sans Unicode"/>
              </a:rPr>
              <a:t> </a:t>
            </a:r>
            <a:r>
              <a:rPr dirty="0" sz="5300" spc="-90">
                <a:latin typeface="Lucida Sans Unicode"/>
                <a:cs typeface="Lucida Sans Unicode"/>
              </a:rPr>
              <a:t>network</a:t>
            </a:r>
            <a:r>
              <a:rPr dirty="0" sz="5300" spc="-305">
                <a:latin typeface="Lucida Sans Unicode"/>
                <a:cs typeface="Lucida Sans Unicode"/>
              </a:rPr>
              <a:t> </a:t>
            </a:r>
            <a:r>
              <a:rPr dirty="0" sz="5300" spc="-80">
                <a:latin typeface="Lucida Sans Unicode"/>
                <a:cs typeface="Lucida Sans Unicode"/>
              </a:rPr>
              <a:t>optimizer</a:t>
            </a:r>
            <a:endParaRPr sz="5300">
              <a:latin typeface="Lucida Sans Unicode"/>
              <a:cs typeface="Lucida Sans Unicode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163091" y="1511748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 h="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700918" y="2807445"/>
            <a:ext cx="2129155" cy="476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50" spc="-135">
                <a:latin typeface="Arial Black"/>
                <a:cs typeface="Arial Black"/>
              </a:rPr>
              <a:t>Evaluation:</a:t>
            </a:r>
            <a:endParaRPr sz="2950">
              <a:latin typeface="Arial Black"/>
              <a:cs typeface="Arial Black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2037" y="4031535"/>
            <a:ext cx="129337" cy="129336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339675" y="3775602"/>
            <a:ext cx="6433185" cy="31299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95"/>
              </a:spcBef>
            </a:pPr>
            <a:r>
              <a:rPr dirty="0" sz="2950" spc="-85">
                <a:latin typeface="Lucida Sans Unicode"/>
                <a:cs typeface="Lucida Sans Unicode"/>
              </a:rPr>
              <a:t>Classification</a:t>
            </a:r>
            <a:r>
              <a:rPr dirty="0" sz="2950" spc="-125">
                <a:latin typeface="Lucida Sans Unicode"/>
                <a:cs typeface="Lucida Sans Unicode"/>
              </a:rPr>
              <a:t> </a:t>
            </a:r>
            <a:r>
              <a:rPr dirty="0" sz="2950" spc="-95">
                <a:latin typeface="Lucida Sans Unicode"/>
                <a:cs typeface="Lucida Sans Unicode"/>
              </a:rPr>
              <a:t>Accuracy:</a:t>
            </a:r>
            <a:r>
              <a:rPr dirty="0" sz="2950" spc="-120">
                <a:latin typeface="Lucida Sans Unicode"/>
                <a:cs typeface="Lucida Sans Unicode"/>
              </a:rPr>
              <a:t> </a:t>
            </a:r>
            <a:r>
              <a:rPr dirty="0" sz="2950" spc="-95">
                <a:latin typeface="Lucida Sans Unicode"/>
                <a:cs typeface="Lucida Sans Unicode"/>
              </a:rPr>
              <a:t>Target</a:t>
            </a:r>
            <a:r>
              <a:rPr dirty="0" sz="2950" spc="-125">
                <a:latin typeface="Lucida Sans Unicode"/>
                <a:cs typeface="Lucida Sans Unicode"/>
              </a:rPr>
              <a:t> </a:t>
            </a:r>
            <a:r>
              <a:rPr dirty="0" sz="2950" spc="-685">
                <a:latin typeface="Lucida Sans Unicode"/>
                <a:cs typeface="Lucida Sans Unicode"/>
              </a:rPr>
              <a:t>≥</a:t>
            </a:r>
            <a:r>
              <a:rPr dirty="0" sz="2950" spc="-120">
                <a:latin typeface="Lucida Sans Unicode"/>
                <a:cs typeface="Lucida Sans Unicode"/>
              </a:rPr>
              <a:t> </a:t>
            </a:r>
            <a:r>
              <a:rPr dirty="0" sz="2950" spc="-25">
                <a:latin typeface="Lucida Sans Unicode"/>
                <a:cs typeface="Lucida Sans Unicode"/>
              </a:rPr>
              <a:t>95% </a:t>
            </a:r>
            <a:r>
              <a:rPr dirty="0" sz="2950">
                <a:latin typeface="Lucida Sans Unicode"/>
                <a:cs typeface="Lucida Sans Unicode"/>
              </a:rPr>
              <a:t>QoS</a:t>
            </a:r>
            <a:r>
              <a:rPr dirty="0" sz="2950" spc="-150">
                <a:latin typeface="Lucida Sans Unicode"/>
                <a:cs typeface="Lucida Sans Unicode"/>
              </a:rPr>
              <a:t> </a:t>
            </a:r>
            <a:r>
              <a:rPr dirty="0" sz="2950" spc="-40">
                <a:latin typeface="Lucida Sans Unicode"/>
                <a:cs typeface="Lucida Sans Unicode"/>
              </a:rPr>
              <a:t>Improvement:</a:t>
            </a:r>
            <a:r>
              <a:rPr dirty="0" sz="2950" spc="-145">
                <a:latin typeface="Lucida Sans Unicode"/>
                <a:cs typeface="Lucida Sans Unicode"/>
              </a:rPr>
              <a:t> </a:t>
            </a:r>
            <a:r>
              <a:rPr dirty="0" sz="2950" spc="-685">
                <a:latin typeface="Lucida Sans Unicode"/>
                <a:cs typeface="Lucida Sans Unicode"/>
              </a:rPr>
              <a:t>≥</a:t>
            </a:r>
            <a:r>
              <a:rPr dirty="0" sz="2950" spc="-145">
                <a:latin typeface="Lucida Sans Unicode"/>
                <a:cs typeface="Lucida Sans Unicode"/>
              </a:rPr>
              <a:t> </a:t>
            </a:r>
            <a:r>
              <a:rPr dirty="0" sz="2950">
                <a:latin typeface="Lucida Sans Unicode"/>
                <a:cs typeface="Lucida Sans Unicode"/>
              </a:rPr>
              <a:t>30%</a:t>
            </a:r>
            <a:r>
              <a:rPr dirty="0" sz="2950" spc="-145">
                <a:latin typeface="Lucida Sans Unicode"/>
                <a:cs typeface="Lucida Sans Unicode"/>
              </a:rPr>
              <a:t> </a:t>
            </a:r>
            <a:r>
              <a:rPr dirty="0" sz="2950" spc="-10">
                <a:latin typeface="Lucida Sans Unicode"/>
                <a:cs typeface="Lucida Sans Unicode"/>
              </a:rPr>
              <a:t>faster </a:t>
            </a:r>
            <a:r>
              <a:rPr dirty="0" sz="2950" spc="-40">
                <a:latin typeface="Lucida Sans Unicode"/>
                <a:cs typeface="Lucida Sans Unicode"/>
              </a:rPr>
              <a:t>response</a:t>
            </a:r>
            <a:r>
              <a:rPr dirty="0" sz="2950" spc="-155">
                <a:latin typeface="Lucida Sans Unicode"/>
                <a:cs typeface="Lucida Sans Unicode"/>
              </a:rPr>
              <a:t> </a:t>
            </a:r>
            <a:r>
              <a:rPr dirty="0" sz="2950" spc="-45">
                <a:latin typeface="Lucida Sans Unicode"/>
                <a:cs typeface="Lucida Sans Unicode"/>
              </a:rPr>
              <a:t>for</a:t>
            </a:r>
            <a:r>
              <a:rPr dirty="0" sz="2950" spc="-155">
                <a:latin typeface="Lucida Sans Unicode"/>
                <a:cs typeface="Lucida Sans Unicode"/>
              </a:rPr>
              <a:t> </a:t>
            </a:r>
            <a:r>
              <a:rPr dirty="0" sz="2950" spc="-50">
                <a:latin typeface="Lucida Sans Unicode"/>
                <a:cs typeface="Lucida Sans Unicode"/>
              </a:rPr>
              <a:t>educational</a:t>
            </a:r>
            <a:r>
              <a:rPr dirty="0" sz="2950" spc="-155">
                <a:latin typeface="Lucida Sans Unicode"/>
                <a:cs typeface="Lucida Sans Unicode"/>
              </a:rPr>
              <a:t> </a:t>
            </a:r>
            <a:r>
              <a:rPr dirty="0" sz="2950" spc="-20">
                <a:latin typeface="Lucida Sans Unicode"/>
                <a:cs typeface="Lucida Sans Unicode"/>
              </a:rPr>
              <a:t>apps </a:t>
            </a:r>
            <a:r>
              <a:rPr dirty="0" sz="2950" spc="-10">
                <a:latin typeface="Lucida Sans Unicode"/>
                <a:cs typeface="Lucida Sans Unicode"/>
              </a:rPr>
              <a:t>Bandwidth</a:t>
            </a:r>
            <a:r>
              <a:rPr dirty="0" sz="2950" spc="-195">
                <a:latin typeface="Lucida Sans Unicode"/>
                <a:cs typeface="Lucida Sans Unicode"/>
              </a:rPr>
              <a:t> </a:t>
            </a:r>
            <a:r>
              <a:rPr dirty="0" sz="2950" spc="-10">
                <a:latin typeface="Lucida Sans Unicode"/>
                <a:cs typeface="Lucida Sans Unicode"/>
              </a:rPr>
              <a:t>Optimization: </a:t>
            </a:r>
            <a:r>
              <a:rPr dirty="0" sz="2950" spc="-65">
                <a:latin typeface="Lucida Sans Unicode"/>
                <a:cs typeface="Lucida Sans Unicode"/>
              </a:rPr>
              <a:t>Prioritization</a:t>
            </a:r>
            <a:r>
              <a:rPr dirty="0" sz="2950" spc="-155">
                <a:latin typeface="Lucida Sans Unicode"/>
                <a:cs typeface="Lucida Sans Unicode"/>
              </a:rPr>
              <a:t> </a:t>
            </a:r>
            <a:r>
              <a:rPr dirty="0" sz="2950" spc="-40">
                <a:latin typeface="Lucida Sans Unicode"/>
                <a:cs typeface="Lucida Sans Unicode"/>
              </a:rPr>
              <a:t>reduces</a:t>
            </a:r>
            <a:r>
              <a:rPr dirty="0" sz="2950" spc="-155">
                <a:latin typeface="Lucida Sans Unicode"/>
                <a:cs typeface="Lucida Sans Unicode"/>
              </a:rPr>
              <a:t> </a:t>
            </a:r>
            <a:r>
              <a:rPr dirty="0" sz="2950" spc="-10">
                <a:latin typeface="Lucida Sans Unicode"/>
                <a:cs typeface="Lucida Sans Unicode"/>
              </a:rPr>
              <a:t>congestion </a:t>
            </a:r>
            <a:r>
              <a:rPr dirty="0" sz="2950" spc="-80">
                <a:latin typeface="Lucida Sans Unicode"/>
                <a:cs typeface="Lucida Sans Unicode"/>
              </a:rPr>
              <a:t>during</a:t>
            </a:r>
            <a:r>
              <a:rPr dirty="0" sz="2950" spc="-155">
                <a:latin typeface="Lucida Sans Unicode"/>
                <a:cs typeface="Lucida Sans Unicode"/>
              </a:rPr>
              <a:t> </a:t>
            </a:r>
            <a:r>
              <a:rPr dirty="0" sz="2950" spc="-55">
                <a:latin typeface="Lucida Sans Unicode"/>
                <a:cs typeface="Lucida Sans Unicode"/>
              </a:rPr>
              <a:t>peak</a:t>
            </a:r>
            <a:r>
              <a:rPr dirty="0" sz="2950" spc="-150">
                <a:latin typeface="Lucida Sans Unicode"/>
                <a:cs typeface="Lucida Sans Unicode"/>
              </a:rPr>
              <a:t> </a:t>
            </a:r>
            <a:r>
              <a:rPr dirty="0" sz="2950" spc="-10">
                <a:latin typeface="Lucida Sans Unicode"/>
                <a:cs typeface="Lucida Sans Unicode"/>
              </a:rPr>
              <a:t>usage.</a:t>
            </a:r>
            <a:endParaRPr sz="2950">
              <a:latin typeface="Lucida Sans Unicode"/>
              <a:cs typeface="Lucida Sans Unicode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2037" y="4548883"/>
            <a:ext cx="129337" cy="12933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2037" y="5583580"/>
            <a:ext cx="129337" cy="12933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9480115" y="2825249"/>
            <a:ext cx="2642870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130">
                <a:latin typeface="Arial Black"/>
                <a:cs typeface="Arial Black"/>
              </a:rPr>
              <a:t>Data</a:t>
            </a:r>
            <a:r>
              <a:rPr dirty="0" sz="2950" spc="-204">
                <a:latin typeface="Arial Black"/>
                <a:cs typeface="Arial Black"/>
              </a:rPr>
              <a:t> </a:t>
            </a:r>
            <a:r>
              <a:rPr dirty="0" sz="2950" spc="-395">
                <a:latin typeface="Arial Black"/>
                <a:cs typeface="Arial Black"/>
              </a:rPr>
              <a:t>&amp;</a:t>
            </a:r>
            <a:r>
              <a:rPr dirty="0" sz="2950" spc="-190">
                <a:latin typeface="Arial Black"/>
                <a:cs typeface="Arial Black"/>
              </a:rPr>
              <a:t> </a:t>
            </a:r>
            <a:r>
              <a:rPr dirty="0" sz="2950" spc="-195">
                <a:latin typeface="Arial Black"/>
                <a:cs typeface="Arial Black"/>
              </a:rPr>
              <a:t>Ethics:</a:t>
            </a:r>
            <a:endParaRPr sz="2950">
              <a:latin typeface="Arial Black"/>
              <a:cs typeface="Arial Black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07140" y="4064769"/>
            <a:ext cx="133349" cy="13334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0124540" y="3804038"/>
            <a:ext cx="6394450" cy="21209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90"/>
              </a:spcBef>
            </a:pPr>
            <a:r>
              <a:rPr dirty="0" sz="2950">
                <a:latin typeface="Lucida Sans Unicode"/>
                <a:cs typeface="Lucida Sans Unicode"/>
              </a:rPr>
              <a:t>No</a:t>
            </a:r>
            <a:r>
              <a:rPr dirty="0" sz="2950" spc="-160">
                <a:latin typeface="Lucida Sans Unicode"/>
                <a:cs typeface="Lucida Sans Unicode"/>
              </a:rPr>
              <a:t> </a:t>
            </a:r>
            <a:r>
              <a:rPr dirty="0" sz="2950" spc="-25">
                <a:latin typeface="Lucida Sans Unicode"/>
                <a:cs typeface="Lucida Sans Unicode"/>
              </a:rPr>
              <a:t>personal</a:t>
            </a:r>
            <a:r>
              <a:rPr dirty="0" sz="2950" spc="-155">
                <a:latin typeface="Lucida Sans Unicode"/>
                <a:cs typeface="Lucida Sans Unicode"/>
              </a:rPr>
              <a:t> </a:t>
            </a:r>
            <a:r>
              <a:rPr dirty="0" sz="2950">
                <a:latin typeface="Lucida Sans Unicode"/>
                <a:cs typeface="Lucida Sans Unicode"/>
              </a:rPr>
              <a:t>data</a:t>
            </a:r>
            <a:r>
              <a:rPr dirty="0" sz="2950" spc="-155">
                <a:latin typeface="Lucida Sans Unicode"/>
                <a:cs typeface="Lucida Sans Unicode"/>
              </a:rPr>
              <a:t> </a:t>
            </a:r>
            <a:r>
              <a:rPr dirty="0" sz="2950" spc="-55">
                <a:latin typeface="Lucida Sans Unicode"/>
                <a:cs typeface="Lucida Sans Unicode"/>
              </a:rPr>
              <a:t>stored;</a:t>
            </a:r>
            <a:r>
              <a:rPr dirty="0" sz="2950" spc="-155">
                <a:latin typeface="Lucida Sans Unicode"/>
                <a:cs typeface="Lucida Sans Unicode"/>
              </a:rPr>
              <a:t> </a:t>
            </a:r>
            <a:r>
              <a:rPr dirty="0" sz="2950" spc="-45">
                <a:latin typeface="Lucida Sans Unicode"/>
                <a:cs typeface="Lucida Sans Unicode"/>
              </a:rPr>
              <a:t>only</a:t>
            </a:r>
            <a:r>
              <a:rPr dirty="0" sz="2950" spc="-160">
                <a:latin typeface="Lucida Sans Unicode"/>
                <a:cs typeface="Lucida Sans Unicode"/>
              </a:rPr>
              <a:t> </a:t>
            </a:r>
            <a:r>
              <a:rPr dirty="0" sz="2950" spc="-25">
                <a:latin typeface="Lucida Sans Unicode"/>
                <a:cs typeface="Lucida Sans Unicode"/>
              </a:rPr>
              <a:t>traffic </a:t>
            </a:r>
            <a:r>
              <a:rPr dirty="0" sz="2950">
                <a:latin typeface="Lucida Sans Unicode"/>
                <a:cs typeface="Lucida Sans Unicode"/>
              </a:rPr>
              <a:t>metadata</a:t>
            </a:r>
            <a:r>
              <a:rPr dirty="0" sz="2950" spc="-215">
                <a:latin typeface="Lucida Sans Unicode"/>
                <a:cs typeface="Lucida Sans Unicode"/>
              </a:rPr>
              <a:t> </a:t>
            </a:r>
            <a:r>
              <a:rPr dirty="0" sz="2950" spc="-10">
                <a:latin typeface="Lucida Sans Unicode"/>
                <a:cs typeface="Lucida Sans Unicode"/>
              </a:rPr>
              <a:t>analyzed.</a:t>
            </a:r>
            <a:endParaRPr sz="2950">
              <a:latin typeface="Lucida Sans Unicode"/>
              <a:cs typeface="Lucida Sans Unicode"/>
            </a:endParaRPr>
          </a:p>
          <a:p>
            <a:pPr marL="12700" marR="808990">
              <a:lnSpc>
                <a:spcPct val="116500"/>
              </a:lnSpc>
              <a:spcBef>
                <a:spcPts val="5"/>
              </a:spcBef>
            </a:pPr>
            <a:r>
              <a:rPr dirty="0" sz="2950" spc="-10">
                <a:latin typeface="Lucida Sans Unicode"/>
                <a:cs typeface="Lucida Sans Unicode"/>
              </a:rPr>
              <a:t>Privacy</a:t>
            </a:r>
            <a:r>
              <a:rPr dirty="0" sz="2950" spc="-200">
                <a:latin typeface="Lucida Sans Unicode"/>
                <a:cs typeface="Lucida Sans Unicode"/>
              </a:rPr>
              <a:t> </a:t>
            </a:r>
            <a:r>
              <a:rPr dirty="0" sz="2950" spc="-10">
                <a:latin typeface="Lucida Sans Unicode"/>
                <a:cs typeface="Lucida Sans Unicode"/>
              </a:rPr>
              <a:t>preserved</a:t>
            </a:r>
            <a:r>
              <a:rPr dirty="0" sz="2950" spc="-195">
                <a:latin typeface="Lucida Sans Unicode"/>
                <a:cs typeface="Lucida Sans Unicode"/>
              </a:rPr>
              <a:t> </a:t>
            </a:r>
            <a:r>
              <a:rPr dirty="0" sz="2950" spc="-45">
                <a:latin typeface="Lucida Sans Unicode"/>
                <a:cs typeface="Lucida Sans Unicode"/>
              </a:rPr>
              <a:t>through</a:t>
            </a:r>
            <a:r>
              <a:rPr dirty="0" sz="2950" spc="-185">
                <a:latin typeface="Lucida Sans Unicode"/>
                <a:cs typeface="Lucida Sans Unicode"/>
              </a:rPr>
              <a:t> </a:t>
            </a:r>
            <a:r>
              <a:rPr dirty="0" sz="2950" spc="-10">
                <a:latin typeface="Lucida Sans Unicode"/>
                <a:cs typeface="Lucida Sans Unicode"/>
              </a:rPr>
              <a:t>local processing.</a:t>
            </a:r>
            <a:endParaRPr sz="2950">
              <a:latin typeface="Lucida Sans Unicode"/>
              <a:cs typeface="Lucida Sans Unicode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07140" y="5112519"/>
            <a:ext cx="133349" cy="133349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4478809" y="9192091"/>
            <a:ext cx="911352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IT22078278</a:t>
            </a:r>
            <a:r>
              <a:rPr dirty="0" sz="2800" spc="-5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V.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105">
                <a:latin typeface="Trebuchet MS"/>
                <a:cs typeface="Trebuchet MS"/>
              </a:rPr>
              <a:t>G.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95">
                <a:latin typeface="Trebuchet MS"/>
                <a:cs typeface="Trebuchet MS"/>
              </a:rPr>
              <a:t>Karunathilake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722140" y="2137944"/>
            <a:ext cx="9566275" cy="5838825"/>
            <a:chOff x="8722140" y="2137944"/>
            <a:chExt cx="9566275" cy="583882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22140" y="2137944"/>
              <a:ext cx="8541759" cy="5838824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7263019" y="3089010"/>
              <a:ext cx="1025525" cy="3916045"/>
            </a:xfrm>
            <a:custGeom>
              <a:avLst/>
              <a:gdLst/>
              <a:ahLst/>
              <a:cxnLst/>
              <a:rect l="l" t="t" r="r" b="b"/>
              <a:pathLst>
                <a:path w="1025525" h="3916045">
                  <a:moveTo>
                    <a:pt x="1024979" y="82285"/>
                  </a:moveTo>
                  <a:lnTo>
                    <a:pt x="1024979" y="1179"/>
                  </a:lnTo>
                  <a:lnTo>
                    <a:pt x="777298" y="642"/>
                  </a:lnTo>
                  <a:lnTo>
                    <a:pt x="69433" y="0"/>
                  </a:lnTo>
                  <a:lnTo>
                    <a:pt x="36641" y="1624"/>
                  </a:lnTo>
                  <a:lnTo>
                    <a:pt x="18347" y="9727"/>
                  </a:lnTo>
                  <a:lnTo>
                    <a:pt x="10387" y="28455"/>
                  </a:lnTo>
                  <a:lnTo>
                    <a:pt x="8596" y="61956"/>
                  </a:lnTo>
                  <a:lnTo>
                    <a:pt x="8589" y="79871"/>
                  </a:lnTo>
                  <a:lnTo>
                    <a:pt x="121188" y="79871"/>
                  </a:lnTo>
                  <a:lnTo>
                    <a:pt x="273465" y="80184"/>
                  </a:lnTo>
                  <a:lnTo>
                    <a:pt x="794810" y="80888"/>
                  </a:lnTo>
                  <a:lnTo>
                    <a:pt x="887445" y="81280"/>
                  </a:lnTo>
                  <a:lnTo>
                    <a:pt x="1024979" y="82285"/>
                  </a:lnTo>
                  <a:close/>
                </a:path>
                <a:path w="1025525" h="3916045">
                  <a:moveTo>
                    <a:pt x="37646" y="1583241"/>
                  </a:moveTo>
                  <a:lnTo>
                    <a:pt x="55287" y="1579445"/>
                  </a:lnTo>
                  <a:lnTo>
                    <a:pt x="69418" y="1567192"/>
                  </a:lnTo>
                  <a:lnTo>
                    <a:pt x="78812" y="1547988"/>
                  </a:lnTo>
                  <a:lnTo>
                    <a:pt x="82247" y="1523337"/>
                  </a:lnTo>
                  <a:lnTo>
                    <a:pt x="82178" y="928570"/>
                  </a:lnTo>
                  <a:lnTo>
                    <a:pt x="82395" y="879013"/>
                  </a:lnTo>
                  <a:lnTo>
                    <a:pt x="82669" y="834617"/>
                  </a:lnTo>
                  <a:lnTo>
                    <a:pt x="83107" y="779904"/>
                  </a:lnTo>
                  <a:lnTo>
                    <a:pt x="83603" y="732463"/>
                  </a:lnTo>
                  <a:lnTo>
                    <a:pt x="84268" y="680803"/>
                  </a:lnTo>
                  <a:lnTo>
                    <a:pt x="85047" y="631256"/>
                  </a:lnTo>
                  <a:lnTo>
                    <a:pt x="85819" y="579304"/>
                  </a:lnTo>
                  <a:lnTo>
                    <a:pt x="86407" y="527356"/>
                  </a:lnTo>
                  <a:lnTo>
                    <a:pt x="86843" y="475410"/>
                  </a:lnTo>
                  <a:lnTo>
                    <a:pt x="87163" y="423467"/>
                  </a:lnTo>
                  <a:lnTo>
                    <a:pt x="87402" y="371527"/>
                  </a:lnTo>
                  <a:lnTo>
                    <a:pt x="87979" y="215715"/>
                  </a:lnTo>
                  <a:lnTo>
                    <a:pt x="88239" y="163779"/>
                  </a:lnTo>
                  <a:lnTo>
                    <a:pt x="88592" y="111844"/>
                  </a:lnTo>
                  <a:lnTo>
                    <a:pt x="121188" y="79871"/>
                  </a:lnTo>
                  <a:lnTo>
                    <a:pt x="8589" y="79871"/>
                  </a:lnTo>
                  <a:lnTo>
                    <a:pt x="8543" y="163779"/>
                  </a:lnTo>
                  <a:lnTo>
                    <a:pt x="8285" y="196132"/>
                  </a:lnTo>
                  <a:lnTo>
                    <a:pt x="6984" y="300020"/>
                  </a:lnTo>
                  <a:lnTo>
                    <a:pt x="2811" y="611661"/>
                  </a:lnTo>
                  <a:lnTo>
                    <a:pt x="8173" y="641891"/>
                  </a:lnTo>
                  <a:lnTo>
                    <a:pt x="10012" y="672109"/>
                  </a:lnTo>
                  <a:lnTo>
                    <a:pt x="8095" y="702303"/>
                  </a:lnTo>
                  <a:lnTo>
                    <a:pt x="2190" y="732463"/>
                  </a:lnTo>
                  <a:lnTo>
                    <a:pt x="2089" y="834617"/>
                  </a:lnTo>
                  <a:lnTo>
                    <a:pt x="1963" y="978129"/>
                  </a:lnTo>
                  <a:lnTo>
                    <a:pt x="1906" y="1038941"/>
                  </a:lnTo>
                  <a:lnTo>
                    <a:pt x="1781" y="1141106"/>
                  </a:lnTo>
                  <a:lnTo>
                    <a:pt x="1700" y="1192187"/>
                  </a:lnTo>
                  <a:lnTo>
                    <a:pt x="1604" y="1243268"/>
                  </a:lnTo>
                  <a:lnTo>
                    <a:pt x="1354" y="1345425"/>
                  </a:lnTo>
                  <a:lnTo>
                    <a:pt x="1194" y="1396501"/>
                  </a:lnTo>
                  <a:lnTo>
                    <a:pt x="0" y="1440145"/>
                  </a:lnTo>
                  <a:lnTo>
                    <a:pt x="0" y="1548975"/>
                  </a:lnTo>
                  <a:lnTo>
                    <a:pt x="7664" y="1565886"/>
                  </a:lnTo>
                  <a:lnTo>
                    <a:pt x="20812" y="1578249"/>
                  </a:lnTo>
                  <a:lnTo>
                    <a:pt x="37646" y="1583241"/>
                  </a:lnTo>
                  <a:close/>
                </a:path>
                <a:path w="1025525" h="3916045">
                  <a:moveTo>
                    <a:pt x="1024979" y="3915843"/>
                  </a:moveTo>
                  <a:lnTo>
                    <a:pt x="1024979" y="3833363"/>
                  </a:lnTo>
                  <a:lnTo>
                    <a:pt x="313907" y="3832831"/>
                  </a:lnTo>
                  <a:lnTo>
                    <a:pt x="187504" y="3832831"/>
                  </a:lnTo>
                  <a:lnTo>
                    <a:pt x="155711" y="3832325"/>
                  </a:lnTo>
                  <a:lnTo>
                    <a:pt x="136715" y="3833824"/>
                  </a:lnTo>
                  <a:lnTo>
                    <a:pt x="121592" y="3839976"/>
                  </a:lnTo>
                  <a:lnTo>
                    <a:pt x="110994" y="3851587"/>
                  </a:lnTo>
                  <a:lnTo>
                    <a:pt x="105574" y="3869462"/>
                  </a:lnTo>
                  <a:lnTo>
                    <a:pt x="107779" y="3885166"/>
                  </a:lnTo>
                  <a:lnTo>
                    <a:pt x="157142" y="3908277"/>
                  </a:lnTo>
                  <a:lnTo>
                    <a:pt x="257290" y="3911342"/>
                  </a:lnTo>
                  <a:lnTo>
                    <a:pt x="451176" y="3913864"/>
                  </a:lnTo>
                  <a:lnTo>
                    <a:pt x="808179" y="3913864"/>
                  </a:lnTo>
                  <a:lnTo>
                    <a:pt x="1024979" y="3915843"/>
                  </a:lnTo>
                  <a:close/>
                </a:path>
                <a:path w="1025525" h="3916045">
                  <a:moveTo>
                    <a:pt x="222372" y="3832831"/>
                  </a:moveTo>
                  <a:lnTo>
                    <a:pt x="320227" y="3832831"/>
                  </a:lnTo>
                  <a:lnTo>
                    <a:pt x="288308" y="3832631"/>
                  </a:lnTo>
                  <a:lnTo>
                    <a:pt x="255722" y="3832631"/>
                  </a:lnTo>
                  <a:lnTo>
                    <a:pt x="222372" y="3832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8895495"/>
            <a:ext cx="4190999" cy="800099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10" name="object 10" descr="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5163091" y="1511748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 h="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9359" y="3478909"/>
            <a:ext cx="123825" cy="123824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9359" y="4450459"/>
            <a:ext cx="123825" cy="123824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9359" y="5907784"/>
            <a:ext cx="123825" cy="123824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1440434" y="2664857"/>
            <a:ext cx="6550025" cy="400177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3150" spc="-300">
                <a:latin typeface="Arial Black"/>
                <a:cs typeface="Arial Black"/>
              </a:rPr>
              <a:t>Use</a:t>
            </a:r>
            <a:r>
              <a:rPr dirty="0" sz="3150" spc="-235">
                <a:latin typeface="Arial Black"/>
                <a:cs typeface="Arial Black"/>
              </a:rPr>
              <a:t> </a:t>
            </a:r>
            <a:r>
              <a:rPr dirty="0" sz="3150" spc="-350">
                <a:latin typeface="Arial Black"/>
                <a:cs typeface="Arial Black"/>
              </a:rPr>
              <a:t>Case</a:t>
            </a:r>
            <a:endParaRPr sz="3150">
              <a:latin typeface="Arial Black"/>
              <a:cs typeface="Arial Black"/>
            </a:endParaRPr>
          </a:p>
          <a:p>
            <a:pPr marL="604520" marR="166370">
              <a:lnSpc>
                <a:spcPct val="115900"/>
              </a:lnSpc>
              <a:spcBef>
                <a:spcPts val="70"/>
              </a:spcBef>
            </a:pPr>
            <a:r>
              <a:rPr dirty="0" sz="2750" spc="-95">
                <a:latin typeface="Lucida Sans Unicode"/>
                <a:cs typeface="Lucida Sans Unicode"/>
              </a:rPr>
              <a:t>During</a:t>
            </a:r>
            <a:r>
              <a:rPr dirty="0" sz="2750" spc="-125">
                <a:latin typeface="Lucida Sans Unicode"/>
                <a:cs typeface="Lucida Sans Unicode"/>
              </a:rPr>
              <a:t> </a:t>
            </a:r>
            <a:r>
              <a:rPr dirty="0" sz="2750" spc="-105">
                <a:latin typeface="Lucida Sans Unicode"/>
                <a:cs typeface="Lucida Sans Unicode"/>
              </a:rPr>
              <a:t>coding</a:t>
            </a:r>
            <a:r>
              <a:rPr dirty="0" sz="2750" spc="-120">
                <a:latin typeface="Lucida Sans Unicode"/>
                <a:cs typeface="Lucida Sans Unicode"/>
              </a:rPr>
              <a:t> </a:t>
            </a:r>
            <a:r>
              <a:rPr dirty="0" sz="2750" spc="-100">
                <a:latin typeface="Lucida Sans Unicode"/>
                <a:cs typeface="Lucida Sans Unicode"/>
              </a:rPr>
              <a:t>sessions,</a:t>
            </a:r>
            <a:r>
              <a:rPr dirty="0" sz="2750" spc="-120">
                <a:latin typeface="Lucida Sans Unicode"/>
                <a:cs typeface="Lucida Sans Unicode"/>
              </a:rPr>
              <a:t> </a:t>
            </a:r>
            <a:r>
              <a:rPr dirty="0" sz="2750" spc="-50">
                <a:latin typeface="Lucida Sans Unicode"/>
                <a:cs typeface="Lucida Sans Unicode"/>
              </a:rPr>
              <a:t>GitHub</a:t>
            </a:r>
            <a:r>
              <a:rPr dirty="0" sz="2750" spc="-120">
                <a:latin typeface="Lucida Sans Unicode"/>
                <a:cs typeface="Lucida Sans Unicode"/>
              </a:rPr>
              <a:t> </a:t>
            </a:r>
            <a:r>
              <a:rPr dirty="0" sz="2750" spc="-25">
                <a:latin typeface="Lucida Sans Unicode"/>
                <a:cs typeface="Lucida Sans Unicode"/>
              </a:rPr>
              <a:t>and </a:t>
            </a:r>
            <a:r>
              <a:rPr dirty="0" sz="2750" spc="-20">
                <a:latin typeface="Lucida Sans Unicode"/>
                <a:cs typeface="Lucida Sans Unicode"/>
              </a:rPr>
              <a:t>IDE</a:t>
            </a:r>
            <a:r>
              <a:rPr dirty="0" sz="2750" spc="-150">
                <a:latin typeface="Lucida Sans Unicode"/>
                <a:cs typeface="Lucida Sans Unicode"/>
              </a:rPr>
              <a:t> </a:t>
            </a:r>
            <a:r>
              <a:rPr dirty="0" sz="2750" spc="-80">
                <a:latin typeface="Lucida Sans Unicode"/>
                <a:cs typeface="Lucida Sans Unicode"/>
              </a:rPr>
              <a:t>traffic</a:t>
            </a:r>
            <a:r>
              <a:rPr dirty="0" sz="2750" spc="-150">
                <a:latin typeface="Lucida Sans Unicode"/>
                <a:cs typeface="Lucida Sans Unicode"/>
              </a:rPr>
              <a:t> </a:t>
            </a:r>
            <a:r>
              <a:rPr dirty="0" sz="2750" spc="-10">
                <a:latin typeface="Lucida Sans Unicode"/>
                <a:cs typeface="Lucida Sans Unicode"/>
              </a:rPr>
              <a:t>prioritized.</a:t>
            </a:r>
            <a:endParaRPr sz="2750">
              <a:latin typeface="Lucida Sans Unicode"/>
              <a:cs typeface="Lucida Sans Unicode"/>
            </a:endParaRPr>
          </a:p>
          <a:p>
            <a:pPr marL="604520" marR="5080">
              <a:lnSpc>
                <a:spcPct val="115900"/>
              </a:lnSpc>
            </a:pPr>
            <a:r>
              <a:rPr dirty="0" sz="2750" spc="-85">
                <a:latin typeface="Lucida Sans Unicode"/>
                <a:cs typeface="Lucida Sans Unicode"/>
              </a:rPr>
              <a:t>Video</a:t>
            </a:r>
            <a:r>
              <a:rPr dirty="0" sz="2750" spc="-125">
                <a:latin typeface="Lucida Sans Unicode"/>
                <a:cs typeface="Lucida Sans Unicode"/>
              </a:rPr>
              <a:t> </a:t>
            </a:r>
            <a:r>
              <a:rPr dirty="0" sz="2750" spc="-75">
                <a:latin typeface="Lucida Sans Unicode"/>
                <a:cs typeface="Lucida Sans Unicode"/>
              </a:rPr>
              <a:t>conferencing</a:t>
            </a:r>
            <a:r>
              <a:rPr dirty="0" sz="2750" spc="-125">
                <a:latin typeface="Lucida Sans Unicode"/>
                <a:cs typeface="Lucida Sans Unicode"/>
              </a:rPr>
              <a:t> </a:t>
            </a:r>
            <a:r>
              <a:rPr dirty="0" sz="2750" spc="-10">
                <a:latin typeface="Lucida Sans Unicode"/>
                <a:cs typeface="Lucida Sans Unicode"/>
              </a:rPr>
              <a:t>tools </a:t>
            </a:r>
            <a:r>
              <a:rPr dirty="0" sz="2750" spc="-105">
                <a:latin typeface="Lucida Sans Unicode"/>
                <a:cs typeface="Lucida Sans Unicode"/>
              </a:rPr>
              <a:t>(Zoom/Teams)</a:t>
            </a:r>
            <a:r>
              <a:rPr dirty="0" sz="2750" spc="-135">
                <a:latin typeface="Lucida Sans Unicode"/>
                <a:cs typeface="Lucida Sans Unicode"/>
              </a:rPr>
              <a:t> </a:t>
            </a:r>
            <a:r>
              <a:rPr dirty="0" sz="2750" spc="-105">
                <a:latin typeface="Lucida Sans Unicode"/>
                <a:cs typeface="Lucida Sans Unicode"/>
              </a:rPr>
              <a:t>get</a:t>
            </a:r>
            <a:r>
              <a:rPr dirty="0" sz="2750" spc="-130">
                <a:latin typeface="Lucida Sans Unicode"/>
                <a:cs typeface="Lucida Sans Unicode"/>
              </a:rPr>
              <a:t> </a:t>
            </a:r>
            <a:r>
              <a:rPr dirty="0" sz="2750" spc="-50">
                <a:latin typeface="Lucida Sans Unicode"/>
                <a:cs typeface="Lucida Sans Unicode"/>
              </a:rPr>
              <a:t>bandwidth</a:t>
            </a:r>
            <a:r>
              <a:rPr dirty="0" sz="2750" spc="-130">
                <a:latin typeface="Lucida Sans Unicode"/>
                <a:cs typeface="Lucida Sans Unicode"/>
              </a:rPr>
              <a:t> </a:t>
            </a:r>
            <a:r>
              <a:rPr dirty="0" sz="2750" spc="-50">
                <a:latin typeface="Lucida Sans Unicode"/>
                <a:cs typeface="Lucida Sans Unicode"/>
              </a:rPr>
              <a:t>during </a:t>
            </a:r>
            <a:r>
              <a:rPr dirty="0" sz="2750" spc="-10">
                <a:latin typeface="Lucida Sans Unicode"/>
                <a:cs typeface="Lucida Sans Unicode"/>
              </a:rPr>
              <a:t>presentations.</a:t>
            </a:r>
            <a:endParaRPr sz="2750">
              <a:latin typeface="Lucida Sans Unicode"/>
              <a:cs typeface="Lucida Sans Unicode"/>
            </a:endParaRPr>
          </a:p>
          <a:p>
            <a:pPr marL="604520" marR="266065">
              <a:lnSpc>
                <a:spcPct val="115900"/>
              </a:lnSpc>
            </a:pPr>
            <a:r>
              <a:rPr dirty="0" sz="2750" spc="-204">
                <a:latin typeface="Lucida Sans Unicode"/>
                <a:cs typeface="Lucida Sans Unicode"/>
              </a:rPr>
              <a:t>Non-</a:t>
            </a:r>
            <a:r>
              <a:rPr dirty="0" sz="2750" spc="-65">
                <a:latin typeface="Lucida Sans Unicode"/>
                <a:cs typeface="Lucida Sans Unicode"/>
              </a:rPr>
              <a:t>academic</a:t>
            </a:r>
            <a:r>
              <a:rPr dirty="0" sz="2750" spc="-110">
                <a:latin typeface="Lucida Sans Unicode"/>
                <a:cs typeface="Lucida Sans Unicode"/>
              </a:rPr>
              <a:t> </a:t>
            </a:r>
            <a:r>
              <a:rPr dirty="0" sz="2750" spc="-80">
                <a:latin typeface="Lucida Sans Unicode"/>
                <a:cs typeface="Lucida Sans Unicode"/>
              </a:rPr>
              <a:t>traffic</a:t>
            </a:r>
            <a:r>
              <a:rPr dirty="0" sz="2750" spc="-105">
                <a:latin typeface="Lucida Sans Unicode"/>
                <a:cs typeface="Lucida Sans Unicode"/>
              </a:rPr>
              <a:t> </a:t>
            </a:r>
            <a:r>
              <a:rPr dirty="0" sz="2750" spc="-85">
                <a:latin typeface="Lucida Sans Unicode"/>
                <a:cs typeface="Lucida Sans Unicode"/>
              </a:rPr>
              <a:t>(social</a:t>
            </a:r>
            <a:r>
              <a:rPr dirty="0" sz="2750" spc="-105">
                <a:latin typeface="Lucida Sans Unicode"/>
                <a:cs typeface="Lucida Sans Unicode"/>
              </a:rPr>
              <a:t> </a:t>
            </a:r>
            <a:r>
              <a:rPr dirty="0" sz="2750" spc="-25">
                <a:latin typeface="Lucida Sans Unicode"/>
                <a:cs typeface="Lucida Sans Unicode"/>
              </a:rPr>
              <a:t>media, </a:t>
            </a:r>
            <a:r>
              <a:rPr dirty="0" sz="2750" spc="-80">
                <a:latin typeface="Lucida Sans Unicode"/>
                <a:cs typeface="Lucida Sans Unicode"/>
              </a:rPr>
              <a:t>streaming)</a:t>
            </a:r>
            <a:r>
              <a:rPr dirty="0" sz="2750" spc="-65">
                <a:latin typeface="Lucida Sans Unicode"/>
                <a:cs typeface="Lucida Sans Unicode"/>
              </a:rPr>
              <a:t> </a:t>
            </a:r>
            <a:r>
              <a:rPr dirty="0" sz="2750" spc="-10">
                <a:latin typeface="Lucida Sans Unicode"/>
                <a:cs typeface="Lucida Sans Unicode"/>
              </a:rPr>
              <a:t>blocked.</a:t>
            </a:r>
            <a:endParaRPr sz="2750">
              <a:latin typeface="Lucida Sans Unicode"/>
              <a:cs typeface="Lucida Sans Unicode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478809" y="9192091"/>
            <a:ext cx="911352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IT22078278</a:t>
            </a:r>
            <a:r>
              <a:rPr dirty="0" sz="2800" spc="-5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V.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105">
                <a:latin typeface="Trebuchet MS"/>
                <a:cs typeface="Trebuchet MS"/>
              </a:rPr>
              <a:t>G.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95">
                <a:latin typeface="Trebuchet MS"/>
                <a:cs typeface="Trebuchet MS"/>
              </a:rPr>
              <a:t>Karunathilake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4619" rIns="0" bIns="0" rtlCol="0" vert="horz">
            <a:spAutoFit/>
          </a:bodyPr>
          <a:lstStyle/>
          <a:p>
            <a:pPr marL="998855">
              <a:lnSpc>
                <a:spcPct val="100000"/>
              </a:lnSpc>
              <a:spcBef>
                <a:spcPts val="100"/>
              </a:spcBef>
            </a:pPr>
            <a:r>
              <a:rPr dirty="0" sz="5300">
                <a:latin typeface="Lucida Sans Unicode"/>
                <a:cs typeface="Lucida Sans Unicode"/>
              </a:rPr>
              <a:t>SDN</a:t>
            </a:r>
            <a:r>
              <a:rPr dirty="0" sz="5300" spc="-305">
                <a:latin typeface="Lucida Sans Unicode"/>
                <a:cs typeface="Lucida Sans Unicode"/>
              </a:rPr>
              <a:t> </a:t>
            </a:r>
            <a:r>
              <a:rPr dirty="0" sz="5300">
                <a:latin typeface="Lucida Sans Unicode"/>
                <a:cs typeface="Lucida Sans Unicode"/>
              </a:rPr>
              <a:t>–</a:t>
            </a:r>
            <a:r>
              <a:rPr dirty="0" sz="5300" spc="-305">
                <a:latin typeface="Lucida Sans Unicode"/>
                <a:cs typeface="Lucida Sans Unicode"/>
              </a:rPr>
              <a:t> </a:t>
            </a:r>
            <a:r>
              <a:rPr dirty="0" sz="5300" spc="-55">
                <a:latin typeface="Lucida Sans Unicode"/>
                <a:cs typeface="Lucida Sans Unicode"/>
              </a:rPr>
              <a:t>Enabled</a:t>
            </a:r>
            <a:r>
              <a:rPr dirty="0" sz="5300" spc="-300">
                <a:latin typeface="Lucida Sans Unicode"/>
                <a:cs typeface="Lucida Sans Unicode"/>
              </a:rPr>
              <a:t> </a:t>
            </a:r>
            <a:r>
              <a:rPr dirty="0" sz="5300" spc="-114">
                <a:latin typeface="Lucida Sans Unicode"/>
                <a:cs typeface="Lucida Sans Unicode"/>
              </a:rPr>
              <a:t>classroom</a:t>
            </a:r>
            <a:r>
              <a:rPr dirty="0" sz="5300" spc="-305">
                <a:latin typeface="Lucida Sans Unicode"/>
                <a:cs typeface="Lucida Sans Unicode"/>
              </a:rPr>
              <a:t> </a:t>
            </a:r>
            <a:r>
              <a:rPr dirty="0" sz="5300" spc="-90">
                <a:latin typeface="Lucida Sans Unicode"/>
                <a:cs typeface="Lucida Sans Unicode"/>
              </a:rPr>
              <a:t>network</a:t>
            </a:r>
            <a:r>
              <a:rPr dirty="0" sz="5300" spc="-305">
                <a:latin typeface="Lucida Sans Unicode"/>
                <a:cs typeface="Lucida Sans Unicode"/>
              </a:rPr>
              <a:t> </a:t>
            </a:r>
            <a:r>
              <a:rPr dirty="0" sz="5300" spc="-80">
                <a:latin typeface="Lucida Sans Unicode"/>
                <a:cs typeface="Lucida Sans Unicode"/>
              </a:rPr>
              <a:t>optimizer</a:t>
            </a:r>
            <a:endParaRPr sz="53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67256" y="1058410"/>
            <a:ext cx="3562349" cy="35623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19961" y="413371"/>
            <a:ext cx="163337" cy="161343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2351803" y="0"/>
            <a:ext cx="2818765" cy="2914015"/>
            <a:chOff x="2351803" y="0"/>
            <a:chExt cx="2818765" cy="2914015"/>
          </a:xfrm>
        </p:grpSpPr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45335" y="624966"/>
              <a:ext cx="124782" cy="12307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1803" y="0"/>
              <a:ext cx="2660285" cy="2913977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80788" y="612927"/>
            <a:ext cx="170332" cy="17072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078418" y="6721674"/>
            <a:ext cx="2085974" cy="208597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715598" y="5506649"/>
            <a:ext cx="11809730" cy="1301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100"/>
              </a:spcBef>
            </a:pPr>
            <a:r>
              <a:rPr dirty="0" sz="3600" spc="-570">
                <a:latin typeface="Arial Black"/>
                <a:cs typeface="Arial Black"/>
              </a:rPr>
              <a:t>DECENTRALIZED</a:t>
            </a:r>
            <a:r>
              <a:rPr dirty="0" sz="3600" spc="-185">
                <a:latin typeface="Arial Black"/>
                <a:cs typeface="Arial Black"/>
              </a:rPr>
              <a:t> </a:t>
            </a:r>
            <a:r>
              <a:rPr dirty="0" sz="3600" spc="-580">
                <a:latin typeface="Arial Black"/>
                <a:cs typeface="Arial Black"/>
              </a:rPr>
              <a:t>ZERO</a:t>
            </a:r>
            <a:r>
              <a:rPr dirty="0" sz="3600" spc="-180">
                <a:latin typeface="Arial Black"/>
                <a:cs typeface="Arial Black"/>
              </a:rPr>
              <a:t> </a:t>
            </a:r>
            <a:r>
              <a:rPr dirty="0" sz="3600" spc="-880">
                <a:latin typeface="Arial Black"/>
                <a:cs typeface="Arial Black"/>
              </a:rPr>
              <a:t>TRUST</a:t>
            </a:r>
            <a:r>
              <a:rPr dirty="0" sz="3600" spc="-180">
                <a:latin typeface="Arial Black"/>
                <a:cs typeface="Arial Black"/>
              </a:rPr>
              <a:t> </a:t>
            </a:r>
            <a:r>
              <a:rPr dirty="0" sz="3600" spc="-595">
                <a:latin typeface="Arial Black"/>
                <a:cs typeface="Arial Black"/>
              </a:rPr>
              <a:t>NETWORK</a:t>
            </a:r>
            <a:r>
              <a:rPr dirty="0" sz="3600" spc="-180">
                <a:latin typeface="Arial Black"/>
                <a:cs typeface="Arial Black"/>
              </a:rPr>
              <a:t> </a:t>
            </a:r>
            <a:r>
              <a:rPr dirty="0" sz="3600" spc="-425">
                <a:latin typeface="Arial Black"/>
                <a:cs typeface="Arial Black"/>
              </a:rPr>
              <a:t>ACCESS</a:t>
            </a:r>
            <a:r>
              <a:rPr dirty="0" sz="3600" spc="-185">
                <a:latin typeface="Arial Black"/>
                <a:cs typeface="Arial Black"/>
              </a:rPr>
              <a:t> </a:t>
            </a:r>
            <a:r>
              <a:rPr dirty="0" sz="3600" spc="-590">
                <a:latin typeface="Arial Black"/>
                <a:cs typeface="Arial Black"/>
              </a:rPr>
              <a:t>WITH</a:t>
            </a:r>
            <a:r>
              <a:rPr dirty="0" sz="3600" spc="-180">
                <a:latin typeface="Arial Black"/>
                <a:cs typeface="Arial Black"/>
              </a:rPr>
              <a:t> </a:t>
            </a:r>
            <a:r>
              <a:rPr dirty="0" sz="3600" spc="-355">
                <a:latin typeface="Arial Black"/>
                <a:cs typeface="Arial Black"/>
              </a:rPr>
              <a:t>AI </a:t>
            </a:r>
            <a:r>
              <a:rPr dirty="0" sz="3600" spc="-650">
                <a:latin typeface="Arial Black"/>
                <a:cs typeface="Arial Black"/>
              </a:rPr>
              <a:t>SECURITY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478809" y="9192091"/>
            <a:ext cx="6997065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IT22365132</a:t>
            </a:r>
            <a:r>
              <a:rPr dirty="0" sz="2800" spc="-2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90">
                <a:latin typeface="Trebuchet MS"/>
                <a:cs typeface="Trebuchet MS"/>
              </a:rPr>
              <a:t>C.B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265">
                <a:latin typeface="Trebuchet MS"/>
                <a:cs typeface="Trebuchet MS"/>
              </a:rPr>
              <a:t>Gunasena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715598" y="7392713"/>
            <a:ext cx="87788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65">
                <a:latin typeface="Trebuchet MS"/>
                <a:cs typeface="Trebuchet MS"/>
              </a:rPr>
              <a:t>Specialzation: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75">
                <a:latin typeface="Trebuchet MS"/>
                <a:cs typeface="Trebuchet MS"/>
              </a:rPr>
              <a:t>Computer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50">
                <a:latin typeface="Trebuchet MS"/>
                <a:cs typeface="Trebuchet MS"/>
              </a:rPr>
              <a:t>Systems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275">
                <a:latin typeface="Trebuchet MS"/>
                <a:cs typeface="Trebuchet MS"/>
              </a:rPr>
              <a:t>and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85">
                <a:latin typeface="Trebuchet MS"/>
                <a:cs typeface="Trebuchet MS"/>
              </a:rPr>
              <a:t>Network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105">
                <a:latin typeface="Trebuchet MS"/>
                <a:cs typeface="Trebuchet MS"/>
              </a:rPr>
              <a:t>Engineering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3" name="object 3" descr="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711687" y="7607"/>
            <a:ext cx="12864465" cy="1892300"/>
          </a:xfrm>
          <a:prstGeom prst="rect"/>
        </p:spPr>
        <p:txBody>
          <a:bodyPr wrap="square" lIns="0" tIns="138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90"/>
              </a:spcBef>
            </a:pPr>
            <a:r>
              <a:rPr dirty="0" sz="5300" spc="-135">
                <a:latin typeface="Lucida Sans Unicode"/>
                <a:cs typeface="Lucida Sans Unicode"/>
              </a:rPr>
              <a:t>Decentralized</a:t>
            </a:r>
            <a:r>
              <a:rPr dirty="0" sz="5300" spc="-275">
                <a:latin typeface="Lucida Sans Unicode"/>
                <a:cs typeface="Lucida Sans Unicode"/>
              </a:rPr>
              <a:t> </a:t>
            </a:r>
            <a:r>
              <a:rPr dirty="0" sz="5300" spc="-55">
                <a:latin typeface="Lucida Sans Unicode"/>
                <a:cs typeface="Lucida Sans Unicode"/>
              </a:rPr>
              <a:t>Zero</a:t>
            </a:r>
            <a:r>
              <a:rPr dirty="0" sz="5300" spc="-270">
                <a:latin typeface="Lucida Sans Unicode"/>
                <a:cs typeface="Lucida Sans Unicode"/>
              </a:rPr>
              <a:t> </a:t>
            </a:r>
            <a:r>
              <a:rPr dirty="0" sz="5300" spc="-175">
                <a:latin typeface="Lucida Sans Unicode"/>
                <a:cs typeface="Lucida Sans Unicode"/>
              </a:rPr>
              <a:t>Trust</a:t>
            </a:r>
            <a:r>
              <a:rPr dirty="0" sz="5300" spc="-275">
                <a:latin typeface="Lucida Sans Unicode"/>
                <a:cs typeface="Lucida Sans Unicode"/>
              </a:rPr>
              <a:t> </a:t>
            </a:r>
            <a:r>
              <a:rPr dirty="0" sz="5300" spc="-70">
                <a:latin typeface="Lucida Sans Unicode"/>
                <a:cs typeface="Lucida Sans Unicode"/>
              </a:rPr>
              <a:t>Network</a:t>
            </a:r>
            <a:r>
              <a:rPr dirty="0" sz="5300" spc="-270">
                <a:latin typeface="Lucida Sans Unicode"/>
                <a:cs typeface="Lucida Sans Unicode"/>
              </a:rPr>
              <a:t> </a:t>
            </a:r>
            <a:r>
              <a:rPr dirty="0" sz="5300" spc="-60">
                <a:latin typeface="Lucida Sans Unicode"/>
                <a:cs typeface="Lucida Sans Unicode"/>
              </a:rPr>
              <a:t>Access</a:t>
            </a:r>
            <a:endParaRPr sz="53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990"/>
              </a:spcBef>
              <a:tabLst>
                <a:tab pos="840740" algn="l"/>
                <a:tab pos="6492240" algn="l"/>
              </a:tabLst>
            </a:pPr>
            <a:r>
              <a:rPr dirty="0" u="sng" sz="530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	</a:t>
            </a:r>
            <a:r>
              <a:rPr dirty="0" u="sng" sz="5300" spc="-105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with</a:t>
            </a:r>
            <a:r>
              <a:rPr dirty="0" u="sng" sz="5300" spc="-29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5300" spc="-204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AI</a:t>
            </a:r>
            <a:r>
              <a:rPr dirty="0" u="sng" sz="5300" spc="-29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5300" spc="-1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Security</a:t>
            </a:r>
            <a:r>
              <a:rPr dirty="0" u="sng" sz="530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	</a:t>
            </a:r>
            <a:endParaRPr sz="5300">
              <a:latin typeface="Lucida Sans Unicode"/>
              <a:cs typeface="Lucida Sans Unicode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1614" y="2568184"/>
            <a:ext cx="133349" cy="13334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846456" y="2298786"/>
            <a:ext cx="13903960" cy="6959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6700"/>
              </a:lnSpc>
              <a:spcBef>
                <a:spcPts val="95"/>
              </a:spcBef>
            </a:pPr>
            <a:r>
              <a:rPr dirty="0" sz="3000">
                <a:latin typeface="Lucida Sans Unicode"/>
                <a:cs typeface="Lucida Sans Unicode"/>
              </a:rPr>
              <a:t>Knowledge</a:t>
            </a:r>
            <a:r>
              <a:rPr dirty="0" sz="3000" spc="235">
                <a:latin typeface="Lucida Sans Unicode"/>
                <a:cs typeface="Lucida Sans Unicode"/>
              </a:rPr>
              <a:t>  </a:t>
            </a:r>
            <a:r>
              <a:rPr dirty="0" sz="3000">
                <a:latin typeface="Lucida Sans Unicode"/>
                <a:cs typeface="Lucida Sans Unicode"/>
              </a:rPr>
              <a:t>Gap</a:t>
            </a:r>
            <a:r>
              <a:rPr dirty="0" sz="3000" spc="240">
                <a:latin typeface="Lucida Sans Unicode"/>
                <a:cs typeface="Lucida Sans Unicode"/>
              </a:rPr>
              <a:t>  </a:t>
            </a:r>
            <a:r>
              <a:rPr dirty="0" sz="3000">
                <a:latin typeface="Lucida Sans Unicode"/>
                <a:cs typeface="Lucida Sans Unicode"/>
              </a:rPr>
              <a:t>or</a:t>
            </a:r>
            <a:r>
              <a:rPr dirty="0" sz="3000" spc="235">
                <a:latin typeface="Lucida Sans Unicode"/>
                <a:cs typeface="Lucida Sans Unicode"/>
              </a:rPr>
              <a:t>  </a:t>
            </a:r>
            <a:r>
              <a:rPr dirty="0" sz="3000">
                <a:latin typeface="Lucida Sans Unicode"/>
                <a:cs typeface="Lucida Sans Unicode"/>
              </a:rPr>
              <a:t>Problem</a:t>
            </a:r>
            <a:r>
              <a:rPr dirty="0" sz="3000" spc="240">
                <a:latin typeface="Lucida Sans Unicode"/>
                <a:cs typeface="Lucida Sans Unicode"/>
              </a:rPr>
              <a:t>  </a:t>
            </a:r>
            <a:r>
              <a:rPr dirty="0" sz="3000">
                <a:latin typeface="Lucida Sans Unicode"/>
                <a:cs typeface="Lucida Sans Unicode"/>
              </a:rPr>
              <a:t>Definition:</a:t>
            </a:r>
            <a:r>
              <a:rPr dirty="0" sz="3000" spc="240">
                <a:latin typeface="Lucida Sans Unicode"/>
                <a:cs typeface="Lucida Sans Unicode"/>
              </a:rPr>
              <a:t>  </a:t>
            </a:r>
            <a:r>
              <a:rPr dirty="0" sz="3000">
                <a:latin typeface="Lucida Sans Unicode"/>
                <a:cs typeface="Lucida Sans Unicode"/>
              </a:rPr>
              <a:t>Centralized</a:t>
            </a:r>
            <a:r>
              <a:rPr dirty="0" sz="3000" spc="235">
                <a:latin typeface="Lucida Sans Unicode"/>
                <a:cs typeface="Lucida Sans Unicode"/>
              </a:rPr>
              <a:t>  </a:t>
            </a:r>
            <a:r>
              <a:rPr dirty="0" sz="3000">
                <a:latin typeface="Lucida Sans Unicode"/>
                <a:cs typeface="Lucida Sans Unicode"/>
              </a:rPr>
              <a:t>authentication</a:t>
            </a:r>
            <a:r>
              <a:rPr dirty="0" sz="3000" spc="240">
                <a:latin typeface="Lucida Sans Unicode"/>
                <a:cs typeface="Lucida Sans Unicode"/>
              </a:rPr>
              <a:t>  </a:t>
            </a:r>
            <a:r>
              <a:rPr dirty="0" sz="3000" spc="-25">
                <a:latin typeface="Lucida Sans Unicode"/>
                <a:cs typeface="Lucida Sans Unicode"/>
              </a:rPr>
              <a:t>in </a:t>
            </a:r>
            <a:r>
              <a:rPr dirty="0" sz="3000">
                <a:latin typeface="Lucida Sans Unicode"/>
                <a:cs typeface="Lucida Sans Unicode"/>
              </a:rPr>
              <a:t>educational</a:t>
            </a:r>
            <a:r>
              <a:rPr dirty="0" sz="3000" spc="409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IoT</a:t>
            </a:r>
            <a:r>
              <a:rPr dirty="0" sz="3000" spc="409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vulnerable</a:t>
            </a:r>
            <a:r>
              <a:rPr dirty="0" sz="3000" spc="41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to</a:t>
            </a:r>
            <a:r>
              <a:rPr dirty="0" sz="3000" spc="409">
                <a:latin typeface="Lucida Sans Unicode"/>
                <a:cs typeface="Lucida Sans Unicode"/>
              </a:rPr>
              <a:t> </a:t>
            </a:r>
            <a:r>
              <a:rPr dirty="0" sz="3000" spc="-140">
                <a:latin typeface="Lucida Sans Unicode"/>
                <a:cs typeface="Lucida Sans Unicode"/>
              </a:rPr>
              <a:t>single-</a:t>
            </a:r>
            <a:r>
              <a:rPr dirty="0" sz="3000">
                <a:latin typeface="Lucida Sans Unicode"/>
                <a:cs typeface="Lucida Sans Unicode"/>
              </a:rPr>
              <a:t>point</a:t>
            </a:r>
            <a:r>
              <a:rPr dirty="0" sz="3000" spc="409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failures</a:t>
            </a:r>
            <a:r>
              <a:rPr dirty="0" sz="3000" spc="41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and</a:t>
            </a:r>
            <a:r>
              <a:rPr dirty="0" sz="3000" spc="409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cyberattacks;</a:t>
            </a:r>
            <a:r>
              <a:rPr dirty="0" sz="3000" spc="415">
                <a:latin typeface="Lucida Sans Unicode"/>
                <a:cs typeface="Lucida Sans Unicode"/>
              </a:rPr>
              <a:t> </a:t>
            </a:r>
            <a:r>
              <a:rPr dirty="0" sz="3000" spc="-25">
                <a:latin typeface="Lucida Sans Unicode"/>
                <a:cs typeface="Lucida Sans Unicode"/>
              </a:rPr>
              <a:t>80% </a:t>
            </a:r>
            <a:r>
              <a:rPr dirty="0" sz="3000" spc="-105">
                <a:latin typeface="Lucida Sans Unicode"/>
                <a:cs typeface="Lucida Sans Unicode"/>
              </a:rPr>
              <a:t>cloud-</a:t>
            </a:r>
            <a:r>
              <a:rPr dirty="0" sz="3000" spc="-20">
                <a:latin typeface="Lucida Sans Unicode"/>
                <a:cs typeface="Lucida Sans Unicode"/>
              </a:rPr>
              <a:t>dependent,</a:t>
            </a:r>
            <a:r>
              <a:rPr dirty="0" sz="3000" spc="31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increasing</a:t>
            </a:r>
            <a:r>
              <a:rPr dirty="0" sz="3000" spc="31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latency</a:t>
            </a:r>
            <a:r>
              <a:rPr dirty="0" sz="3000" spc="31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by</a:t>
            </a:r>
            <a:r>
              <a:rPr dirty="0" sz="3000" spc="31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50%</a:t>
            </a:r>
            <a:r>
              <a:rPr dirty="0" sz="3000" spc="31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and</a:t>
            </a:r>
            <a:r>
              <a:rPr dirty="0" sz="3000" spc="31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privacy</a:t>
            </a:r>
            <a:r>
              <a:rPr dirty="0" sz="3000" spc="31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risks</a:t>
            </a:r>
            <a:r>
              <a:rPr dirty="0" sz="3000" spc="31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for</a:t>
            </a:r>
            <a:r>
              <a:rPr dirty="0" sz="3000" spc="315">
                <a:latin typeface="Lucida Sans Unicode"/>
                <a:cs typeface="Lucida Sans Unicode"/>
              </a:rPr>
              <a:t> </a:t>
            </a:r>
            <a:r>
              <a:rPr dirty="0" sz="3000" spc="-10">
                <a:latin typeface="Lucida Sans Unicode"/>
                <a:cs typeface="Lucida Sans Unicode"/>
              </a:rPr>
              <a:t>student data.</a:t>
            </a:r>
            <a:endParaRPr sz="300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16700"/>
              </a:lnSpc>
              <a:spcBef>
                <a:spcPts val="4195"/>
              </a:spcBef>
            </a:pPr>
            <a:r>
              <a:rPr dirty="0" sz="3000" spc="-20">
                <a:latin typeface="Lucida Sans Unicode"/>
                <a:cs typeface="Lucida Sans Unicode"/>
              </a:rPr>
              <a:t>Shortcomings</a:t>
            </a:r>
            <a:r>
              <a:rPr dirty="0" sz="3000" spc="-11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of</a:t>
            </a:r>
            <a:r>
              <a:rPr dirty="0" sz="3000" spc="-110">
                <a:latin typeface="Lucida Sans Unicode"/>
                <a:cs typeface="Lucida Sans Unicode"/>
              </a:rPr>
              <a:t> </a:t>
            </a:r>
            <a:r>
              <a:rPr dirty="0" sz="3000" spc="-50">
                <a:latin typeface="Lucida Sans Unicode"/>
                <a:cs typeface="Lucida Sans Unicode"/>
              </a:rPr>
              <a:t>Existing</a:t>
            </a:r>
            <a:r>
              <a:rPr dirty="0" sz="3000" spc="-11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Systems:</a:t>
            </a:r>
            <a:r>
              <a:rPr dirty="0" sz="3000" spc="-110">
                <a:latin typeface="Lucida Sans Unicode"/>
                <a:cs typeface="Lucida Sans Unicode"/>
              </a:rPr>
              <a:t> </a:t>
            </a:r>
            <a:r>
              <a:rPr dirty="0" sz="3000" spc="-20">
                <a:latin typeface="Lucida Sans Unicode"/>
                <a:cs typeface="Lucida Sans Unicode"/>
              </a:rPr>
              <a:t>Traditional</a:t>
            </a:r>
            <a:r>
              <a:rPr dirty="0" sz="3000" spc="-11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systems</a:t>
            </a:r>
            <a:r>
              <a:rPr dirty="0" sz="3000" spc="-10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lack</a:t>
            </a:r>
            <a:r>
              <a:rPr dirty="0" sz="3000" spc="-11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offline</a:t>
            </a:r>
            <a:r>
              <a:rPr dirty="0" sz="3000" spc="-110">
                <a:latin typeface="Lucida Sans Unicode"/>
                <a:cs typeface="Lucida Sans Unicode"/>
              </a:rPr>
              <a:t> </a:t>
            </a:r>
            <a:r>
              <a:rPr dirty="0" sz="3000" spc="-30">
                <a:latin typeface="Lucida Sans Unicode"/>
                <a:cs typeface="Lucida Sans Unicode"/>
              </a:rPr>
              <a:t>resilience </a:t>
            </a:r>
            <a:r>
              <a:rPr dirty="0" sz="3000">
                <a:latin typeface="Lucida Sans Unicode"/>
                <a:cs typeface="Lucida Sans Unicode"/>
              </a:rPr>
              <a:t>and</a:t>
            </a:r>
            <a:r>
              <a:rPr dirty="0" sz="3000" spc="85">
                <a:latin typeface="Lucida Sans Unicode"/>
                <a:cs typeface="Lucida Sans Unicode"/>
              </a:rPr>
              <a:t>  </a:t>
            </a:r>
            <a:r>
              <a:rPr dirty="0" sz="3000" spc="-95">
                <a:latin typeface="Lucida Sans Unicode"/>
                <a:cs typeface="Lucida Sans Unicode"/>
              </a:rPr>
              <a:t>tamper-</a:t>
            </a:r>
            <a:r>
              <a:rPr dirty="0" sz="3000">
                <a:latin typeface="Lucida Sans Unicode"/>
                <a:cs typeface="Lucida Sans Unicode"/>
              </a:rPr>
              <a:t>proof</a:t>
            </a:r>
            <a:r>
              <a:rPr dirty="0" sz="3000" spc="85">
                <a:latin typeface="Lucida Sans Unicode"/>
                <a:cs typeface="Lucida Sans Unicode"/>
              </a:rPr>
              <a:t>  </a:t>
            </a:r>
            <a:r>
              <a:rPr dirty="0" sz="3000">
                <a:latin typeface="Lucida Sans Unicode"/>
                <a:cs typeface="Lucida Sans Unicode"/>
              </a:rPr>
              <a:t>auth;</a:t>
            </a:r>
            <a:r>
              <a:rPr dirty="0" sz="3000" spc="85">
                <a:latin typeface="Lucida Sans Unicode"/>
                <a:cs typeface="Lucida Sans Unicode"/>
              </a:rPr>
              <a:t>  </a:t>
            </a:r>
            <a:r>
              <a:rPr dirty="0" sz="3000">
                <a:latin typeface="Lucida Sans Unicode"/>
                <a:cs typeface="Lucida Sans Unicode"/>
              </a:rPr>
              <a:t>unable</a:t>
            </a:r>
            <a:r>
              <a:rPr dirty="0" sz="3000" spc="85">
                <a:latin typeface="Lucida Sans Unicode"/>
                <a:cs typeface="Lucida Sans Unicode"/>
              </a:rPr>
              <a:t>  </a:t>
            </a:r>
            <a:r>
              <a:rPr dirty="0" sz="3000">
                <a:latin typeface="Lucida Sans Unicode"/>
                <a:cs typeface="Lucida Sans Unicode"/>
              </a:rPr>
              <a:t>to</a:t>
            </a:r>
            <a:r>
              <a:rPr dirty="0" sz="3000" spc="85">
                <a:latin typeface="Lucida Sans Unicode"/>
                <a:cs typeface="Lucida Sans Unicode"/>
              </a:rPr>
              <a:t>  </a:t>
            </a:r>
            <a:r>
              <a:rPr dirty="0" sz="3000">
                <a:latin typeface="Lucida Sans Unicode"/>
                <a:cs typeface="Lucida Sans Unicode"/>
              </a:rPr>
              <a:t>handle</a:t>
            </a:r>
            <a:r>
              <a:rPr dirty="0" sz="3000" spc="85">
                <a:latin typeface="Lucida Sans Unicode"/>
                <a:cs typeface="Lucida Sans Unicode"/>
              </a:rPr>
              <a:t>  </a:t>
            </a:r>
            <a:r>
              <a:rPr dirty="0" sz="3000">
                <a:latin typeface="Lucida Sans Unicode"/>
                <a:cs typeface="Lucida Sans Unicode"/>
              </a:rPr>
              <a:t>dynamic</a:t>
            </a:r>
            <a:r>
              <a:rPr dirty="0" sz="3000" spc="85">
                <a:latin typeface="Lucida Sans Unicode"/>
                <a:cs typeface="Lucida Sans Unicode"/>
              </a:rPr>
              <a:t>  </a:t>
            </a:r>
            <a:r>
              <a:rPr dirty="0" sz="3000">
                <a:latin typeface="Lucida Sans Unicode"/>
                <a:cs typeface="Lucida Sans Unicode"/>
              </a:rPr>
              <a:t>threats</a:t>
            </a:r>
            <a:r>
              <a:rPr dirty="0" sz="3000" spc="85">
                <a:latin typeface="Lucida Sans Unicode"/>
                <a:cs typeface="Lucida Sans Unicode"/>
              </a:rPr>
              <a:t>  </a:t>
            </a:r>
            <a:r>
              <a:rPr dirty="0" sz="3000">
                <a:latin typeface="Lucida Sans Unicode"/>
                <a:cs typeface="Lucida Sans Unicode"/>
              </a:rPr>
              <a:t>like</a:t>
            </a:r>
            <a:r>
              <a:rPr dirty="0" sz="3000" spc="85">
                <a:latin typeface="Lucida Sans Unicode"/>
                <a:cs typeface="Lucida Sans Unicode"/>
              </a:rPr>
              <a:t>  </a:t>
            </a:r>
            <a:r>
              <a:rPr dirty="0" sz="3000" spc="-20">
                <a:latin typeface="Lucida Sans Unicode"/>
                <a:cs typeface="Lucida Sans Unicode"/>
              </a:rPr>
              <a:t>DDoS </a:t>
            </a:r>
            <a:r>
              <a:rPr dirty="0" sz="3000" spc="-10">
                <a:latin typeface="Lucida Sans Unicode"/>
                <a:cs typeface="Lucida Sans Unicode"/>
              </a:rPr>
              <a:t>effectively.</a:t>
            </a:r>
            <a:endParaRPr sz="300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16700"/>
              </a:lnSpc>
              <a:spcBef>
                <a:spcPts val="4200"/>
              </a:spcBef>
            </a:pPr>
            <a:r>
              <a:rPr dirty="0" sz="3000">
                <a:latin typeface="Lucida Sans Unicode"/>
                <a:cs typeface="Lucida Sans Unicode"/>
              </a:rPr>
              <a:t>Our</a:t>
            </a:r>
            <a:r>
              <a:rPr dirty="0" sz="3000" spc="29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Solution:</a:t>
            </a:r>
            <a:r>
              <a:rPr dirty="0" sz="3000" spc="29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Integrates</a:t>
            </a:r>
            <a:r>
              <a:rPr dirty="0" sz="3000" spc="29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customized</a:t>
            </a:r>
            <a:r>
              <a:rPr dirty="0" sz="3000" spc="29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Hyperledger</a:t>
            </a:r>
            <a:r>
              <a:rPr dirty="0" sz="3000" spc="29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Fabric</a:t>
            </a:r>
            <a:r>
              <a:rPr dirty="0" sz="3000" spc="29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for</a:t>
            </a:r>
            <a:r>
              <a:rPr dirty="0" sz="3000" spc="295">
                <a:latin typeface="Lucida Sans Unicode"/>
                <a:cs typeface="Lucida Sans Unicode"/>
              </a:rPr>
              <a:t> </a:t>
            </a:r>
            <a:r>
              <a:rPr dirty="0" sz="3000" spc="-40">
                <a:latin typeface="Lucida Sans Unicode"/>
                <a:cs typeface="Lucida Sans Unicode"/>
              </a:rPr>
              <a:t>decentralized, </a:t>
            </a:r>
            <a:r>
              <a:rPr dirty="0" sz="3000" spc="-95">
                <a:latin typeface="Lucida Sans Unicode"/>
                <a:cs typeface="Lucida Sans Unicode"/>
              </a:rPr>
              <a:t>tamper-</a:t>
            </a:r>
            <a:r>
              <a:rPr dirty="0" sz="3000">
                <a:latin typeface="Lucida Sans Unicode"/>
                <a:cs typeface="Lucida Sans Unicode"/>
              </a:rPr>
              <a:t>proof</a:t>
            </a:r>
            <a:r>
              <a:rPr dirty="0" sz="3000" spc="-75">
                <a:latin typeface="Lucida Sans Unicode"/>
                <a:cs typeface="Lucida Sans Unicode"/>
              </a:rPr>
              <a:t> </a:t>
            </a:r>
            <a:r>
              <a:rPr dirty="0" sz="3000" spc="-40">
                <a:latin typeface="Lucida Sans Unicode"/>
                <a:cs typeface="Lucida Sans Unicode"/>
              </a:rPr>
              <a:t>authentication,</a:t>
            </a:r>
            <a:r>
              <a:rPr dirty="0" sz="3000" spc="-7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Ryu</a:t>
            </a:r>
            <a:r>
              <a:rPr dirty="0" sz="3000" spc="-7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SDN</a:t>
            </a:r>
            <a:r>
              <a:rPr dirty="0" sz="3000" spc="-7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for</a:t>
            </a:r>
            <a:r>
              <a:rPr dirty="0" sz="3000" spc="-7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dynamic</a:t>
            </a:r>
            <a:r>
              <a:rPr dirty="0" sz="3000" spc="-7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access</a:t>
            </a:r>
            <a:r>
              <a:rPr dirty="0" sz="3000" spc="-75">
                <a:latin typeface="Lucida Sans Unicode"/>
                <a:cs typeface="Lucida Sans Unicode"/>
              </a:rPr>
              <a:t> </a:t>
            </a:r>
            <a:r>
              <a:rPr dirty="0" sz="3000" spc="-25">
                <a:latin typeface="Lucida Sans Unicode"/>
                <a:cs typeface="Lucida Sans Unicode"/>
              </a:rPr>
              <a:t>policies</a:t>
            </a:r>
            <a:r>
              <a:rPr dirty="0" sz="3000" spc="-7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with</a:t>
            </a:r>
            <a:r>
              <a:rPr dirty="0" sz="3000" spc="-70">
                <a:latin typeface="Lucida Sans Unicode"/>
                <a:cs typeface="Lucida Sans Unicode"/>
              </a:rPr>
              <a:t> </a:t>
            </a:r>
            <a:r>
              <a:rPr dirty="0" sz="3000" spc="-25">
                <a:latin typeface="Lucida Sans Unicode"/>
                <a:cs typeface="Lucida Sans Unicode"/>
              </a:rPr>
              <a:t>30% </a:t>
            </a:r>
            <a:r>
              <a:rPr dirty="0" sz="3000">
                <a:latin typeface="Lucida Sans Unicode"/>
                <a:cs typeface="Lucida Sans Unicode"/>
              </a:rPr>
              <a:t>latency</a:t>
            </a:r>
            <a:r>
              <a:rPr dirty="0" sz="3000" spc="41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reduction,</a:t>
            </a:r>
            <a:r>
              <a:rPr dirty="0" sz="3000" spc="42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and</a:t>
            </a:r>
            <a:r>
              <a:rPr dirty="0" sz="3000" spc="42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TensorFlow</a:t>
            </a:r>
            <a:r>
              <a:rPr dirty="0" sz="3000" spc="42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Lite</a:t>
            </a:r>
            <a:r>
              <a:rPr dirty="0" sz="3000" spc="42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for</a:t>
            </a:r>
            <a:r>
              <a:rPr dirty="0" sz="3000" spc="42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&gt;95%</a:t>
            </a:r>
            <a:r>
              <a:rPr dirty="0" sz="3000" spc="42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accuracy</a:t>
            </a:r>
            <a:r>
              <a:rPr dirty="0" sz="3000" spc="42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in</a:t>
            </a:r>
            <a:r>
              <a:rPr dirty="0" sz="3000" spc="41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AI</a:t>
            </a:r>
            <a:r>
              <a:rPr dirty="0" sz="3000" spc="420">
                <a:latin typeface="Lucida Sans Unicode"/>
                <a:cs typeface="Lucida Sans Unicode"/>
              </a:rPr>
              <a:t> </a:t>
            </a:r>
            <a:r>
              <a:rPr dirty="0" sz="3000" spc="-10">
                <a:latin typeface="Lucida Sans Unicode"/>
                <a:cs typeface="Lucida Sans Unicode"/>
              </a:rPr>
              <a:t>anomaly detection.</a:t>
            </a:r>
            <a:endParaRPr sz="3000">
              <a:latin typeface="Lucida Sans Unicode"/>
              <a:cs typeface="Lucida Sans Unicode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1614" y="5235184"/>
            <a:ext cx="133349" cy="13334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1614" y="7368784"/>
            <a:ext cx="133349" cy="133349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4478809" y="9192091"/>
            <a:ext cx="6997065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IT22365132</a:t>
            </a:r>
            <a:r>
              <a:rPr dirty="0" sz="2800" spc="-2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90">
                <a:latin typeface="Trebuchet MS"/>
                <a:cs typeface="Trebuchet MS"/>
              </a:rPr>
              <a:t>C.B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265">
                <a:latin typeface="Trebuchet MS"/>
                <a:cs typeface="Trebuchet MS"/>
              </a:rPr>
              <a:t>Gunasena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6717229" y="1"/>
            <a:ext cx="1080770" cy="1933575"/>
          </a:xfrm>
          <a:custGeom>
            <a:avLst/>
            <a:gdLst/>
            <a:ahLst/>
            <a:cxnLst/>
            <a:rect l="l" t="t" r="r" b="b"/>
            <a:pathLst>
              <a:path w="1080769" h="1933575">
                <a:moveTo>
                  <a:pt x="627351" y="1933123"/>
                </a:moveTo>
                <a:lnTo>
                  <a:pt x="453364" y="1933123"/>
                </a:lnTo>
                <a:lnTo>
                  <a:pt x="437762" y="1932350"/>
                </a:lnTo>
                <a:lnTo>
                  <a:pt x="390562" y="1925307"/>
                </a:lnTo>
                <a:lnTo>
                  <a:pt x="344494" y="1913729"/>
                </a:lnTo>
                <a:lnTo>
                  <a:pt x="299876" y="1897750"/>
                </a:lnTo>
                <a:lnTo>
                  <a:pt x="257028" y="1877500"/>
                </a:lnTo>
                <a:lnTo>
                  <a:pt x="216266" y="1853111"/>
                </a:lnTo>
                <a:lnTo>
                  <a:pt x="177911" y="1824716"/>
                </a:lnTo>
                <a:lnTo>
                  <a:pt x="142279" y="1792447"/>
                </a:lnTo>
                <a:lnTo>
                  <a:pt x="110010" y="1756816"/>
                </a:lnTo>
                <a:lnTo>
                  <a:pt x="81615" y="1718460"/>
                </a:lnTo>
                <a:lnTo>
                  <a:pt x="57227" y="1677699"/>
                </a:lnTo>
                <a:lnTo>
                  <a:pt x="36977" y="1634850"/>
                </a:lnTo>
                <a:lnTo>
                  <a:pt x="20997" y="1590233"/>
                </a:lnTo>
                <a:lnTo>
                  <a:pt x="9420" y="1544165"/>
                </a:lnTo>
                <a:lnTo>
                  <a:pt x="2377" y="1496965"/>
                </a:lnTo>
                <a:lnTo>
                  <a:pt x="0" y="1448952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48952"/>
                </a:lnTo>
                <a:lnTo>
                  <a:pt x="1078338" y="1496965"/>
                </a:lnTo>
                <a:lnTo>
                  <a:pt x="1071295" y="1544165"/>
                </a:lnTo>
                <a:lnTo>
                  <a:pt x="1059717" y="1590233"/>
                </a:lnTo>
                <a:lnTo>
                  <a:pt x="1043737" y="1634850"/>
                </a:lnTo>
                <a:lnTo>
                  <a:pt x="1023487" y="1677699"/>
                </a:lnTo>
                <a:lnTo>
                  <a:pt x="999099" y="1718460"/>
                </a:lnTo>
                <a:lnTo>
                  <a:pt x="970704" y="1756816"/>
                </a:lnTo>
                <a:lnTo>
                  <a:pt x="938434" y="1792447"/>
                </a:lnTo>
                <a:lnTo>
                  <a:pt x="902803" y="1824716"/>
                </a:lnTo>
                <a:lnTo>
                  <a:pt x="864447" y="1853111"/>
                </a:lnTo>
                <a:lnTo>
                  <a:pt x="823686" y="1877500"/>
                </a:lnTo>
                <a:lnTo>
                  <a:pt x="780837" y="1897750"/>
                </a:lnTo>
                <a:lnTo>
                  <a:pt x="736220" y="1913729"/>
                </a:lnTo>
                <a:lnTo>
                  <a:pt x="690152" y="1925307"/>
                </a:lnTo>
                <a:lnTo>
                  <a:pt x="642953" y="1932350"/>
                </a:lnTo>
                <a:lnTo>
                  <a:pt x="627351" y="1933123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9685830"/>
            <a:ext cx="18288000" cy="601345"/>
            <a:chOff x="0" y="9685830"/>
            <a:chExt cx="18288000" cy="601345"/>
          </a:xfrm>
        </p:grpSpPr>
        <p:sp>
          <p:nvSpPr>
            <p:cNvPr id="4" name="object 4" descr=""/>
            <p:cNvSpPr/>
            <p:nvPr/>
          </p:nvSpPr>
          <p:spPr>
            <a:xfrm>
              <a:off x="0" y="9857280"/>
              <a:ext cx="18288000" cy="429895"/>
            </a:xfrm>
            <a:custGeom>
              <a:avLst/>
              <a:gdLst/>
              <a:ahLst/>
              <a:cxnLst/>
              <a:rect l="l" t="t" r="r" b="b"/>
              <a:pathLst>
                <a:path w="18288000" h="429895">
                  <a:moveTo>
                    <a:pt x="0" y="429719"/>
                  </a:moveTo>
                  <a:lnTo>
                    <a:pt x="18288000" y="429719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429719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9685830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17261309" y="3056723"/>
            <a:ext cx="1026794" cy="3916045"/>
          </a:xfrm>
          <a:custGeom>
            <a:avLst/>
            <a:gdLst/>
            <a:ahLst/>
            <a:cxnLst/>
            <a:rect l="l" t="t" r="r" b="b"/>
            <a:pathLst>
              <a:path w="1026794" h="3916045">
                <a:moveTo>
                  <a:pt x="1026691" y="82301"/>
                </a:moveTo>
                <a:lnTo>
                  <a:pt x="1026691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6691" y="82301"/>
                </a:lnTo>
                <a:close/>
              </a:path>
              <a:path w="1026794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4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3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6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7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6794" h="3916045">
                <a:moveTo>
                  <a:pt x="1026691" y="3915863"/>
                </a:moveTo>
                <a:lnTo>
                  <a:pt x="1026691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6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80" y="3913864"/>
                </a:lnTo>
                <a:lnTo>
                  <a:pt x="1026691" y="3915863"/>
                </a:lnTo>
                <a:close/>
              </a:path>
              <a:path w="1026794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0" y="3056723"/>
            <a:ext cx="1026794" cy="3916045"/>
          </a:xfrm>
          <a:custGeom>
            <a:avLst/>
            <a:gdLst/>
            <a:ahLst/>
            <a:cxnLst/>
            <a:rect l="l" t="t" r="r" b="b"/>
            <a:pathLst>
              <a:path w="1026794" h="3916045">
                <a:moveTo>
                  <a:pt x="0" y="82300"/>
                </a:moveTo>
                <a:lnTo>
                  <a:pt x="0" y="1179"/>
                </a:lnTo>
                <a:lnTo>
                  <a:pt x="249256" y="642"/>
                </a:lnTo>
                <a:lnTo>
                  <a:pt x="957121" y="0"/>
                </a:lnTo>
                <a:lnTo>
                  <a:pt x="989913" y="1624"/>
                </a:lnTo>
                <a:lnTo>
                  <a:pt x="1008207" y="9727"/>
                </a:lnTo>
                <a:lnTo>
                  <a:pt x="1016168" y="28455"/>
                </a:lnTo>
                <a:lnTo>
                  <a:pt x="1017958" y="61956"/>
                </a:lnTo>
                <a:lnTo>
                  <a:pt x="1017966" y="79871"/>
                </a:lnTo>
                <a:lnTo>
                  <a:pt x="905367" y="79871"/>
                </a:lnTo>
                <a:lnTo>
                  <a:pt x="753090" y="80184"/>
                </a:lnTo>
                <a:lnTo>
                  <a:pt x="231745" y="80888"/>
                </a:lnTo>
                <a:lnTo>
                  <a:pt x="139110" y="81280"/>
                </a:lnTo>
                <a:lnTo>
                  <a:pt x="0" y="82300"/>
                </a:lnTo>
                <a:close/>
              </a:path>
              <a:path w="1026794" h="3916045">
                <a:moveTo>
                  <a:pt x="988908" y="1583241"/>
                </a:moveTo>
                <a:lnTo>
                  <a:pt x="971267" y="1579445"/>
                </a:lnTo>
                <a:lnTo>
                  <a:pt x="957137" y="1567192"/>
                </a:lnTo>
                <a:lnTo>
                  <a:pt x="947742" y="1547988"/>
                </a:lnTo>
                <a:lnTo>
                  <a:pt x="944307" y="1523337"/>
                </a:lnTo>
                <a:lnTo>
                  <a:pt x="944376" y="928570"/>
                </a:lnTo>
                <a:lnTo>
                  <a:pt x="944159" y="879013"/>
                </a:lnTo>
                <a:lnTo>
                  <a:pt x="943885" y="834617"/>
                </a:lnTo>
                <a:lnTo>
                  <a:pt x="943447" y="779904"/>
                </a:lnTo>
                <a:lnTo>
                  <a:pt x="942951" y="732463"/>
                </a:lnTo>
                <a:lnTo>
                  <a:pt x="942286" y="680803"/>
                </a:lnTo>
                <a:lnTo>
                  <a:pt x="941508" y="631256"/>
                </a:lnTo>
                <a:lnTo>
                  <a:pt x="940735" y="579304"/>
                </a:lnTo>
                <a:lnTo>
                  <a:pt x="940148" y="527356"/>
                </a:lnTo>
                <a:lnTo>
                  <a:pt x="939711" y="475410"/>
                </a:lnTo>
                <a:lnTo>
                  <a:pt x="939391" y="423467"/>
                </a:lnTo>
                <a:lnTo>
                  <a:pt x="939152" y="371527"/>
                </a:lnTo>
                <a:lnTo>
                  <a:pt x="938576" y="215715"/>
                </a:lnTo>
                <a:lnTo>
                  <a:pt x="938315" y="163779"/>
                </a:lnTo>
                <a:lnTo>
                  <a:pt x="937962" y="111844"/>
                </a:lnTo>
                <a:lnTo>
                  <a:pt x="905367" y="79871"/>
                </a:lnTo>
                <a:lnTo>
                  <a:pt x="1017966" y="79871"/>
                </a:lnTo>
                <a:lnTo>
                  <a:pt x="1018011" y="163779"/>
                </a:lnTo>
                <a:lnTo>
                  <a:pt x="1018269" y="196132"/>
                </a:lnTo>
                <a:lnTo>
                  <a:pt x="1019570" y="300020"/>
                </a:lnTo>
                <a:lnTo>
                  <a:pt x="1023743" y="611661"/>
                </a:lnTo>
                <a:lnTo>
                  <a:pt x="1018382" y="641891"/>
                </a:lnTo>
                <a:lnTo>
                  <a:pt x="1016543" y="672109"/>
                </a:lnTo>
                <a:lnTo>
                  <a:pt x="1018459" y="702303"/>
                </a:lnTo>
                <a:lnTo>
                  <a:pt x="1024365" y="732463"/>
                </a:lnTo>
                <a:lnTo>
                  <a:pt x="1024466" y="834617"/>
                </a:lnTo>
                <a:lnTo>
                  <a:pt x="1024591" y="978129"/>
                </a:lnTo>
                <a:lnTo>
                  <a:pt x="1024648" y="1038941"/>
                </a:lnTo>
                <a:lnTo>
                  <a:pt x="1024773" y="1141106"/>
                </a:lnTo>
                <a:lnTo>
                  <a:pt x="1024854" y="1192187"/>
                </a:lnTo>
                <a:lnTo>
                  <a:pt x="1024950" y="1243268"/>
                </a:lnTo>
                <a:lnTo>
                  <a:pt x="1025201" y="1345425"/>
                </a:lnTo>
                <a:lnTo>
                  <a:pt x="1025360" y="1396501"/>
                </a:lnTo>
                <a:lnTo>
                  <a:pt x="1026554" y="1440128"/>
                </a:lnTo>
                <a:lnTo>
                  <a:pt x="1026554" y="1548977"/>
                </a:lnTo>
                <a:lnTo>
                  <a:pt x="1018891" y="1565886"/>
                </a:lnTo>
                <a:lnTo>
                  <a:pt x="1005742" y="1578249"/>
                </a:lnTo>
                <a:lnTo>
                  <a:pt x="988908" y="1583241"/>
                </a:lnTo>
                <a:close/>
              </a:path>
              <a:path w="1026794" h="3916045">
                <a:moveTo>
                  <a:pt x="0" y="3915861"/>
                </a:moveTo>
                <a:lnTo>
                  <a:pt x="0" y="3833363"/>
                </a:lnTo>
                <a:lnTo>
                  <a:pt x="712647" y="3832831"/>
                </a:lnTo>
                <a:lnTo>
                  <a:pt x="839051" y="3832831"/>
                </a:lnTo>
                <a:lnTo>
                  <a:pt x="870843" y="3832325"/>
                </a:lnTo>
                <a:lnTo>
                  <a:pt x="889839" y="3833824"/>
                </a:lnTo>
                <a:lnTo>
                  <a:pt x="904962" y="3839976"/>
                </a:lnTo>
                <a:lnTo>
                  <a:pt x="915561" y="3851587"/>
                </a:lnTo>
                <a:lnTo>
                  <a:pt x="920980" y="3869462"/>
                </a:lnTo>
                <a:lnTo>
                  <a:pt x="918775" y="3885166"/>
                </a:lnTo>
                <a:lnTo>
                  <a:pt x="869412" y="3908277"/>
                </a:lnTo>
                <a:lnTo>
                  <a:pt x="769265" y="3911342"/>
                </a:lnTo>
                <a:lnTo>
                  <a:pt x="575379" y="3913864"/>
                </a:lnTo>
                <a:lnTo>
                  <a:pt x="218375" y="3913864"/>
                </a:lnTo>
                <a:lnTo>
                  <a:pt x="0" y="3915861"/>
                </a:lnTo>
                <a:close/>
              </a:path>
              <a:path w="1026794" h="3916045">
                <a:moveTo>
                  <a:pt x="804183" y="3832831"/>
                </a:moveTo>
                <a:lnTo>
                  <a:pt x="706327" y="3832831"/>
                </a:lnTo>
                <a:lnTo>
                  <a:pt x="738247" y="3832631"/>
                </a:lnTo>
                <a:lnTo>
                  <a:pt x="770832" y="3832631"/>
                </a:lnTo>
                <a:lnTo>
                  <a:pt x="804183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86630" y="1"/>
            <a:ext cx="1080770" cy="1933575"/>
          </a:xfrm>
          <a:custGeom>
            <a:avLst/>
            <a:gdLst/>
            <a:ahLst/>
            <a:cxnLst/>
            <a:rect l="l" t="t" r="r" b="b"/>
            <a:pathLst>
              <a:path w="1080770" h="1933575">
                <a:moveTo>
                  <a:pt x="627350" y="1933123"/>
                </a:moveTo>
                <a:lnTo>
                  <a:pt x="453364" y="1933123"/>
                </a:lnTo>
                <a:lnTo>
                  <a:pt x="437762" y="1932350"/>
                </a:lnTo>
                <a:lnTo>
                  <a:pt x="390562" y="1925307"/>
                </a:lnTo>
                <a:lnTo>
                  <a:pt x="344494" y="1913729"/>
                </a:lnTo>
                <a:lnTo>
                  <a:pt x="299876" y="1897750"/>
                </a:lnTo>
                <a:lnTo>
                  <a:pt x="257028" y="1877500"/>
                </a:lnTo>
                <a:lnTo>
                  <a:pt x="216266" y="1853111"/>
                </a:lnTo>
                <a:lnTo>
                  <a:pt x="177911" y="1824716"/>
                </a:lnTo>
                <a:lnTo>
                  <a:pt x="142280" y="1792447"/>
                </a:lnTo>
                <a:lnTo>
                  <a:pt x="110010" y="1756816"/>
                </a:lnTo>
                <a:lnTo>
                  <a:pt x="81615" y="1718460"/>
                </a:lnTo>
                <a:lnTo>
                  <a:pt x="57227" y="1677699"/>
                </a:lnTo>
                <a:lnTo>
                  <a:pt x="36977" y="1634850"/>
                </a:lnTo>
                <a:lnTo>
                  <a:pt x="20997" y="1590233"/>
                </a:lnTo>
                <a:lnTo>
                  <a:pt x="9420" y="1544165"/>
                </a:lnTo>
                <a:lnTo>
                  <a:pt x="2377" y="1496965"/>
                </a:lnTo>
                <a:lnTo>
                  <a:pt x="0" y="1448952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48952"/>
                </a:lnTo>
                <a:lnTo>
                  <a:pt x="1078337" y="1496965"/>
                </a:lnTo>
                <a:lnTo>
                  <a:pt x="1071294" y="1544165"/>
                </a:lnTo>
                <a:lnTo>
                  <a:pt x="1059717" y="1590233"/>
                </a:lnTo>
                <a:lnTo>
                  <a:pt x="1043737" y="1634850"/>
                </a:lnTo>
                <a:lnTo>
                  <a:pt x="1023487" y="1677699"/>
                </a:lnTo>
                <a:lnTo>
                  <a:pt x="999098" y="1718460"/>
                </a:lnTo>
                <a:lnTo>
                  <a:pt x="970704" y="1756816"/>
                </a:lnTo>
                <a:lnTo>
                  <a:pt x="938434" y="1792447"/>
                </a:lnTo>
                <a:lnTo>
                  <a:pt x="902803" y="1824716"/>
                </a:lnTo>
                <a:lnTo>
                  <a:pt x="864448" y="1853111"/>
                </a:lnTo>
                <a:lnTo>
                  <a:pt x="823686" y="1877500"/>
                </a:lnTo>
                <a:lnTo>
                  <a:pt x="780837" y="1897750"/>
                </a:lnTo>
                <a:lnTo>
                  <a:pt x="736220" y="1913729"/>
                </a:lnTo>
                <a:lnTo>
                  <a:pt x="690152" y="1925307"/>
                </a:lnTo>
                <a:lnTo>
                  <a:pt x="642952" y="1932350"/>
                </a:lnTo>
                <a:lnTo>
                  <a:pt x="627350" y="1933123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895212"/>
            <a:ext cx="4117334" cy="76809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709975" y="351039"/>
            <a:ext cx="12864465" cy="8331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300" spc="-135">
                <a:latin typeface="Lucida Sans Unicode"/>
                <a:cs typeface="Lucida Sans Unicode"/>
              </a:rPr>
              <a:t>Decentralized</a:t>
            </a:r>
            <a:r>
              <a:rPr dirty="0" sz="5300" spc="-275">
                <a:latin typeface="Lucida Sans Unicode"/>
                <a:cs typeface="Lucida Sans Unicode"/>
              </a:rPr>
              <a:t> </a:t>
            </a:r>
            <a:r>
              <a:rPr dirty="0" sz="5300" spc="-55">
                <a:latin typeface="Lucida Sans Unicode"/>
                <a:cs typeface="Lucida Sans Unicode"/>
              </a:rPr>
              <a:t>Zero</a:t>
            </a:r>
            <a:r>
              <a:rPr dirty="0" sz="5300" spc="-270">
                <a:latin typeface="Lucida Sans Unicode"/>
                <a:cs typeface="Lucida Sans Unicode"/>
              </a:rPr>
              <a:t> </a:t>
            </a:r>
            <a:r>
              <a:rPr dirty="0" sz="5300" spc="-175">
                <a:latin typeface="Lucida Sans Unicode"/>
                <a:cs typeface="Lucida Sans Unicode"/>
              </a:rPr>
              <a:t>Trust</a:t>
            </a:r>
            <a:r>
              <a:rPr dirty="0" sz="5300" spc="-275">
                <a:latin typeface="Lucida Sans Unicode"/>
                <a:cs typeface="Lucida Sans Unicode"/>
              </a:rPr>
              <a:t> </a:t>
            </a:r>
            <a:r>
              <a:rPr dirty="0" sz="5300" spc="-70">
                <a:latin typeface="Lucida Sans Unicode"/>
                <a:cs typeface="Lucida Sans Unicode"/>
              </a:rPr>
              <a:t>Network</a:t>
            </a:r>
            <a:r>
              <a:rPr dirty="0" sz="5300" spc="-270">
                <a:latin typeface="Lucida Sans Unicode"/>
                <a:cs typeface="Lucida Sans Unicode"/>
              </a:rPr>
              <a:t> </a:t>
            </a:r>
            <a:r>
              <a:rPr dirty="0" sz="5300" spc="-75">
                <a:latin typeface="Lucida Sans Unicode"/>
                <a:cs typeface="Lucida Sans Unicode"/>
              </a:rPr>
              <a:t>Access</a:t>
            </a:r>
            <a:endParaRPr sz="530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724614" y="1284489"/>
            <a:ext cx="4835525" cy="8331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300" spc="-105">
                <a:latin typeface="Lucida Sans Unicode"/>
                <a:cs typeface="Lucida Sans Unicode"/>
              </a:rPr>
              <a:t>with</a:t>
            </a:r>
            <a:r>
              <a:rPr dirty="0" sz="5300" spc="-290">
                <a:latin typeface="Lucida Sans Unicode"/>
                <a:cs typeface="Lucida Sans Unicode"/>
              </a:rPr>
              <a:t> </a:t>
            </a:r>
            <a:r>
              <a:rPr dirty="0" sz="5300" spc="-204">
                <a:latin typeface="Lucida Sans Unicode"/>
                <a:cs typeface="Lucida Sans Unicode"/>
              </a:rPr>
              <a:t>AI</a:t>
            </a:r>
            <a:r>
              <a:rPr dirty="0" sz="5300" spc="-290">
                <a:latin typeface="Lucida Sans Unicode"/>
                <a:cs typeface="Lucida Sans Unicode"/>
              </a:rPr>
              <a:t> </a:t>
            </a:r>
            <a:r>
              <a:rPr dirty="0" sz="5300" spc="-55">
                <a:latin typeface="Lucida Sans Unicode"/>
                <a:cs typeface="Lucida Sans Unicode"/>
              </a:rPr>
              <a:t>Security</a:t>
            </a:r>
            <a:endParaRPr sz="5300">
              <a:latin typeface="Lucida Sans Unicode"/>
              <a:cs typeface="Lucida Sans Unicode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5168" y="2096854"/>
            <a:ext cx="106107" cy="106107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461171" y="1938180"/>
            <a:ext cx="14509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10">
                <a:latin typeface="Arial Black"/>
                <a:cs typeface="Arial Black"/>
              </a:rPr>
              <a:t>Domains</a:t>
            </a:r>
            <a:r>
              <a:rPr dirty="0" sz="2400" spc="-110">
                <a:latin typeface="Lucida Sans Unicode"/>
                <a:cs typeface="Lucida Sans Unicode"/>
              </a:rPr>
              <a:t>: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5168" y="2521283"/>
            <a:ext cx="106107" cy="106107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5168" y="3370143"/>
            <a:ext cx="106107" cy="106107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5168" y="4219002"/>
            <a:ext cx="106107" cy="106107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5720433" y="1343277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 h="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58558" y="5887850"/>
            <a:ext cx="104775" cy="104774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58558" y="6726049"/>
            <a:ext cx="104775" cy="104774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58558" y="7564249"/>
            <a:ext cx="104775" cy="104774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1461171" y="2304342"/>
            <a:ext cx="15521305" cy="591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423660">
              <a:lnSpc>
                <a:spcPct val="115999"/>
              </a:lnSpc>
              <a:spcBef>
                <a:spcPts val="100"/>
              </a:spcBef>
            </a:pPr>
            <a:r>
              <a:rPr dirty="0" sz="2400" spc="-65">
                <a:latin typeface="Lucida Sans Unicode"/>
                <a:cs typeface="Lucida Sans Unicode"/>
              </a:rPr>
              <a:t>Cybersecurity:</a:t>
            </a:r>
            <a:r>
              <a:rPr dirty="0" sz="2400" spc="-110">
                <a:latin typeface="Lucida Sans Unicode"/>
                <a:cs typeface="Lucida Sans Unicode"/>
              </a:rPr>
              <a:t> </a:t>
            </a:r>
            <a:r>
              <a:rPr dirty="0" sz="2400" spc="-45">
                <a:latin typeface="Lucida Sans Unicode"/>
                <a:cs typeface="Lucida Sans Unicode"/>
              </a:rPr>
              <a:t>Implements</a:t>
            </a:r>
            <a:r>
              <a:rPr dirty="0" sz="2400" spc="-105">
                <a:latin typeface="Lucida Sans Unicode"/>
                <a:cs typeface="Lucida Sans Unicode"/>
              </a:rPr>
              <a:t> </a:t>
            </a:r>
            <a:r>
              <a:rPr dirty="0" sz="2400" spc="-40">
                <a:latin typeface="Lucida Sans Unicode"/>
                <a:cs typeface="Lucida Sans Unicode"/>
              </a:rPr>
              <a:t>Zero</a:t>
            </a:r>
            <a:r>
              <a:rPr dirty="0" sz="2400" spc="-105">
                <a:latin typeface="Lucida Sans Unicode"/>
                <a:cs typeface="Lucida Sans Unicode"/>
              </a:rPr>
              <a:t> </a:t>
            </a:r>
            <a:r>
              <a:rPr dirty="0" sz="2400" spc="-85">
                <a:latin typeface="Lucida Sans Unicode"/>
                <a:cs typeface="Lucida Sans Unicode"/>
              </a:rPr>
              <a:t>Trust</a:t>
            </a:r>
            <a:r>
              <a:rPr dirty="0" sz="2400" spc="-105">
                <a:latin typeface="Lucida Sans Unicode"/>
                <a:cs typeface="Lucida Sans Unicode"/>
              </a:rPr>
              <a:t> </a:t>
            </a:r>
            <a:r>
              <a:rPr dirty="0" sz="2400" spc="-50">
                <a:latin typeface="Lucida Sans Unicode"/>
                <a:cs typeface="Lucida Sans Unicode"/>
              </a:rPr>
              <a:t>model</a:t>
            </a:r>
            <a:r>
              <a:rPr dirty="0" sz="2400" spc="-105">
                <a:latin typeface="Lucida Sans Unicode"/>
                <a:cs typeface="Lucida Sans Unicode"/>
              </a:rPr>
              <a:t> </a:t>
            </a:r>
            <a:r>
              <a:rPr dirty="0" sz="2400" spc="-45">
                <a:latin typeface="Lucida Sans Unicode"/>
                <a:cs typeface="Lucida Sans Unicode"/>
              </a:rPr>
              <a:t>for</a:t>
            </a:r>
            <a:r>
              <a:rPr dirty="0" sz="2400" spc="-105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continuous </a:t>
            </a:r>
            <a:r>
              <a:rPr dirty="0" sz="2400" spc="-50">
                <a:latin typeface="Lucida Sans Unicode"/>
                <a:cs typeface="Lucida Sans Unicode"/>
              </a:rPr>
              <a:t>device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70">
                <a:latin typeface="Lucida Sans Unicode"/>
                <a:cs typeface="Lucida Sans Unicode"/>
              </a:rPr>
              <a:t>verification,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60">
                <a:latin typeface="Lucida Sans Unicode"/>
                <a:cs typeface="Lucida Sans Unicode"/>
              </a:rPr>
              <a:t>ensuring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no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80">
                <a:latin typeface="Lucida Sans Unicode"/>
                <a:cs typeface="Lucida Sans Unicode"/>
              </a:rPr>
              <a:t>implicit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55">
                <a:latin typeface="Lucida Sans Unicode"/>
                <a:cs typeface="Lucida Sans Unicode"/>
              </a:rPr>
              <a:t>trust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65">
                <a:latin typeface="Lucida Sans Unicode"/>
                <a:cs typeface="Lucida Sans Unicode"/>
              </a:rPr>
              <a:t>in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35">
                <a:latin typeface="Lucida Sans Unicode"/>
                <a:cs typeface="Lucida Sans Unicode"/>
              </a:rPr>
              <a:t>network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entities. </a:t>
            </a:r>
            <a:r>
              <a:rPr dirty="0" sz="2400" spc="-30">
                <a:latin typeface="Lucida Sans Unicode"/>
                <a:cs typeface="Lucida Sans Unicode"/>
              </a:rPr>
              <a:t>Network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55">
                <a:latin typeface="Lucida Sans Unicode"/>
                <a:cs typeface="Lucida Sans Unicode"/>
              </a:rPr>
              <a:t>Security: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55">
                <a:latin typeface="Lucida Sans Unicode"/>
                <a:cs typeface="Lucida Sans Unicode"/>
              </a:rPr>
              <a:t>Focuses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on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160">
                <a:latin typeface="Lucida Sans Unicode"/>
                <a:cs typeface="Lucida Sans Unicode"/>
              </a:rPr>
              <a:t>real-</a:t>
            </a:r>
            <a:r>
              <a:rPr dirty="0" sz="2400" spc="-50">
                <a:latin typeface="Lucida Sans Unicode"/>
                <a:cs typeface="Lucida Sans Unicode"/>
              </a:rPr>
              <a:t>time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35">
                <a:latin typeface="Lucida Sans Unicode"/>
                <a:cs typeface="Lucida Sans Unicode"/>
              </a:rPr>
              <a:t>anomaly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50">
                <a:latin typeface="Lucida Sans Unicode"/>
                <a:cs typeface="Lucida Sans Unicode"/>
              </a:rPr>
              <a:t>detection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25">
                <a:latin typeface="Lucida Sans Unicode"/>
                <a:cs typeface="Lucida Sans Unicode"/>
              </a:rPr>
              <a:t>and threat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75">
                <a:latin typeface="Lucida Sans Unicode"/>
                <a:cs typeface="Lucida Sans Unicode"/>
              </a:rPr>
              <a:t>mitigation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45">
                <a:latin typeface="Lucida Sans Unicode"/>
                <a:cs typeface="Lucida Sans Unicode"/>
              </a:rPr>
              <a:t>to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35">
                <a:latin typeface="Lucida Sans Unicode"/>
                <a:cs typeface="Lucida Sans Unicode"/>
              </a:rPr>
              <a:t>secure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95">
                <a:latin typeface="Lucida Sans Unicode"/>
                <a:cs typeface="Lucida Sans Unicode"/>
              </a:rPr>
              <a:t>IoT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65">
                <a:latin typeface="Lucida Sans Unicode"/>
                <a:cs typeface="Lucida Sans Unicode"/>
              </a:rPr>
              <a:t>traffic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flows.</a:t>
            </a:r>
            <a:endParaRPr sz="2400">
              <a:latin typeface="Lucida Sans Unicode"/>
              <a:cs typeface="Lucida Sans Unicode"/>
            </a:endParaRPr>
          </a:p>
          <a:p>
            <a:pPr marL="12700" marR="6300470">
              <a:lnSpc>
                <a:spcPct val="115999"/>
              </a:lnSpc>
            </a:pPr>
            <a:r>
              <a:rPr dirty="0" sz="2400" spc="-45">
                <a:latin typeface="Lucida Sans Unicode"/>
                <a:cs typeface="Lucida Sans Unicode"/>
              </a:rPr>
              <a:t>Blockchain</a:t>
            </a:r>
            <a:r>
              <a:rPr dirty="0" sz="2400" spc="-105">
                <a:latin typeface="Lucida Sans Unicode"/>
                <a:cs typeface="Lucida Sans Unicode"/>
              </a:rPr>
              <a:t> </a:t>
            </a:r>
            <a:r>
              <a:rPr dirty="0" sz="2400" spc="-80">
                <a:latin typeface="Lucida Sans Unicode"/>
                <a:cs typeface="Lucida Sans Unicode"/>
              </a:rPr>
              <a:t>Applications:</a:t>
            </a:r>
            <a:r>
              <a:rPr dirty="0" sz="2400" spc="-105">
                <a:latin typeface="Lucida Sans Unicode"/>
                <a:cs typeface="Lucida Sans Unicode"/>
              </a:rPr>
              <a:t> </a:t>
            </a:r>
            <a:r>
              <a:rPr dirty="0" sz="2400" spc="-45">
                <a:latin typeface="Lucida Sans Unicode"/>
                <a:cs typeface="Lucida Sans Unicode"/>
              </a:rPr>
              <a:t>Leverages</a:t>
            </a:r>
            <a:r>
              <a:rPr dirty="0" sz="2400" spc="-100">
                <a:latin typeface="Lucida Sans Unicode"/>
                <a:cs typeface="Lucida Sans Unicode"/>
              </a:rPr>
              <a:t> </a:t>
            </a:r>
            <a:r>
              <a:rPr dirty="0" sz="2400" spc="-60">
                <a:latin typeface="Lucida Sans Unicode"/>
                <a:cs typeface="Lucida Sans Unicode"/>
              </a:rPr>
              <a:t>distributed</a:t>
            </a:r>
            <a:r>
              <a:rPr dirty="0" sz="2400" spc="-105">
                <a:latin typeface="Lucida Sans Unicode"/>
                <a:cs typeface="Lucida Sans Unicode"/>
              </a:rPr>
              <a:t> </a:t>
            </a:r>
            <a:r>
              <a:rPr dirty="0" sz="2400" spc="-70">
                <a:latin typeface="Lucida Sans Unicode"/>
                <a:cs typeface="Lucida Sans Unicode"/>
              </a:rPr>
              <a:t>ledger</a:t>
            </a:r>
            <a:r>
              <a:rPr dirty="0" sz="2400" spc="-10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technology </a:t>
            </a:r>
            <a:r>
              <a:rPr dirty="0" sz="2400" spc="-45">
                <a:latin typeface="Lucida Sans Unicode"/>
                <a:cs typeface="Lucida Sans Unicode"/>
              </a:rPr>
              <a:t>for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65">
                <a:latin typeface="Lucida Sans Unicode"/>
                <a:cs typeface="Lucida Sans Unicode"/>
              </a:rPr>
              <a:t>robust,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65">
                <a:latin typeface="Lucida Sans Unicode"/>
                <a:cs typeface="Lucida Sans Unicode"/>
              </a:rPr>
              <a:t>decentralized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50">
                <a:latin typeface="Lucida Sans Unicode"/>
                <a:cs typeface="Lucida Sans Unicode"/>
              </a:rPr>
              <a:t>device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40">
                <a:latin typeface="Lucida Sans Unicode"/>
                <a:cs typeface="Lucida Sans Unicode"/>
              </a:rPr>
              <a:t>management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65">
                <a:latin typeface="Lucida Sans Unicode"/>
                <a:cs typeface="Lucida Sans Unicode"/>
              </a:rPr>
              <a:t>in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95">
                <a:latin typeface="Lucida Sans Unicode"/>
                <a:cs typeface="Lucida Sans Unicode"/>
              </a:rPr>
              <a:t>IoT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ecosystems.</a:t>
            </a:r>
            <a:endParaRPr sz="2400">
              <a:latin typeface="Lucida Sans Unicode"/>
              <a:cs typeface="Lucida Sans Unicode"/>
            </a:endParaRPr>
          </a:p>
          <a:p>
            <a:pPr marL="4258945">
              <a:lnSpc>
                <a:spcPct val="100000"/>
              </a:lnSpc>
              <a:spcBef>
                <a:spcPts val="3640"/>
              </a:spcBef>
            </a:pPr>
            <a:r>
              <a:rPr dirty="0" sz="2400" spc="-204">
                <a:latin typeface="Arial Black"/>
                <a:cs typeface="Arial Black"/>
              </a:rPr>
              <a:t>Specific</a:t>
            </a:r>
            <a:r>
              <a:rPr dirty="0" sz="2400" spc="-145">
                <a:latin typeface="Arial Black"/>
                <a:cs typeface="Arial Black"/>
              </a:rPr>
              <a:t> </a:t>
            </a:r>
            <a:r>
              <a:rPr dirty="0" sz="2400" spc="-95">
                <a:latin typeface="Arial Black"/>
                <a:cs typeface="Arial Black"/>
              </a:rPr>
              <a:t>Technologies:</a:t>
            </a:r>
            <a:endParaRPr sz="2400">
              <a:latin typeface="Arial Black"/>
              <a:cs typeface="Arial Black"/>
            </a:endParaRPr>
          </a:p>
          <a:p>
            <a:pPr marL="4777105" marR="5080">
              <a:lnSpc>
                <a:spcPct val="114599"/>
              </a:lnSpc>
            </a:pPr>
            <a:r>
              <a:rPr dirty="0" sz="2400" spc="-50">
                <a:latin typeface="Lucida Sans Unicode"/>
                <a:cs typeface="Lucida Sans Unicode"/>
              </a:rPr>
              <a:t>Hyperledger</a:t>
            </a:r>
            <a:r>
              <a:rPr dirty="0" sz="2400" spc="-110">
                <a:latin typeface="Lucida Sans Unicode"/>
                <a:cs typeface="Lucida Sans Unicode"/>
              </a:rPr>
              <a:t> </a:t>
            </a:r>
            <a:r>
              <a:rPr dirty="0" sz="2400" spc="-65">
                <a:latin typeface="Lucida Sans Unicode"/>
                <a:cs typeface="Lucida Sans Unicode"/>
              </a:rPr>
              <a:t>Fabric:</a:t>
            </a:r>
            <a:r>
              <a:rPr dirty="0" sz="2400" spc="-110">
                <a:latin typeface="Lucida Sans Unicode"/>
                <a:cs typeface="Lucida Sans Unicode"/>
              </a:rPr>
              <a:t> </a:t>
            </a:r>
            <a:r>
              <a:rPr dirty="0" sz="2400" spc="-60">
                <a:latin typeface="Lucida Sans Unicode"/>
                <a:cs typeface="Lucida Sans Unicode"/>
              </a:rPr>
              <a:t>Edge</a:t>
            </a:r>
            <a:r>
              <a:rPr dirty="0" sz="2400" spc="-110">
                <a:latin typeface="Lucida Sans Unicode"/>
                <a:cs typeface="Lucida Sans Unicode"/>
              </a:rPr>
              <a:t> </a:t>
            </a:r>
            <a:r>
              <a:rPr dirty="0" sz="2400" spc="-45">
                <a:latin typeface="Lucida Sans Unicode"/>
                <a:cs typeface="Lucida Sans Unicode"/>
              </a:rPr>
              <a:t>deployment</a:t>
            </a:r>
            <a:r>
              <a:rPr dirty="0" sz="2400" spc="-110">
                <a:latin typeface="Lucida Sans Unicode"/>
                <a:cs typeface="Lucida Sans Unicode"/>
              </a:rPr>
              <a:t> </a:t>
            </a:r>
            <a:r>
              <a:rPr dirty="0" sz="2400" spc="-40">
                <a:latin typeface="Lucida Sans Unicode"/>
                <a:cs typeface="Lucida Sans Unicode"/>
              </a:rPr>
              <a:t>with</a:t>
            </a:r>
            <a:r>
              <a:rPr dirty="0" sz="2400" spc="-110">
                <a:latin typeface="Lucida Sans Unicode"/>
                <a:cs typeface="Lucida Sans Unicode"/>
              </a:rPr>
              <a:t> </a:t>
            </a:r>
            <a:r>
              <a:rPr dirty="0" sz="2400" spc="-140">
                <a:latin typeface="Lucida Sans Unicode"/>
                <a:cs typeface="Lucida Sans Unicode"/>
              </a:rPr>
              <a:t>&lt;1GB</a:t>
            </a:r>
            <a:r>
              <a:rPr dirty="0" sz="2400" spc="-105">
                <a:latin typeface="Lucida Sans Unicode"/>
                <a:cs typeface="Lucida Sans Unicode"/>
              </a:rPr>
              <a:t> </a:t>
            </a:r>
            <a:r>
              <a:rPr dirty="0" sz="2400" spc="-35">
                <a:latin typeface="Lucida Sans Unicode"/>
                <a:cs typeface="Lucida Sans Unicode"/>
              </a:rPr>
              <a:t>RAM</a:t>
            </a:r>
            <a:r>
              <a:rPr dirty="0" sz="2400" spc="-110">
                <a:latin typeface="Lucida Sans Unicode"/>
                <a:cs typeface="Lucida Sans Unicode"/>
              </a:rPr>
              <a:t> </a:t>
            </a:r>
            <a:r>
              <a:rPr dirty="0" sz="2400" spc="-60">
                <a:latin typeface="Lucida Sans Unicode"/>
                <a:cs typeface="Lucida Sans Unicode"/>
              </a:rPr>
              <a:t>usage</a:t>
            </a:r>
            <a:r>
              <a:rPr dirty="0" sz="2400" spc="-110">
                <a:latin typeface="Lucida Sans Unicode"/>
                <a:cs typeface="Lucida Sans Unicode"/>
              </a:rPr>
              <a:t> </a:t>
            </a:r>
            <a:r>
              <a:rPr dirty="0" sz="2400" spc="-20">
                <a:latin typeface="Lucida Sans Unicode"/>
                <a:cs typeface="Lucida Sans Unicode"/>
              </a:rPr>
              <a:t>and</a:t>
            </a:r>
            <a:r>
              <a:rPr dirty="0" sz="2400" spc="-11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95%</a:t>
            </a:r>
            <a:r>
              <a:rPr dirty="0" sz="2400" spc="-11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faster </a:t>
            </a:r>
            <a:r>
              <a:rPr dirty="0" sz="2400" spc="-50">
                <a:latin typeface="Lucida Sans Unicode"/>
                <a:cs typeface="Lucida Sans Unicode"/>
              </a:rPr>
              <a:t>transactions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20">
                <a:latin typeface="Lucida Sans Unicode"/>
                <a:cs typeface="Lucida Sans Unicode"/>
              </a:rPr>
              <a:t>than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Ethereum.</a:t>
            </a:r>
            <a:endParaRPr sz="2400">
              <a:latin typeface="Lucida Sans Unicode"/>
              <a:cs typeface="Lucida Sans Unicode"/>
            </a:endParaRPr>
          </a:p>
          <a:p>
            <a:pPr marL="4777105" marR="325120">
              <a:lnSpc>
                <a:spcPct val="114599"/>
              </a:lnSpc>
            </a:pPr>
            <a:r>
              <a:rPr dirty="0" sz="2400" spc="-20">
                <a:latin typeface="Lucida Sans Unicode"/>
                <a:cs typeface="Lucida Sans Unicode"/>
              </a:rPr>
              <a:t>Ryu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25">
                <a:latin typeface="Lucida Sans Unicode"/>
                <a:cs typeface="Lucida Sans Unicode"/>
              </a:rPr>
              <a:t>SDN: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50">
                <a:latin typeface="Lucida Sans Unicode"/>
                <a:cs typeface="Lucida Sans Unicode"/>
              </a:rPr>
              <a:t>Employs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30">
                <a:latin typeface="Lucida Sans Unicode"/>
                <a:cs typeface="Lucida Sans Unicode"/>
              </a:rPr>
              <a:t>OpenFlow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145">
                <a:latin typeface="Lucida Sans Unicode"/>
                <a:cs typeface="Lucida Sans Unicode"/>
              </a:rPr>
              <a:t>1.3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40">
                <a:latin typeface="Lucida Sans Unicode"/>
                <a:cs typeface="Lucida Sans Unicode"/>
              </a:rPr>
              <a:t>with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20">
                <a:latin typeface="Lucida Sans Unicode"/>
                <a:cs typeface="Lucida Sans Unicode"/>
              </a:rPr>
              <a:t>IDS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60">
                <a:latin typeface="Lucida Sans Unicode"/>
                <a:cs typeface="Lucida Sans Unicode"/>
              </a:rPr>
              <a:t>capabilities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45">
                <a:latin typeface="Lucida Sans Unicode"/>
                <a:cs typeface="Lucida Sans Unicode"/>
              </a:rPr>
              <a:t>for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65">
                <a:latin typeface="Lucida Sans Unicode"/>
                <a:cs typeface="Lucida Sans Unicode"/>
              </a:rPr>
              <a:t>intelligent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35">
                <a:latin typeface="Lucida Sans Unicode"/>
                <a:cs typeface="Lucida Sans Unicode"/>
              </a:rPr>
              <a:t>traffic </a:t>
            </a:r>
            <a:r>
              <a:rPr dirty="0" sz="2400" spc="-10">
                <a:latin typeface="Lucida Sans Unicode"/>
                <a:cs typeface="Lucida Sans Unicode"/>
              </a:rPr>
              <a:t>management.</a:t>
            </a:r>
            <a:endParaRPr sz="2400">
              <a:latin typeface="Lucida Sans Unicode"/>
              <a:cs typeface="Lucida Sans Unicode"/>
            </a:endParaRPr>
          </a:p>
          <a:p>
            <a:pPr marL="4777105" marR="836930">
              <a:lnSpc>
                <a:spcPct val="114599"/>
              </a:lnSpc>
            </a:pPr>
            <a:r>
              <a:rPr dirty="0" sz="2400" spc="-90">
                <a:latin typeface="Lucida Sans Unicode"/>
                <a:cs typeface="Lucida Sans Unicode"/>
              </a:rPr>
              <a:t>Xgboost: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40">
                <a:latin typeface="Lucida Sans Unicode"/>
                <a:cs typeface="Lucida Sans Unicode"/>
              </a:rPr>
              <a:t>Leverages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80">
                <a:latin typeface="Lucida Sans Unicode"/>
                <a:cs typeface="Lucida Sans Unicode"/>
              </a:rPr>
              <a:t>LiteRT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145">
                <a:latin typeface="Lucida Sans Unicode"/>
                <a:cs typeface="Lucida Sans Unicode"/>
              </a:rPr>
              <a:t>(2025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40">
                <a:latin typeface="Lucida Sans Unicode"/>
                <a:cs typeface="Lucida Sans Unicode"/>
              </a:rPr>
              <a:t>update)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45">
                <a:latin typeface="Lucida Sans Unicode"/>
                <a:cs typeface="Lucida Sans Unicode"/>
              </a:rPr>
              <a:t>for</a:t>
            </a:r>
            <a:r>
              <a:rPr dirty="0" sz="2400" spc="-114">
                <a:latin typeface="Lucida Sans Unicode"/>
                <a:cs typeface="Lucida Sans Unicode"/>
              </a:rPr>
              <a:t> micro-</a:t>
            </a:r>
            <a:r>
              <a:rPr dirty="0" sz="2400" spc="-120">
                <a:latin typeface="Lucida Sans Unicode"/>
                <a:cs typeface="Lucida Sans Unicode"/>
              </a:rPr>
              <a:t>edge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120">
                <a:latin typeface="Lucida Sans Unicode"/>
                <a:cs typeface="Lucida Sans Unicode"/>
              </a:rPr>
              <a:t>AI,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35">
                <a:latin typeface="Lucida Sans Unicode"/>
                <a:cs typeface="Lucida Sans Unicode"/>
              </a:rPr>
              <a:t>trained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25">
                <a:latin typeface="Lucida Sans Unicode"/>
                <a:cs typeface="Lucida Sans Unicode"/>
              </a:rPr>
              <a:t>on </a:t>
            </a:r>
            <a:r>
              <a:rPr dirty="0" sz="2400" spc="-100">
                <a:latin typeface="Lucida Sans Unicode"/>
                <a:cs typeface="Lucida Sans Unicode"/>
              </a:rPr>
              <a:t>CICIDS2017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35">
                <a:latin typeface="Lucida Sans Unicode"/>
                <a:cs typeface="Lucida Sans Unicode"/>
              </a:rPr>
              <a:t>dataset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40">
                <a:latin typeface="Lucida Sans Unicode"/>
                <a:cs typeface="Lucida Sans Unicode"/>
              </a:rPr>
              <a:t>with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65">
                <a:latin typeface="Lucida Sans Unicode"/>
                <a:cs typeface="Lucida Sans Unicode"/>
              </a:rPr>
              <a:t>custom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25">
                <a:latin typeface="Lucida Sans Unicode"/>
                <a:cs typeface="Lucida Sans Unicode"/>
              </a:rPr>
              <a:t>neural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networks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478809" y="9192091"/>
            <a:ext cx="6997065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IT22365132</a:t>
            </a:r>
            <a:r>
              <a:rPr dirty="0" sz="2800" spc="-2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90">
                <a:latin typeface="Trebuchet MS"/>
                <a:cs typeface="Trebuchet MS"/>
              </a:rPr>
              <a:t>C.B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265">
                <a:latin typeface="Trebuchet MS"/>
                <a:cs typeface="Trebuchet MS"/>
              </a:rPr>
              <a:t>Gunasena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6717229" y="1"/>
            <a:ext cx="1080770" cy="1933575"/>
          </a:xfrm>
          <a:custGeom>
            <a:avLst/>
            <a:gdLst/>
            <a:ahLst/>
            <a:cxnLst/>
            <a:rect l="l" t="t" r="r" b="b"/>
            <a:pathLst>
              <a:path w="1080769" h="1933575">
                <a:moveTo>
                  <a:pt x="627351" y="1933123"/>
                </a:moveTo>
                <a:lnTo>
                  <a:pt x="453364" y="1933123"/>
                </a:lnTo>
                <a:lnTo>
                  <a:pt x="437762" y="1932350"/>
                </a:lnTo>
                <a:lnTo>
                  <a:pt x="390562" y="1925307"/>
                </a:lnTo>
                <a:lnTo>
                  <a:pt x="344494" y="1913729"/>
                </a:lnTo>
                <a:lnTo>
                  <a:pt x="299876" y="1897750"/>
                </a:lnTo>
                <a:lnTo>
                  <a:pt x="257028" y="1877500"/>
                </a:lnTo>
                <a:lnTo>
                  <a:pt x="216266" y="1853111"/>
                </a:lnTo>
                <a:lnTo>
                  <a:pt x="177911" y="1824716"/>
                </a:lnTo>
                <a:lnTo>
                  <a:pt x="142279" y="1792447"/>
                </a:lnTo>
                <a:lnTo>
                  <a:pt x="110010" y="1756816"/>
                </a:lnTo>
                <a:lnTo>
                  <a:pt x="81615" y="1718460"/>
                </a:lnTo>
                <a:lnTo>
                  <a:pt x="57227" y="1677699"/>
                </a:lnTo>
                <a:lnTo>
                  <a:pt x="36977" y="1634850"/>
                </a:lnTo>
                <a:lnTo>
                  <a:pt x="20997" y="1590233"/>
                </a:lnTo>
                <a:lnTo>
                  <a:pt x="9420" y="1544165"/>
                </a:lnTo>
                <a:lnTo>
                  <a:pt x="2377" y="1496965"/>
                </a:lnTo>
                <a:lnTo>
                  <a:pt x="0" y="1448952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48952"/>
                </a:lnTo>
                <a:lnTo>
                  <a:pt x="1078338" y="1496965"/>
                </a:lnTo>
                <a:lnTo>
                  <a:pt x="1071295" y="1544165"/>
                </a:lnTo>
                <a:lnTo>
                  <a:pt x="1059717" y="1590233"/>
                </a:lnTo>
                <a:lnTo>
                  <a:pt x="1043737" y="1634850"/>
                </a:lnTo>
                <a:lnTo>
                  <a:pt x="1023487" y="1677699"/>
                </a:lnTo>
                <a:lnTo>
                  <a:pt x="999099" y="1718460"/>
                </a:lnTo>
                <a:lnTo>
                  <a:pt x="970704" y="1756816"/>
                </a:lnTo>
                <a:lnTo>
                  <a:pt x="938434" y="1792447"/>
                </a:lnTo>
                <a:lnTo>
                  <a:pt x="902803" y="1824716"/>
                </a:lnTo>
                <a:lnTo>
                  <a:pt x="864447" y="1853111"/>
                </a:lnTo>
                <a:lnTo>
                  <a:pt x="823686" y="1877500"/>
                </a:lnTo>
                <a:lnTo>
                  <a:pt x="780837" y="1897750"/>
                </a:lnTo>
                <a:lnTo>
                  <a:pt x="736220" y="1913729"/>
                </a:lnTo>
                <a:lnTo>
                  <a:pt x="690152" y="1925307"/>
                </a:lnTo>
                <a:lnTo>
                  <a:pt x="642953" y="1932350"/>
                </a:lnTo>
                <a:lnTo>
                  <a:pt x="627351" y="1933123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9685830"/>
            <a:ext cx="18288000" cy="601345"/>
            <a:chOff x="0" y="9685830"/>
            <a:chExt cx="18288000" cy="601345"/>
          </a:xfrm>
        </p:grpSpPr>
        <p:sp>
          <p:nvSpPr>
            <p:cNvPr id="4" name="object 4" descr=""/>
            <p:cNvSpPr/>
            <p:nvPr/>
          </p:nvSpPr>
          <p:spPr>
            <a:xfrm>
              <a:off x="0" y="9857280"/>
              <a:ext cx="18288000" cy="429895"/>
            </a:xfrm>
            <a:custGeom>
              <a:avLst/>
              <a:gdLst/>
              <a:ahLst/>
              <a:cxnLst/>
              <a:rect l="l" t="t" r="r" b="b"/>
              <a:pathLst>
                <a:path w="18288000" h="429895">
                  <a:moveTo>
                    <a:pt x="0" y="429719"/>
                  </a:moveTo>
                  <a:lnTo>
                    <a:pt x="18288000" y="429719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429719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9685830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17261309" y="3056723"/>
            <a:ext cx="1026794" cy="3916045"/>
          </a:xfrm>
          <a:custGeom>
            <a:avLst/>
            <a:gdLst/>
            <a:ahLst/>
            <a:cxnLst/>
            <a:rect l="l" t="t" r="r" b="b"/>
            <a:pathLst>
              <a:path w="1026794" h="3916045">
                <a:moveTo>
                  <a:pt x="1026691" y="82301"/>
                </a:moveTo>
                <a:lnTo>
                  <a:pt x="1026691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6691" y="82301"/>
                </a:lnTo>
                <a:close/>
              </a:path>
              <a:path w="1026794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4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3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6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7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6794" h="3916045">
                <a:moveTo>
                  <a:pt x="1026691" y="3915863"/>
                </a:moveTo>
                <a:lnTo>
                  <a:pt x="1026691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6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80" y="3913864"/>
                </a:lnTo>
                <a:lnTo>
                  <a:pt x="1026691" y="3915863"/>
                </a:lnTo>
                <a:close/>
              </a:path>
              <a:path w="1026794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0" y="3056723"/>
            <a:ext cx="1026794" cy="3916045"/>
          </a:xfrm>
          <a:custGeom>
            <a:avLst/>
            <a:gdLst/>
            <a:ahLst/>
            <a:cxnLst/>
            <a:rect l="l" t="t" r="r" b="b"/>
            <a:pathLst>
              <a:path w="1026794" h="3916045">
                <a:moveTo>
                  <a:pt x="0" y="82300"/>
                </a:moveTo>
                <a:lnTo>
                  <a:pt x="0" y="1179"/>
                </a:lnTo>
                <a:lnTo>
                  <a:pt x="249256" y="642"/>
                </a:lnTo>
                <a:lnTo>
                  <a:pt x="957121" y="0"/>
                </a:lnTo>
                <a:lnTo>
                  <a:pt x="989913" y="1624"/>
                </a:lnTo>
                <a:lnTo>
                  <a:pt x="1008207" y="9727"/>
                </a:lnTo>
                <a:lnTo>
                  <a:pt x="1016168" y="28455"/>
                </a:lnTo>
                <a:lnTo>
                  <a:pt x="1017958" y="61956"/>
                </a:lnTo>
                <a:lnTo>
                  <a:pt x="1017966" y="79871"/>
                </a:lnTo>
                <a:lnTo>
                  <a:pt x="905367" y="79871"/>
                </a:lnTo>
                <a:lnTo>
                  <a:pt x="753090" y="80184"/>
                </a:lnTo>
                <a:lnTo>
                  <a:pt x="231745" y="80888"/>
                </a:lnTo>
                <a:lnTo>
                  <a:pt x="139110" y="81280"/>
                </a:lnTo>
                <a:lnTo>
                  <a:pt x="0" y="82300"/>
                </a:lnTo>
                <a:close/>
              </a:path>
              <a:path w="1026794" h="3916045">
                <a:moveTo>
                  <a:pt x="988908" y="1583241"/>
                </a:moveTo>
                <a:lnTo>
                  <a:pt x="971267" y="1579445"/>
                </a:lnTo>
                <a:lnTo>
                  <a:pt x="957137" y="1567192"/>
                </a:lnTo>
                <a:lnTo>
                  <a:pt x="947742" y="1547988"/>
                </a:lnTo>
                <a:lnTo>
                  <a:pt x="944307" y="1523337"/>
                </a:lnTo>
                <a:lnTo>
                  <a:pt x="944376" y="928570"/>
                </a:lnTo>
                <a:lnTo>
                  <a:pt x="944159" y="879013"/>
                </a:lnTo>
                <a:lnTo>
                  <a:pt x="943885" y="834617"/>
                </a:lnTo>
                <a:lnTo>
                  <a:pt x="943447" y="779904"/>
                </a:lnTo>
                <a:lnTo>
                  <a:pt x="942951" y="732463"/>
                </a:lnTo>
                <a:lnTo>
                  <a:pt x="942286" y="680803"/>
                </a:lnTo>
                <a:lnTo>
                  <a:pt x="941508" y="631256"/>
                </a:lnTo>
                <a:lnTo>
                  <a:pt x="940735" y="579304"/>
                </a:lnTo>
                <a:lnTo>
                  <a:pt x="940148" y="527356"/>
                </a:lnTo>
                <a:lnTo>
                  <a:pt x="939711" y="475410"/>
                </a:lnTo>
                <a:lnTo>
                  <a:pt x="939391" y="423467"/>
                </a:lnTo>
                <a:lnTo>
                  <a:pt x="939152" y="371527"/>
                </a:lnTo>
                <a:lnTo>
                  <a:pt x="938576" y="215715"/>
                </a:lnTo>
                <a:lnTo>
                  <a:pt x="938315" y="163779"/>
                </a:lnTo>
                <a:lnTo>
                  <a:pt x="937962" y="111844"/>
                </a:lnTo>
                <a:lnTo>
                  <a:pt x="905367" y="79871"/>
                </a:lnTo>
                <a:lnTo>
                  <a:pt x="1017966" y="79871"/>
                </a:lnTo>
                <a:lnTo>
                  <a:pt x="1018011" y="163779"/>
                </a:lnTo>
                <a:lnTo>
                  <a:pt x="1018269" y="196132"/>
                </a:lnTo>
                <a:lnTo>
                  <a:pt x="1019570" y="300020"/>
                </a:lnTo>
                <a:lnTo>
                  <a:pt x="1023743" y="611661"/>
                </a:lnTo>
                <a:lnTo>
                  <a:pt x="1018382" y="641891"/>
                </a:lnTo>
                <a:lnTo>
                  <a:pt x="1016543" y="672109"/>
                </a:lnTo>
                <a:lnTo>
                  <a:pt x="1018459" y="702303"/>
                </a:lnTo>
                <a:lnTo>
                  <a:pt x="1024365" y="732463"/>
                </a:lnTo>
                <a:lnTo>
                  <a:pt x="1024466" y="834617"/>
                </a:lnTo>
                <a:lnTo>
                  <a:pt x="1024591" y="978129"/>
                </a:lnTo>
                <a:lnTo>
                  <a:pt x="1024648" y="1038941"/>
                </a:lnTo>
                <a:lnTo>
                  <a:pt x="1024773" y="1141106"/>
                </a:lnTo>
                <a:lnTo>
                  <a:pt x="1024854" y="1192187"/>
                </a:lnTo>
                <a:lnTo>
                  <a:pt x="1024950" y="1243268"/>
                </a:lnTo>
                <a:lnTo>
                  <a:pt x="1025201" y="1345425"/>
                </a:lnTo>
                <a:lnTo>
                  <a:pt x="1025360" y="1396501"/>
                </a:lnTo>
                <a:lnTo>
                  <a:pt x="1026554" y="1440128"/>
                </a:lnTo>
                <a:lnTo>
                  <a:pt x="1026554" y="1548977"/>
                </a:lnTo>
                <a:lnTo>
                  <a:pt x="1018891" y="1565886"/>
                </a:lnTo>
                <a:lnTo>
                  <a:pt x="1005742" y="1578249"/>
                </a:lnTo>
                <a:lnTo>
                  <a:pt x="988908" y="1583241"/>
                </a:lnTo>
                <a:close/>
              </a:path>
              <a:path w="1026794" h="3916045">
                <a:moveTo>
                  <a:pt x="0" y="3915861"/>
                </a:moveTo>
                <a:lnTo>
                  <a:pt x="0" y="3833363"/>
                </a:lnTo>
                <a:lnTo>
                  <a:pt x="712647" y="3832831"/>
                </a:lnTo>
                <a:lnTo>
                  <a:pt x="839051" y="3832831"/>
                </a:lnTo>
                <a:lnTo>
                  <a:pt x="870843" y="3832325"/>
                </a:lnTo>
                <a:lnTo>
                  <a:pt x="889839" y="3833824"/>
                </a:lnTo>
                <a:lnTo>
                  <a:pt x="904962" y="3839976"/>
                </a:lnTo>
                <a:lnTo>
                  <a:pt x="915561" y="3851587"/>
                </a:lnTo>
                <a:lnTo>
                  <a:pt x="920980" y="3869462"/>
                </a:lnTo>
                <a:lnTo>
                  <a:pt x="918775" y="3885166"/>
                </a:lnTo>
                <a:lnTo>
                  <a:pt x="869412" y="3908277"/>
                </a:lnTo>
                <a:lnTo>
                  <a:pt x="769265" y="3911342"/>
                </a:lnTo>
                <a:lnTo>
                  <a:pt x="575379" y="3913864"/>
                </a:lnTo>
                <a:lnTo>
                  <a:pt x="218375" y="3913864"/>
                </a:lnTo>
                <a:lnTo>
                  <a:pt x="0" y="3915861"/>
                </a:lnTo>
                <a:close/>
              </a:path>
              <a:path w="1026794" h="3916045">
                <a:moveTo>
                  <a:pt x="804183" y="3832831"/>
                </a:moveTo>
                <a:lnTo>
                  <a:pt x="706327" y="3832831"/>
                </a:lnTo>
                <a:lnTo>
                  <a:pt x="738247" y="3832631"/>
                </a:lnTo>
                <a:lnTo>
                  <a:pt x="770832" y="3832631"/>
                </a:lnTo>
                <a:lnTo>
                  <a:pt x="804183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86630" y="1"/>
            <a:ext cx="1080770" cy="1933575"/>
          </a:xfrm>
          <a:custGeom>
            <a:avLst/>
            <a:gdLst/>
            <a:ahLst/>
            <a:cxnLst/>
            <a:rect l="l" t="t" r="r" b="b"/>
            <a:pathLst>
              <a:path w="1080770" h="1933575">
                <a:moveTo>
                  <a:pt x="627350" y="1933123"/>
                </a:moveTo>
                <a:lnTo>
                  <a:pt x="453364" y="1933123"/>
                </a:lnTo>
                <a:lnTo>
                  <a:pt x="437762" y="1932350"/>
                </a:lnTo>
                <a:lnTo>
                  <a:pt x="390562" y="1925307"/>
                </a:lnTo>
                <a:lnTo>
                  <a:pt x="344494" y="1913729"/>
                </a:lnTo>
                <a:lnTo>
                  <a:pt x="299876" y="1897750"/>
                </a:lnTo>
                <a:lnTo>
                  <a:pt x="257028" y="1877500"/>
                </a:lnTo>
                <a:lnTo>
                  <a:pt x="216266" y="1853111"/>
                </a:lnTo>
                <a:lnTo>
                  <a:pt x="177911" y="1824716"/>
                </a:lnTo>
                <a:lnTo>
                  <a:pt x="142280" y="1792447"/>
                </a:lnTo>
                <a:lnTo>
                  <a:pt x="110010" y="1756816"/>
                </a:lnTo>
                <a:lnTo>
                  <a:pt x="81615" y="1718460"/>
                </a:lnTo>
                <a:lnTo>
                  <a:pt x="57227" y="1677699"/>
                </a:lnTo>
                <a:lnTo>
                  <a:pt x="36977" y="1634850"/>
                </a:lnTo>
                <a:lnTo>
                  <a:pt x="20997" y="1590233"/>
                </a:lnTo>
                <a:lnTo>
                  <a:pt x="9420" y="1544165"/>
                </a:lnTo>
                <a:lnTo>
                  <a:pt x="2377" y="1496965"/>
                </a:lnTo>
                <a:lnTo>
                  <a:pt x="0" y="1448952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48952"/>
                </a:lnTo>
                <a:lnTo>
                  <a:pt x="1078337" y="1496965"/>
                </a:lnTo>
                <a:lnTo>
                  <a:pt x="1071294" y="1544165"/>
                </a:lnTo>
                <a:lnTo>
                  <a:pt x="1059717" y="1590233"/>
                </a:lnTo>
                <a:lnTo>
                  <a:pt x="1043737" y="1634850"/>
                </a:lnTo>
                <a:lnTo>
                  <a:pt x="1023487" y="1677699"/>
                </a:lnTo>
                <a:lnTo>
                  <a:pt x="999098" y="1718460"/>
                </a:lnTo>
                <a:lnTo>
                  <a:pt x="970704" y="1756816"/>
                </a:lnTo>
                <a:lnTo>
                  <a:pt x="938434" y="1792447"/>
                </a:lnTo>
                <a:lnTo>
                  <a:pt x="902803" y="1824716"/>
                </a:lnTo>
                <a:lnTo>
                  <a:pt x="864448" y="1853111"/>
                </a:lnTo>
                <a:lnTo>
                  <a:pt x="823686" y="1877500"/>
                </a:lnTo>
                <a:lnTo>
                  <a:pt x="780837" y="1897750"/>
                </a:lnTo>
                <a:lnTo>
                  <a:pt x="736220" y="1913729"/>
                </a:lnTo>
                <a:lnTo>
                  <a:pt x="690152" y="1925307"/>
                </a:lnTo>
                <a:lnTo>
                  <a:pt x="642952" y="1932350"/>
                </a:lnTo>
                <a:lnTo>
                  <a:pt x="627350" y="1933123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895212"/>
            <a:ext cx="4117334" cy="76809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830099" y="118320"/>
            <a:ext cx="12864465" cy="18923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027170" marR="5080" indent="-4015104">
              <a:lnSpc>
                <a:spcPct val="115599"/>
              </a:lnSpc>
              <a:spcBef>
                <a:spcPts val="95"/>
              </a:spcBef>
            </a:pPr>
            <a:r>
              <a:rPr dirty="0" sz="5300" spc="-135">
                <a:latin typeface="Lucida Sans Unicode"/>
                <a:cs typeface="Lucida Sans Unicode"/>
              </a:rPr>
              <a:t>Decentralized</a:t>
            </a:r>
            <a:r>
              <a:rPr dirty="0" sz="5300" spc="-275">
                <a:latin typeface="Lucida Sans Unicode"/>
                <a:cs typeface="Lucida Sans Unicode"/>
              </a:rPr>
              <a:t> </a:t>
            </a:r>
            <a:r>
              <a:rPr dirty="0" sz="5300" spc="-55">
                <a:latin typeface="Lucida Sans Unicode"/>
                <a:cs typeface="Lucida Sans Unicode"/>
              </a:rPr>
              <a:t>Zero</a:t>
            </a:r>
            <a:r>
              <a:rPr dirty="0" sz="5300" spc="-270">
                <a:latin typeface="Lucida Sans Unicode"/>
                <a:cs typeface="Lucida Sans Unicode"/>
              </a:rPr>
              <a:t> </a:t>
            </a:r>
            <a:r>
              <a:rPr dirty="0" sz="5300" spc="-175">
                <a:latin typeface="Lucida Sans Unicode"/>
                <a:cs typeface="Lucida Sans Unicode"/>
              </a:rPr>
              <a:t>Trust</a:t>
            </a:r>
            <a:r>
              <a:rPr dirty="0" sz="5300" spc="-275">
                <a:latin typeface="Lucida Sans Unicode"/>
                <a:cs typeface="Lucida Sans Unicode"/>
              </a:rPr>
              <a:t> </a:t>
            </a:r>
            <a:r>
              <a:rPr dirty="0" sz="5300" spc="-70">
                <a:latin typeface="Lucida Sans Unicode"/>
                <a:cs typeface="Lucida Sans Unicode"/>
              </a:rPr>
              <a:t>Network</a:t>
            </a:r>
            <a:r>
              <a:rPr dirty="0" sz="5300" spc="-270">
                <a:latin typeface="Lucida Sans Unicode"/>
                <a:cs typeface="Lucida Sans Unicode"/>
              </a:rPr>
              <a:t> </a:t>
            </a:r>
            <a:r>
              <a:rPr dirty="0" sz="5300" spc="-90">
                <a:latin typeface="Lucida Sans Unicode"/>
                <a:cs typeface="Lucida Sans Unicode"/>
              </a:rPr>
              <a:t>Access </a:t>
            </a:r>
            <a:r>
              <a:rPr dirty="0" sz="5300" spc="-105">
                <a:latin typeface="Lucida Sans Unicode"/>
                <a:cs typeface="Lucida Sans Unicode"/>
              </a:rPr>
              <a:t>with</a:t>
            </a:r>
            <a:r>
              <a:rPr dirty="0" sz="5300" spc="-290">
                <a:latin typeface="Lucida Sans Unicode"/>
                <a:cs typeface="Lucida Sans Unicode"/>
              </a:rPr>
              <a:t> </a:t>
            </a:r>
            <a:r>
              <a:rPr dirty="0" sz="5300" spc="-204">
                <a:latin typeface="Lucida Sans Unicode"/>
                <a:cs typeface="Lucida Sans Unicode"/>
              </a:rPr>
              <a:t>AI</a:t>
            </a:r>
            <a:r>
              <a:rPr dirty="0" sz="5300" spc="-290">
                <a:latin typeface="Lucida Sans Unicode"/>
                <a:cs typeface="Lucida Sans Unicode"/>
              </a:rPr>
              <a:t> </a:t>
            </a:r>
            <a:r>
              <a:rPr dirty="0" sz="5300" spc="-10">
                <a:latin typeface="Lucida Sans Unicode"/>
                <a:cs typeface="Lucida Sans Unicode"/>
              </a:rPr>
              <a:t>Security</a:t>
            </a:r>
            <a:endParaRPr sz="530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5720433" y="1343277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 h="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0246" y="2985104"/>
            <a:ext cx="104775" cy="10477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0246" y="3842354"/>
            <a:ext cx="104775" cy="10477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0246" y="4699604"/>
            <a:ext cx="104775" cy="10477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0246" y="5985478"/>
            <a:ext cx="104775" cy="10477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40246" y="6842728"/>
            <a:ext cx="104775" cy="104774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40246" y="7271353"/>
            <a:ext cx="104775" cy="104774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40246" y="7699978"/>
            <a:ext cx="104775" cy="104774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2079896" y="1969803"/>
            <a:ext cx="15069185" cy="59664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-160">
                <a:latin typeface="Arial Black"/>
                <a:cs typeface="Arial Black"/>
              </a:rPr>
              <a:t>Progress</a:t>
            </a:r>
            <a:r>
              <a:rPr dirty="0" sz="2400" spc="-140">
                <a:latin typeface="Arial Black"/>
                <a:cs typeface="Arial Black"/>
              </a:rPr>
              <a:t> </a:t>
            </a:r>
            <a:r>
              <a:rPr dirty="0" sz="2400" spc="-125">
                <a:latin typeface="Arial Black"/>
                <a:cs typeface="Arial Black"/>
              </a:rPr>
              <a:t>Milestones: </a:t>
            </a:r>
            <a:r>
              <a:rPr dirty="0" sz="2400" spc="-155">
                <a:latin typeface="Arial Black"/>
                <a:cs typeface="Arial Black"/>
              </a:rPr>
              <a:t>MAC-</a:t>
            </a:r>
            <a:r>
              <a:rPr dirty="0" sz="2400" spc="-190">
                <a:latin typeface="Arial Black"/>
                <a:cs typeface="Arial Black"/>
              </a:rPr>
              <a:t>Based</a:t>
            </a:r>
            <a:r>
              <a:rPr dirty="0" sz="2400" spc="-125">
                <a:latin typeface="Arial Black"/>
                <a:cs typeface="Arial Black"/>
              </a:rPr>
              <a:t> </a:t>
            </a:r>
            <a:r>
              <a:rPr dirty="0" sz="2400" spc="-160">
                <a:latin typeface="Arial Black"/>
                <a:cs typeface="Arial Black"/>
              </a:rPr>
              <a:t>Blockchain</a:t>
            </a:r>
            <a:r>
              <a:rPr dirty="0" sz="2400" spc="-125">
                <a:latin typeface="Arial Black"/>
                <a:cs typeface="Arial Black"/>
              </a:rPr>
              <a:t> </a:t>
            </a:r>
            <a:r>
              <a:rPr dirty="0" sz="2400" spc="-10">
                <a:latin typeface="Arial Black"/>
                <a:cs typeface="Arial Black"/>
              </a:rPr>
              <a:t>Authentication</a:t>
            </a:r>
            <a:endParaRPr sz="2400">
              <a:latin typeface="Arial Black"/>
              <a:cs typeface="Arial Black"/>
            </a:endParaRPr>
          </a:p>
          <a:p>
            <a:pPr marL="534670" marR="28575">
              <a:lnSpc>
                <a:spcPct val="117200"/>
              </a:lnSpc>
              <a:spcBef>
                <a:spcPts val="3375"/>
              </a:spcBef>
            </a:pPr>
            <a:r>
              <a:rPr dirty="0" sz="2400" spc="-35">
                <a:latin typeface="Lucida Sans Unicode"/>
                <a:cs typeface="Lucida Sans Unicode"/>
              </a:rPr>
              <a:t>Blockchain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25">
                <a:latin typeface="Lucida Sans Unicode"/>
                <a:cs typeface="Lucida Sans Unicode"/>
              </a:rPr>
              <a:t>Backend: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140">
                <a:latin typeface="Lucida Sans Unicode"/>
                <a:cs typeface="Lucida Sans Unicode"/>
              </a:rPr>
              <a:t>A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50">
                <a:latin typeface="Lucida Sans Unicode"/>
                <a:cs typeface="Lucida Sans Unicode"/>
              </a:rPr>
              <a:t>functional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70">
                <a:latin typeface="Lucida Sans Unicode"/>
                <a:cs typeface="Lucida Sans Unicode"/>
              </a:rPr>
              <a:t>Python/Flask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50">
                <a:latin typeface="Lucida Sans Unicode"/>
                <a:cs typeface="Lucida Sans Unicode"/>
              </a:rPr>
              <a:t>ledger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35">
                <a:latin typeface="Lucida Sans Unicode"/>
                <a:cs typeface="Lucida Sans Unicode"/>
              </a:rPr>
              <a:t>with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185">
                <a:latin typeface="Lucida Sans Unicode"/>
                <a:cs typeface="Lucida Sans Unicode"/>
              </a:rPr>
              <a:t>SHA-</a:t>
            </a:r>
            <a:r>
              <a:rPr dirty="0" sz="2400" spc="-145">
                <a:latin typeface="Lucida Sans Unicode"/>
                <a:cs typeface="Lucida Sans Unicode"/>
              </a:rPr>
              <a:t>256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80">
                <a:latin typeface="Lucida Sans Unicode"/>
                <a:cs typeface="Lucida Sans Unicode"/>
              </a:rPr>
              <a:t>block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95">
                <a:latin typeface="Lucida Sans Unicode"/>
                <a:cs typeface="Lucida Sans Unicode"/>
              </a:rPr>
              <a:t>linking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20">
                <a:latin typeface="Lucida Sans Unicode"/>
                <a:cs typeface="Lucida Sans Unicode"/>
              </a:rPr>
              <a:t>to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35">
                <a:latin typeface="Lucida Sans Unicode"/>
                <a:cs typeface="Lucida Sans Unicode"/>
              </a:rPr>
              <a:t>maintain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a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"Single Source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45">
                <a:latin typeface="Lucida Sans Unicode"/>
                <a:cs typeface="Lucida Sans Unicode"/>
              </a:rPr>
              <a:t>of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35">
                <a:latin typeface="Lucida Sans Unicode"/>
                <a:cs typeface="Lucida Sans Unicode"/>
              </a:rPr>
              <a:t>Truth"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30">
                <a:latin typeface="Lucida Sans Unicode"/>
                <a:cs typeface="Lucida Sans Unicode"/>
              </a:rPr>
              <a:t>for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35">
                <a:latin typeface="Lucida Sans Unicode"/>
                <a:cs typeface="Lucida Sans Unicode"/>
              </a:rPr>
              <a:t>device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55">
                <a:latin typeface="Lucida Sans Unicode"/>
                <a:cs typeface="Lucida Sans Unicode"/>
              </a:rPr>
              <a:t>status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45">
                <a:latin typeface="Lucida Sans Unicode"/>
                <a:cs typeface="Lucida Sans Unicode"/>
              </a:rPr>
              <a:t>(active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65">
                <a:latin typeface="Lucida Sans Unicode"/>
                <a:cs typeface="Lucida Sans Unicode"/>
              </a:rPr>
              <a:t>vs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revoked).</a:t>
            </a:r>
            <a:endParaRPr sz="2400">
              <a:latin typeface="Lucida Sans Unicode"/>
              <a:cs typeface="Lucida Sans Unicode"/>
            </a:endParaRPr>
          </a:p>
          <a:p>
            <a:pPr marL="534670" marR="5080">
              <a:lnSpc>
                <a:spcPct val="117200"/>
              </a:lnSpc>
            </a:pPr>
            <a:r>
              <a:rPr dirty="0" sz="2400" spc="-25">
                <a:latin typeface="Lucida Sans Unicode"/>
                <a:cs typeface="Lucida Sans Unicode"/>
              </a:rPr>
              <a:t>Network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40">
                <a:latin typeface="Lucida Sans Unicode"/>
                <a:cs typeface="Lucida Sans Unicode"/>
              </a:rPr>
              <a:t>Orchestration: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55">
                <a:latin typeface="Lucida Sans Unicode"/>
                <a:cs typeface="Lucida Sans Unicode"/>
              </a:rPr>
              <a:t>Successfully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45">
                <a:latin typeface="Lucida Sans Unicode"/>
                <a:cs typeface="Lucida Sans Unicode"/>
              </a:rPr>
              <a:t>established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the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160">
                <a:latin typeface="Lucida Sans Unicode"/>
                <a:cs typeface="Lucida Sans Unicode"/>
              </a:rPr>
              <a:t>Table-</a:t>
            </a:r>
            <a:r>
              <a:rPr dirty="0" sz="2400" spc="-40">
                <a:latin typeface="Lucida Sans Unicode"/>
                <a:cs typeface="Lucida Sans Unicode"/>
              </a:rPr>
              <a:t>Miss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45">
                <a:latin typeface="Lucida Sans Unicode"/>
                <a:cs typeface="Lucida Sans Unicode"/>
              </a:rPr>
              <a:t>flow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65">
                <a:latin typeface="Lucida Sans Unicode"/>
                <a:cs typeface="Lucida Sans Unicode"/>
              </a:rPr>
              <a:t>rule,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60">
                <a:latin typeface="Lucida Sans Unicode"/>
                <a:cs typeface="Lucida Sans Unicode"/>
              </a:rPr>
              <a:t>ensuring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60">
                <a:latin typeface="Lucida Sans Unicode"/>
                <a:cs typeface="Lucida Sans Unicode"/>
              </a:rPr>
              <a:t>all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30">
                <a:latin typeface="Lucida Sans Unicode"/>
                <a:cs typeface="Lucida Sans Unicode"/>
              </a:rPr>
              <a:t>unknown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traffic </a:t>
            </a:r>
            <a:r>
              <a:rPr dirty="0" sz="2400" spc="-60">
                <a:latin typeface="Lucida Sans Unicode"/>
                <a:cs typeface="Lucida Sans Unicode"/>
              </a:rPr>
              <a:t>in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the</a:t>
            </a:r>
            <a:r>
              <a:rPr dirty="0" sz="2400" spc="-16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Smart</a:t>
            </a:r>
            <a:r>
              <a:rPr dirty="0" sz="2400" spc="-145">
                <a:latin typeface="Lucida Sans Unicode"/>
                <a:cs typeface="Lucida Sans Unicode"/>
              </a:rPr>
              <a:t> </a:t>
            </a:r>
            <a:r>
              <a:rPr dirty="0" sz="2400" spc="-50">
                <a:latin typeface="Lucida Sans Unicode"/>
                <a:cs typeface="Lucida Sans Unicode"/>
              </a:rPr>
              <a:t>Classroom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90">
                <a:latin typeface="Lucida Sans Unicode"/>
                <a:cs typeface="Lucida Sans Unicode"/>
              </a:rPr>
              <a:t>is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30">
                <a:latin typeface="Lucida Sans Unicode"/>
                <a:cs typeface="Lucida Sans Unicode"/>
              </a:rPr>
              <a:t>redirected</a:t>
            </a:r>
            <a:r>
              <a:rPr dirty="0" sz="2400" spc="-145">
                <a:latin typeface="Lucida Sans Unicode"/>
                <a:cs typeface="Lucida Sans Unicode"/>
              </a:rPr>
              <a:t> </a:t>
            </a:r>
            <a:r>
              <a:rPr dirty="0" sz="2400" spc="-20">
                <a:latin typeface="Lucida Sans Unicode"/>
                <a:cs typeface="Lucida Sans Unicode"/>
              </a:rPr>
              <a:t>to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the</a:t>
            </a:r>
            <a:r>
              <a:rPr dirty="0" sz="2400" spc="-145">
                <a:latin typeface="Lucida Sans Unicode"/>
                <a:cs typeface="Lucida Sans Unicode"/>
              </a:rPr>
              <a:t> </a:t>
            </a:r>
            <a:r>
              <a:rPr dirty="0" sz="2400" spc="-40">
                <a:latin typeface="Lucida Sans Unicode"/>
                <a:cs typeface="Lucida Sans Unicode"/>
              </a:rPr>
              <a:t>controller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30">
                <a:latin typeface="Lucida Sans Unicode"/>
                <a:cs typeface="Lucida Sans Unicode"/>
              </a:rPr>
              <a:t>for</a:t>
            </a:r>
            <a:r>
              <a:rPr dirty="0" sz="2400" spc="-145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scrutiny.</a:t>
            </a:r>
            <a:endParaRPr sz="2400">
              <a:latin typeface="Lucida Sans Unicode"/>
              <a:cs typeface="Lucida Sans Unicode"/>
            </a:endParaRPr>
          </a:p>
          <a:p>
            <a:pPr marL="534670" marR="50800">
              <a:lnSpc>
                <a:spcPct val="117200"/>
              </a:lnSpc>
            </a:pPr>
            <a:r>
              <a:rPr dirty="0" sz="2400" spc="-40">
                <a:latin typeface="Lucida Sans Unicode"/>
                <a:cs typeface="Lucida Sans Unicode"/>
              </a:rPr>
              <a:t>Dynamic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30">
                <a:latin typeface="Lucida Sans Unicode"/>
                <a:cs typeface="Lucida Sans Unicode"/>
              </a:rPr>
              <a:t>Rule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55">
                <a:latin typeface="Lucida Sans Unicode"/>
                <a:cs typeface="Lucida Sans Unicode"/>
              </a:rPr>
              <a:t>Injection: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55">
                <a:latin typeface="Lucida Sans Unicode"/>
                <a:cs typeface="Lucida Sans Unicode"/>
              </a:rPr>
              <a:t>Verified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25">
                <a:latin typeface="Lucida Sans Unicode"/>
                <a:cs typeface="Lucida Sans Unicode"/>
              </a:rPr>
              <a:t>that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OFPFlowMod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50">
                <a:latin typeface="Lucida Sans Unicode"/>
                <a:cs typeface="Lucida Sans Unicode"/>
              </a:rPr>
              <a:t>messages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are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45">
                <a:latin typeface="Lucida Sans Unicode"/>
                <a:cs typeface="Lucida Sans Unicode"/>
              </a:rPr>
              <a:t>only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70">
                <a:latin typeface="Lucida Sans Unicode"/>
                <a:cs typeface="Lucida Sans Unicode"/>
              </a:rPr>
              <a:t>triggered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30">
                <a:latin typeface="Lucida Sans Unicode"/>
                <a:cs typeface="Lucida Sans Unicode"/>
              </a:rPr>
              <a:t>for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45">
                <a:latin typeface="Lucida Sans Unicode"/>
                <a:cs typeface="Lucida Sans Unicode"/>
              </a:rPr>
              <a:t>devices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40">
                <a:latin typeface="Lucida Sans Unicode"/>
                <a:cs typeface="Lucida Sans Unicode"/>
              </a:rPr>
              <a:t>verified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25">
                <a:latin typeface="Lucida Sans Unicode"/>
                <a:cs typeface="Lucida Sans Unicode"/>
              </a:rPr>
              <a:t>by </a:t>
            </a:r>
            <a:r>
              <a:rPr dirty="0" sz="2400" spc="-10">
                <a:latin typeface="Lucida Sans Unicode"/>
                <a:cs typeface="Lucida Sans Unicode"/>
              </a:rPr>
              <a:t>the</a:t>
            </a:r>
            <a:r>
              <a:rPr dirty="0" sz="2400" spc="-150">
                <a:latin typeface="Lucida Sans Unicode"/>
                <a:cs typeface="Lucida Sans Unicode"/>
              </a:rPr>
              <a:t> </a:t>
            </a:r>
            <a:r>
              <a:rPr dirty="0" sz="2400" spc="-60">
                <a:latin typeface="Lucida Sans Unicode"/>
                <a:cs typeface="Lucida Sans Unicode"/>
              </a:rPr>
              <a:t>blockchain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ledger.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34670">
              <a:lnSpc>
                <a:spcPct val="100000"/>
              </a:lnSpc>
            </a:pPr>
            <a:r>
              <a:rPr dirty="0" sz="2400" spc="-30">
                <a:latin typeface="Lucida Sans Unicode"/>
                <a:cs typeface="Lucida Sans Unicode"/>
              </a:rPr>
              <a:t>Implementation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Environment: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34670">
              <a:lnSpc>
                <a:spcPct val="100000"/>
              </a:lnSpc>
            </a:pPr>
            <a:r>
              <a:rPr dirty="0" sz="2400">
                <a:latin typeface="Lucida Sans Unicode"/>
                <a:cs typeface="Lucida Sans Unicode"/>
              </a:rPr>
              <a:t>SDN</a:t>
            </a:r>
            <a:r>
              <a:rPr dirty="0" sz="2400" spc="-145">
                <a:latin typeface="Lucida Sans Unicode"/>
                <a:cs typeface="Lucida Sans Unicode"/>
              </a:rPr>
              <a:t> </a:t>
            </a:r>
            <a:r>
              <a:rPr dirty="0" sz="2400" spc="-55">
                <a:latin typeface="Lucida Sans Unicode"/>
                <a:cs typeface="Lucida Sans Unicode"/>
              </a:rPr>
              <a:t>Controller: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20">
                <a:latin typeface="Lucida Sans Unicode"/>
                <a:cs typeface="Lucida Sans Unicode"/>
              </a:rPr>
              <a:t>Ryu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30">
                <a:latin typeface="Lucida Sans Unicode"/>
                <a:cs typeface="Lucida Sans Unicode"/>
              </a:rPr>
              <a:t>(OpenFlow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v1.3).</a:t>
            </a:r>
            <a:endParaRPr sz="2400">
              <a:latin typeface="Lucida Sans Unicode"/>
              <a:cs typeface="Lucida Sans Unicode"/>
            </a:endParaRPr>
          </a:p>
          <a:p>
            <a:pPr marL="534670">
              <a:lnSpc>
                <a:spcPct val="100000"/>
              </a:lnSpc>
              <a:spcBef>
                <a:spcPts val="495"/>
              </a:spcBef>
            </a:pPr>
            <a:r>
              <a:rPr dirty="0" sz="2400" spc="-65">
                <a:latin typeface="Lucida Sans Unicode"/>
                <a:cs typeface="Lucida Sans Unicode"/>
              </a:rPr>
              <a:t>Switching: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Open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35">
                <a:latin typeface="Lucida Sans Unicode"/>
                <a:cs typeface="Lucida Sans Unicode"/>
              </a:rPr>
              <a:t>vSwitch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50">
                <a:latin typeface="Lucida Sans Unicode"/>
                <a:cs typeface="Lucida Sans Unicode"/>
              </a:rPr>
              <a:t>(OVS)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60">
                <a:latin typeface="Lucida Sans Unicode"/>
                <a:cs typeface="Lucida Sans Unicode"/>
              </a:rPr>
              <a:t>running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on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a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175">
                <a:latin typeface="Lucida Sans Unicode"/>
                <a:cs typeface="Lucida Sans Unicode"/>
              </a:rPr>
              <a:t>Linux-</a:t>
            </a:r>
            <a:r>
              <a:rPr dirty="0" sz="2400" spc="-20">
                <a:latin typeface="Lucida Sans Unicode"/>
                <a:cs typeface="Lucida Sans Unicode"/>
              </a:rPr>
              <a:t>based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55">
                <a:latin typeface="Lucida Sans Unicode"/>
                <a:cs typeface="Lucida Sans Unicode"/>
              </a:rPr>
              <a:t>edge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gateway.</a:t>
            </a:r>
            <a:endParaRPr sz="2400">
              <a:latin typeface="Lucida Sans Unicode"/>
              <a:cs typeface="Lucida Sans Unicode"/>
            </a:endParaRPr>
          </a:p>
          <a:p>
            <a:pPr marL="534670">
              <a:lnSpc>
                <a:spcPct val="100000"/>
              </a:lnSpc>
              <a:spcBef>
                <a:spcPts val="495"/>
              </a:spcBef>
            </a:pPr>
            <a:r>
              <a:rPr dirty="0" sz="2400" spc="-60">
                <a:latin typeface="Lucida Sans Unicode"/>
                <a:cs typeface="Lucida Sans Unicode"/>
              </a:rPr>
              <a:t>Ledger: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75">
                <a:latin typeface="Lucida Sans Unicode"/>
                <a:cs typeface="Lucida Sans Unicode"/>
              </a:rPr>
              <a:t>Localized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35">
                <a:latin typeface="Lucida Sans Unicode"/>
                <a:cs typeface="Lucida Sans Unicode"/>
              </a:rPr>
              <a:t>Blockchain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node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30">
                <a:latin typeface="Lucida Sans Unicode"/>
                <a:cs typeface="Lucida Sans Unicode"/>
              </a:rPr>
              <a:t>for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185">
                <a:latin typeface="Lucida Sans Unicode"/>
                <a:cs typeface="Lucida Sans Unicode"/>
              </a:rPr>
              <a:t>low-</a:t>
            </a:r>
            <a:r>
              <a:rPr dirty="0" sz="2400" spc="-40">
                <a:latin typeface="Lucida Sans Unicode"/>
                <a:cs typeface="Lucida Sans Unicode"/>
              </a:rPr>
              <a:t>latency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50">
                <a:latin typeface="Lucida Sans Unicode"/>
                <a:cs typeface="Lucida Sans Unicode"/>
              </a:rPr>
              <a:t>identity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50">
                <a:latin typeface="Lucida Sans Unicode"/>
                <a:cs typeface="Lucida Sans Unicode"/>
              </a:rPr>
              <a:t>verification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175">
                <a:latin typeface="Lucida Sans Unicode"/>
                <a:cs typeface="Lucida Sans Unicode"/>
              </a:rPr>
              <a:t>(&lt;2ms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query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time).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326422" y="9007464"/>
            <a:ext cx="6997065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IT22365132</a:t>
            </a:r>
            <a:r>
              <a:rPr dirty="0" sz="2800" spc="-2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90">
                <a:latin typeface="Trebuchet MS"/>
                <a:cs typeface="Trebuchet MS"/>
              </a:rPr>
              <a:t>C.B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265">
                <a:latin typeface="Trebuchet MS"/>
                <a:cs typeface="Trebuchet MS"/>
              </a:rPr>
              <a:t>Gunasena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6717229" y="1"/>
            <a:ext cx="1080770" cy="1933575"/>
          </a:xfrm>
          <a:custGeom>
            <a:avLst/>
            <a:gdLst/>
            <a:ahLst/>
            <a:cxnLst/>
            <a:rect l="l" t="t" r="r" b="b"/>
            <a:pathLst>
              <a:path w="1080769" h="1933575">
                <a:moveTo>
                  <a:pt x="627351" y="1933123"/>
                </a:moveTo>
                <a:lnTo>
                  <a:pt x="453364" y="1933123"/>
                </a:lnTo>
                <a:lnTo>
                  <a:pt x="437762" y="1932350"/>
                </a:lnTo>
                <a:lnTo>
                  <a:pt x="390562" y="1925307"/>
                </a:lnTo>
                <a:lnTo>
                  <a:pt x="344494" y="1913729"/>
                </a:lnTo>
                <a:lnTo>
                  <a:pt x="299876" y="1897750"/>
                </a:lnTo>
                <a:lnTo>
                  <a:pt x="257028" y="1877500"/>
                </a:lnTo>
                <a:lnTo>
                  <a:pt x="216266" y="1853111"/>
                </a:lnTo>
                <a:lnTo>
                  <a:pt x="177911" y="1824716"/>
                </a:lnTo>
                <a:lnTo>
                  <a:pt x="142279" y="1792447"/>
                </a:lnTo>
                <a:lnTo>
                  <a:pt x="110010" y="1756816"/>
                </a:lnTo>
                <a:lnTo>
                  <a:pt x="81615" y="1718460"/>
                </a:lnTo>
                <a:lnTo>
                  <a:pt x="57227" y="1677699"/>
                </a:lnTo>
                <a:lnTo>
                  <a:pt x="36977" y="1634850"/>
                </a:lnTo>
                <a:lnTo>
                  <a:pt x="20997" y="1590233"/>
                </a:lnTo>
                <a:lnTo>
                  <a:pt x="9420" y="1544165"/>
                </a:lnTo>
                <a:lnTo>
                  <a:pt x="2377" y="1496965"/>
                </a:lnTo>
                <a:lnTo>
                  <a:pt x="0" y="1448952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48952"/>
                </a:lnTo>
                <a:lnTo>
                  <a:pt x="1078338" y="1496965"/>
                </a:lnTo>
                <a:lnTo>
                  <a:pt x="1071295" y="1544165"/>
                </a:lnTo>
                <a:lnTo>
                  <a:pt x="1059717" y="1590233"/>
                </a:lnTo>
                <a:lnTo>
                  <a:pt x="1043737" y="1634850"/>
                </a:lnTo>
                <a:lnTo>
                  <a:pt x="1023487" y="1677699"/>
                </a:lnTo>
                <a:lnTo>
                  <a:pt x="999099" y="1718460"/>
                </a:lnTo>
                <a:lnTo>
                  <a:pt x="970704" y="1756816"/>
                </a:lnTo>
                <a:lnTo>
                  <a:pt x="938434" y="1792447"/>
                </a:lnTo>
                <a:lnTo>
                  <a:pt x="902803" y="1824716"/>
                </a:lnTo>
                <a:lnTo>
                  <a:pt x="864447" y="1853111"/>
                </a:lnTo>
                <a:lnTo>
                  <a:pt x="823686" y="1877500"/>
                </a:lnTo>
                <a:lnTo>
                  <a:pt x="780837" y="1897750"/>
                </a:lnTo>
                <a:lnTo>
                  <a:pt x="736220" y="1913729"/>
                </a:lnTo>
                <a:lnTo>
                  <a:pt x="690152" y="1925307"/>
                </a:lnTo>
                <a:lnTo>
                  <a:pt x="642953" y="1932350"/>
                </a:lnTo>
                <a:lnTo>
                  <a:pt x="627351" y="1933123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9685830"/>
            <a:ext cx="18288000" cy="601345"/>
            <a:chOff x="0" y="9685830"/>
            <a:chExt cx="18288000" cy="601345"/>
          </a:xfrm>
        </p:grpSpPr>
        <p:sp>
          <p:nvSpPr>
            <p:cNvPr id="4" name="object 4" descr=""/>
            <p:cNvSpPr/>
            <p:nvPr/>
          </p:nvSpPr>
          <p:spPr>
            <a:xfrm>
              <a:off x="0" y="9857280"/>
              <a:ext cx="18288000" cy="429895"/>
            </a:xfrm>
            <a:custGeom>
              <a:avLst/>
              <a:gdLst/>
              <a:ahLst/>
              <a:cxnLst/>
              <a:rect l="l" t="t" r="r" b="b"/>
              <a:pathLst>
                <a:path w="18288000" h="429895">
                  <a:moveTo>
                    <a:pt x="0" y="429719"/>
                  </a:moveTo>
                  <a:lnTo>
                    <a:pt x="18288000" y="429719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429719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9685830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17261309" y="3056723"/>
            <a:ext cx="1026794" cy="3916045"/>
          </a:xfrm>
          <a:custGeom>
            <a:avLst/>
            <a:gdLst/>
            <a:ahLst/>
            <a:cxnLst/>
            <a:rect l="l" t="t" r="r" b="b"/>
            <a:pathLst>
              <a:path w="1026794" h="3916045">
                <a:moveTo>
                  <a:pt x="1026691" y="82301"/>
                </a:moveTo>
                <a:lnTo>
                  <a:pt x="1026691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6691" y="82301"/>
                </a:lnTo>
                <a:close/>
              </a:path>
              <a:path w="1026794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4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3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6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7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6794" h="3916045">
                <a:moveTo>
                  <a:pt x="1026691" y="3915863"/>
                </a:moveTo>
                <a:lnTo>
                  <a:pt x="1026691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6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80" y="3913864"/>
                </a:lnTo>
                <a:lnTo>
                  <a:pt x="1026691" y="3915863"/>
                </a:lnTo>
                <a:close/>
              </a:path>
              <a:path w="1026794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0" y="3056723"/>
            <a:ext cx="1026794" cy="3916045"/>
          </a:xfrm>
          <a:custGeom>
            <a:avLst/>
            <a:gdLst/>
            <a:ahLst/>
            <a:cxnLst/>
            <a:rect l="l" t="t" r="r" b="b"/>
            <a:pathLst>
              <a:path w="1026794" h="3916045">
                <a:moveTo>
                  <a:pt x="0" y="82300"/>
                </a:moveTo>
                <a:lnTo>
                  <a:pt x="0" y="1179"/>
                </a:lnTo>
                <a:lnTo>
                  <a:pt x="249256" y="642"/>
                </a:lnTo>
                <a:lnTo>
                  <a:pt x="957121" y="0"/>
                </a:lnTo>
                <a:lnTo>
                  <a:pt x="989913" y="1624"/>
                </a:lnTo>
                <a:lnTo>
                  <a:pt x="1008207" y="9727"/>
                </a:lnTo>
                <a:lnTo>
                  <a:pt x="1016168" y="28455"/>
                </a:lnTo>
                <a:lnTo>
                  <a:pt x="1017958" y="61956"/>
                </a:lnTo>
                <a:lnTo>
                  <a:pt x="1017966" y="79871"/>
                </a:lnTo>
                <a:lnTo>
                  <a:pt x="905367" y="79871"/>
                </a:lnTo>
                <a:lnTo>
                  <a:pt x="753090" y="80184"/>
                </a:lnTo>
                <a:lnTo>
                  <a:pt x="231745" y="80888"/>
                </a:lnTo>
                <a:lnTo>
                  <a:pt x="139110" y="81280"/>
                </a:lnTo>
                <a:lnTo>
                  <a:pt x="0" y="82300"/>
                </a:lnTo>
                <a:close/>
              </a:path>
              <a:path w="1026794" h="3916045">
                <a:moveTo>
                  <a:pt x="988908" y="1583241"/>
                </a:moveTo>
                <a:lnTo>
                  <a:pt x="971267" y="1579445"/>
                </a:lnTo>
                <a:lnTo>
                  <a:pt x="957137" y="1567192"/>
                </a:lnTo>
                <a:lnTo>
                  <a:pt x="947742" y="1547988"/>
                </a:lnTo>
                <a:lnTo>
                  <a:pt x="944307" y="1523337"/>
                </a:lnTo>
                <a:lnTo>
                  <a:pt x="944376" y="928570"/>
                </a:lnTo>
                <a:lnTo>
                  <a:pt x="944159" y="879013"/>
                </a:lnTo>
                <a:lnTo>
                  <a:pt x="943885" y="834617"/>
                </a:lnTo>
                <a:lnTo>
                  <a:pt x="943447" y="779904"/>
                </a:lnTo>
                <a:lnTo>
                  <a:pt x="942951" y="732463"/>
                </a:lnTo>
                <a:lnTo>
                  <a:pt x="942286" y="680803"/>
                </a:lnTo>
                <a:lnTo>
                  <a:pt x="941508" y="631256"/>
                </a:lnTo>
                <a:lnTo>
                  <a:pt x="940735" y="579304"/>
                </a:lnTo>
                <a:lnTo>
                  <a:pt x="940148" y="527356"/>
                </a:lnTo>
                <a:lnTo>
                  <a:pt x="939711" y="475410"/>
                </a:lnTo>
                <a:lnTo>
                  <a:pt x="939391" y="423467"/>
                </a:lnTo>
                <a:lnTo>
                  <a:pt x="939152" y="371527"/>
                </a:lnTo>
                <a:lnTo>
                  <a:pt x="938576" y="215715"/>
                </a:lnTo>
                <a:lnTo>
                  <a:pt x="938315" y="163779"/>
                </a:lnTo>
                <a:lnTo>
                  <a:pt x="937962" y="111844"/>
                </a:lnTo>
                <a:lnTo>
                  <a:pt x="905367" y="79871"/>
                </a:lnTo>
                <a:lnTo>
                  <a:pt x="1017966" y="79871"/>
                </a:lnTo>
                <a:lnTo>
                  <a:pt x="1018011" y="163779"/>
                </a:lnTo>
                <a:lnTo>
                  <a:pt x="1018269" y="196132"/>
                </a:lnTo>
                <a:lnTo>
                  <a:pt x="1019570" y="300020"/>
                </a:lnTo>
                <a:lnTo>
                  <a:pt x="1023743" y="611661"/>
                </a:lnTo>
                <a:lnTo>
                  <a:pt x="1018382" y="641891"/>
                </a:lnTo>
                <a:lnTo>
                  <a:pt x="1016543" y="672109"/>
                </a:lnTo>
                <a:lnTo>
                  <a:pt x="1018459" y="702303"/>
                </a:lnTo>
                <a:lnTo>
                  <a:pt x="1024365" y="732463"/>
                </a:lnTo>
                <a:lnTo>
                  <a:pt x="1024466" y="834617"/>
                </a:lnTo>
                <a:lnTo>
                  <a:pt x="1024591" y="978129"/>
                </a:lnTo>
                <a:lnTo>
                  <a:pt x="1024648" y="1038941"/>
                </a:lnTo>
                <a:lnTo>
                  <a:pt x="1024773" y="1141106"/>
                </a:lnTo>
                <a:lnTo>
                  <a:pt x="1024854" y="1192187"/>
                </a:lnTo>
                <a:lnTo>
                  <a:pt x="1024950" y="1243268"/>
                </a:lnTo>
                <a:lnTo>
                  <a:pt x="1025201" y="1345425"/>
                </a:lnTo>
                <a:lnTo>
                  <a:pt x="1025360" y="1396501"/>
                </a:lnTo>
                <a:lnTo>
                  <a:pt x="1026554" y="1440128"/>
                </a:lnTo>
                <a:lnTo>
                  <a:pt x="1026554" y="1548977"/>
                </a:lnTo>
                <a:lnTo>
                  <a:pt x="1018891" y="1565886"/>
                </a:lnTo>
                <a:lnTo>
                  <a:pt x="1005742" y="1578249"/>
                </a:lnTo>
                <a:lnTo>
                  <a:pt x="988908" y="1583241"/>
                </a:lnTo>
                <a:close/>
              </a:path>
              <a:path w="1026794" h="3916045">
                <a:moveTo>
                  <a:pt x="0" y="3915861"/>
                </a:moveTo>
                <a:lnTo>
                  <a:pt x="0" y="3833363"/>
                </a:lnTo>
                <a:lnTo>
                  <a:pt x="712647" y="3832831"/>
                </a:lnTo>
                <a:lnTo>
                  <a:pt x="839051" y="3832831"/>
                </a:lnTo>
                <a:lnTo>
                  <a:pt x="870843" y="3832325"/>
                </a:lnTo>
                <a:lnTo>
                  <a:pt x="889839" y="3833824"/>
                </a:lnTo>
                <a:lnTo>
                  <a:pt x="904962" y="3839976"/>
                </a:lnTo>
                <a:lnTo>
                  <a:pt x="915561" y="3851587"/>
                </a:lnTo>
                <a:lnTo>
                  <a:pt x="920980" y="3869462"/>
                </a:lnTo>
                <a:lnTo>
                  <a:pt x="918775" y="3885166"/>
                </a:lnTo>
                <a:lnTo>
                  <a:pt x="869412" y="3908277"/>
                </a:lnTo>
                <a:lnTo>
                  <a:pt x="769265" y="3911342"/>
                </a:lnTo>
                <a:lnTo>
                  <a:pt x="575379" y="3913864"/>
                </a:lnTo>
                <a:lnTo>
                  <a:pt x="218375" y="3913864"/>
                </a:lnTo>
                <a:lnTo>
                  <a:pt x="0" y="3915861"/>
                </a:lnTo>
                <a:close/>
              </a:path>
              <a:path w="1026794" h="3916045">
                <a:moveTo>
                  <a:pt x="804183" y="3832831"/>
                </a:moveTo>
                <a:lnTo>
                  <a:pt x="706327" y="3832831"/>
                </a:lnTo>
                <a:lnTo>
                  <a:pt x="738247" y="3832631"/>
                </a:lnTo>
                <a:lnTo>
                  <a:pt x="770832" y="3832631"/>
                </a:lnTo>
                <a:lnTo>
                  <a:pt x="804183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86630" y="1"/>
            <a:ext cx="1080770" cy="1933575"/>
          </a:xfrm>
          <a:custGeom>
            <a:avLst/>
            <a:gdLst/>
            <a:ahLst/>
            <a:cxnLst/>
            <a:rect l="l" t="t" r="r" b="b"/>
            <a:pathLst>
              <a:path w="1080770" h="1933575">
                <a:moveTo>
                  <a:pt x="627350" y="1933123"/>
                </a:moveTo>
                <a:lnTo>
                  <a:pt x="453364" y="1933123"/>
                </a:lnTo>
                <a:lnTo>
                  <a:pt x="437762" y="1932350"/>
                </a:lnTo>
                <a:lnTo>
                  <a:pt x="390562" y="1925307"/>
                </a:lnTo>
                <a:lnTo>
                  <a:pt x="344494" y="1913729"/>
                </a:lnTo>
                <a:lnTo>
                  <a:pt x="299876" y="1897750"/>
                </a:lnTo>
                <a:lnTo>
                  <a:pt x="257028" y="1877500"/>
                </a:lnTo>
                <a:lnTo>
                  <a:pt x="216266" y="1853111"/>
                </a:lnTo>
                <a:lnTo>
                  <a:pt x="177911" y="1824716"/>
                </a:lnTo>
                <a:lnTo>
                  <a:pt x="142280" y="1792447"/>
                </a:lnTo>
                <a:lnTo>
                  <a:pt x="110010" y="1756816"/>
                </a:lnTo>
                <a:lnTo>
                  <a:pt x="81615" y="1718460"/>
                </a:lnTo>
                <a:lnTo>
                  <a:pt x="57227" y="1677699"/>
                </a:lnTo>
                <a:lnTo>
                  <a:pt x="36977" y="1634850"/>
                </a:lnTo>
                <a:lnTo>
                  <a:pt x="20997" y="1590233"/>
                </a:lnTo>
                <a:lnTo>
                  <a:pt x="9420" y="1544165"/>
                </a:lnTo>
                <a:lnTo>
                  <a:pt x="2377" y="1496965"/>
                </a:lnTo>
                <a:lnTo>
                  <a:pt x="0" y="1448952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48952"/>
                </a:lnTo>
                <a:lnTo>
                  <a:pt x="1078337" y="1496965"/>
                </a:lnTo>
                <a:lnTo>
                  <a:pt x="1071294" y="1544165"/>
                </a:lnTo>
                <a:lnTo>
                  <a:pt x="1059717" y="1590233"/>
                </a:lnTo>
                <a:lnTo>
                  <a:pt x="1043737" y="1634850"/>
                </a:lnTo>
                <a:lnTo>
                  <a:pt x="1023487" y="1677699"/>
                </a:lnTo>
                <a:lnTo>
                  <a:pt x="999098" y="1718460"/>
                </a:lnTo>
                <a:lnTo>
                  <a:pt x="970704" y="1756816"/>
                </a:lnTo>
                <a:lnTo>
                  <a:pt x="938434" y="1792447"/>
                </a:lnTo>
                <a:lnTo>
                  <a:pt x="902803" y="1824716"/>
                </a:lnTo>
                <a:lnTo>
                  <a:pt x="864448" y="1853111"/>
                </a:lnTo>
                <a:lnTo>
                  <a:pt x="823686" y="1877500"/>
                </a:lnTo>
                <a:lnTo>
                  <a:pt x="780837" y="1897750"/>
                </a:lnTo>
                <a:lnTo>
                  <a:pt x="736220" y="1913729"/>
                </a:lnTo>
                <a:lnTo>
                  <a:pt x="690152" y="1925307"/>
                </a:lnTo>
                <a:lnTo>
                  <a:pt x="642952" y="1932350"/>
                </a:lnTo>
                <a:lnTo>
                  <a:pt x="627350" y="1933123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895212"/>
            <a:ext cx="4117334" cy="76809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830099" y="118320"/>
            <a:ext cx="12864465" cy="18923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027170" marR="5080" indent="-4015104">
              <a:lnSpc>
                <a:spcPct val="115599"/>
              </a:lnSpc>
              <a:spcBef>
                <a:spcPts val="95"/>
              </a:spcBef>
            </a:pPr>
            <a:r>
              <a:rPr dirty="0" sz="5300" spc="-135">
                <a:latin typeface="Lucida Sans Unicode"/>
                <a:cs typeface="Lucida Sans Unicode"/>
              </a:rPr>
              <a:t>Decentralized</a:t>
            </a:r>
            <a:r>
              <a:rPr dirty="0" sz="5300" spc="-275">
                <a:latin typeface="Lucida Sans Unicode"/>
                <a:cs typeface="Lucida Sans Unicode"/>
              </a:rPr>
              <a:t> </a:t>
            </a:r>
            <a:r>
              <a:rPr dirty="0" sz="5300" spc="-55">
                <a:latin typeface="Lucida Sans Unicode"/>
                <a:cs typeface="Lucida Sans Unicode"/>
              </a:rPr>
              <a:t>Zero</a:t>
            </a:r>
            <a:r>
              <a:rPr dirty="0" sz="5300" spc="-270">
                <a:latin typeface="Lucida Sans Unicode"/>
                <a:cs typeface="Lucida Sans Unicode"/>
              </a:rPr>
              <a:t> </a:t>
            </a:r>
            <a:r>
              <a:rPr dirty="0" sz="5300" spc="-175">
                <a:latin typeface="Lucida Sans Unicode"/>
                <a:cs typeface="Lucida Sans Unicode"/>
              </a:rPr>
              <a:t>Trust</a:t>
            </a:r>
            <a:r>
              <a:rPr dirty="0" sz="5300" spc="-275">
                <a:latin typeface="Lucida Sans Unicode"/>
                <a:cs typeface="Lucida Sans Unicode"/>
              </a:rPr>
              <a:t> </a:t>
            </a:r>
            <a:r>
              <a:rPr dirty="0" sz="5300" spc="-70">
                <a:latin typeface="Lucida Sans Unicode"/>
                <a:cs typeface="Lucida Sans Unicode"/>
              </a:rPr>
              <a:t>Network</a:t>
            </a:r>
            <a:r>
              <a:rPr dirty="0" sz="5300" spc="-270">
                <a:latin typeface="Lucida Sans Unicode"/>
                <a:cs typeface="Lucida Sans Unicode"/>
              </a:rPr>
              <a:t> </a:t>
            </a:r>
            <a:r>
              <a:rPr dirty="0" sz="5300" spc="-90">
                <a:latin typeface="Lucida Sans Unicode"/>
                <a:cs typeface="Lucida Sans Unicode"/>
              </a:rPr>
              <a:t>Access </a:t>
            </a:r>
            <a:r>
              <a:rPr dirty="0" sz="5300" spc="-105">
                <a:latin typeface="Lucida Sans Unicode"/>
                <a:cs typeface="Lucida Sans Unicode"/>
              </a:rPr>
              <a:t>with</a:t>
            </a:r>
            <a:r>
              <a:rPr dirty="0" sz="5300" spc="-290">
                <a:latin typeface="Lucida Sans Unicode"/>
                <a:cs typeface="Lucida Sans Unicode"/>
              </a:rPr>
              <a:t> </a:t>
            </a:r>
            <a:r>
              <a:rPr dirty="0" sz="5300" spc="-204">
                <a:latin typeface="Lucida Sans Unicode"/>
                <a:cs typeface="Lucida Sans Unicode"/>
              </a:rPr>
              <a:t>AI</a:t>
            </a:r>
            <a:r>
              <a:rPr dirty="0" sz="5300" spc="-290">
                <a:latin typeface="Lucida Sans Unicode"/>
                <a:cs typeface="Lucida Sans Unicode"/>
              </a:rPr>
              <a:t> </a:t>
            </a:r>
            <a:r>
              <a:rPr dirty="0" sz="5300" spc="-10">
                <a:latin typeface="Lucida Sans Unicode"/>
                <a:cs typeface="Lucida Sans Unicode"/>
              </a:rPr>
              <a:t>Security</a:t>
            </a:r>
            <a:endParaRPr sz="530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5720433" y="1343277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 h="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0246" y="3413729"/>
            <a:ext cx="104775" cy="10477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0246" y="4699604"/>
            <a:ext cx="104775" cy="10477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0246" y="5556854"/>
            <a:ext cx="104775" cy="10477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40246" y="6842728"/>
            <a:ext cx="104775" cy="104774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2079896" y="2398428"/>
            <a:ext cx="15097125" cy="5537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-95">
                <a:latin typeface="Arial Black"/>
                <a:cs typeface="Arial Black"/>
              </a:rPr>
              <a:t>Implementation:</a:t>
            </a:r>
            <a:r>
              <a:rPr dirty="0" sz="2400" spc="-130">
                <a:latin typeface="Arial Black"/>
                <a:cs typeface="Arial Black"/>
              </a:rPr>
              <a:t> </a:t>
            </a:r>
            <a:r>
              <a:rPr dirty="0" sz="2400" spc="-125">
                <a:latin typeface="Arial Black"/>
                <a:cs typeface="Arial Black"/>
              </a:rPr>
              <a:t>Bridging </a:t>
            </a:r>
            <a:r>
              <a:rPr dirty="0" sz="2400" spc="-160">
                <a:latin typeface="Arial Black"/>
                <a:cs typeface="Arial Black"/>
              </a:rPr>
              <a:t>Blockchain</a:t>
            </a:r>
            <a:r>
              <a:rPr dirty="0" sz="2400" spc="-125">
                <a:latin typeface="Arial Black"/>
                <a:cs typeface="Arial Black"/>
              </a:rPr>
              <a:t> </a:t>
            </a:r>
            <a:r>
              <a:rPr dirty="0" sz="2400" spc="-80">
                <a:latin typeface="Arial Black"/>
                <a:cs typeface="Arial Black"/>
              </a:rPr>
              <a:t>with</a:t>
            </a:r>
            <a:r>
              <a:rPr dirty="0" sz="2400" spc="-125">
                <a:latin typeface="Arial Black"/>
                <a:cs typeface="Arial Black"/>
              </a:rPr>
              <a:t> </a:t>
            </a:r>
            <a:r>
              <a:rPr dirty="0" sz="2400" spc="-190">
                <a:latin typeface="Arial Black"/>
                <a:cs typeface="Arial Black"/>
              </a:rPr>
              <a:t>SDN</a:t>
            </a:r>
            <a:r>
              <a:rPr dirty="0" sz="2400" spc="-130">
                <a:latin typeface="Arial Black"/>
                <a:cs typeface="Arial Black"/>
              </a:rPr>
              <a:t> </a:t>
            </a:r>
            <a:r>
              <a:rPr dirty="0" sz="2400" spc="-10">
                <a:latin typeface="Arial Black"/>
                <a:cs typeface="Arial Black"/>
              </a:rPr>
              <a:t>Enforcement</a:t>
            </a:r>
            <a:endParaRPr sz="2400">
              <a:latin typeface="Arial Black"/>
              <a:cs typeface="Arial Black"/>
            </a:endParaRPr>
          </a:p>
          <a:p>
            <a:pPr marL="534670" marR="584200">
              <a:lnSpc>
                <a:spcPct val="117200"/>
              </a:lnSpc>
              <a:spcBef>
                <a:spcPts val="3375"/>
              </a:spcBef>
            </a:pPr>
            <a:r>
              <a:rPr dirty="0" sz="2400" spc="-185">
                <a:latin typeface="Lucida Sans Unicode"/>
                <a:cs typeface="Lucida Sans Unicode"/>
              </a:rPr>
              <a:t>Ryu-</a:t>
            </a:r>
            <a:r>
              <a:rPr dirty="0" sz="2400" spc="-35">
                <a:latin typeface="Lucida Sans Unicode"/>
                <a:cs typeface="Lucida Sans Unicode"/>
              </a:rPr>
              <a:t>Blockchain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25">
                <a:latin typeface="Lucida Sans Unicode"/>
                <a:cs typeface="Lucida Sans Unicode"/>
              </a:rPr>
              <a:t>Middleware: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30">
                <a:latin typeface="Lucida Sans Unicode"/>
                <a:cs typeface="Lucida Sans Unicode"/>
              </a:rPr>
              <a:t>Developed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a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40">
                <a:latin typeface="Lucida Sans Unicode"/>
                <a:cs typeface="Lucida Sans Unicode"/>
              </a:rPr>
              <a:t>custom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20">
                <a:latin typeface="Lucida Sans Unicode"/>
                <a:cs typeface="Lucida Sans Unicode"/>
              </a:rPr>
              <a:t>Ryu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50">
                <a:latin typeface="Lucida Sans Unicode"/>
                <a:cs typeface="Lucida Sans Unicode"/>
              </a:rPr>
              <a:t>application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25">
                <a:latin typeface="Lucida Sans Unicode"/>
                <a:cs typeface="Lucida Sans Unicode"/>
              </a:rPr>
              <a:t>that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45">
                <a:latin typeface="Lucida Sans Unicode"/>
                <a:cs typeface="Lucida Sans Unicode"/>
              </a:rPr>
              <a:t>intercepts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the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OpenFlow </a:t>
            </a:r>
            <a:r>
              <a:rPr dirty="0" sz="2400" spc="-114">
                <a:latin typeface="Lucida Sans Unicode"/>
                <a:cs typeface="Lucida Sans Unicode"/>
              </a:rPr>
              <a:t>Packet-</a:t>
            </a:r>
            <a:r>
              <a:rPr dirty="0" sz="2400">
                <a:latin typeface="Lucida Sans Unicode"/>
                <a:cs typeface="Lucida Sans Unicode"/>
              </a:rPr>
              <a:t>In</a:t>
            </a:r>
            <a:r>
              <a:rPr dirty="0" sz="2400" spc="-150">
                <a:latin typeface="Lucida Sans Unicode"/>
                <a:cs typeface="Lucida Sans Unicode"/>
              </a:rPr>
              <a:t> </a:t>
            </a:r>
            <a:r>
              <a:rPr dirty="0" sz="2400" spc="-35">
                <a:latin typeface="Lucida Sans Unicode"/>
                <a:cs typeface="Lucida Sans Unicode"/>
              </a:rPr>
              <a:t>event.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20">
                <a:latin typeface="Lucida Sans Unicode"/>
                <a:cs typeface="Lucida Sans Unicode"/>
              </a:rPr>
              <a:t>It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70">
                <a:latin typeface="Lucida Sans Unicode"/>
                <a:cs typeface="Lucida Sans Unicode"/>
              </a:rPr>
              <a:t>extracts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the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50">
                <a:latin typeface="Lucida Sans Unicode"/>
                <a:cs typeface="Lucida Sans Unicode"/>
              </a:rPr>
              <a:t>eth.src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70">
                <a:latin typeface="Lucida Sans Unicode"/>
                <a:cs typeface="Lucida Sans Unicode"/>
              </a:rPr>
              <a:t>(MAC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35">
                <a:latin typeface="Lucida Sans Unicode"/>
                <a:cs typeface="Lucida Sans Unicode"/>
              </a:rPr>
              <a:t>address)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and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25">
                <a:latin typeface="Lucida Sans Unicode"/>
                <a:cs typeface="Lucida Sans Unicode"/>
              </a:rPr>
              <a:t>performs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a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140">
                <a:latin typeface="Lucida Sans Unicode"/>
                <a:cs typeface="Lucida Sans Unicode"/>
              </a:rPr>
              <a:t>real-</a:t>
            </a:r>
            <a:r>
              <a:rPr dirty="0" sz="2400" spc="-40">
                <a:latin typeface="Lucida Sans Unicode"/>
                <a:cs typeface="Lucida Sans Unicode"/>
              </a:rPr>
              <a:t>time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40">
                <a:latin typeface="Lucida Sans Unicode"/>
                <a:cs typeface="Lucida Sans Unicode"/>
              </a:rPr>
              <a:t>REST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API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70">
                <a:latin typeface="Lucida Sans Unicode"/>
                <a:cs typeface="Lucida Sans Unicode"/>
              </a:rPr>
              <a:t>call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20">
                <a:latin typeface="Lucida Sans Unicode"/>
                <a:cs typeface="Lucida Sans Unicode"/>
              </a:rPr>
              <a:t>to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25">
                <a:latin typeface="Lucida Sans Unicode"/>
                <a:cs typeface="Lucida Sans Unicode"/>
              </a:rPr>
              <a:t>the </a:t>
            </a:r>
            <a:r>
              <a:rPr dirty="0" sz="2400" spc="-35">
                <a:latin typeface="Lucida Sans Unicode"/>
                <a:cs typeface="Lucida Sans Unicode"/>
              </a:rPr>
              <a:t>Blockchain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125">
                <a:latin typeface="Lucida Sans Unicode"/>
                <a:cs typeface="Lucida Sans Unicode"/>
              </a:rPr>
              <a:t>/check</a:t>
            </a:r>
            <a:r>
              <a:rPr dirty="0" sz="2400" spc="-105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endpoint.</a:t>
            </a:r>
            <a:endParaRPr sz="2400">
              <a:latin typeface="Lucida Sans Unicode"/>
              <a:cs typeface="Lucida Sans Unicode"/>
            </a:endParaRPr>
          </a:p>
          <a:p>
            <a:pPr marL="534670" marR="860425">
              <a:lnSpc>
                <a:spcPct val="117200"/>
              </a:lnSpc>
            </a:pPr>
            <a:r>
              <a:rPr dirty="0" sz="2400" spc="-20">
                <a:latin typeface="Lucida Sans Unicode"/>
                <a:cs typeface="Lucida Sans Unicode"/>
              </a:rPr>
              <a:t>Zero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75">
                <a:latin typeface="Lucida Sans Unicode"/>
                <a:cs typeface="Lucida Sans Unicode"/>
              </a:rPr>
              <a:t>Trust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25">
                <a:latin typeface="Lucida Sans Unicode"/>
                <a:cs typeface="Lucida Sans Unicode"/>
              </a:rPr>
              <a:t>Enforcement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95">
                <a:latin typeface="Lucida Sans Unicode"/>
                <a:cs typeface="Lucida Sans Unicode"/>
              </a:rPr>
              <a:t>Logic: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160">
                <a:latin typeface="Lucida Sans Unicode"/>
                <a:cs typeface="Lucida Sans Unicode"/>
              </a:rPr>
              <a:t>*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60">
                <a:latin typeface="Lucida Sans Unicode"/>
                <a:cs typeface="Lucida Sans Unicode"/>
              </a:rPr>
              <a:t>Implicit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45">
                <a:latin typeface="Lucida Sans Unicode"/>
                <a:cs typeface="Lucida Sans Unicode"/>
              </a:rPr>
              <a:t>Deny: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35">
                <a:latin typeface="Lucida Sans Unicode"/>
                <a:cs typeface="Lucida Sans Unicode"/>
              </a:rPr>
              <a:t>If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the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API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25">
                <a:latin typeface="Lucida Sans Unicode"/>
                <a:cs typeface="Lucida Sans Unicode"/>
              </a:rPr>
              <a:t>returns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60">
                <a:latin typeface="Lucida Sans Unicode"/>
                <a:cs typeface="Lucida Sans Unicode"/>
              </a:rPr>
              <a:t>authorized: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65">
                <a:latin typeface="Lucida Sans Unicode"/>
                <a:cs typeface="Lucida Sans Unicode"/>
              </a:rPr>
              <a:t>False,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the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controller </a:t>
            </a:r>
            <a:r>
              <a:rPr dirty="0" sz="2400" spc="-65">
                <a:latin typeface="Lucida Sans Unicode"/>
                <a:cs typeface="Lucida Sans Unicode"/>
              </a:rPr>
              <a:t>ignores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the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70">
                <a:latin typeface="Lucida Sans Unicode"/>
                <a:cs typeface="Lucida Sans Unicode"/>
              </a:rPr>
              <a:t>packet,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50">
                <a:latin typeface="Lucida Sans Unicode"/>
                <a:cs typeface="Lucida Sans Unicode"/>
              </a:rPr>
              <a:t>effectively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55">
                <a:latin typeface="Lucida Sans Unicode"/>
                <a:cs typeface="Lucida Sans Unicode"/>
              </a:rPr>
              <a:t>dropping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75">
                <a:latin typeface="Lucida Sans Unicode"/>
                <a:cs typeface="Lucida Sans Unicode"/>
              </a:rPr>
              <a:t>it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at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the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60">
                <a:latin typeface="Lucida Sans Unicode"/>
                <a:cs typeface="Lucida Sans Unicode"/>
              </a:rPr>
              <a:t>switch</a:t>
            </a:r>
            <a:r>
              <a:rPr dirty="0" sz="2400" spc="-13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level.</a:t>
            </a:r>
            <a:endParaRPr sz="2400">
              <a:latin typeface="Lucida Sans Unicode"/>
              <a:cs typeface="Lucida Sans Unicode"/>
            </a:endParaRPr>
          </a:p>
          <a:p>
            <a:pPr marL="534670" marR="5080">
              <a:lnSpc>
                <a:spcPct val="117200"/>
              </a:lnSpc>
            </a:pPr>
            <a:r>
              <a:rPr dirty="0" sz="2400" spc="-55">
                <a:latin typeface="Lucida Sans Unicode"/>
                <a:cs typeface="Lucida Sans Unicode"/>
              </a:rPr>
              <a:t>Conditional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85">
                <a:latin typeface="Lucida Sans Unicode"/>
                <a:cs typeface="Lucida Sans Unicode"/>
              </a:rPr>
              <a:t>Trust: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30">
                <a:latin typeface="Lucida Sans Unicode"/>
                <a:cs typeface="Lucida Sans Unicode"/>
              </a:rPr>
              <a:t>Only</a:t>
            </a:r>
            <a:r>
              <a:rPr dirty="0" sz="2400" spc="-155">
                <a:latin typeface="Lucida Sans Unicode"/>
                <a:cs typeface="Lucida Sans Unicode"/>
              </a:rPr>
              <a:t> </a:t>
            </a:r>
            <a:r>
              <a:rPr dirty="0" sz="2400" spc="-20">
                <a:latin typeface="Lucida Sans Unicode"/>
                <a:cs typeface="Lucida Sans Unicode"/>
              </a:rPr>
              <a:t>upon</a:t>
            </a:r>
            <a:r>
              <a:rPr dirty="0" sz="2400" spc="-14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a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55">
                <a:latin typeface="Lucida Sans Unicode"/>
                <a:cs typeface="Lucida Sans Unicode"/>
              </a:rPr>
              <a:t>True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25">
                <a:latin typeface="Lucida Sans Unicode"/>
                <a:cs typeface="Lucida Sans Unicode"/>
              </a:rPr>
              <a:t>response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20">
                <a:latin typeface="Lucida Sans Unicode"/>
                <a:cs typeface="Lucida Sans Unicode"/>
              </a:rPr>
              <a:t>from</a:t>
            </a:r>
            <a:r>
              <a:rPr dirty="0" sz="2400" spc="-145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the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50">
                <a:latin typeface="Lucida Sans Unicode"/>
                <a:cs typeface="Lucida Sans Unicode"/>
              </a:rPr>
              <a:t>ledger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25">
                <a:latin typeface="Lucida Sans Unicode"/>
                <a:cs typeface="Lucida Sans Unicode"/>
              </a:rPr>
              <a:t>does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the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40">
                <a:latin typeface="Lucida Sans Unicode"/>
                <a:cs typeface="Lucida Sans Unicode"/>
              </a:rPr>
              <a:t>controller</a:t>
            </a:r>
            <a:r>
              <a:rPr dirty="0" sz="2400" spc="-145">
                <a:latin typeface="Lucida Sans Unicode"/>
                <a:cs typeface="Lucida Sans Unicode"/>
              </a:rPr>
              <a:t> </a:t>
            </a:r>
            <a:r>
              <a:rPr dirty="0" sz="2400" spc="-45">
                <a:latin typeface="Lucida Sans Unicode"/>
                <a:cs typeface="Lucida Sans Unicode"/>
              </a:rPr>
              <a:t>calculate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the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output </a:t>
            </a:r>
            <a:r>
              <a:rPr dirty="0" sz="2400" spc="-20">
                <a:latin typeface="Lucida Sans Unicode"/>
                <a:cs typeface="Lucida Sans Unicode"/>
              </a:rPr>
              <a:t>port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and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70">
                <a:latin typeface="Lucida Sans Unicode"/>
                <a:cs typeface="Lucida Sans Unicode"/>
              </a:rPr>
              <a:t>install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a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45">
                <a:latin typeface="Lucida Sans Unicode"/>
                <a:cs typeface="Lucida Sans Unicode"/>
              </a:rPr>
              <a:t>flow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entry.</a:t>
            </a:r>
            <a:endParaRPr sz="2400">
              <a:latin typeface="Lucida Sans Unicode"/>
              <a:cs typeface="Lucida Sans Unicode"/>
            </a:endParaRPr>
          </a:p>
          <a:p>
            <a:pPr marL="534670" marR="125730">
              <a:lnSpc>
                <a:spcPct val="117200"/>
              </a:lnSpc>
              <a:spcBef>
                <a:spcPts val="3370"/>
              </a:spcBef>
            </a:pPr>
            <a:r>
              <a:rPr dirty="0" sz="2400" spc="-40">
                <a:latin typeface="Lucida Sans Unicode"/>
                <a:cs typeface="Lucida Sans Unicode"/>
              </a:rPr>
              <a:t>Flow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35">
                <a:latin typeface="Lucida Sans Unicode"/>
                <a:cs typeface="Lucida Sans Unicode"/>
              </a:rPr>
              <a:t>Persistence: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65">
                <a:latin typeface="Lucida Sans Unicode"/>
                <a:cs typeface="Lucida Sans Unicode"/>
              </a:rPr>
              <a:t>Authorized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55">
                <a:latin typeface="Lucida Sans Unicode"/>
                <a:cs typeface="Lucida Sans Unicode"/>
              </a:rPr>
              <a:t>flows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are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60">
                <a:latin typeface="Lucida Sans Unicode"/>
                <a:cs typeface="Lucida Sans Unicode"/>
              </a:rPr>
              <a:t>installed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35">
                <a:latin typeface="Lucida Sans Unicode"/>
                <a:cs typeface="Lucida Sans Unicode"/>
              </a:rPr>
              <a:t>with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an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100">
                <a:latin typeface="Lucida Sans Unicode"/>
                <a:cs typeface="Lucida Sans Unicode"/>
              </a:rPr>
              <a:t>idle_timeout=60.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100">
                <a:latin typeface="Lucida Sans Unicode"/>
                <a:cs typeface="Lucida Sans Unicode"/>
              </a:rPr>
              <a:t>This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25">
                <a:latin typeface="Lucida Sans Unicode"/>
                <a:cs typeface="Lucida Sans Unicode"/>
              </a:rPr>
              <a:t>ensures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25">
                <a:latin typeface="Lucida Sans Unicode"/>
                <a:cs typeface="Lucida Sans Unicode"/>
              </a:rPr>
              <a:t>that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90">
                <a:latin typeface="Lucida Sans Unicode"/>
                <a:cs typeface="Lucida Sans Unicode"/>
              </a:rPr>
              <a:t>if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a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device </a:t>
            </a:r>
            <a:r>
              <a:rPr dirty="0" sz="2400" spc="-60">
                <a:latin typeface="Lucida Sans Unicode"/>
                <a:cs typeface="Lucida Sans Unicode"/>
              </a:rPr>
              <a:t>stops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65">
                <a:latin typeface="Lucida Sans Unicode"/>
                <a:cs typeface="Lucida Sans Unicode"/>
              </a:rPr>
              <a:t>communicating,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85">
                <a:latin typeface="Lucida Sans Unicode"/>
                <a:cs typeface="Lucida Sans Unicode"/>
              </a:rPr>
              <a:t>its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45">
                <a:latin typeface="Lucida Sans Unicode"/>
                <a:cs typeface="Lucida Sans Unicode"/>
              </a:rPr>
              <a:t>permission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90">
                <a:latin typeface="Lucida Sans Unicode"/>
                <a:cs typeface="Lucida Sans Unicode"/>
              </a:rPr>
              <a:t>is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30">
                <a:latin typeface="Lucida Sans Unicode"/>
                <a:cs typeface="Lucida Sans Unicode"/>
              </a:rPr>
              <a:t>revoked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20">
                <a:latin typeface="Lucida Sans Unicode"/>
                <a:cs typeface="Lucida Sans Unicode"/>
              </a:rPr>
              <a:t>from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the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60">
                <a:latin typeface="Lucida Sans Unicode"/>
                <a:cs typeface="Lucida Sans Unicode"/>
              </a:rPr>
              <a:t>switch's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170">
                <a:latin typeface="Lucida Sans Unicode"/>
                <a:cs typeface="Lucida Sans Unicode"/>
              </a:rPr>
              <a:t>fast-</a:t>
            </a:r>
            <a:r>
              <a:rPr dirty="0" sz="2400" spc="-20">
                <a:latin typeface="Lucida Sans Unicode"/>
                <a:cs typeface="Lucida Sans Unicode"/>
              </a:rPr>
              <a:t>path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35">
                <a:latin typeface="Lucida Sans Unicode"/>
                <a:cs typeface="Lucida Sans Unicode"/>
              </a:rPr>
              <a:t>memory,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50">
                <a:latin typeface="Lucida Sans Unicode"/>
                <a:cs typeface="Lucida Sans Unicode"/>
              </a:rPr>
              <a:t>requiring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a</a:t>
            </a:r>
            <a:r>
              <a:rPr dirty="0" sz="2400" spc="-125">
                <a:latin typeface="Lucida Sans Unicode"/>
                <a:cs typeface="Lucida Sans Unicode"/>
              </a:rPr>
              <a:t> </a:t>
            </a:r>
            <a:r>
              <a:rPr dirty="0" sz="2400" spc="-25">
                <a:latin typeface="Lucida Sans Unicode"/>
                <a:cs typeface="Lucida Sans Unicode"/>
              </a:rPr>
              <a:t>re- </a:t>
            </a:r>
            <a:r>
              <a:rPr dirty="0" sz="2400" spc="-40">
                <a:latin typeface="Lucida Sans Unicode"/>
                <a:cs typeface="Lucida Sans Unicode"/>
              </a:rPr>
              <a:t>authentication</a:t>
            </a:r>
            <a:r>
              <a:rPr dirty="0" sz="2400" spc="-95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check.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326422" y="9007464"/>
            <a:ext cx="6997065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IT22365132</a:t>
            </a:r>
            <a:r>
              <a:rPr dirty="0" sz="2800" spc="-2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90">
                <a:latin typeface="Trebuchet MS"/>
                <a:cs typeface="Trebuchet MS"/>
              </a:rPr>
              <a:t>C.B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265">
                <a:latin typeface="Trebuchet MS"/>
                <a:cs typeface="Trebuchet MS"/>
              </a:rPr>
              <a:t>Gunasena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7066482" y="0"/>
            <a:ext cx="1080770" cy="2162175"/>
          </a:xfrm>
          <a:custGeom>
            <a:avLst/>
            <a:gdLst/>
            <a:ahLst/>
            <a:cxnLst/>
            <a:rect l="l" t="t" r="r" b="b"/>
            <a:pathLst>
              <a:path w="1080769" h="2162175">
                <a:moveTo>
                  <a:pt x="627354" y="2161714"/>
                </a:moveTo>
                <a:lnTo>
                  <a:pt x="453360" y="2161714"/>
                </a:lnTo>
                <a:lnTo>
                  <a:pt x="437762" y="2160942"/>
                </a:lnTo>
                <a:lnTo>
                  <a:pt x="390562" y="2153899"/>
                </a:lnTo>
                <a:lnTo>
                  <a:pt x="344494" y="2142321"/>
                </a:lnTo>
                <a:lnTo>
                  <a:pt x="299876" y="2126341"/>
                </a:lnTo>
                <a:lnTo>
                  <a:pt x="257028" y="2106091"/>
                </a:lnTo>
                <a:lnTo>
                  <a:pt x="216266" y="2081703"/>
                </a:lnTo>
                <a:lnTo>
                  <a:pt x="177911" y="2053308"/>
                </a:lnTo>
                <a:lnTo>
                  <a:pt x="142279" y="2021039"/>
                </a:lnTo>
                <a:lnTo>
                  <a:pt x="110010" y="1985408"/>
                </a:lnTo>
                <a:lnTo>
                  <a:pt x="81615" y="1947052"/>
                </a:lnTo>
                <a:lnTo>
                  <a:pt x="57227" y="1906291"/>
                </a:lnTo>
                <a:lnTo>
                  <a:pt x="36977" y="1863442"/>
                </a:lnTo>
                <a:lnTo>
                  <a:pt x="20997" y="1818824"/>
                </a:lnTo>
                <a:lnTo>
                  <a:pt x="9420" y="1772757"/>
                </a:lnTo>
                <a:lnTo>
                  <a:pt x="2377" y="1725557"/>
                </a:lnTo>
                <a:lnTo>
                  <a:pt x="0" y="1677544"/>
                </a:lnTo>
                <a:lnTo>
                  <a:pt x="0" y="0"/>
                </a:lnTo>
                <a:lnTo>
                  <a:pt x="1080714" y="0"/>
                </a:lnTo>
                <a:lnTo>
                  <a:pt x="1080714" y="1677544"/>
                </a:lnTo>
                <a:lnTo>
                  <a:pt x="1078338" y="1725557"/>
                </a:lnTo>
                <a:lnTo>
                  <a:pt x="1071295" y="1772757"/>
                </a:lnTo>
                <a:lnTo>
                  <a:pt x="1059717" y="1818824"/>
                </a:lnTo>
                <a:lnTo>
                  <a:pt x="1043737" y="1863442"/>
                </a:lnTo>
                <a:lnTo>
                  <a:pt x="1023487" y="1906291"/>
                </a:lnTo>
                <a:lnTo>
                  <a:pt x="999099" y="1947052"/>
                </a:lnTo>
                <a:lnTo>
                  <a:pt x="970704" y="1985408"/>
                </a:lnTo>
                <a:lnTo>
                  <a:pt x="938434" y="2021039"/>
                </a:lnTo>
                <a:lnTo>
                  <a:pt x="902803" y="2053308"/>
                </a:lnTo>
                <a:lnTo>
                  <a:pt x="864447" y="2081703"/>
                </a:lnTo>
                <a:lnTo>
                  <a:pt x="823686" y="2106091"/>
                </a:lnTo>
                <a:lnTo>
                  <a:pt x="780837" y="2126341"/>
                </a:lnTo>
                <a:lnTo>
                  <a:pt x="736220" y="2142321"/>
                </a:lnTo>
                <a:lnTo>
                  <a:pt x="690152" y="2153899"/>
                </a:lnTo>
                <a:lnTo>
                  <a:pt x="642953" y="2160942"/>
                </a:lnTo>
                <a:lnTo>
                  <a:pt x="627354" y="2161714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-85725" y="9914422"/>
            <a:ext cx="18459450" cy="372745"/>
            <a:chOff x="-85725" y="9914422"/>
            <a:chExt cx="18459450" cy="372745"/>
          </a:xfrm>
        </p:grpSpPr>
        <p:sp>
          <p:nvSpPr>
            <p:cNvPr id="4" name="object 4" descr=""/>
            <p:cNvSpPr/>
            <p:nvPr/>
          </p:nvSpPr>
          <p:spPr>
            <a:xfrm>
              <a:off x="0" y="10000147"/>
              <a:ext cx="18288000" cy="287020"/>
            </a:xfrm>
            <a:custGeom>
              <a:avLst/>
              <a:gdLst/>
              <a:ahLst/>
              <a:cxnLst/>
              <a:rect l="l" t="t" r="r" b="b"/>
              <a:pathLst>
                <a:path w="18288000" h="287020">
                  <a:moveTo>
                    <a:pt x="18288000" y="286852"/>
                  </a:moveTo>
                  <a:lnTo>
                    <a:pt x="0" y="286852"/>
                  </a:lnTo>
                  <a:lnTo>
                    <a:pt x="0" y="70311"/>
                  </a:lnTo>
                  <a:lnTo>
                    <a:pt x="48418" y="41770"/>
                  </a:lnTo>
                  <a:lnTo>
                    <a:pt x="90548" y="23958"/>
                  </a:lnTo>
                  <a:lnTo>
                    <a:pt x="134919" y="10853"/>
                  </a:lnTo>
                  <a:lnTo>
                    <a:pt x="181221" y="2764"/>
                  </a:lnTo>
                  <a:lnTo>
                    <a:pt x="229148" y="0"/>
                  </a:lnTo>
                  <a:lnTo>
                    <a:pt x="18288000" y="0"/>
                  </a:lnTo>
                  <a:lnTo>
                    <a:pt x="18288000" y="286852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0000147"/>
              <a:ext cx="18288000" cy="71120"/>
            </a:xfrm>
            <a:custGeom>
              <a:avLst/>
              <a:gdLst/>
              <a:ahLst/>
              <a:cxnLst/>
              <a:rect l="l" t="t" r="r" b="b"/>
              <a:pathLst>
                <a:path w="18288000" h="71120">
                  <a:moveTo>
                    <a:pt x="0" y="71000"/>
                  </a:moveTo>
                  <a:lnTo>
                    <a:pt x="49386" y="41765"/>
                  </a:lnTo>
                  <a:lnTo>
                    <a:pt x="91511" y="23955"/>
                  </a:lnTo>
                  <a:lnTo>
                    <a:pt x="135877" y="10852"/>
                  </a:lnTo>
                  <a:lnTo>
                    <a:pt x="182174" y="2764"/>
                  </a:lnTo>
                  <a:lnTo>
                    <a:pt x="230095" y="0"/>
                  </a:lnTo>
                  <a:lnTo>
                    <a:pt x="18287999" y="0"/>
                  </a:lnTo>
                </a:path>
              </a:pathLst>
            </a:custGeom>
            <a:ln w="1714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835884" y="0"/>
            <a:ext cx="1080770" cy="2162175"/>
          </a:xfrm>
          <a:custGeom>
            <a:avLst/>
            <a:gdLst/>
            <a:ahLst/>
            <a:cxnLst/>
            <a:rect l="l" t="t" r="r" b="b"/>
            <a:pathLst>
              <a:path w="1080770" h="2162175">
                <a:moveTo>
                  <a:pt x="627354" y="2161714"/>
                </a:moveTo>
                <a:lnTo>
                  <a:pt x="453360" y="2161714"/>
                </a:lnTo>
                <a:lnTo>
                  <a:pt x="437762" y="2160942"/>
                </a:lnTo>
                <a:lnTo>
                  <a:pt x="390562" y="2153899"/>
                </a:lnTo>
                <a:lnTo>
                  <a:pt x="344494" y="2142321"/>
                </a:lnTo>
                <a:lnTo>
                  <a:pt x="299876" y="2126341"/>
                </a:lnTo>
                <a:lnTo>
                  <a:pt x="257028" y="2106091"/>
                </a:lnTo>
                <a:lnTo>
                  <a:pt x="216266" y="2081703"/>
                </a:lnTo>
                <a:lnTo>
                  <a:pt x="177911" y="2053308"/>
                </a:lnTo>
                <a:lnTo>
                  <a:pt x="142280" y="2021039"/>
                </a:lnTo>
                <a:lnTo>
                  <a:pt x="110010" y="1985408"/>
                </a:lnTo>
                <a:lnTo>
                  <a:pt x="81615" y="1947052"/>
                </a:lnTo>
                <a:lnTo>
                  <a:pt x="57227" y="1906291"/>
                </a:lnTo>
                <a:lnTo>
                  <a:pt x="36977" y="1863442"/>
                </a:lnTo>
                <a:lnTo>
                  <a:pt x="20997" y="1818824"/>
                </a:lnTo>
                <a:lnTo>
                  <a:pt x="9420" y="1772757"/>
                </a:lnTo>
                <a:lnTo>
                  <a:pt x="2377" y="1725557"/>
                </a:lnTo>
                <a:lnTo>
                  <a:pt x="0" y="1677544"/>
                </a:lnTo>
                <a:lnTo>
                  <a:pt x="0" y="0"/>
                </a:lnTo>
                <a:lnTo>
                  <a:pt x="1080714" y="0"/>
                </a:lnTo>
                <a:lnTo>
                  <a:pt x="1080714" y="1677544"/>
                </a:lnTo>
                <a:lnTo>
                  <a:pt x="1078337" y="1725557"/>
                </a:lnTo>
                <a:lnTo>
                  <a:pt x="1071294" y="1772757"/>
                </a:lnTo>
                <a:lnTo>
                  <a:pt x="1059717" y="1818824"/>
                </a:lnTo>
                <a:lnTo>
                  <a:pt x="1043737" y="1863442"/>
                </a:lnTo>
                <a:lnTo>
                  <a:pt x="1023487" y="1906291"/>
                </a:lnTo>
                <a:lnTo>
                  <a:pt x="999098" y="1947052"/>
                </a:lnTo>
                <a:lnTo>
                  <a:pt x="970703" y="1985408"/>
                </a:lnTo>
                <a:lnTo>
                  <a:pt x="938434" y="2021039"/>
                </a:lnTo>
                <a:lnTo>
                  <a:pt x="902803" y="2053308"/>
                </a:lnTo>
                <a:lnTo>
                  <a:pt x="864448" y="2081703"/>
                </a:lnTo>
                <a:lnTo>
                  <a:pt x="823686" y="2106091"/>
                </a:lnTo>
                <a:lnTo>
                  <a:pt x="780837" y="2126341"/>
                </a:lnTo>
                <a:lnTo>
                  <a:pt x="736220" y="2142321"/>
                </a:lnTo>
                <a:lnTo>
                  <a:pt x="690152" y="2153899"/>
                </a:lnTo>
                <a:lnTo>
                  <a:pt x="642952" y="2160942"/>
                </a:lnTo>
                <a:lnTo>
                  <a:pt x="627354" y="2161714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541" y="9123803"/>
            <a:ext cx="4119016" cy="76809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059229" y="453825"/>
            <a:ext cx="12864465" cy="1892300"/>
          </a:xfrm>
          <a:prstGeom prst="rect"/>
        </p:spPr>
        <p:txBody>
          <a:bodyPr wrap="square" lIns="0" tIns="138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90"/>
              </a:spcBef>
            </a:pPr>
            <a:r>
              <a:rPr dirty="0" sz="5300" spc="-135">
                <a:latin typeface="Lucida Sans Unicode"/>
                <a:cs typeface="Lucida Sans Unicode"/>
              </a:rPr>
              <a:t>Decentralized</a:t>
            </a:r>
            <a:r>
              <a:rPr dirty="0" sz="5300" spc="-275">
                <a:latin typeface="Lucida Sans Unicode"/>
                <a:cs typeface="Lucida Sans Unicode"/>
              </a:rPr>
              <a:t> </a:t>
            </a:r>
            <a:r>
              <a:rPr dirty="0" sz="5300" spc="-55">
                <a:latin typeface="Lucida Sans Unicode"/>
                <a:cs typeface="Lucida Sans Unicode"/>
              </a:rPr>
              <a:t>Zero</a:t>
            </a:r>
            <a:r>
              <a:rPr dirty="0" sz="5300" spc="-270">
                <a:latin typeface="Lucida Sans Unicode"/>
                <a:cs typeface="Lucida Sans Unicode"/>
              </a:rPr>
              <a:t> </a:t>
            </a:r>
            <a:r>
              <a:rPr dirty="0" sz="5300" spc="-175">
                <a:latin typeface="Lucida Sans Unicode"/>
                <a:cs typeface="Lucida Sans Unicode"/>
              </a:rPr>
              <a:t>Trust</a:t>
            </a:r>
            <a:r>
              <a:rPr dirty="0" sz="5300" spc="-275">
                <a:latin typeface="Lucida Sans Unicode"/>
                <a:cs typeface="Lucida Sans Unicode"/>
              </a:rPr>
              <a:t> </a:t>
            </a:r>
            <a:r>
              <a:rPr dirty="0" sz="5300" spc="-70">
                <a:latin typeface="Lucida Sans Unicode"/>
                <a:cs typeface="Lucida Sans Unicode"/>
              </a:rPr>
              <a:t>Network</a:t>
            </a:r>
            <a:r>
              <a:rPr dirty="0" sz="5300" spc="-270">
                <a:latin typeface="Lucida Sans Unicode"/>
                <a:cs typeface="Lucida Sans Unicode"/>
              </a:rPr>
              <a:t> </a:t>
            </a:r>
            <a:r>
              <a:rPr dirty="0" sz="5300" spc="-60">
                <a:latin typeface="Lucida Sans Unicode"/>
                <a:cs typeface="Lucida Sans Unicode"/>
              </a:rPr>
              <a:t>Access</a:t>
            </a:r>
            <a:endParaRPr sz="5300">
              <a:latin typeface="Lucida Sans Unicode"/>
              <a:cs typeface="Lucida Sans Unicode"/>
            </a:endParaRPr>
          </a:p>
          <a:p>
            <a:pPr algn="ctr" marR="687070">
              <a:lnSpc>
                <a:spcPct val="100000"/>
              </a:lnSpc>
              <a:spcBef>
                <a:spcPts val="990"/>
              </a:spcBef>
              <a:tabLst>
                <a:tab pos="1188085" algn="l"/>
                <a:tab pos="6491605" algn="l"/>
              </a:tabLst>
            </a:pPr>
            <a:r>
              <a:rPr dirty="0" u="sng" sz="5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5300" spc="-105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with</a:t>
            </a:r>
            <a:r>
              <a:rPr dirty="0" u="sng" sz="5300" spc="-29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5300" spc="-204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AI</a:t>
            </a:r>
            <a:r>
              <a:rPr dirty="0" u="sng" sz="5300" spc="-29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5300" spc="-1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Security</a:t>
            </a:r>
            <a:r>
              <a:rPr dirty="0" u="sng" sz="530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	</a:t>
            </a:r>
            <a:endParaRPr sz="5300">
              <a:latin typeface="Lucida Sans Unicode"/>
              <a:cs typeface="Lucida Sans Unicode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0205" y="3049493"/>
            <a:ext cx="7837668" cy="5443093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088392" y="4197656"/>
            <a:ext cx="9772015" cy="38906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414655" marR="407034">
              <a:lnSpc>
                <a:spcPct val="117400"/>
              </a:lnSpc>
              <a:spcBef>
                <a:spcPts val="90"/>
              </a:spcBef>
            </a:pPr>
            <a:r>
              <a:rPr dirty="0" sz="2700">
                <a:latin typeface="Arial Black"/>
                <a:cs typeface="Arial Black"/>
              </a:rPr>
              <a:t>-</a:t>
            </a:r>
            <a:r>
              <a:rPr dirty="0" sz="2700" spc="-170">
                <a:latin typeface="Arial Black"/>
                <a:cs typeface="Arial Black"/>
              </a:rPr>
              <a:t> </a:t>
            </a:r>
            <a:r>
              <a:rPr dirty="0" sz="2700" spc="-185">
                <a:latin typeface="Arial Black"/>
                <a:cs typeface="Arial Black"/>
              </a:rPr>
              <a:t>System</a:t>
            </a:r>
            <a:r>
              <a:rPr dirty="0" sz="2700" spc="-175">
                <a:latin typeface="Arial Black"/>
                <a:cs typeface="Arial Black"/>
              </a:rPr>
              <a:t> </a:t>
            </a:r>
            <a:r>
              <a:rPr dirty="0" sz="2700" spc="-130">
                <a:latin typeface="Arial Black"/>
                <a:cs typeface="Arial Black"/>
              </a:rPr>
              <a:t>Overview:</a:t>
            </a:r>
            <a:r>
              <a:rPr dirty="0" sz="2700" spc="-170">
                <a:latin typeface="Arial Black"/>
                <a:cs typeface="Arial Black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Personal</a:t>
            </a:r>
            <a:r>
              <a:rPr dirty="0" sz="2700" spc="-125">
                <a:latin typeface="Lucida Sans Unicode"/>
                <a:cs typeface="Lucida Sans Unicode"/>
              </a:rPr>
              <a:t> </a:t>
            </a:r>
            <a:r>
              <a:rPr dirty="0" sz="2700" spc="-85">
                <a:latin typeface="Lucida Sans Unicode"/>
                <a:cs typeface="Lucida Sans Unicode"/>
              </a:rPr>
              <a:t>laptop/edge</a:t>
            </a:r>
            <a:r>
              <a:rPr dirty="0" sz="2700" spc="-125">
                <a:latin typeface="Lucida Sans Unicode"/>
                <a:cs typeface="Lucida Sans Unicode"/>
              </a:rPr>
              <a:t> </a:t>
            </a:r>
            <a:r>
              <a:rPr dirty="0" sz="2700" spc="-35">
                <a:latin typeface="Lucida Sans Unicode"/>
                <a:cs typeface="Lucida Sans Unicode"/>
              </a:rPr>
              <a:t>device</a:t>
            </a:r>
            <a:r>
              <a:rPr dirty="0" sz="2700" spc="-120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hosts </a:t>
            </a:r>
            <a:r>
              <a:rPr dirty="0" sz="2700" spc="-45">
                <a:latin typeface="Lucida Sans Unicode"/>
                <a:cs typeface="Lucida Sans Unicode"/>
              </a:rPr>
              <a:t>Fabric</a:t>
            </a:r>
            <a:r>
              <a:rPr dirty="0" sz="2700" spc="-130">
                <a:latin typeface="Lucida Sans Unicode"/>
                <a:cs typeface="Lucida Sans Unicode"/>
              </a:rPr>
              <a:t> </a:t>
            </a:r>
            <a:r>
              <a:rPr dirty="0" sz="2700" spc="-55">
                <a:latin typeface="Lucida Sans Unicode"/>
                <a:cs typeface="Lucida Sans Unicode"/>
              </a:rPr>
              <a:t>(cryptographic</a:t>
            </a:r>
            <a:r>
              <a:rPr dirty="0" sz="2700" spc="-125">
                <a:latin typeface="Lucida Sans Unicode"/>
                <a:cs typeface="Lucida Sans Unicode"/>
              </a:rPr>
              <a:t> </a:t>
            </a:r>
            <a:r>
              <a:rPr dirty="0" sz="2700" spc="-55">
                <a:latin typeface="Lucida Sans Unicode"/>
                <a:cs typeface="Lucida Sans Unicode"/>
              </a:rPr>
              <a:t>auth),</a:t>
            </a:r>
            <a:r>
              <a:rPr dirty="0" sz="2700" spc="-130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Ryu</a:t>
            </a:r>
            <a:r>
              <a:rPr dirty="0" sz="2700" spc="-125">
                <a:latin typeface="Lucida Sans Unicode"/>
                <a:cs typeface="Lucida Sans Unicode"/>
              </a:rPr>
              <a:t> </a:t>
            </a:r>
            <a:r>
              <a:rPr dirty="0" sz="2700" spc="-75">
                <a:latin typeface="Lucida Sans Unicode"/>
                <a:cs typeface="Lucida Sans Unicode"/>
              </a:rPr>
              <a:t>(policy</a:t>
            </a:r>
            <a:r>
              <a:rPr dirty="0" sz="2700" spc="-130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enforcement), </a:t>
            </a:r>
            <a:r>
              <a:rPr dirty="0" sz="2700" spc="-40">
                <a:latin typeface="Lucida Sans Unicode"/>
                <a:cs typeface="Lucida Sans Unicode"/>
              </a:rPr>
              <a:t>TensorFlow</a:t>
            </a:r>
            <a:r>
              <a:rPr dirty="0" sz="2700" spc="-150">
                <a:latin typeface="Lucida Sans Unicode"/>
                <a:cs typeface="Lucida Sans Unicode"/>
              </a:rPr>
              <a:t> </a:t>
            </a:r>
            <a:r>
              <a:rPr dirty="0" sz="2700" spc="-30">
                <a:latin typeface="Lucida Sans Unicode"/>
                <a:cs typeface="Lucida Sans Unicode"/>
              </a:rPr>
              <a:t>Lite</a:t>
            </a:r>
            <a:r>
              <a:rPr dirty="0" sz="2700" spc="-150">
                <a:latin typeface="Lucida Sans Unicode"/>
                <a:cs typeface="Lucida Sans Unicode"/>
              </a:rPr>
              <a:t> </a:t>
            </a:r>
            <a:r>
              <a:rPr dirty="0" sz="2700" spc="-40">
                <a:latin typeface="Lucida Sans Unicode"/>
                <a:cs typeface="Lucida Sans Unicode"/>
              </a:rPr>
              <a:t>(flow</a:t>
            </a:r>
            <a:r>
              <a:rPr dirty="0" sz="2700" spc="-145">
                <a:latin typeface="Lucida Sans Unicode"/>
                <a:cs typeface="Lucida Sans Unicode"/>
              </a:rPr>
              <a:t> </a:t>
            </a:r>
            <a:r>
              <a:rPr dirty="0" sz="2700" spc="-60">
                <a:latin typeface="Lucida Sans Unicode"/>
                <a:cs typeface="Lucida Sans Unicode"/>
              </a:rPr>
              <a:t>monitoring);</a:t>
            </a:r>
            <a:r>
              <a:rPr dirty="0" sz="2700" spc="-150">
                <a:latin typeface="Lucida Sans Unicode"/>
                <a:cs typeface="Lucida Sans Unicode"/>
              </a:rPr>
              <a:t> </a:t>
            </a:r>
            <a:r>
              <a:rPr dirty="0" sz="2700" spc="-45">
                <a:latin typeface="Lucida Sans Unicode"/>
                <a:cs typeface="Lucida Sans Unicode"/>
              </a:rPr>
              <a:t>offline</a:t>
            </a:r>
            <a:r>
              <a:rPr dirty="0" sz="2700" spc="-145">
                <a:latin typeface="Lucida Sans Unicode"/>
                <a:cs typeface="Lucida Sans Unicode"/>
              </a:rPr>
              <a:t> </a:t>
            </a:r>
            <a:r>
              <a:rPr dirty="0" sz="2700" spc="-110">
                <a:latin typeface="Lucida Sans Unicode"/>
                <a:cs typeface="Lucida Sans Unicode"/>
              </a:rPr>
              <a:t>logs</a:t>
            </a:r>
            <a:r>
              <a:rPr dirty="0" sz="2700" spc="-145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sync.</a:t>
            </a:r>
            <a:endParaRPr sz="2700">
              <a:latin typeface="Lucida Sans Unicode"/>
              <a:cs typeface="Lucida Sans Unicode"/>
            </a:endParaRPr>
          </a:p>
          <a:p>
            <a:pPr algn="ctr" marL="12065" marR="5080" indent="-635">
              <a:lnSpc>
                <a:spcPct val="117400"/>
              </a:lnSpc>
              <a:spcBef>
                <a:spcPts val="3804"/>
              </a:spcBef>
            </a:pPr>
            <a:r>
              <a:rPr dirty="0" sz="2700">
                <a:latin typeface="Arial Black"/>
                <a:cs typeface="Arial Black"/>
              </a:rPr>
              <a:t>-</a:t>
            </a:r>
            <a:r>
              <a:rPr dirty="0" sz="2700" spc="-175">
                <a:latin typeface="Arial Black"/>
                <a:cs typeface="Arial Black"/>
              </a:rPr>
              <a:t> </a:t>
            </a:r>
            <a:r>
              <a:rPr dirty="0" sz="2700" spc="-165">
                <a:latin typeface="Arial Black"/>
                <a:cs typeface="Arial Black"/>
              </a:rPr>
              <a:t>Real-</a:t>
            </a:r>
            <a:r>
              <a:rPr dirty="0" sz="2700" spc="-60">
                <a:latin typeface="Arial Black"/>
                <a:cs typeface="Arial Black"/>
              </a:rPr>
              <a:t>World</a:t>
            </a:r>
            <a:r>
              <a:rPr dirty="0" sz="2700" spc="-180">
                <a:latin typeface="Arial Black"/>
                <a:cs typeface="Arial Black"/>
              </a:rPr>
              <a:t> </a:t>
            </a:r>
            <a:r>
              <a:rPr dirty="0" sz="2700" spc="-175">
                <a:latin typeface="Arial Black"/>
                <a:cs typeface="Arial Black"/>
              </a:rPr>
              <a:t>Scenario: </a:t>
            </a:r>
            <a:r>
              <a:rPr dirty="0" sz="2700" spc="-20">
                <a:latin typeface="Lucida Sans Unicode"/>
                <a:cs typeface="Lucida Sans Unicode"/>
              </a:rPr>
              <a:t>Dashboard</a:t>
            </a:r>
            <a:r>
              <a:rPr dirty="0" sz="2700" spc="-130">
                <a:latin typeface="Lucida Sans Unicode"/>
                <a:cs typeface="Lucida Sans Unicode"/>
              </a:rPr>
              <a:t> </a:t>
            </a:r>
            <a:r>
              <a:rPr dirty="0" sz="2700" spc="-50">
                <a:latin typeface="Lucida Sans Unicode"/>
                <a:cs typeface="Lucida Sans Unicode"/>
              </a:rPr>
              <a:t>activation;</a:t>
            </a:r>
            <a:r>
              <a:rPr dirty="0" sz="2700" spc="-130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devices </a:t>
            </a:r>
            <a:r>
              <a:rPr dirty="0" sz="2700" spc="-55">
                <a:latin typeface="Lucida Sans Unicode"/>
                <a:cs typeface="Lucida Sans Unicode"/>
              </a:rPr>
              <a:t>register/authenticate</a:t>
            </a:r>
            <a:r>
              <a:rPr dirty="0" sz="2700" spc="-125">
                <a:latin typeface="Lucida Sans Unicode"/>
                <a:cs typeface="Lucida Sans Unicode"/>
              </a:rPr>
              <a:t> </a:t>
            </a:r>
            <a:r>
              <a:rPr dirty="0" sz="2700" spc="-20">
                <a:latin typeface="Lucida Sans Unicode"/>
                <a:cs typeface="Lucida Sans Unicode"/>
              </a:rPr>
              <a:t>via</a:t>
            </a:r>
            <a:r>
              <a:rPr dirty="0" sz="2700" spc="-125">
                <a:latin typeface="Lucida Sans Unicode"/>
                <a:cs typeface="Lucida Sans Unicode"/>
              </a:rPr>
              <a:t> </a:t>
            </a:r>
            <a:r>
              <a:rPr dirty="0" sz="2700" spc="-65">
                <a:latin typeface="Lucida Sans Unicode"/>
                <a:cs typeface="Lucida Sans Unicode"/>
              </a:rPr>
              <a:t>blockchain;</a:t>
            </a:r>
            <a:r>
              <a:rPr dirty="0" sz="2700" spc="-12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SDN</a:t>
            </a:r>
            <a:r>
              <a:rPr dirty="0" sz="2700" spc="-125">
                <a:latin typeface="Lucida Sans Unicode"/>
                <a:cs typeface="Lucida Sans Unicode"/>
              </a:rPr>
              <a:t> </a:t>
            </a:r>
            <a:r>
              <a:rPr dirty="0" sz="2700" spc="-65">
                <a:latin typeface="Lucida Sans Unicode"/>
                <a:cs typeface="Lucida Sans Unicode"/>
              </a:rPr>
              <a:t>prioritizes</a:t>
            </a:r>
            <a:r>
              <a:rPr dirty="0" sz="2700" spc="-120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apps/ </a:t>
            </a:r>
            <a:r>
              <a:rPr dirty="0" sz="2700" spc="-90">
                <a:latin typeface="Lucida Sans Unicode"/>
                <a:cs typeface="Lucida Sans Unicode"/>
              </a:rPr>
              <a:t>blocks</a:t>
            </a:r>
            <a:r>
              <a:rPr dirty="0" sz="2700" spc="-130">
                <a:latin typeface="Lucida Sans Unicode"/>
                <a:cs typeface="Lucida Sans Unicode"/>
              </a:rPr>
              <a:t> </a:t>
            </a:r>
            <a:r>
              <a:rPr dirty="0" sz="2700" spc="-35">
                <a:latin typeface="Lucida Sans Unicode"/>
                <a:cs typeface="Lucida Sans Unicode"/>
              </a:rPr>
              <a:t>threats;</a:t>
            </a:r>
            <a:r>
              <a:rPr dirty="0" sz="2700" spc="-130">
                <a:latin typeface="Lucida Sans Unicode"/>
                <a:cs typeface="Lucida Sans Unicode"/>
              </a:rPr>
              <a:t> </a:t>
            </a:r>
            <a:r>
              <a:rPr dirty="0" sz="2700" spc="-80">
                <a:latin typeface="Lucida Sans Unicode"/>
                <a:cs typeface="Lucida Sans Unicode"/>
              </a:rPr>
              <a:t>AI</a:t>
            </a:r>
            <a:r>
              <a:rPr dirty="0" sz="2700" spc="-125">
                <a:latin typeface="Lucida Sans Unicode"/>
                <a:cs typeface="Lucida Sans Unicode"/>
              </a:rPr>
              <a:t> </a:t>
            </a:r>
            <a:r>
              <a:rPr dirty="0" sz="2700" spc="-25">
                <a:latin typeface="Lucida Sans Unicode"/>
                <a:cs typeface="Lucida Sans Unicode"/>
              </a:rPr>
              <a:t>alerts</a:t>
            </a:r>
            <a:r>
              <a:rPr dirty="0" sz="2700" spc="-13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on</a:t>
            </a:r>
            <a:r>
              <a:rPr dirty="0" sz="2700" spc="-125">
                <a:latin typeface="Lucida Sans Unicode"/>
                <a:cs typeface="Lucida Sans Unicode"/>
              </a:rPr>
              <a:t> </a:t>
            </a:r>
            <a:r>
              <a:rPr dirty="0" sz="2700" spc="-30">
                <a:latin typeface="Lucida Sans Unicode"/>
                <a:cs typeface="Lucida Sans Unicode"/>
              </a:rPr>
              <a:t>anomalies—</a:t>
            </a:r>
            <a:r>
              <a:rPr dirty="0" sz="2700" spc="-20">
                <a:latin typeface="Lucida Sans Unicode"/>
                <a:cs typeface="Lucida Sans Unicode"/>
              </a:rPr>
              <a:t>secure</a:t>
            </a:r>
            <a:r>
              <a:rPr dirty="0" sz="2700" spc="-130">
                <a:latin typeface="Lucida Sans Unicode"/>
                <a:cs typeface="Lucida Sans Unicode"/>
              </a:rPr>
              <a:t> </a:t>
            </a:r>
            <a:r>
              <a:rPr dirty="0" sz="2700" spc="-50">
                <a:latin typeface="Lucida Sans Unicode"/>
                <a:cs typeface="Lucida Sans Unicode"/>
              </a:rPr>
              <a:t>monitoring</a:t>
            </a:r>
            <a:r>
              <a:rPr dirty="0" sz="2700" spc="-130">
                <a:latin typeface="Lucida Sans Unicode"/>
                <a:cs typeface="Lucida Sans Unicode"/>
              </a:rPr>
              <a:t> </a:t>
            </a:r>
            <a:r>
              <a:rPr dirty="0" sz="2700" spc="-25">
                <a:latin typeface="Lucida Sans Unicode"/>
                <a:cs typeface="Lucida Sans Unicode"/>
              </a:rPr>
              <a:t>in </a:t>
            </a:r>
            <a:r>
              <a:rPr dirty="0" sz="2700" spc="-200">
                <a:latin typeface="Lucida Sans Unicode"/>
                <a:cs typeface="Lucida Sans Unicode"/>
              </a:rPr>
              <a:t>low-</a:t>
            </a:r>
            <a:r>
              <a:rPr dirty="0" sz="2700" spc="-50">
                <a:latin typeface="Lucida Sans Unicode"/>
                <a:cs typeface="Lucida Sans Unicode"/>
              </a:rPr>
              <a:t>budget</a:t>
            </a:r>
            <a:r>
              <a:rPr dirty="0" sz="2700" spc="-130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classrooms.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26351" y="9388396"/>
            <a:ext cx="6997065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IT22365132</a:t>
            </a:r>
            <a:r>
              <a:rPr dirty="0" sz="2800" spc="-2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90">
                <a:latin typeface="Trebuchet MS"/>
                <a:cs typeface="Trebuchet MS"/>
              </a:rPr>
              <a:t>C.B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265">
                <a:latin typeface="Trebuchet MS"/>
                <a:cs typeface="Trebuchet MS"/>
              </a:rPr>
              <a:t>Gunasena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15377" rIns="0" bIns="0" rtlCol="0" vert="horz">
            <a:spAutoFit/>
          </a:bodyPr>
          <a:lstStyle/>
          <a:p>
            <a:pPr marL="3145155">
              <a:lnSpc>
                <a:spcPct val="100000"/>
              </a:lnSpc>
              <a:spcBef>
                <a:spcPts val="100"/>
              </a:spcBef>
            </a:pPr>
            <a:r>
              <a:rPr dirty="0" spc="-785"/>
              <a:t>COMMERCIALIZATION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8913" y="3337929"/>
            <a:ext cx="123825" cy="12382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320345" y="3090019"/>
            <a:ext cx="12019280" cy="4883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45720" marR="38100">
              <a:lnSpc>
                <a:spcPct val="118100"/>
              </a:lnSpc>
              <a:spcBef>
                <a:spcPts val="90"/>
              </a:spcBef>
            </a:pPr>
            <a:r>
              <a:rPr dirty="0" sz="2700" spc="-175">
                <a:latin typeface="Arial Black"/>
                <a:cs typeface="Arial Black"/>
              </a:rPr>
              <a:t>Investment/Cost</a:t>
            </a:r>
            <a:r>
              <a:rPr dirty="0" sz="2700" spc="-50">
                <a:latin typeface="Arial Black"/>
                <a:cs typeface="Arial Black"/>
              </a:rPr>
              <a:t> </a:t>
            </a:r>
            <a:r>
              <a:rPr dirty="0" sz="2700" spc="-580">
                <a:latin typeface="Arial Black"/>
                <a:cs typeface="Arial Black"/>
              </a:rPr>
              <a:t>&amp;</a:t>
            </a:r>
            <a:r>
              <a:rPr dirty="0" sz="2700" spc="-50">
                <a:latin typeface="Arial Black"/>
                <a:cs typeface="Arial Black"/>
              </a:rPr>
              <a:t> </a:t>
            </a:r>
            <a:r>
              <a:rPr dirty="0" sz="2700" spc="-175">
                <a:latin typeface="Arial Black"/>
                <a:cs typeface="Arial Black"/>
              </a:rPr>
              <a:t>Recovery:</a:t>
            </a:r>
            <a:r>
              <a:rPr dirty="0" sz="2700" spc="-60">
                <a:latin typeface="Arial Black"/>
                <a:cs typeface="Arial Black"/>
              </a:rPr>
              <a:t> </a:t>
            </a:r>
            <a:r>
              <a:rPr dirty="0" sz="2700">
                <a:latin typeface="Trebuchet MS"/>
                <a:cs typeface="Trebuchet MS"/>
              </a:rPr>
              <a:t>~LKR</a:t>
            </a:r>
            <a:r>
              <a:rPr dirty="0" sz="2700" spc="25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70,000</a:t>
            </a:r>
            <a:r>
              <a:rPr dirty="0" sz="2700" spc="25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total</a:t>
            </a:r>
            <a:r>
              <a:rPr dirty="0" sz="2700" spc="30">
                <a:latin typeface="Trebuchet MS"/>
                <a:cs typeface="Trebuchet MS"/>
              </a:rPr>
              <a:t> </a:t>
            </a:r>
            <a:r>
              <a:rPr dirty="0" sz="2700" spc="65">
                <a:latin typeface="Trebuchet MS"/>
                <a:cs typeface="Trebuchet MS"/>
              </a:rPr>
              <a:t>(labor:</a:t>
            </a:r>
            <a:r>
              <a:rPr dirty="0" sz="2700" spc="25">
                <a:latin typeface="Trebuchet MS"/>
                <a:cs typeface="Trebuchet MS"/>
              </a:rPr>
              <a:t> </a:t>
            </a:r>
            <a:r>
              <a:rPr dirty="0" sz="2700" spc="95">
                <a:latin typeface="Trebuchet MS"/>
                <a:cs typeface="Trebuchet MS"/>
              </a:rPr>
              <a:t>4</a:t>
            </a:r>
            <a:r>
              <a:rPr dirty="0" sz="2700" spc="25">
                <a:latin typeface="Trebuchet MS"/>
                <a:cs typeface="Trebuchet MS"/>
              </a:rPr>
              <a:t> </a:t>
            </a:r>
            <a:r>
              <a:rPr dirty="0" sz="2700" spc="80">
                <a:latin typeface="Trebuchet MS"/>
                <a:cs typeface="Trebuchet MS"/>
              </a:rPr>
              <a:t>students'</a:t>
            </a:r>
            <a:r>
              <a:rPr dirty="0" sz="2700" spc="30">
                <a:latin typeface="Trebuchet MS"/>
                <a:cs typeface="Trebuchet MS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effort; </a:t>
            </a:r>
            <a:r>
              <a:rPr dirty="0" sz="2700" spc="55">
                <a:latin typeface="Trebuchet MS"/>
                <a:cs typeface="Trebuchet MS"/>
              </a:rPr>
              <a:t>material:</a:t>
            </a:r>
            <a:r>
              <a:rPr dirty="0" sz="2700" spc="-45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LKR</a:t>
            </a:r>
            <a:r>
              <a:rPr dirty="0" sz="2700" spc="-4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50,000</a:t>
            </a:r>
            <a:r>
              <a:rPr dirty="0" sz="2700" spc="-4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for</a:t>
            </a:r>
            <a:r>
              <a:rPr dirty="0" sz="2700" spc="-40">
                <a:latin typeface="Trebuchet MS"/>
                <a:cs typeface="Trebuchet MS"/>
              </a:rPr>
              <a:t> </a:t>
            </a:r>
            <a:r>
              <a:rPr dirty="0" sz="2700" spc="135">
                <a:latin typeface="Trebuchet MS"/>
                <a:cs typeface="Trebuchet MS"/>
              </a:rPr>
              <a:t>hardware).</a:t>
            </a:r>
            <a:r>
              <a:rPr dirty="0" sz="2700" spc="-40">
                <a:latin typeface="Trebuchet MS"/>
                <a:cs typeface="Trebuchet MS"/>
              </a:rPr>
              <a:t> </a:t>
            </a:r>
            <a:r>
              <a:rPr dirty="0" sz="2700" spc="185">
                <a:latin typeface="Trebuchet MS"/>
                <a:cs typeface="Trebuchet MS"/>
              </a:rPr>
              <a:t>Recover</a:t>
            </a:r>
            <a:r>
              <a:rPr dirty="0" sz="2700" spc="-40">
                <a:latin typeface="Trebuchet MS"/>
                <a:cs typeface="Trebuchet MS"/>
              </a:rPr>
              <a:t> </a:t>
            </a:r>
            <a:r>
              <a:rPr dirty="0" sz="2700" spc="150">
                <a:latin typeface="Trebuchet MS"/>
                <a:cs typeface="Trebuchet MS"/>
              </a:rPr>
              <a:t>via</a:t>
            </a:r>
            <a:r>
              <a:rPr dirty="0" sz="2700" spc="-4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LKR</a:t>
            </a:r>
            <a:r>
              <a:rPr dirty="0" sz="2700" spc="-40">
                <a:latin typeface="Trebuchet MS"/>
                <a:cs typeface="Trebuchet MS"/>
              </a:rPr>
              <a:t> </a:t>
            </a:r>
            <a:r>
              <a:rPr dirty="0" sz="2700" spc="50">
                <a:latin typeface="Trebuchet MS"/>
                <a:cs typeface="Trebuchet MS"/>
              </a:rPr>
              <a:t>10,000/year subscriptions,</a:t>
            </a:r>
            <a:r>
              <a:rPr dirty="0" sz="2700" spc="-50">
                <a:latin typeface="Trebuchet MS"/>
                <a:cs typeface="Trebuchet MS"/>
              </a:rPr>
              <a:t> </a:t>
            </a:r>
            <a:r>
              <a:rPr dirty="0" sz="2700" spc="160">
                <a:latin typeface="Trebuchet MS"/>
                <a:cs typeface="Trebuchet MS"/>
              </a:rPr>
              <a:t>ROI</a:t>
            </a:r>
            <a:r>
              <a:rPr dirty="0" sz="2700" spc="-45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in</a:t>
            </a:r>
            <a:r>
              <a:rPr dirty="0" sz="2700" spc="-45">
                <a:latin typeface="Trebuchet MS"/>
                <a:cs typeface="Trebuchet MS"/>
              </a:rPr>
              <a:t> </a:t>
            </a:r>
            <a:r>
              <a:rPr dirty="0" sz="2700" spc="95">
                <a:latin typeface="Trebuchet MS"/>
                <a:cs typeface="Trebuchet MS"/>
              </a:rPr>
              <a:t>2</a:t>
            </a:r>
            <a:r>
              <a:rPr dirty="0" sz="2700" spc="-45">
                <a:latin typeface="Trebuchet MS"/>
                <a:cs typeface="Trebuchet MS"/>
              </a:rPr>
              <a:t> </a:t>
            </a:r>
            <a:r>
              <a:rPr dirty="0" sz="2700" spc="130">
                <a:latin typeface="Trebuchet MS"/>
                <a:cs typeface="Trebuchet MS"/>
              </a:rPr>
              <a:t>years</a:t>
            </a:r>
            <a:r>
              <a:rPr dirty="0" sz="2700" spc="-45">
                <a:latin typeface="Trebuchet MS"/>
                <a:cs typeface="Trebuchet MS"/>
              </a:rPr>
              <a:t> </a:t>
            </a:r>
            <a:r>
              <a:rPr dirty="0" sz="2700" spc="85">
                <a:latin typeface="Trebuchet MS"/>
                <a:cs typeface="Trebuchet MS"/>
              </a:rPr>
              <a:t>from</a:t>
            </a:r>
            <a:r>
              <a:rPr dirty="0" sz="2700" spc="-45">
                <a:latin typeface="Trebuchet MS"/>
                <a:cs typeface="Trebuchet MS"/>
              </a:rPr>
              <a:t> </a:t>
            </a:r>
            <a:r>
              <a:rPr dirty="0" sz="2700" spc="95">
                <a:latin typeface="Trebuchet MS"/>
                <a:cs typeface="Trebuchet MS"/>
              </a:rPr>
              <a:t>50</a:t>
            </a:r>
            <a:r>
              <a:rPr dirty="0" sz="2700" spc="-45">
                <a:latin typeface="Trebuchet MS"/>
                <a:cs typeface="Trebuchet MS"/>
              </a:rPr>
              <a:t> </a:t>
            </a:r>
            <a:r>
              <a:rPr dirty="0" sz="2700" spc="125">
                <a:latin typeface="Trebuchet MS"/>
                <a:cs typeface="Trebuchet MS"/>
              </a:rPr>
              <a:t>adoptions.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2700">
              <a:latin typeface="Trebuchet MS"/>
              <a:cs typeface="Trebuchet MS"/>
            </a:endParaRPr>
          </a:p>
          <a:p>
            <a:pPr algn="ctr" marL="12065" marR="5080">
              <a:lnSpc>
                <a:spcPct val="118100"/>
              </a:lnSpc>
              <a:spcBef>
                <a:spcPts val="5"/>
              </a:spcBef>
            </a:pPr>
            <a:r>
              <a:rPr dirty="0" sz="2700" spc="-254">
                <a:latin typeface="Arial Black"/>
                <a:cs typeface="Arial Black"/>
              </a:rPr>
              <a:t>Target</a:t>
            </a:r>
            <a:r>
              <a:rPr dirty="0" sz="2700" spc="-110">
                <a:latin typeface="Arial Black"/>
                <a:cs typeface="Arial Black"/>
              </a:rPr>
              <a:t> </a:t>
            </a:r>
            <a:r>
              <a:rPr dirty="0" sz="2700" spc="-140">
                <a:latin typeface="Arial Black"/>
                <a:cs typeface="Arial Black"/>
              </a:rPr>
              <a:t>Market/Customer</a:t>
            </a:r>
            <a:r>
              <a:rPr dirty="0" sz="2700" spc="-110">
                <a:latin typeface="Arial Black"/>
                <a:cs typeface="Arial Black"/>
              </a:rPr>
              <a:t> </a:t>
            </a:r>
            <a:r>
              <a:rPr dirty="0" sz="2700" spc="-225">
                <a:latin typeface="Arial Black"/>
                <a:cs typeface="Arial Black"/>
              </a:rPr>
              <a:t>Profile:</a:t>
            </a:r>
            <a:r>
              <a:rPr dirty="0" sz="2700" spc="-120">
                <a:latin typeface="Arial Black"/>
                <a:cs typeface="Arial Black"/>
              </a:rPr>
              <a:t> </a:t>
            </a:r>
            <a:r>
              <a:rPr dirty="0" sz="2700" spc="204">
                <a:latin typeface="Trebuchet MS"/>
                <a:cs typeface="Trebuchet MS"/>
              </a:rPr>
              <a:t>Developing</a:t>
            </a:r>
            <a:r>
              <a:rPr dirty="0" sz="2700" spc="-30">
                <a:latin typeface="Trebuchet MS"/>
                <a:cs typeface="Trebuchet MS"/>
              </a:rPr>
              <a:t> </a:t>
            </a:r>
            <a:r>
              <a:rPr dirty="0" sz="2700" spc="220">
                <a:latin typeface="Trebuchet MS"/>
                <a:cs typeface="Trebuchet MS"/>
              </a:rPr>
              <a:t>edtech</a:t>
            </a:r>
            <a:r>
              <a:rPr dirty="0" sz="2700" spc="-35">
                <a:latin typeface="Trebuchet MS"/>
                <a:cs typeface="Trebuchet MS"/>
              </a:rPr>
              <a:t> </a:t>
            </a:r>
            <a:r>
              <a:rPr dirty="0" sz="2700" spc="125">
                <a:latin typeface="Trebuchet MS"/>
                <a:cs typeface="Trebuchet MS"/>
              </a:rPr>
              <a:t>market</a:t>
            </a:r>
            <a:r>
              <a:rPr dirty="0" sz="2700" spc="-35">
                <a:latin typeface="Trebuchet MS"/>
                <a:cs typeface="Trebuchet MS"/>
              </a:rPr>
              <a:t> </a:t>
            </a:r>
            <a:r>
              <a:rPr dirty="0" sz="2700" spc="114">
                <a:latin typeface="Trebuchet MS"/>
                <a:cs typeface="Trebuchet MS"/>
              </a:rPr>
              <a:t>(USD</a:t>
            </a:r>
            <a:r>
              <a:rPr dirty="0" sz="2700" spc="-30">
                <a:latin typeface="Trebuchet MS"/>
                <a:cs typeface="Trebuchet MS"/>
              </a:rPr>
              <a:t> </a:t>
            </a:r>
            <a:r>
              <a:rPr dirty="0" sz="2700" spc="70">
                <a:latin typeface="Trebuchet MS"/>
                <a:cs typeface="Trebuchet MS"/>
              </a:rPr>
              <a:t>94B</a:t>
            </a:r>
            <a:r>
              <a:rPr dirty="0" sz="2700" spc="-35">
                <a:latin typeface="Trebuchet MS"/>
                <a:cs typeface="Trebuchet MS"/>
              </a:rPr>
              <a:t> </a:t>
            </a:r>
            <a:r>
              <a:rPr dirty="0" sz="2700" spc="-25">
                <a:latin typeface="Trebuchet MS"/>
                <a:cs typeface="Trebuchet MS"/>
              </a:rPr>
              <a:t>in </a:t>
            </a:r>
            <a:r>
              <a:rPr dirty="0" sz="2700">
                <a:latin typeface="Trebuchet MS"/>
                <a:cs typeface="Trebuchet MS"/>
              </a:rPr>
              <a:t>2025,</a:t>
            </a:r>
            <a:r>
              <a:rPr dirty="0" sz="2700" spc="-10">
                <a:latin typeface="Trebuchet MS"/>
                <a:cs typeface="Trebuchet MS"/>
              </a:rPr>
              <a:t> </a:t>
            </a:r>
            <a:r>
              <a:rPr dirty="0" sz="2700" spc="200">
                <a:latin typeface="Trebuchet MS"/>
                <a:cs typeface="Trebuchet MS"/>
              </a:rPr>
              <a:t>growing</a:t>
            </a:r>
            <a:r>
              <a:rPr dirty="0" sz="2700" spc="-10">
                <a:latin typeface="Trebuchet MS"/>
                <a:cs typeface="Trebuchet MS"/>
              </a:rPr>
              <a:t> </a:t>
            </a:r>
            <a:r>
              <a:rPr dirty="0" sz="2700" spc="85">
                <a:latin typeface="Trebuchet MS"/>
                <a:cs typeface="Trebuchet MS"/>
              </a:rPr>
              <a:t>to</a:t>
            </a:r>
            <a:r>
              <a:rPr dirty="0" sz="2700" spc="-10">
                <a:latin typeface="Trebuchet MS"/>
                <a:cs typeface="Trebuchet MS"/>
              </a:rPr>
              <a:t> </a:t>
            </a:r>
            <a:r>
              <a:rPr dirty="0" sz="2700" spc="75">
                <a:latin typeface="Trebuchet MS"/>
                <a:cs typeface="Trebuchet MS"/>
              </a:rPr>
              <a:t>186B</a:t>
            </a:r>
            <a:r>
              <a:rPr dirty="0" sz="2700" spc="-5">
                <a:latin typeface="Trebuchet MS"/>
                <a:cs typeface="Trebuchet MS"/>
              </a:rPr>
              <a:t> </a:t>
            </a:r>
            <a:r>
              <a:rPr dirty="0" sz="2700" spc="235">
                <a:latin typeface="Trebuchet MS"/>
                <a:cs typeface="Trebuchet MS"/>
              </a:rPr>
              <a:t>by</a:t>
            </a:r>
            <a:r>
              <a:rPr dirty="0" sz="2700" spc="-1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2035);</a:t>
            </a:r>
            <a:r>
              <a:rPr dirty="0" sz="2700" spc="-10">
                <a:latin typeface="Trebuchet MS"/>
                <a:cs typeface="Trebuchet MS"/>
              </a:rPr>
              <a:t> </a:t>
            </a:r>
            <a:r>
              <a:rPr dirty="0" sz="2700" spc="80">
                <a:latin typeface="Trebuchet MS"/>
                <a:cs typeface="Trebuchet MS"/>
              </a:rPr>
              <a:t>customers:</a:t>
            </a:r>
            <a:r>
              <a:rPr dirty="0" sz="2700" spc="-10">
                <a:latin typeface="Trebuchet MS"/>
                <a:cs typeface="Trebuchet MS"/>
              </a:rPr>
              <a:t> </a:t>
            </a:r>
            <a:r>
              <a:rPr dirty="0" sz="2700" spc="155">
                <a:latin typeface="Trebuchet MS"/>
                <a:cs typeface="Trebuchet MS"/>
              </a:rPr>
              <a:t>Budget-</a:t>
            </a:r>
            <a:r>
              <a:rPr dirty="0" sz="2700" spc="160">
                <a:latin typeface="Trebuchet MS"/>
                <a:cs typeface="Trebuchet MS"/>
              </a:rPr>
              <a:t>conscious</a:t>
            </a:r>
            <a:r>
              <a:rPr dirty="0" sz="2700" spc="-5">
                <a:latin typeface="Trebuchet MS"/>
                <a:cs typeface="Trebuchet MS"/>
              </a:rPr>
              <a:t> </a:t>
            </a:r>
            <a:r>
              <a:rPr dirty="0" sz="2700" spc="65">
                <a:latin typeface="Trebuchet MS"/>
                <a:cs typeface="Trebuchet MS"/>
              </a:rPr>
              <a:t>schools/ </a:t>
            </a:r>
            <a:r>
              <a:rPr dirty="0" sz="2700" spc="75">
                <a:latin typeface="Trebuchet MS"/>
                <a:cs typeface="Trebuchet MS"/>
              </a:rPr>
              <a:t>administrators</a:t>
            </a:r>
            <a:r>
              <a:rPr dirty="0" sz="2700" spc="-40">
                <a:latin typeface="Trebuchet MS"/>
                <a:cs typeface="Trebuchet MS"/>
              </a:rPr>
              <a:t> </a:t>
            </a:r>
            <a:r>
              <a:rPr dirty="0" sz="2700" spc="235">
                <a:latin typeface="Trebuchet MS"/>
                <a:cs typeface="Trebuchet MS"/>
              </a:rPr>
              <a:t>needing</a:t>
            </a:r>
            <a:r>
              <a:rPr dirty="0" sz="2700" spc="-40">
                <a:latin typeface="Trebuchet MS"/>
                <a:cs typeface="Trebuchet MS"/>
              </a:rPr>
              <a:t> </a:t>
            </a:r>
            <a:r>
              <a:rPr dirty="0" sz="2700" spc="145">
                <a:latin typeface="Trebuchet MS"/>
                <a:cs typeface="Trebuchet MS"/>
              </a:rPr>
              <a:t>secure</a:t>
            </a:r>
            <a:r>
              <a:rPr dirty="0" sz="2700" spc="-35">
                <a:latin typeface="Trebuchet MS"/>
                <a:cs typeface="Trebuchet MS"/>
              </a:rPr>
              <a:t> </a:t>
            </a:r>
            <a:r>
              <a:rPr dirty="0" sz="2700" spc="-20">
                <a:latin typeface="Trebuchet MS"/>
                <a:cs typeface="Trebuchet MS"/>
              </a:rPr>
              <a:t>IoT.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2700">
              <a:latin typeface="Trebuchet MS"/>
              <a:cs typeface="Trebuchet MS"/>
            </a:endParaRPr>
          </a:p>
          <a:p>
            <a:pPr algn="ctr" marL="222885" marR="215265">
              <a:lnSpc>
                <a:spcPct val="118100"/>
              </a:lnSpc>
            </a:pPr>
            <a:r>
              <a:rPr dirty="0" sz="2700" spc="-145">
                <a:latin typeface="Arial Black"/>
                <a:cs typeface="Arial Black"/>
              </a:rPr>
              <a:t>Value</a:t>
            </a:r>
            <a:r>
              <a:rPr dirty="0" sz="2700" spc="-114">
                <a:latin typeface="Arial Black"/>
                <a:cs typeface="Arial Black"/>
              </a:rPr>
              <a:t> </a:t>
            </a:r>
            <a:r>
              <a:rPr dirty="0" sz="2700" spc="-200">
                <a:latin typeface="Arial Black"/>
                <a:cs typeface="Arial Black"/>
              </a:rPr>
              <a:t>Proposition/IPR:</a:t>
            </a:r>
            <a:r>
              <a:rPr dirty="0" sz="2700" spc="-114">
                <a:latin typeface="Arial Black"/>
                <a:cs typeface="Arial Black"/>
              </a:rPr>
              <a:t> </a:t>
            </a:r>
            <a:r>
              <a:rPr dirty="0" sz="2700" spc="135">
                <a:latin typeface="Trebuchet MS"/>
                <a:cs typeface="Trebuchet MS"/>
              </a:rPr>
              <a:t>Affordable</a:t>
            </a:r>
            <a:r>
              <a:rPr dirty="0" sz="2700" spc="-25">
                <a:latin typeface="Trebuchet MS"/>
                <a:cs typeface="Trebuchet MS"/>
              </a:rPr>
              <a:t> </a:t>
            </a:r>
            <a:r>
              <a:rPr dirty="0" sz="2700" spc="125">
                <a:latin typeface="Trebuchet MS"/>
                <a:cs typeface="Trebuchet MS"/>
              </a:rPr>
              <a:t>privacy-</a:t>
            </a:r>
            <a:r>
              <a:rPr dirty="0" sz="2700" spc="185">
                <a:latin typeface="Trebuchet MS"/>
                <a:cs typeface="Trebuchet MS"/>
              </a:rPr>
              <a:t>focused</a:t>
            </a:r>
            <a:r>
              <a:rPr dirty="0" sz="2700" spc="-30">
                <a:latin typeface="Trebuchet MS"/>
                <a:cs typeface="Trebuchet MS"/>
              </a:rPr>
              <a:t> </a:t>
            </a:r>
            <a:r>
              <a:rPr dirty="0" sz="2700" spc="85">
                <a:latin typeface="Trebuchet MS"/>
                <a:cs typeface="Trebuchet MS"/>
              </a:rPr>
              <a:t>monitoring;</a:t>
            </a:r>
            <a:r>
              <a:rPr dirty="0" sz="2700" spc="-25">
                <a:latin typeface="Trebuchet MS"/>
                <a:cs typeface="Trebuchet MS"/>
              </a:rPr>
              <a:t> </a:t>
            </a:r>
            <a:r>
              <a:rPr dirty="0" sz="2700" spc="204">
                <a:latin typeface="Trebuchet MS"/>
                <a:cs typeface="Trebuchet MS"/>
              </a:rPr>
              <a:t>open- </a:t>
            </a:r>
            <a:r>
              <a:rPr dirty="0" sz="2700" spc="155">
                <a:latin typeface="Trebuchet MS"/>
                <a:cs typeface="Trebuchet MS"/>
              </a:rPr>
              <a:t>source</a:t>
            </a:r>
            <a:r>
              <a:rPr dirty="0" sz="2700" spc="-20">
                <a:latin typeface="Trebuchet MS"/>
                <a:cs typeface="Trebuchet MS"/>
              </a:rPr>
              <a:t> </a:t>
            </a:r>
            <a:r>
              <a:rPr dirty="0" sz="2700" spc="200">
                <a:latin typeface="Trebuchet MS"/>
                <a:cs typeface="Trebuchet MS"/>
              </a:rPr>
              <a:t>core</a:t>
            </a:r>
            <a:r>
              <a:rPr dirty="0" sz="2700" spc="-2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with</a:t>
            </a:r>
            <a:r>
              <a:rPr dirty="0" sz="2700" spc="-20">
                <a:latin typeface="Trebuchet MS"/>
                <a:cs typeface="Trebuchet MS"/>
              </a:rPr>
              <a:t> </a:t>
            </a:r>
            <a:r>
              <a:rPr dirty="0" sz="2700" spc="95">
                <a:latin typeface="Trebuchet MS"/>
                <a:cs typeface="Trebuchet MS"/>
              </a:rPr>
              <a:t>proprietary</a:t>
            </a:r>
            <a:r>
              <a:rPr dirty="0" sz="2700" spc="-20">
                <a:latin typeface="Trebuchet MS"/>
                <a:cs typeface="Trebuchet MS"/>
              </a:rPr>
              <a:t> </a:t>
            </a:r>
            <a:r>
              <a:rPr dirty="0" sz="2700" spc="100">
                <a:latin typeface="Trebuchet MS"/>
                <a:cs typeface="Trebuchet MS"/>
              </a:rPr>
              <a:t>modules.</a:t>
            </a:r>
            <a:endParaRPr sz="2700">
              <a:latin typeface="Trebuchet MS"/>
              <a:cs typeface="Trebuchet MS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8913" y="5281029"/>
            <a:ext cx="123825" cy="1238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8913" y="7224129"/>
            <a:ext cx="123825" cy="123824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9" name="object 9" descr="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87292" y="1834174"/>
            <a:ext cx="6913245" cy="12744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200" spc="-780"/>
              <a:t>CONCLUSION</a:t>
            </a:r>
            <a:endParaRPr sz="8200"/>
          </a:p>
        </p:txBody>
      </p:sp>
      <p:sp>
        <p:nvSpPr>
          <p:cNvPr id="3" name="object 3" descr="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5" name="object 5" descr="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697" y="4028382"/>
            <a:ext cx="133349" cy="13334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685902" y="3751516"/>
            <a:ext cx="13689965" cy="3825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100"/>
              </a:spcBef>
            </a:pPr>
            <a:r>
              <a:rPr dirty="0" sz="3100" spc="100">
                <a:latin typeface="Lucida Sans Unicode"/>
                <a:cs typeface="Lucida Sans Unicode"/>
              </a:rPr>
              <a:t>We</a:t>
            </a:r>
            <a:r>
              <a:rPr dirty="0" sz="3100" spc="-180">
                <a:latin typeface="Lucida Sans Unicode"/>
                <a:cs typeface="Lucida Sans Unicode"/>
              </a:rPr>
              <a:t> </a:t>
            </a:r>
            <a:r>
              <a:rPr dirty="0" sz="3100" spc="-45">
                <a:latin typeface="Lucida Sans Unicode"/>
                <a:cs typeface="Lucida Sans Unicode"/>
              </a:rPr>
              <a:t>propose</a:t>
            </a:r>
            <a:r>
              <a:rPr dirty="0" sz="3100" spc="-175">
                <a:latin typeface="Lucida Sans Unicode"/>
                <a:cs typeface="Lucida Sans Unicode"/>
              </a:rPr>
              <a:t> </a:t>
            </a:r>
            <a:r>
              <a:rPr dirty="0" sz="3100">
                <a:latin typeface="Lucida Sans Unicode"/>
                <a:cs typeface="Lucida Sans Unicode"/>
              </a:rPr>
              <a:t>a</a:t>
            </a:r>
            <a:r>
              <a:rPr dirty="0" sz="3100" spc="-180">
                <a:latin typeface="Lucida Sans Unicode"/>
                <a:cs typeface="Lucida Sans Unicode"/>
              </a:rPr>
              <a:t> </a:t>
            </a:r>
            <a:r>
              <a:rPr dirty="0" sz="3100" spc="-10">
                <a:latin typeface="Lucida Sans Unicode"/>
                <a:cs typeface="Lucida Sans Unicode"/>
              </a:rPr>
              <a:t>Smart</a:t>
            </a:r>
            <a:r>
              <a:rPr dirty="0" sz="3100" spc="-175">
                <a:latin typeface="Lucida Sans Unicode"/>
                <a:cs typeface="Lucida Sans Unicode"/>
              </a:rPr>
              <a:t> </a:t>
            </a:r>
            <a:r>
              <a:rPr dirty="0" sz="3100" spc="-85">
                <a:latin typeface="Lucida Sans Unicode"/>
                <a:cs typeface="Lucida Sans Unicode"/>
              </a:rPr>
              <a:t>Classroom</a:t>
            </a:r>
            <a:r>
              <a:rPr dirty="0" sz="3100" spc="-175">
                <a:latin typeface="Lucida Sans Unicode"/>
                <a:cs typeface="Lucida Sans Unicode"/>
              </a:rPr>
              <a:t> </a:t>
            </a:r>
            <a:r>
              <a:rPr dirty="0" sz="3100" spc="-114">
                <a:latin typeface="Lucida Sans Unicode"/>
                <a:cs typeface="Lucida Sans Unicode"/>
              </a:rPr>
              <a:t>IoT</a:t>
            </a:r>
            <a:r>
              <a:rPr dirty="0" sz="3100" spc="-180">
                <a:latin typeface="Lucida Sans Unicode"/>
                <a:cs typeface="Lucida Sans Unicode"/>
              </a:rPr>
              <a:t> </a:t>
            </a:r>
            <a:r>
              <a:rPr dirty="0" sz="3100" spc="-40">
                <a:latin typeface="Lucida Sans Unicode"/>
                <a:cs typeface="Lucida Sans Unicode"/>
              </a:rPr>
              <a:t>Network</a:t>
            </a:r>
            <a:r>
              <a:rPr dirty="0" sz="3100" spc="-175">
                <a:latin typeface="Lucida Sans Unicode"/>
                <a:cs typeface="Lucida Sans Unicode"/>
              </a:rPr>
              <a:t> </a:t>
            </a:r>
            <a:r>
              <a:rPr dirty="0" sz="3100" spc="-50">
                <a:latin typeface="Lucida Sans Unicode"/>
                <a:cs typeface="Lucida Sans Unicode"/>
              </a:rPr>
              <a:t>that</a:t>
            </a:r>
            <a:r>
              <a:rPr dirty="0" sz="3100" spc="-175">
                <a:latin typeface="Lucida Sans Unicode"/>
                <a:cs typeface="Lucida Sans Unicode"/>
              </a:rPr>
              <a:t> </a:t>
            </a:r>
            <a:r>
              <a:rPr dirty="0" sz="3100" spc="-45">
                <a:latin typeface="Lucida Sans Unicode"/>
                <a:cs typeface="Lucida Sans Unicode"/>
              </a:rPr>
              <a:t>ensures</a:t>
            </a:r>
            <a:r>
              <a:rPr dirty="0" sz="3100" spc="-180">
                <a:latin typeface="Lucida Sans Unicode"/>
                <a:cs typeface="Lucida Sans Unicode"/>
              </a:rPr>
              <a:t> </a:t>
            </a:r>
            <a:r>
              <a:rPr dirty="0" sz="3100" spc="-85">
                <a:latin typeface="Lucida Sans Unicode"/>
                <a:cs typeface="Lucida Sans Unicode"/>
              </a:rPr>
              <a:t>privacy,</a:t>
            </a:r>
            <a:r>
              <a:rPr dirty="0" sz="3100" spc="-175">
                <a:latin typeface="Lucida Sans Unicode"/>
                <a:cs typeface="Lucida Sans Unicode"/>
              </a:rPr>
              <a:t> </a:t>
            </a:r>
            <a:r>
              <a:rPr dirty="0" sz="3100" spc="-10">
                <a:latin typeface="Lucida Sans Unicode"/>
                <a:cs typeface="Lucida Sans Unicode"/>
              </a:rPr>
              <a:t>security, </a:t>
            </a:r>
            <a:r>
              <a:rPr dirty="0" sz="3100" spc="-30">
                <a:latin typeface="Lucida Sans Unicode"/>
                <a:cs typeface="Lucida Sans Unicode"/>
              </a:rPr>
              <a:t>and</a:t>
            </a:r>
            <a:r>
              <a:rPr dirty="0" sz="3100" spc="-200">
                <a:latin typeface="Lucida Sans Unicode"/>
                <a:cs typeface="Lucida Sans Unicode"/>
              </a:rPr>
              <a:t> </a:t>
            </a:r>
            <a:r>
              <a:rPr dirty="0" sz="3100" spc="-10">
                <a:latin typeface="Lucida Sans Unicode"/>
                <a:cs typeface="Lucida Sans Unicode"/>
              </a:rPr>
              <a:t>adaptability.</a:t>
            </a:r>
            <a:endParaRPr sz="3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3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3100" spc="-110">
                <a:latin typeface="Lucida Sans Unicode"/>
                <a:cs typeface="Lucida Sans Unicode"/>
              </a:rPr>
              <a:t>The</a:t>
            </a:r>
            <a:r>
              <a:rPr dirty="0" sz="3100" spc="-155">
                <a:latin typeface="Lucida Sans Unicode"/>
                <a:cs typeface="Lucida Sans Unicode"/>
              </a:rPr>
              <a:t> </a:t>
            </a:r>
            <a:r>
              <a:rPr dirty="0" sz="3100" spc="-75">
                <a:latin typeface="Lucida Sans Unicode"/>
                <a:cs typeface="Lucida Sans Unicode"/>
              </a:rPr>
              <a:t>system</a:t>
            </a:r>
            <a:r>
              <a:rPr dirty="0" sz="3100" spc="-150">
                <a:latin typeface="Lucida Sans Unicode"/>
                <a:cs typeface="Lucida Sans Unicode"/>
              </a:rPr>
              <a:t> </a:t>
            </a:r>
            <a:r>
              <a:rPr dirty="0" sz="3100" spc="-85">
                <a:latin typeface="Lucida Sans Unicode"/>
                <a:cs typeface="Lucida Sans Unicode"/>
              </a:rPr>
              <a:t>focuses</a:t>
            </a:r>
            <a:r>
              <a:rPr dirty="0" sz="3100" spc="-150">
                <a:latin typeface="Lucida Sans Unicode"/>
                <a:cs typeface="Lucida Sans Unicode"/>
              </a:rPr>
              <a:t> </a:t>
            </a:r>
            <a:r>
              <a:rPr dirty="0" sz="3100" spc="-20">
                <a:latin typeface="Lucida Sans Unicode"/>
                <a:cs typeface="Lucida Sans Unicode"/>
              </a:rPr>
              <a:t>on</a:t>
            </a:r>
            <a:r>
              <a:rPr dirty="0" sz="3100" spc="-150">
                <a:latin typeface="Lucida Sans Unicode"/>
                <a:cs typeface="Lucida Sans Unicode"/>
              </a:rPr>
              <a:t> </a:t>
            </a:r>
            <a:r>
              <a:rPr dirty="0" sz="3100" spc="-55">
                <a:latin typeface="Lucida Sans Unicode"/>
                <a:cs typeface="Lucida Sans Unicode"/>
              </a:rPr>
              <a:t>both</a:t>
            </a:r>
            <a:r>
              <a:rPr dirty="0" sz="3100" spc="-150">
                <a:latin typeface="Lucida Sans Unicode"/>
                <a:cs typeface="Lucida Sans Unicode"/>
              </a:rPr>
              <a:t> </a:t>
            </a:r>
            <a:r>
              <a:rPr dirty="0" sz="3100" spc="-70">
                <a:latin typeface="Lucida Sans Unicode"/>
                <a:cs typeface="Lucida Sans Unicode"/>
              </a:rPr>
              <a:t>academic</a:t>
            </a:r>
            <a:r>
              <a:rPr dirty="0" sz="3100" spc="-150">
                <a:latin typeface="Lucida Sans Unicode"/>
                <a:cs typeface="Lucida Sans Unicode"/>
              </a:rPr>
              <a:t> </a:t>
            </a:r>
            <a:r>
              <a:rPr dirty="0" sz="3100" spc="-65">
                <a:latin typeface="Lucida Sans Unicode"/>
                <a:cs typeface="Lucida Sans Unicode"/>
              </a:rPr>
              <a:t>support</a:t>
            </a:r>
            <a:r>
              <a:rPr dirty="0" sz="3100" spc="-155">
                <a:latin typeface="Lucida Sans Unicode"/>
                <a:cs typeface="Lucida Sans Unicode"/>
              </a:rPr>
              <a:t> </a:t>
            </a:r>
            <a:r>
              <a:rPr dirty="0" sz="3100" spc="-30">
                <a:latin typeface="Lucida Sans Unicode"/>
                <a:cs typeface="Lucida Sans Unicode"/>
              </a:rPr>
              <a:t>and</a:t>
            </a:r>
            <a:r>
              <a:rPr dirty="0" sz="3100" spc="-150">
                <a:latin typeface="Lucida Sans Unicode"/>
                <a:cs typeface="Lucida Sans Unicode"/>
              </a:rPr>
              <a:t> </a:t>
            </a:r>
            <a:r>
              <a:rPr dirty="0" sz="3100" spc="-65">
                <a:latin typeface="Lucida Sans Unicode"/>
                <a:cs typeface="Lucida Sans Unicode"/>
              </a:rPr>
              <a:t>student</a:t>
            </a:r>
            <a:r>
              <a:rPr dirty="0" sz="3100" spc="-150">
                <a:latin typeface="Lucida Sans Unicode"/>
                <a:cs typeface="Lucida Sans Unicode"/>
              </a:rPr>
              <a:t> </a:t>
            </a:r>
            <a:r>
              <a:rPr dirty="0" sz="3100" spc="-215">
                <a:latin typeface="Lucida Sans Unicode"/>
                <a:cs typeface="Lucida Sans Unicode"/>
              </a:rPr>
              <a:t>well-</a:t>
            </a:r>
            <a:r>
              <a:rPr dirty="0" sz="3100" spc="-10">
                <a:latin typeface="Lucida Sans Unicode"/>
                <a:cs typeface="Lucida Sans Unicode"/>
              </a:rPr>
              <a:t>being.</a:t>
            </a:r>
            <a:endParaRPr sz="3100">
              <a:latin typeface="Lucida Sans Unicode"/>
              <a:cs typeface="Lucida Sans Unicode"/>
            </a:endParaRPr>
          </a:p>
          <a:p>
            <a:pPr marL="12700" marR="581025">
              <a:lnSpc>
                <a:spcPct val="114900"/>
              </a:lnSpc>
              <a:spcBef>
                <a:spcPts val="4275"/>
              </a:spcBef>
            </a:pPr>
            <a:r>
              <a:rPr dirty="0" sz="3100">
                <a:latin typeface="Lucida Sans Unicode"/>
                <a:cs typeface="Lucida Sans Unicode"/>
              </a:rPr>
              <a:t>Our</a:t>
            </a:r>
            <a:r>
              <a:rPr dirty="0" sz="3100" spc="-145">
                <a:latin typeface="Lucida Sans Unicode"/>
                <a:cs typeface="Lucida Sans Unicode"/>
              </a:rPr>
              <a:t> </a:t>
            </a:r>
            <a:r>
              <a:rPr dirty="0" sz="3100" spc="-75">
                <a:latin typeface="Lucida Sans Unicode"/>
                <a:cs typeface="Lucida Sans Unicode"/>
              </a:rPr>
              <a:t>solution</a:t>
            </a:r>
            <a:r>
              <a:rPr dirty="0" sz="3100" spc="-145">
                <a:latin typeface="Lucida Sans Unicode"/>
                <a:cs typeface="Lucida Sans Unicode"/>
              </a:rPr>
              <a:t> </a:t>
            </a:r>
            <a:r>
              <a:rPr dirty="0" sz="3100" spc="-120">
                <a:latin typeface="Lucida Sans Unicode"/>
                <a:cs typeface="Lucida Sans Unicode"/>
              </a:rPr>
              <a:t>is</a:t>
            </a:r>
            <a:r>
              <a:rPr dirty="0" sz="3100" spc="-145">
                <a:latin typeface="Lucida Sans Unicode"/>
                <a:cs typeface="Lucida Sans Unicode"/>
              </a:rPr>
              <a:t> </a:t>
            </a:r>
            <a:r>
              <a:rPr dirty="0" sz="3100" spc="-80">
                <a:latin typeface="Lucida Sans Unicode"/>
                <a:cs typeface="Lucida Sans Unicode"/>
              </a:rPr>
              <a:t>innovative,</a:t>
            </a:r>
            <a:r>
              <a:rPr dirty="0" sz="3100" spc="-145">
                <a:latin typeface="Lucida Sans Unicode"/>
                <a:cs typeface="Lucida Sans Unicode"/>
              </a:rPr>
              <a:t> </a:t>
            </a:r>
            <a:r>
              <a:rPr dirty="0" sz="3100" spc="-75">
                <a:latin typeface="Lucida Sans Unicode"/>
                <a:cs typeface="Lucida Sans Unicode"/>
              </a:rPr>
              <a:t>affordable,</a:t>
            </a:r>
            <a:r>
              <a:rPr dirty="0" sz="3100" spc="-140">
                <a:latin typeface="Lucida Sans Unicode"/>
                <a:cs typeface="Lucida Sans Unicode"/>
              </a:rPr>
              <a:t> </a:t>
            </a:r>
            <a:r>
              <a:rPr dirty="0" sz="3100" spc="-30">
                <a:latin typeface="Lucida Sans Unicode"/>
                <a:cs typeface="Lucida Sans Unicode"/>
              </a:rPr>
              <a:t>and</a:t>
            </a:r>
            <a:r>
              <a:rPr dirty="0" sz="3100" spc="-145">
                <a:latin typeface="Lucida Sans Unicode"/>
                <a:cs typeface="Lucida Sans Unicode"/>
              </a:rPr>
              <a:t> </a:t>
            </a:r>
            <a:r>
              <a:rPr dirty="0" sz="3100" spc="-80">
                <a:latin typeface="Lucida Sans Unicode"/>
                <a:cs typeface="Lucida Sans Unicode"/>
              </a:rPr>
              <a:t>practical</a:t>
            </a:r>
            <a:r>
              <a:rPr dirty="0" sz="3100" spc="-145">
                <a:latin typeface="Lucida Sans Unicode"/>
                <a:cs typeface="Lucida Sans Unicode"/>
              </a:rPr>
              <a:t> </a:t>
            </a:r>
            <a:r>
              <a:rPr dirty="0" sz="3100" spc="-40">
                <a:latin typeface="Lucida Sans Unicode"/>
                <a:cs typeface="Lucida Sans Unicode"/>
              </a:rPr>
              <a:t>for</a:t>
            </a:r>
            <a:r>
              <a:rPr dirty="0" sz="3100" spc="-145">
                <a:latin typeface="Lucida Sans Unicode"/>
                <a:cs typeface="Lucida Sans Unicode"/>
              </a:rPr>
              <a:t> </a:t>
            </a:r>
            <a:r>
              <a:rPr dirty="0" sz="3100" spc="-135">
                <a:latin typeface="Lucida Sans Unicode"/>
                <a:cs typeface="Lucida Sans Unicode"/>
              </a:rPr>
              <a:t>resource-</a:t>
            </a:r>
            <a:r>
              <a:rPr dirty="0" sz="3100" spc="-10">
                <a:latin typeface="Lucida Sans Unicode"/>
                <a:cs typeface="Lucida Sans Unicode"/>
              </a:rPr>
              <a:t>limited </a:t>
            </a:r>
            <a:r>
              <a:rPr dirty="0" sz="3100" spc="-60">
                <a:latin typeface="Lucida Sans Unicode"/>
                <a:cs typeface="Lucida Sans Unicode"/>
              </a:rPr>
              <a:t>educational</a:t>
            </a:r>
            <a:r>
              <a:rPr dirty="0" sz="3100" spc="-165">
                <a:latin typeface="Lucida Sans Unicode"/>
                <a:cs typeface="Lucida Sans Unicode"/>
              </a:rPr>
              <a:t> </a:t>
            </a:r>
            <a:r>
              <a:rPr dirty="0" sz="3100" spc="-10">
                <a:latin typeface="Lucida Sans Unicode"/>
                <a:cs typeface="Lucida Sans Unicode"/>
              </a:rPr>
              <a:t>environments.</a:t>
            </a:r>
            <a:endParaRPr sz="3100">
              <a:latin typeface="Lucida Sans Unicode"/>
              <a:cs typeface="Lucida Sans Unicode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2697" y="5657157"/>
            <a:ext cx="133349" cy="13334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2697" y="6743007"/>
            <a:ext cx="133349" cy="13334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431" y="4235640"/>
            <a:ext cx="8285480" cy="18370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850" spc="-2075"/>
              <a:t>THANK</a:t>
            </a:r>
            <a:r>
              <a:rPr dirty="0" sz="11850" spc="-615"/>
              <a:t> </a:t>
            </a:r>
            <a:r>
              <a:rPr dirty="0" sz="11850" spc="-1555"/>
              <a:t>YOU</a:t>
            </a:r>
            <a:endParaRPr sz="11850"/>
          </a:p>
        </p:txBody>
      </p:sp>
      <p:sp>
        <p:nvSpPr>
          <p:cNvPr id="3" name="object 3" descr="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5" name="object 5" descr="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Aditha Abeynayake</dc:creator>
  <cp:keywords>DAG9VjQY3UM,BAFkAgu7DrY,0</cp:keywords>
  <dc:title>pp1</dc:title>
  <dcterms:created xsi:type="dcterms:W3CDTF">2026-05-04T21:05:12Z</dcterms:created>
  <dcterms:modified xsi:type="dcterms:W3CDTF">2026-05-04T21:05:12Z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2026-04-26T00:00:00Z</vt:filetime>
  </property>
  <property fmtid="{D5CDD505-2E9C-101B-9397-08002B2CF9AE}" pid="3" name="Creator">
    <vt:lpwstr>Canva</vt:lpwstr>
  </property>
  <property fmtid="{D5CDD505-2E9C-101B-9397-08002B2CF9AE}" pid="4" name="LastSaved">
    <vt:filetime>2026-05-04T00:00:00Z</vt:filetime>
  </property>
  <property fmtid="{D5CDD505-2E9C-101B-9397-08002B2CF9AE}" pid="5" name="Producer">
    <vt:lpwstr>Canva</vt:lpwstr>
  </property>
</Properties>
</file>
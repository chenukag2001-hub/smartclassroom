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9889568"/>
            <a:ext cx="18288000" cy="397510"/>
          </a:xfrm>
          <a:custGeom>
            <a:avLst/>
            <a:gdLst/>
            <a:ahLst/>
            <a:cxnLst/>
            <a:rect l="l" t="t" r="r" b="b"/>
            <a:pathLst>
              <a:path w="18288000" h="397509">
                <a:moveTo>
                  <a:pt x="0" y="397431"/>
                </a:moveTo>
                <a:lnTo>
                  <a:pt x="18288000" y="397431"/>
                </a:lnTo>
                <a:lnTo>
                  <a:pt x="18288000" y="0"/>
                </a:lnTo>
                <a:lnTo>
                  <a:pt x="0" y="0"/>
                </a:lnTo>
                <a:lnTo>
                  <a:pt x="0" y="39743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9718118"/>
            <a:ext cx="18288000" cy="171450"/>
          </a:xfrm>
          <a:custGeom>
            <a:avLst/>
            <a:gdLst/>
            <a:ahLst/>
            <a:cxnLst/>
            <a:rect l="l" t="t" r="r" b="b"/>
            <a:pathLst>
              <a:path w="18288000" h="171450">
                <a:moveTo>
                  <a:pt x="0" y="0"/>
                </a:moveTo>
                <a:lnTo>
                  <a:pt x="18287999" y="0"/>
                </a:lnTo>
                <a:lnTo>
                  <a:pt x="1828799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4843" y="2544230"/>
            <a:ext cx="10429874" cy="61340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76423" y="459526"/>
            <a:ext cx="13935153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3237734"/>
            <a:ext cx="114300" cy="1142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3656834"/>
            <a:ext cx="114300" cy="1142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4014" y="4075934"/>
            <a:ext cx="114300" cy="1142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9889567"/>
            <a:ext cx="18288000" cy="397510"/>
          </a:xfrm>
          <a:custGeom>
            <a:avLst/>
            <a:gdLst/>
            <a:ahLst/>
            <a:cxnLst/>
            <a:rect l="l" t="t" r="r" b="b"/>
            <a:pathLst>
              <a:path w="18288000" h="397509">
                <a:moveTo>
                  <a:pt x="0" y="397431"/>
                </a:moveTo>
                <a:lnTo>
                  <a:pt x="18288000" y="397431"/>
                </a:lnTo>
                <a:lnTo>
                  <a:pt x="18288000" y="0"/>
                </a:lnTo>
                <a:lnTo>
                  <a:pt x="0" y="0"/>
                </a:lnTo>
                <a:lnTo>
                  <a:pt x="0" y="39743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9718117"/>
            <a:ext cx="18288000" cy="171450"/>
          </a:xfrm>
          <a:custGeom>
            <a:avLst/>
            <a:gdLst/>
            <a:ahLst/>
            <a:cxnLst/>
            <a:rect l="l" t="t" r="r" b="b"/>
            <a:pathLst>
              <a:path w="18288000" h="171450">
                <a:moveTo>
                  <a:pt x="0" y="0"/>
                </a:moveTo>
                <a:lnTo>
                  <a:pt x="18287999" y="0"/>
                </a:lnTo>
                <a:lnTo>
                  <a:pt x="1828799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9889568"/>
            <a:ext cx="18288000" cy="397510"/>
          </a:xfrm>
          <a:custGeom>
            <a:avLst/>
            <a:gdLst/>
            <a:ahLst/>
            <a:cxnLst/>
            <a:rect l="l" t="t" r="r" b="b"/>
            <a:pathLst>
              <a:path w="18288000" h="397509">
                <a:moveTo>
                  <a:pt x="0" y="397431"/>
                </a:moveTo>
                <a:lnTo>
                  <a:pt x="18288000" y="397431"/>
                </a:lnTo>
                <a:lnTo>
                  <a:pt x="18288000" y="0"/>
                </a:lnTo>
                <a:lnTo>
                  <a:pt x="0" y="0"/>
                </a:lnTo>
                <a:lnTo>
                  <a:pt x="0" y="39743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9718118"/>
            <a:ext cx="18288000" cy="171450"/>
          </a:xfrm>
          <a:custGeom>
            <a:avLst/>
            <a:gdLst/>
            <a:ahLst/>
            <a:cxnLst/>
            <a:rect l="l" t="t" r="r" b="b"/>
            <a:pathLst>
              <a:path w="18288000" h="171450">
                <a:moveTo>
                  <a:pt x="0" y="0"/>
                </a:moveTo>
                <a:lnTo>
                  <a:pt x="18287999" y="0"/>
                </a:lnTo>
                <a:lnTo>
                  <a:pt x="18287999" y="171449"/>
                </a:lnTo>
                <a:lnTo>
                  <a:pt x="0" y="171449"/>
                </a:lnTo>
                <a:lnTo>
                  <a:pt x="0" y="0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968" y="202840"/>
            <a:ext cx="16986063" cy="1263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07555" y="4225052"/>
            <a:ext cx="9772015" cy="3890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4.jpg"/><Relationship Id="rId4" Type="http://schemas.openxmlformats.org/officeDocument/2006/relationships/image" Target="../media/image1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7.jpg"/><Relationship Id="rId4" Type="http://schemas.openxmlformats.org/officeDocument/2006/relationships/image" Target="../media/image1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Relationship Id="rId4" Type="http://schemas.openxmlformats.org/officeDocument/2006/relationships/image" Target="../media/image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2.jpg"/><Relationship Id="rId4" Type="http://schemas.openxmlformats.org/officeDocument/2006/relationships/image" Target="../media/image13.png"/><Relationship Id="rId5" Type="http://schemas.openxmlformats.org/officeDocument/2006/relationships/image" Target="../media/image3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4.jp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7.jpg"/><Relationship Id="rId4" Type="http://schemas.openxmlformats.org/officeDocument/2006/relationships/image" Target="../media/image2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20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0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9.png"/><Relationship Id="rId4" Type="http://schemas.openxmlformats.org/officeDocument/2006/relationships/image" Target="../media/image5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8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4" name="object 4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724529" y="1238987"/>
            <a:ext cx="12839065" cy="74161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065" marR="5080" indent="-635">
              <a:lnSpc>
                <a:spcPct val="116900"/>
              </a:lnSpc>
              <a:spcBef>
                <a:spcPts val="85"/>
              </a:spcBef>
            </a:pPr>
            <a:r>
              <a:rPr dirty="0" sz="8300" b="1">
                <a:latin typeface="Trebuchet MS"/>
                <a:cs typeface="Trebuchet MS"/>
              </a:rPr>
              <a:t>SMART</a:t>
            </a:r>
            <a:r>
              <a:rPr dirty="0" sz="8300" spc="-190" b="1">
                <a:latin typeface="Trebuchet MS"/>
                <a:cs typeface="Trebuchet MS"/>
              </a:rPr>
              <a:t> </a:t>
            </a:r>
            <a:r>
              <a:rPr dirty="0" sz="8300" spc="470" b="1">
                <a:latin typeface="Trebuchet MS"/>
                <a:cs typeface="Trebuchet MS"/>
              </a:rPr>
              <a:t>CLASSROOM</a:t>
            </a:r>
            <a:r>
              <a:rPr dirty="0" sz="8300" spc="-190" b="1">
                <a:latin typeface="Trebuchet MS"/>
                <a:cs typeface="Trebuchet MS"/>
              </a:rPr>
              <a:t> </a:t>
            </a:r>
            <a:r>
              <a:rPr dirty="0" sz="8300" spc="-25" b="1">
                <a:latin typeface="Trebuchet MS"/>
                <a:cs typeface="Trebuchet MS"/>
              </a:rPr>
              <a:t>IOT </a:t>
            </a:r>
            <a:r>
              <a:rPr dirty="0" sz="8300" spc="-35" b="1">
                <a:latin typeface="Trebuchet MS"/>
                <a:cs typeface="Trebuchet MS"/>
              </a:rPr>
              <a:t>NETWORK</a:t>
            </a:r>
            <a:r>
              <a:rPr dirty="0" sz="8300" spc="-570" b="1">
                <a:latin typeface="Trebuchet MS"/>
                <a:cs typeface="Trebuchet MS"/>
              </a:rPr>
              <a:t> </a:t>
            </a:r>
            <a:r>
              <a:rPr dirty="0" sz="8300" spc="-25" b="1">
                <a:latin typeface="Trebuchet MS"/>
                <a:cs typeface="Trebuchet MS"/>
              </a:rPr>
              <a:t>FOR </a:t>
            </a:r>
            <a:r>
              <a:rPr dirty="0" sz="8300" spc="455" b="1">
                <a:latin typeface="Trebuchet MS"/>
                <a:cs typeface="Trebuchet MS"/>
              </a:rPr>
              <a:t>MONITORING</a:t>
            </a:r>
            <a:r>
              <a:rPr dirty="0" sz="8300" spc="-150" b="1">
                <a:latin typeface="Trebuchet MS"/>
                <a:cs typeface="Trebuchet MS"/>
              </a:rPr>
              <a:t> </a:t>
            </a:r>
            <a:r>
              <a:rPr dirty="0" sz="8300" spc="-409" b="1">
                <a:latin typeface="Trebuchet MS"/>
                <a:cs typeface="Trebuchet MS"/>
              </a:rPr>
              <a:t>STUDENT </a:t>
            </a:r>
            <a:r>
              <a:rPr dirty="0" sz="8300" spc="-30" b="1">
                <a:latin typeface="Trebuchet MS"/>
                <a:cs typeface="Trebuchet MS"/>
              </a:rPr>
              <a:t>MENTAL</a:t>
            </a:r>
            <a:r>
              <a:rPr dirty="0" sz="8300" spc="-355" b="1">
                <a:latin typeface="Trebuchet MS"/>
                <a:cs typeface="Trebuchet MS"/>
              </a:rPr>
              <a:t> </a:t>
            </a:r>
            <a:r>
              <a:rPr dirty="0" sz="8300" spc="-360" b="1">
                <a:latin typeface="Trebuchet MS"/>
                <a:cs typeface="Trebuchet MS"/>
              </a:rPr>
              <a:t>WELL-</a:t>
            </a:r>
            <a:r>
              <a:rPr dirty="0" sz="8300" spc="320" b="1">
                <a:latin typeface="Trebuchet MS"/>
                <a:cs typeface="Trebuchet MS"/>
              </a:rPr>
              <a:t>BEING</a:t>
            </a:r>
            <a:r>
              <a:rPr dirty="0" sz="8300" spc="-350" b="1">
                <a:latin typeface="Trebuchet MS"/>
                <a:cs typeface="Trebuchet MS"/>
              </a:rPr>
              <a:t> </a:t>
            </a:r>
            <a:r>
              <a:rPr dirty="0" sz="8300" spc="495" b="1">
                <a:latin typeface="Trebuchet MS"/>
                <a:cs typeface="Trebuchet MS"/>
              </a:rPr>
              <a:t>AND </a:t>
            </a:r>
            <a:r>
              <a:rPr dirty="0" sz="8300" spc="170" b="1">
                <a:latin typeface="Trebuchet MS"/>
                <a:cs typeface="Trebuchet MS"/>
              </a:rPr>
              <a:t>BEHAVIOR</a:t>
            </a:r>
            <a:endParaRPr sz="83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853" y="716017"/>
            <a:ext cx="7610475" cy="1274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00" spc="105" b="1">
                <a:latin typeface="Trebuchet MS"/>
                <a:cs typeface="Trebuchet MS"/>
              </a:rPr>
              <a:t>INTRODUCTION</a:t>
            </a:r>
            <a:endParaRPr sz="8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5567309"/>
            <a:ext cx="129604" cy="12960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6073943"/>
            <a:ext cx="129604" cy="12960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6580578"/>
            <a:ext cx="129604" cy="12960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089" y="7087213"/>
            <a:ext cx="129604" cy="12960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94834" y="2776484"/>
            <a:ext cx="15755619" cy="6105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95"/>
              </a:spcBef>
            </a:pPr>
            <a:r>
              <a:rPr dirty="0" sz="2850" spc="190">
                <a:latin typeface="Tahoma"/>
                <a:cs typeface="Tahoma"/>
              </a:rPr>
              <a:t>Modern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classrooms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05">
                <a:latin typeface="Tahoma"/>
                <a:cs typeface="Tahoma"/>
              </a:rPr>
              <a:t>are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75">
                <a:latin typeface="Tahoma"/>
                <a:cs typeface="Tahoma"/>
              </a:rPr>
              <a:t>evolving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into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75">
                <a:latin typeface="Tahoma"/>
                <a:cs typeface="Tahoma"/>
              </a:rPr>
              <a:t>technology-</a:t>
            </a:r>
            <a:r>
              <a:rPr dirty="0" sz="2850" spc="105">
                <a:latin typeface="Tahoma"/>
                <a:cs typeface="Tahoma"/>
              </a:rPr>
              <a:t>rich</a:t>
            </a:r>
            <a:r>
              <a:rPr dirty="0" sz="2850" spc="-114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environments.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80">
                <a:latin typeface="Tahoma"/>
                <a:cs typeface="Tahoma"/>
              </a:rPr>
              <a:t>However,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14">
                <a:latin typeface="Tahoma"/>
                <a:cs typeface="Tahoma"/>
              </a:rPr>
              <a:t>current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smart </a:t>
            </a:r>
            <a:r>
              <a:rPr dirty="0" sz="2850" spc="125">
                <a:latin typeface="Tahoma"/>
                <a:cs typeface="Tahoma"/>
              </a:rPr>
              <a:t>classroom</a:t>
            </a:r>
            <a:r>
              <a:rPr dirty="0" sz="2850" spc="-100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solutions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often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114">
                <a:latin typeface="Tahoma"/>
                <a:cs typeface="Tahoma"/>
              </a:rPr>
              <a:t>overlook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114">
                <a:latin typeface="Tahoma"/>
                <a:cs typeface="Tahoma"/>
              </a:rPr>
              <a:t>student</a:t>
            </a:r>
            <a:r>
              <a:rPr dirty="0" sz="2850" spc="-100">
                <a:latin typeface="Tahoma"/>
                <a:cs typeface="Tahoma"/>
              </a:rPr>
              <a:t> </a:t>
            </a:r>
            <a:r>
              <a:rPr dirty="0" sz="2850">
                <a:latin typeface="Tahoma"/>
                <a:cs typeface="Tahoma"/>
              </a:rPr>
              <a:t>well-</a:t>
            </a:r>
            <a:r>
              <a:rPr dirty="0" sz="2850" spc="55">
                <a:latin typeface="Tahoma"/>
                <a:cs typeface="Tahoma"/>
              </a:rPr>
              <a:t>being,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45">
                <a:latin typeface="Tahoma"/>
                <a:cs typeface="Tahoma"/>
              </a:rPr>
              <a:t>privacy,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145">
                <a:latin typeface="Tahoma"/>
                <a:cs typeface="Tahoma"/>
              </a:rPr>
              <a:t>and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network</a:t>
            </a:r>
            <a:r>
              <a:rPr dirty="0" sz="2850" spc="-95">
                <a:latin typeface="Tahoma"/>
                <a:cs typeface="Tahoma"/>
              </a:rPr>
              <a:t> </a:t>
            </a:r>
            <a:r>
              <a:rPr dirty="0" sz="2850" spc="45">
                <a:latin typeface="Tahoma"/>
                <a:cs typeface="Tahoma"/>
              </a:rPr>
              <a:t>efficiency.</a:t>
            </a:r>
            <a:endParaRPr sz="2850">
              <a:latin typeface="Tahoma"/>
              <a:cs typeface="Tahoma"/>
            </a:endParaRPr>
          </a:p>
          <a:p>
            <a:pPr marL="634365" marR="3883025" indent="-622300">
              <a:lnSpc>
                <a:spcPct val="233300"/>
              </a:lnSpc>
            </a:pPr>
            <a:r>
              <a:rPr dirty="0" sz="2850" spc="60">
                <a:latin typeface="Tahoma"/>
                <a:cs typeface="Tahoma"/>
              </a:rPr>
              <a:t>This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90">
                <a:latin typeface="Tahoma"/>
                <a:cs typeface="Tahoma"/>
              </a:rPr>
              <a:t>project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140">
                <a:latin typeface="Tahoma"/>
                <a:cs typeface="Tahoma"/>
              </a:rPr>
              <a:t>proposes</a:t>
            </a:r>
            <a:r>
              <a:rPr dirty="0" sz="2850" spc="-135">
                <a:latin typeface="Tahoma"/>
                <a:cs typeface="Tahoma"/>
              </a:rPr>
              <a:t> </a:t>
            </a:r>
            <a:r>
              <a:rPr dirty="0" sz="2850" spc="90">
                <a:latin typeface="Tahoma"/>
                <a:cs typeface="Tahoma"/>
              </a:rPr>
              <a:t>a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Smart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130">
                <a:latin typeface="Tahoma"/>
                <a:cs typeface="Tahoma"/>
              </a:rPr>
              <a:t>Classroom</a:t>
            </a:r>
            <a:r>
              <a:rPr dirty="0" sz="2850" spc="-135">
                <a:latin typeface="Tahoma"/>
                <a:cs typeface="Tahoma"/>
              </a:rPr>
              <a:t> </a:t>
            </a:r>
            <a:r>
              <a:rPr dirty="0" sz="2850" spc="-50">
                <a:latin typeface="Tahoma"/>
                <a:cs typeface="Tahoma"/>
              </a:rPr>
              <a:t>IoT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135">
                <a:latin typeface="Tahoma"/>
                <a:cs typeface="Tahoma"/>
              </a:rPr>
              <a:t>Network</a:t>
            </a:r>
            <a:r>
              <a:rPr dirty="0" sz="2850" spc="-135">
                <a:latin typeface="Tahoma"/>
                <a:cs typeface="Tahoma"/>
              </a:rPr>
              <a:t> </a:t>
            </a:r>
            <a:r>
              <a:rPr dirty="0" sz="2850" spc="95">
                <a:latin typeface="Tahoma"/>
                <a:cs typeface="Tahoma"/>
              </a:rPr>
              <a:t>that</a:t>
            </a:r>
            <a:r>
              <a:rPr dirty="0" sz="2850" spc="-140">
                <a:latin typeface="Tahoma"/>
                <a:cs typeface="Tahoma"/>
              </a:rPr>
              <a:t> </a:t>
            </a:r>
            <a:r>
              <a:rPr dirty="0" sz="2850" spc="45">
                <a:latin typeface="Tahoma"/>
                <a:cs typeface="Tahoma"/>
              </a:rPr>
              <a:t>integrates: </a:t>
            </a:r>
            <a:r>
              <a:rPr dirty="0" sz="2850" spc="114">
                <a:latin typeface="Tahoma"/>
                <a:cs typeface="Tahoma"/>
              </a:rPr>
              <a:t>Environmental</a:t>
            </a:r>
            <a:r>
              <a:rPr dirty="0" sz="2850" spc="-130">
                <a:latin typeface="Tahoma"/>
                <a:cs typeface="Tahoma"/>
              </a:rPr>
              <a:t> </a:t>
            </a:r>
            <a:r>
              <a:rPr dirty="0" sz="2850" spc="85">
                <a:latin typeface="Tahoma"/>
                <a:cs typeface="Tahoma"/>
              </a:rPr>
              <a:t>sensing</a:t>
            </a:r>
            <a:endParaRPr sz="2850">
              <a:latin typeface="Tahoma"/>
              <a:cs typeface="Tahoma"/>
            </a:endParaRPr>
          </a:p>
          <a:p>
            <a:pPr marL="634365" marR="11340465">
              <a:lnSpc>
                <a:spcPct val="116599"/>
              </a:lnSpc>
            </a:pPr>
            <a:r>
              <a:rPr dirty="0" sz="2850" spc="105">
                <a:latin typeface="Tahoma"/>
                <a:cs typeface="Tahoma"/>
              </a:rPr>
              <a:t>Behavioral</a:t>
            </a:r>
            <a:r>
              <a:rPr dirty="0" sz="2850" spc="-100">
                <a:latin typeface="Tahoma"/>
                <a:cs typeface="Tahoma"/>
              </a:rPr>
              <a:t> </a:t>
            </a:r>
            <a:r>
              <a:rPr dirty="0" sz="2850" spc="65">
                <a:latin typeface="Tahoma"/>
                <a:cs typeface="Tahoma"/>
              </a:rPr>
              <a:t>analytics </a:t>
            </a:r>
            <a:r>
              <a:rPr dirty="0" sz="2850" spc="95">
                <a:latin typeface="Tahoma"/>
                <a:cs typeface="Tahoma"/>
              </a:rPr>
              <a:t>Adaptive</a:t>
            </a:r>
            <a:r>
              <a:rPr dirty="0" sz="2850" spc="-110">
                <a:latin typeface="Tahoma"/>
                <a:cs typeface="Tahoma"/>
              </a:rPr>
              <a:t> </a:t>
            </a:r>
            <a:r>
              <a:rPr dirty="0" sz="2850" spc="95">
                <a:latin typeface="Tahoma"/>
                <a:cs typeface="Tahoma"/>
              </a:rPr>
              <a:t>networking </a:t>
            </a:r>
            <a:r>
              <a:rPr dirty="0" sz="2850" spc="100">
                <a:latin typeface="Tahoma"/>
                <a:cs typeface="Tahoma"/>
              </a:rPr>
              <a:t>Decentralized</a:t>
            </a:r>
            <a:r>
              <a:rPr dirty="0" sz="2850" spc="-90">
                <a:latin typeface="Tahoma"/>
                <a:cs typeface="Tahoma"/>
              </a:rPr>
              <a:t> </a:t>
            </a:r>
            <a:r>
              <a:rPr dirty="0" sz="2850" spc="75">
                <a:latin typeface="Tahoma"/>
                <a:cs typeface="Tahoma"/>
              </a:rPr>
              <a:t>security</a:t>
            </a:r>
            <a:endParaRPr sz="2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850">
              <a:latin typeface="Tahoma"/>
              <a:cs typeface="Tahoma"/>
            </a:endParaRPr>
          </a:p>
          <a:p>
            <a:pPr marL="12700" marR="565785">
              <a:lnSpc>
                <a:spcPct val="116599"/>
              </a:lnSpc>
            </a:pPr>
            <a:r>
              <a:rPr dirty="0" sz="2850" spc="105">
                <a:latin typeface="Tahoma"/>
                <a:cs typeface="Tahoma"/>
              </a:rPr>
              <a:t>Designed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for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90">
                <a:latin typeface="Tahoma"/>
                <a:cs typeface="Tahoma"/>
              </a:rPr>
              <a:t>resource-</a:t>
            </a:r>
            <a:r>
              <a:rPr dirty="0" sz="2850" spc="114">
                <a:latin typeface="Tahoma"/>
                <a:cs typeface="Tahoma"/>
              </a:rPr>
              <a:t>constrained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educational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50">
                <a:latin typeface="Tahoma"/>
                <a:cs typeface="Tahoma"/>
              </a:rPr>
              <a:t>settings,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10">
                <a:latin typeface="Tahoma"/>
                <a:cs typeface="Tahoma"/>
              </a:rPr>
              <a:t>the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00">
                <a:latin typeface="Tahoma"/>
                <a:cs typeface="Tahoma"/>
              </a:rPr>
              <a:t>system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30">
                <a:latin typeface="Tahoma"/>
                <a:cs typeface="Tahoma"/>
              </a:rPr>
              <a:t>aims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20">
                <a:latin typeface="Tahoma"/>
                <a:cs typeface="Tahoma"/>
              </a:rPr>
              <a:t>to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40">
                <a:latin typeface="Tahoma"/>
                <a:cs typeface="Tahoma"/>
              </a:rPr>
              <a:t>support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30">
                <a:latin typeface="Tahoma"/>
                <a:cs typeface="Tahoma"/>
              </a:rPr>
              <a:t>both </a:t>
            </a:r>
            <a:r>
              <a:rPr dirty="0" sz="2850" spc="110">
                <a:latin typeface="Tahoma"/>
                <a:cs typeface="Tahoma"/>
              </a:rPr>
              <a:t>academic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85">
                <a:latin typeface="Tahoma"/>
                <a:cs typeface="Tahoma"/>
              </a:rPr>
              <a:t>success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145">
                <a:latin typeface="Tahoma"/>
                <a:cs typeface="Tahoma"/>
              </a:rPr>
              <a:t>and</a:t>
            </a:r>
            <a:r>
              <a:rPr dirty="0" sz="2850" spc="-125">
                <a:latin typeface="Tahoma"/>
                <a:cs typeface="Tahoma"/>
              </a:rPr>
              <a:t> </a:t>
            </a:r>
            <a:r>
              <a:rPr dirty="0" sz="2850" spc="125">
                <a:latin typeface="Tahoma"/>
                <a:cs typeface="Tahoma"/>
              </a:rPr>
              <a:t>mental</a:t>
            </a:r>
            <a:r>
              <a:rPr dirty="0" sz="2850" spc="-120">
                <a:latin typeface="Tahoma"/>
                <a:cs typeface="Tahoma"/>
              </a:rPr>
              <a:t> </a:t>
            </a:r>
            <a:r>
              <a:rPr dirty="0" sz="2850" spc="65">
                <a:latin typeface="Tahoma"/>
                <a:cs typeface="Tahoma"/>
              </a:rPr>
              <a:t>wellness.</a:t>
            </a:r>
            <a:endParaRPr sz="2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1032" y="5129593"/>
            <a:ext cx="13768705" cy="329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10540">
              <a:lnSpc>
                <a:spcPct val="100000"/>
              </a:lnSpc>
              <a:spcBef>
                <a:spcPts val="100"/>
              </a:spcBef>
            </a:pPr>
            <a:r>
              <a:rPr dirty="0" sz="5600" spc="-10" b="1">
                <a:latin typeface="Trebuchet MS"/>
                <a:cs typeface="Trebuchet MS"/>
              </a:rPr>
              <a:t>OBJECTIVES</a:t>
            </a:r>
            <a:endParaRPr sz="56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3395"/>
              </a:spcBef>
            </a:pPr>
            <a:r>
              <a:rPr dirty="0" sz="2800" spc="75">
                <a:latin typeface="Tahoma"/>
                <a:cs typeface="Tahoma"/>
              </a:rPr>
              <a:t>Design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multi-</a:t>
            </a:r>
            <a:r>
              <a:rPr dirty="0" sz="2800" spc="105">
                <a:latin typeface="Tahoma"/>
                <a:cs typeface="Tahoma"/>
              </a:rPr>
              <a:t>protocol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75">
                <a:latin typeface="Tahoma"/>
                <a:cs typeface="Tahoma"/>
              </a:rPr>
              <a:t>IoT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network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for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environmental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attendance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monitoring. </a:t>
            </a:r>
            <a:r>
              <a:rPr dirty="0" sz="2800" spc="80">
                <a:latin typeface="Tahoma"/>
                <a:cs typeface="Tahoma"/>
              </a:rPr>
              <a:t>Implement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edge</a:t>
            </a:r>
            <a:r>
              <a:rPr dirty="0" sz="2800" spc="-100">
                <a:latin typeface="Tahoma"/>
                <a:cs typeface="Tahoma"/>
              </a:rPr>
              <a:t> AI </a:t>
            </a:r>
            <a:r>
              <a:rPr dirty="0" sz="2800" spc="105">
                <a:latin typeface="Tahoma"/>
                <a:cs typeface="Tahoma"/>
              </a:rPr>
              <a:t>for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real-</a:t>
            </a:r>
            <a:r>
              <a:rPr dirty="0" sz="2800" spc="105">
                <a:latin typeface="Tahoma"/>
                <a:cs typeface="Tahoma"/>
              </a:rPr>
              <a:t>time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behavioral</a:t>
            </a:r>
            <a:r>
              <a:rPr dirty="0" sz="2800" spc="-105">
                <a:latin typeface="Tahoma"/>
                <a:cs typeface="Tahoma"/>
              </a:rPr>
              <a:t> </a:t>
            </a:r>
            <a:r>
              <a:rPr dirty="0" sz="2800" spc="35">
                <a:latin typeface="Tahoma"/>
                <a:cs typeface="Tahoma"/>
              </a:rPr>
              <a:t>analysis.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110">
                <a:latin typeface="Tahoma"/>
                <a:cs typeface="Tahoma"/>
              </a:rPr>
              <a:t>Optimize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classroom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network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performance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using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SDN.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85">
                <a:latin typeface="Tahoma"/>
                <a:cs typeface="Tahoma"/>
              </a:rPr>
              <a:t>Ensure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secure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access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control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using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blockchain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and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-114">
                <a:latin typeface="Tahoma"/>
                <a:cs typeface="Tahoma"/>
              </a:rPr>
              <a:t>AI-</a:t>
            </a:r>
            <a:r>
              <a:rPr dirty="0" sz="2800" spc="105">
                <a:latin typeface="Tahoma"/>
                <a:cs typeface="Tahoma"/>
              </a:rPr>
              <a:t>based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anomaly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55">
                <a:latin typeface="Tahoma"/>
                <a:cs typeface="Tahoma"/>
              </a:rPr>
              <a:t>detection.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624" rIns="0" bIns="0" rtlCol="0" vert="horz">
            <a:spAutoFit/>
          </a:bodyPr>
          <a:lstStyle/>
          <a:p>
            <a:pPr marL="5409565">
              <a:lnSpc>
                <a:spcPct val="100000"/>
              </a:lnSpc>
              <a:spcBef>
                <a:spcPts val="100"/>
              </a:spcBef>
            </a:pPr>
            <a:r>
              <a:rPr dirty="0" sz="5600" b="1">
                <a:latin typeface="Trebuchet MS"/>
                <a:cs typeface="Trebuchet MS"/>
              </a:rPr>
              <a:t>RESEARCH</a:t>
            </a:r>
            <a:r>
              <a:rPr dirty="0" sz="5600" spc="25" b="1">
                <a:latin typeface="Trebuchet MS"/>
                <a:cs typeface="Trebuchet MS"/>
              </a:rPr>
              <a:t> </a:t>
            </a:r>
            <a:r>
              <a:rPr dirty="0" sz="5600" spc="-10" b="1">
                <a:latin typeface="Trebuchet MS"/>
                <a:cs typeface="Trebuchet MS"/>
              </a:rPr>
              <a:t>QUESTIONS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3749" y="1492723"/>
            <a:ext cx="15906750" cy="2540000"/>
          </a:xfrm>
          <a:prstGeom prst="rect">
            <a:avLst/>
          </a:prstGeom>
        </p:spPr>
        <p:txBody>
          <a:bodyPr wrap="square" lIns="0" tIns="214629" rIns="0" bIns="0" rtlCol="0" vert="horz">
            <a:spAutoFit/>
          </a:bodyPr>
          <a:lstStyle/>
          <a:p>
            <a:pPr marL="344805" indent="-332105">
              <a:lnSpc>
                <a:spcPct val="100000"/>
              </a:lnSpc>
              <a:spcBef>
                <a:spcPts val="1689"/>
              </a:spcBef>
              <a:buFont typeface="Tahoma"/>
              <a:buAutoNum type="arabicPeriod"/>
              <a:tabLst>
                <a:tab pos="344805" algn="l"/>
              </a:tabLst>
            </a:pPr>
            <a:r>
              <a:rPr dirty="0" sz="2800" spc="-235">
                <a:latin typeface="Arial Black"/>
                <a:cs typeface="Arial Black"/>
              </a:rPr>
              <a:t>IoT</a:t>
            </a:r>
            <a:r>
              <a:rPr dirty="0" sz="2800" spc="-195">
                <a:latin typeface="Arial Black"/>
                <a:cs typeface="Arial Black"/>
              </a:rPr>
              <a:t> </a:t>
            </a:r>
            <a:r>
              <a:rPr dirty="0" sz="2800" spc="-150">
                <a:latin typeface="Arial Black"/>
                <a:cs typeface="Arial Black"/>
              </a:rPr>
              <a:t>Networks:</a:t>
            </a:r>
            <a:r>
              <a:rPr dirty="0" sz="2800" spc="-195">
                <a:latin typeface="Arial Black"/>
                <a:cs typeface="Arial Black"/>
              </a:rPr>
              <a:t> </a:t>
            </a:r>
            <a:r>
              <a:rPr dirty="0" sz="2800" spc="130">
                <a:latin typeface="Tahoma"/>
                <a:cs typeface="Tahoma"/>
              </a:rPr>
              <a:t>How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can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adaptive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multi-</a:t>
            </a:r>
            <a:r>
              <a:rPr dirty="0" sz="2800" spc="105">
                <a:latin typeface="Tahoma"/>
                <a:cs typeface="Tahoma"/>
              </a:rPr>
              <a:t>protocol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75">
                <a:latin typeface="Tahoma"/>
                <a:cs typeface="Tahoma"/>
              </a:rPr>
              <a:t>IoT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networks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improve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classroom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monitoring?</a:t>
            </a:r>
            <a:endParaRPr sz="2800">
              <a:latin typeface="Tahoma"/>
              <a:cs typeface="Tahoma"/>
            </a:endParaRPr>
          </a:p>
          <a:p>
            <a:pPr marL="344805" indent="-332105">
              <a:lnSpc>
                <a:spcPct val="100000"/>
              </a:lnSpc>
              <a:spcBef>
                <a:spcPts val="1590"/>
              </a:spcBef>
              <a:buFont typeface="Tahoma"/>
              <a:buAutoNum type="arabicPeriod"/>
              <a:tabLst>
                <a:tab pos="344805" algn="l"/>
              </a:tabLst>
            </a:pPr>
            <a:r>
              <a:rPr dirty="0" sz="2800" spc="-275">
                <a:latin typeface="Arial Black"/>
                <a:cs typeface="Arial Black"/>
              </a:rPr>
              <a:t>Edge</a:t>
            </a:r>
            <a:r>
              <a:rPr dirty="0" sz="2800" spc="-204">
                <a:latin typeface="Arial Black"/>
                <a:cs typeface="Arial Black"/>
              </a:rPr>
              <a:t> </a:t>
            </a:r>
            <a:r>
              <a:rPr dirty="0" sz="2800" spc="-190">
                <a:latin typeface="Arial Black"/>
                <a:cs typeface="Arial Black"/>
              </a:rPr>
              <a:t>AI:</a:t>
            </a:r>
            <a:r>
              <a:rPr dirty="0" sz="2800" spc="-204">
                <a:latin typeface="Arial Black"/>
                <a:cs typeface="Arial Black"/>
              </a:rPr>
              <a:t> </a:t>
            </a:r>
            <a:r>
              <a:rPr dirty="0" sz="2800" spc="130">
                <a:latin typeface="Tahoma"/>
                <a:cs typeface="Tahoma"/>
              </a:rPr>
              <a:t>How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can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edge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-100">
                <a:latin typeface="Tahoma"/>
                <a:cs typeface="Tahoma"/>
              </a:rPr>
              <a:t>AI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ensure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privacy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while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analyzing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student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behavior?</a:t>
            </a:r>
            <a:endParaRPr sz="2800">
              <a:latin typeface="Tahoma"/>
              <a:cs typeface="Tahoma"/>
            </a:endParaRPr>
          </a:p>
          <a:p>
            <a:pPr marL="344805" indent="-332105">
              <a:lnSpc>
                <a:spcPct val="100000"/>
              </a:lnSpc>
              <a:spcBef>
                <a:spcPts val="1590"/>
              </a:spcBef>
              <a:buFont typeface="Tahoma"/>
              <a:buAutoNum type="arabicPeriod"/>
              <a:tabLst>
                <a:tab pos="344805" algn="l"/>
              </a:tabLst>
            </a:pPr>
            <a:r>
              <a:rPr dirty="0" sz="2800" spc="-240">
                <a:latin typeface="Arial Black"/>
                <a:cs typeface="Arial Black"/>
              </a:rPr>
              <a:t>SDN</a:t>
            </a:r>
            <a:r>
              <a:rPr dirty="0" sz="2800" spc="-240">
                <a:latin typeface="Tahoma"/>
                <a:cs typeface="Tahoma"/>
              </a:rPr>
              <a:t>: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How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does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SDN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enhance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performance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5">
                <a:latin typeface="Tahoma"/>
                <a:cs typeface="Tahoma"/>
              </a:rPr>
              <a:t>engagement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in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smart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classrooms?</a:t>
            </a:r>
            <a:endParaRPr sz="2800">
              <a:latin typeface="Tahoma"/>
              <a:cs typeface="Tahoma"/>
            </a:endParaRPr>
          </a:p>
          <a:p>
            <a:pPr marL="344805" indent="-332105">
              <a:lnSpc>
                <a:spcPct val="100000"/>
              </a:lnSpc>
              <a:spcBef>
                <a:spcPts val="1590"/>
              </a:spcBef>
              <a:buFont typeface="Tahoma"/>
              <a:buAutoNum type="arabicPeriod"/>
              <a:tabLst>
                <a:tab pos="344805" algn="l"/>
              </a:tabLst>
            </a:pPr>
            <a:r>
              <a:rPr dirty="0" sz="2800" spc="-190">
                <a:latin typeface="Arial Black"/>
                <a:cs typeface="Arial Black"/>
              </a:rPr>
              <a:t>Blockchain: </a:t>
            </a:r>
            <a:r>
              <a:rPr dirty="0" sz="2800" spc="130">
                <a:latin typeface="Tahoma"/>
                <a:cs typeface="Tahoma"/>
              </a:rPr>
              <a:t>How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can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decentralized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security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frameworks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protect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sensitive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educational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data?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12053" y="-83184"/>
            <a:ext cx="661289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b="1">
                <a:latin typeface="Trebuchet MS"/>
                <a:cs typeface="Trebuchet MS"/>
              </a:rPr>
              <a:t>RESEARCH</a:t>
            </a:r>
            <a:r>
              <a:rPr dirty="0" sz="7200" spc="75" b="1">
                <a:latin typeface="Trebuchet MS"/>
                <a:cs typeface="Trebuchet MS"/>
              </a:rPr>
              <a:t> </a:t>
            </a:r>
            <a:r>
              <a:rPr dirty="0" sz="7200" spc="400" b="1">
                <a:latin typeface="Trebuchet MS"/>
                <a:cs typeface="Trebuchet MS"/>
              </a:rPr>
              <a:t>GAP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891625"/>
            <a:ext cx="18288000" cy="9395460"/>
            <a:chOff x="0" y="891625"/>
            <a:chExt cx="18288000" cy="9395460"/>
          </a:xfrm>
        </p:grpSpPr>
        <p:sp>
          <p:nvSpPr>
            <p:cNvPr id="6" name="object 6"/>
            <p:cNvSpPr/>
            <p:nvPr/>
          </p:nvSpPr>
          <p:spPr>
            <a:xfrm>
              <a:off x="0" y="9889567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9718117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3089010"/>
              <a:ext cx="1028700" cy="3916045"/>
            </a:xfrm>
            <a:custGeom>
              <a:avLst/>
              <a:gdLst/>
              <a:ahLst/>
              <a:cxnLst/>
              <a:rect l="l" t="t" r="r" b="b"/>
              <a:pathLst>
                <a:path w="1028700" h="3916045">
                  <a:moveTo>
                    <a:pt x="0" y="82316"/>
                  </a:moveTo>
                  <a:lnTo>
                    <a:pt x="0" y="1309"/>
                  </a:lnTo>
                  <a:lnTo>
                    <a:pt x="31030" y="1179"/>
                  </a:lnTo>
                  <a:lnTo>
                    <a:pt x="250968" y="642"/>
                  </a:lnTo>
                  <a:lnTo>
                    <a:pt x="958834" y="0"/>
                  </a:lnTo>
                  <a:lnTo>
                    <a:pt x="991625" y="1624"/>
                  </a:lnTo>
                  <a:lnTo>
                    <a:pt x="1009919" y="9727"/>
                  </a:lnTo>
                  <a:lnTo>
                    <a:pt x="1017880" y="28455"/>
                  </a:lnTo>
                  <a:lnTo>
                    <a:pt x="1019670" y="61956"/>
                  </a:lnTo>
                  <a:lnTo>
                    <a:pt x="1019678" y="79871"/>
                  </a:lnTo>
                  <a:lnTo>
                    <a:pt x="907079" y="79871"/>
                  </a:lnTo>
                  <a:lnTo>
                    <a:pt x="754802" y="80184"/>
                  </a:lnTo>
                  <a:lnTo>
                    <a:pt x="233457" y="80888"/>
                  </a:lnTo>
                  <a:lnTo>
                    <a:pt x="140822" y="81280"/>
                  </a:lnTo>
                  <a:lnTo>
                    <a:pt x="0" y="82316"/>
                  </a:lnTo>
                  <a:close/>
                </a:path>
                <a:path w="1028700" h="3916045">
                  <a:moveTo>
                    <a:pt x="990620" y="1583241"/>
                  </a:moveTo>
                  <a:lnTo>
                    <a:pt x="972979" y="1579445"/>
                  </a:lnTo>
                  <a:lnTo>
                    <a:pt x="958849" y="1567192"/>
                  </a:lnTo>
                  <a:lnTo>
                    <a:pt x="949454" y="1547988"/>
                  </a:lnTo>
                  <a:lnTo>
                    <a:pt x="946019" y="1523337"/>
                  </a:lnTo>
                  <a:lnTo>
                    <a:pt x="946088" y="928570"/>
                  </a:lnTo>
                  <a:lnTo>
                    <a:pt x="945872" y="879013"/>
                  </a:lnTo>
                  <a:lnTo>
                    <a:pt x="945598" y="834617"/>
                  </a:lnTo>
                  <a:lnTo>
                    <a:pt x="945160" y="779904"/>
                  </a:lnTo>
                  <a:lnTo>
                    <a:pt x="944663" y="732463"/>
                  </a:lnTo>
                  <a:lnTo>
                    <a:pt x="943998" y="680803"/>
                  </a:lnTo>
                  <a:lnTo>
                    <a:pt x="943220" y="631256"/>
                  </a:lnTo>
                  <a:lnTo>
                    <a:pt x="942447" y="579304"/>
                  </a:lnTo>
                  <a:lnTo>
                    <a:pt x="941860" y="527356"/>
                  </a:lnTo>
                  <a:lnTo>
                    <a:pt x="941424" y="475410"/>
                  </a:lnTo>
                  <a:lnTo>
                    <a:pt x="941103" y="423467"/>
                  </a:lnTo>
                  <a:lnTo>
                    <a:pt x="940864" y="371527"/>
                  </a:lnTo>
                  <a:lnTo>
                    <a:pt x="940288" y="215715"/>
                  </a:lnTo>
                  <a:lnTo>
                    <a:pt x="940027" y="163779"/>
                  </a:lnTo>
                  <a:lnTo>
                    <a:pt x="939674" y="111844"/>
                  </a:lnTo>
                  <a:lnTo>
                    <a:pt x="907079" y="79871"/>
                  </a:lnTo>
                  <a:lnTo>
                    <a:pt x="1019678" y="79871"/>
                  </a:lnTo>
                  <a:lnTo>
                    <a:pt x="1019724" y="163779"/>
                  </a:lnTo>
                  <a:lnTo>
                    <a:pt x="1019981" y="196132"/>
                  </a:lnTo>
                  <a:lnTo>
                    <a:pt x="1021283" y="300020"/>
                  </a:lnTo>
                  <a:lnTo>
                    <a:pt x="1025455" y="611661"/>
                  </a:lnTo>
                  <a:lnTo>
                    <a:pt x="1020094" y="641891"/>
                  </a:lnTo>
                  <a:lnTo>
                    <a:pt x="1018255" y="672109"/>
                  </a:lnTo>
                  <a:lnTo>
                    <a:pt x="1020172" y="702303"/>
                  </a:lnTo>
                  <a:lnTo>
                    <a:pt x="1026077" y="732463"/>
                  </a:lnTo>
                  <a:lnTo>
                    <a:pt x="1026178" y="834617"/>
                  </a:lnTo>
                  <a:lnTo>
                    <a:pt x="1026304" y="978129"/>
                  </a:lnTo>
                  <a:lnTo>
                    <a:pt x="1026360" y="1038941"/>
                  </a:lnTo>
                  <a:lnTo>
                    <a:pt x="1026486" y="1141106"/>
                  </a:lnTo>
                  <a:lnTo>
                    <a:pt x="1026566" y="1192187"/>
                  </a:lnTo>
                  <a:lnTo>
                    <a:pt x="1026663" y="1243268"/>
                  </a:lnTo>
                  <a:lnTo>
                    <a:pt x="1026913" y="1345425"/>
                  </a:lnTo>
                  <a:lnTo>
                    <a:pt x="1027072" y="1396501"/>
                  </a:lnTo>
                  <a:lnTo>
                    <a:pt x="1028266" y="1440128"/>
                  </a:lnTo>
                  <a:lnTo>
                    <a:pt x="1028266" y="1548977"/>
                  </a:lnTo>
                  <a:lnTo>
                    <a:pt x="1020603" y="1565886"/>
                  </a:lnTo>
                  <a:lnTo>
                    <a:pt x="1007454" y="1578249"/>
                  </a:lnTo>
                  <a:lnTo>
                    <a:pt x="990620" y="1583241"/>
                  </a:lnTo>
                  <a:close/>
                </a:path>
                <a:path w="1028700" h="3916045">
                  <a:moveTo>
                    <a:pt x="0" y="3915881"/>
                  </a:moveTo>
                  <a:lnTo>
                    <a:pt x="0" y="3833363"/>
                  </a:lnTo>
                  <a:lnTo>
                    <a:pt x="714360" y="3832831"/>
                  </a:lnTo>
                  <a:lnTo>
                    <a:pt x="840763" y="3832831"/>
                  </a:lnTo>
                  <a:lnTo>
                    <a:pt x="872555" y="3832325"/>
                  </a:lnTo>
                  <a:lnTo>
                    <a:pt x="891551" y="3833824"/>
                  </a:lnTo>
                  <a:lnTo>
                    <a:pt x="906675" y="3839976"/>
                  </a:lnTo>
                  <a:lnTo>
                    <a:pt x="917273" y="3851587"/>
                  </a:lnTo>
                  <a:lnTo>
                    <a:pt x="922693" y="3869462"/>
                  </a:lnTo>
                  <a:lnTo>
                    <a:pt x="920487" y="3885166"/>
                  </a:lnTo>
                  <a:lnTo>
                    <a:pt x="871125" y="3908277"/>
                  </a:lnTo>
                  <a:lnTo>
                    <a:pt x="770977" y="3911342"/>
                  </a:lnTo>
                  <a:lnTo>
                    <a:pt x="577091" y="3913864"/>
                  </a:lnTo>
                  <a:lnTo>
                    <a:pt x="220087" y="3913864"/>
                  </a:lnTo>
                  <a:lnTo>
                    <a:pt x="0" y="3915881"/>
                  </a:lnTo>
                  <a:close/>
                </a:path>
                <a:path w="1028700" h="3916045">
                  <a:moveTo>
                    <a:pt x="805895" y="3832831"/>
                  </a:moveTo>
                  <a:lnTo>
                    <a:pt x="708040" y="3832831"/>
                  </a:lnTo>
                  <a:lnTo>
                    <a:pt x="739959" y="3832631"/>
                  </a:lnTo>
                  <a:lnTo>
                    <a:pt x="772544" y="3832631"/>
                  </a:lnTo>
                  <a:lnTo>
                    <a:pt x="805895" y="3832831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68858" y="891628"/>
              <a:ext cx="8911590" cy="8912225"/>
            </a:xfrm>
            <a:custGeom>
              <a:avLst/>
              <a:gdLst/>
              <a:ahLst/>
              <a:cxnLst/>
              <a:rect l="l" t="t" r="r" b="b"/>
              <a:pathLst>
                <a:path w="8911590" h="8912225">
                  <a:moveTo>
                    <a:pt x="8911514" y="0"/>
                  </a:moveTo>
                  <a:lnTo>
                    <a:pt x="8911514" y="0"/>
                  </a:lnTo>
                  <a:lnTo>
                    <a:pt x="0" y="0"/>
                  </a:lnTo>
                  <a:lnTo>
                    <a:pt x="0" y="1522882"/>
                  </a:lnTo>
                  <a:lnTo>
                    <a:pt x="0" y="8912225"/>
                  </a:lnTo>
                  <a:lnTo>
                    <a:pt x="2971800" y="8912225"/>
                  </a:lnTo>
                  <a:lnTo>
                    <a:pt x="2971800" y="1524000"/>
                  </a:lnTo>
                  <a:lnTo>
                    <a:pt x="5939714" y="1524000"/>
                  </a:lnTo>
                  <a:lnTo>
                    <a:pt x="5941657" y="1524000"/>
                  </a:lnTo>
                  <a:lnTo>
                    <a:pt x="8911514" y="1524000"/>
                  </a:lnTo>
                  <a:lnTo>
                    <a:pt x="8911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438718" y="891625"/>
            <a:ext cx="14851380" cy="8912225"/>
            <a:chOff x="3438718" y="891625"/>
            <a:chExt cx="14851380" cy="8912225"/>
          </a:xfrm>
        </p:grpSpPr>
        <p:sp>
          <p:nvSpPr>
            <p:cNvPr id="11" name="object 11"/>
            <p:cNvSpPr/>
            <p:nvPr/>
          </p:nvSpPr>
          <p:spPr>
            <a:xfrm>
              <a:off x="17263019" y="3089010"/>
              <a:ext cx="1025525" cy="3916045"/>
            </a:xfrm>
            <a:custGeom>
              <a:avLst/>
              <a:gdLst/>
              <a:ahLst/>
              <a:cxnLst/>
              <a:rect l="l" t="t" r="r" b="b"/>
              <a:pathLst>
                <a:path w="1025525" h="3916045">
                  <a:moveTo>
                    <a:pt x="1024979" y="82285"/>
                  </a:moveTo>
                  <a:lnTo>
                    <a:pt x="1024979" y="1179"/>
                  </a:lnTo>
                  <a:lnTo>
                    <a:pt x="777298" y="642"/>
                  </a:lnTo>
                  <a:lnTo>
                    <a:pt x="69433" y="0"/>
                  </a:lnTo>
                  <a:lnTo>
                    <a:pt x="36641" y="1624"/>
                  </a:lnTo>
                  <a:lnTo>
                    <a:pt x="18347" y="9727"/>
                  </a:lnTo>
                  <a:lnTo>
                    <a:pt x="10387" y="28455"/>
                  </a:lnTo>
                  <a:lnTo>
                    <a:pt x="8596" y="61956"/>
                  </a:lnTo>
                  <a:lnTo>
                    <a:pt x="8589" y="79871"/>
                  </a:lnTo>
                  <a:lnTo>
                    <a:pt x="121188" y="79871"/>
                  </a:lnTo>
                  <a:lnTo>
                    <a:pt x="273465" y="80184"/>
                  </a:lnTo>
                  <a:lnTo>
                    <a:pt x="794810" y="80888"/>
                  </a:lnTo>
                  <a:lnTo>
                    <a:pt x="887445" y="81280"/>
                  </a:lnTo>
                  <a:lnTo>
                    <a:pt x="1024979" y="82285"/>
                  </a:lnTo>
                  <a:close/>
                </a:path>
                <a:path w="1025525" h="3916045">
                  <a:moveTo>
                    <a:pt x="37646" y="1583241"/>
                  </a:moveTo>
                  <a:lnTo>
                    <a:pt x="55287" y="1579445"/>
                  </a:lnTo>
                  <a:lnTo>
                    <a:pt x="69418" y="1567192"/>
                  </a:lnTo>
                  <a:lnTo>
                    <a:pt x="78812" y="1547988"/>
                  </a:lnTo>
                  <a:lnTo>
                    <a:pt x="82247" y="1523337"/>
                  </a:lnTo>
                  <a:lnTo>
                    <a:pt x="82178" y="928570"/>
                  </a:lnTo>
                  <a:lnTo>
                    <a:pt x="82395" y="879013"/>
                  </a:lnTo>
                  <a:lnTo>
                    <a:pt x="82669" y="834617"/>
                  </a:lnTo>
                  <a:lnTo>
                    <a:pt x="83107" y="779904"/>
                  </a:lnTo>
                  <a:lnTo>
                    <a:pt x="83603" y="732463"/>
                  </a:lnTo>
                  <a:lnTo>
                    <a:pt x="84268" y="680803"/>
                  </a:lnTo>
                  <a:lnTo>
                    <a:pt x="85047" y="631256"/>
                  </a:lnTo>
                  <a:lnTo>
                    <a:pt x="85819" y="579304"/>
                  </a:lnTo>
                  <a:lnTo>
                    <a:pt x="86407" y="527356"/>
                  </a:lnTo>
                  <a:lnTo>
                    <a:pt x="86843" y="475410"/>
                  </a:lnTo>
                  <a:lnTo>
                    <a:pt x="87163" y="423467"/>
                  </a:lnTo>
                  <a:lnTo>
                    <a:pt x="87402" y="371527"/>
                  </a:lnTo>
                  <a:lnTo>
                    <a:pt x="87979" y="215715"/>
                  </a:lnTo>
                  <a:lnTo>
                    <a:pt x="88239" y="163779"/>
                  </a:lnTo>
                  <a:lnTo>
                    <a:pt x="88592" y="111844"/>
                  </a:lnTo>
                  <a:lnTo>
                    <a:pt x="121188" y="79871"/>
                  </a:lnTo>
                  <a:lnTo>
                    <a:pt x="8589" y="79871"/>
                  </a:lnTo>
                  <a:lnTo>
                    <a:pt x="8543" y="163779"/>
                  </a:lnTo>
                  <a:lnTo>
                    <a:pt x="8285" y="196132"/>
                  </a:lnTo>
                  <a:lnTo>
                    <a:pt x="6984" y="300020"/>
                  </a:lnTo>
                  <a:lnTo>
                    <a:pt x="2811" y="611661"/>
                  </a:lnTo>
                  <a:lnTo>
                    <a:pt x="8173" y="641891"/>
                  </a:lnTo>
                  <a:lnTo>
                    <a:pt x="10012" y="672109"/>
                  </a:lnTo>
                  <a:lnTo>
                    <a:pt x="8095" y="702303"/>
                  </a:lnTo>
                  <a:lnTo>
                    <a:pt x="2190" y="732463"/>
                  </a:lnTo>
                  <a:lnTo>
                    <a:pt x="2089" y="834617"/>
                  </a:lnTo>
                  <a:lnTo>
                    <a:pt x="1963" y="978129"/>
                  </a:lnTo>
                  <a:lnTo>
                    <a:pt x="1906" y="1038941"/>
                  </a:lnTo>
                  <a:lnTo>
                    <a:pt x="1781" y="1141106"/>
                  </a:lnTo>
                  <a:lnTo>
                    <a:pt x="1700" y="1192187"/>
                  </a:lnTo>
                  <a:lnTo>
                    <a:pt x="1604" y="1243268"/>
                  </a:lnTo>
                  <a:lnTo>
                    <a:pt x="1354" y="1345425"/>
                  </a:lnTo>
                  <a:lnTo>
                    <a:pt x="1194" y="1396501"/>
                  </a:lnTo>
                  <a:lnTo>
                    <a:pt x="0" y="1440145"/>
                  </a:lnTo>
                  <a:lnTo>
                    <a:pt x="0" y="1548975"/>
                  </a:lnTo>
                  <a:lnTo>
                    <a:pt x="7664" y="1565886"/>
                  </a:lnTo>
                  <a:lnTo>
                    <a:pt x="20812" y="1578249"/>
                  </a:lnTo>
                  <a:lnTo>
                    <a:pt x="37646" y="1583241"/>
                  </a:lnTo>
                  <a:close/>
                </a:path>
                <a:path w="1025525" h="3916045">
                  <a:moveTo>
                    <a:pt x="1024979" y="3915843"/>
                  </a:moveTo>
                  <a:lnTo>
                    <a:pt x="1024979" y="3833363"/>
                  </a:lnTo>
                  <a:lnTo>
                    <a:pt x="313907" y="3832831"/>
                  </a:lnTo>
                  <a:lnTo>
                    <a:pt x="187504" y="3832831"/>
                  </a:lnTo>
                  <a:lnTo>
                    <a:pt x="155711" y="3832325"/>
                  </a:lnTo>
                  <a:lnTo>
                    <a:pt x="136715" y="3833824"/>
                  </a:lnTo>
                  <a:lnTo>
                    <a:pt x="121592" y="3839976"/>
                  </a:lnTo>
                  <a:lnTo>
                    <a:pt x="110994" y="3851587"/>
                  </a:lnTo>
                  <a:lnTo>
                    <a:pt x="105574" y="3869462"/>
                  </a:lnTo>
                  <a:lnTo>
                    <a:pt x="107779" y="3885166"/>
                  </a:lnTo>
                  <a:lnTo>
                    <a:pt x="157142" y="3908277"/>
                  </a:lnTo>
                  <a:lnTo>
                    <a:pt x="257290" y="3911342"/>
                  </a:lnTo>
                  <a:lnTo>
                    <a:pt x="451176" y="3913864"/>
                  </a:lnTo>
                  <a:lnTo>
                    <a:pt x="808179" y="3913864"/>
                  </a:lnTo>
                  <a:lnTo>
                    <a:pt x="1024979" y="3915843"/>
                  </a:lnTo>
                  <a:close/>
                </a:path>
                <a:path w="1025525" h="3916045">
                  <a:moveTo>
                    <a:pt x="222372" y="3832831"/>
                  </a:moveTo>
                  <a:lnTo>
                    <a:pt x="320227" y="3832831"/>
                  </a:lnTo>
                  <a:lnTo>
                    <a:pt x="288308" y="3832631"/>
                  </a:lnTo>
                  <a:lnTo>
                    <a:pt x="255722" y="3832631"/>
                  </a:lnTo>
                  <a:lnTo>
                    <a:pt x="222372" y="3832831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38715" y="891628"/>
              <a:ext cx="14851380" cy="8912225"/>
            </a:xfrm>
            <a:custGeom>
              <a:avLst/>
              <a:gdLst/>
              <a:ahLst/>
              <a:cxnLst/>
              <a:rect l="l" t="t" r="r" b="b"/>
              <a:pathLst>
                <a:path w="14851380" h="8912225">
                  <a:moveTo>
                    <a:pt x="14851215" y="0"/>
                  </a:moveTo>
                  <a:lnTo>
                    <a:pt x="11879415" y="0"/>
                  </a:lnTo>
                  <a:lnTo>
                    <a:pt x="11879415" y="1522882"/>
                  </a:lnTo>
                  <a:lnTo>
                    <a:pt x="11879415" y="1524000"/>
                  </a:lnTo>
                  <a:lnTo>
                    <a:pt x="11879415" y="6988175"/>
                  </a:lnTo>
                  <a:lnTo>
                    <a:pt x="8911514" y="6988175"/>
                  </a:lnTo>
                  <a:lnTo>
                    <a:pt x="0" y="6988175"/>
                  </a:lnTo>
                  <a:lnTo>
                    <a:pt x="0" y="8912225"/>
                  </a:lnTo>
                  <a:lnTo>
                    <a:pt x="14851215" y="8912225"/>
                  </a:lnTo>
                  <a:lnTo>
                    <a:pt x="14851215" y="6991896"/>
                  </a:lnTo>
                  <a:lnTo>
                    <a:pt x="14851215" y="1522882"/>
                  </a:lnTo>
                  <a:lnTo>
                    <a:pt x="14851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0" y="886864"/>
          <a:ext cx="18364200" cy="899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630"/>
                <a:gridCol w="2969260"/>
                <a:gridCol w="2969260"/>
                <a:gridCol w="2969259"/>
                <a:gridCol w="2969259"/>
                <a:gridCol w="2969259"/>
                <a:gridCol w="2969259"/>
              </a:tblGrid>
              <a:tr h="152273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700" spc="-114">
                          <a:latin typeface="Arial Black"/>
                          <a:cs typeface="Arial Black"/>
                        </a:rPr>
                        <a:t>Project</a:t>
                      </a:r>
                      <a:r>
                        <a:rPr dirty="0" sz="1700" spc="-11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Component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43510" marR="136525" indent="245745">
                        <a:lnSpc>
                          <a:spcPct val="117600"/>
                        </a:lnSpc>
                      </a:pPr>
                      <a:r>
                        <a:rPr dirty="0" sz="1700" spc="-125">
                          <a:latin typeface="Arial Black"/>
                          <a:cs typeface="Arial Black"/>
                        </a:rPr>
                        <a:t>Smart</a:t>
                      </a:r>
                      <a:r>
                        <a:rPr dirty="0" sz="1700" spc="-1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50">
                          <a:latin typeface="Arial Black"/>
                          <a:cs typeface="Arial Black"/>
                        </a:rPr>
                        <a:t>IoT</a:t>
                      </a:r>
                      <a:r>
                        <a:rPr dirty="0" sz="1700" spc="-1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Classroom </a:t>
                      </a:r>
                      <a:r>
                        <a:rPr dirty="0" sz="1700" spc="-150">
                          <a:latin typeface="Arial Black"/>
                          <a:cs typeface="Arial Black"/>
                        </a:rPr>
                        <a:t>Systems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45">
                          <a:latin typeface="Arial Black"/>
                          <a:cs typeface="Arial Black"/>
                        </a:rPr>
                        <a:t>(Yağanoğlu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5">
                          <a:latin typeface="Arial Black"/>
                          <a:cs typeface="Arial Black"/>
                        </a:rPr>
                        <a:t>et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55">
                          <a:latin typeface="Arial Black"/>
                          <a:cs typeface="Arial Black"/>
                        </a:rPr>
                        <a:t>al.</a:t>
                      </a:r>
                      <a:endParaRPr sz="1700">
                        <a:latin typeface="Arial Black"/>
                        <a:cs typeface="Arial Black"/>
                      </a:endParaRPr>
                    </a:p>
                    <a:p>
                      <a:pPr marL="3879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700" spc="-125">
                          <a:latin typeface="Arial Black"/>
                          <a:cs typeface="Arial Black"/>
                        </a:rPr>
                        <a:t>2023,</a:t>
                      </a:r>
                      <a:r>
                        <a:rPr dirty="0" sz="1700" spc="-15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10">
                          <a:latin typeface="Arial Black"/>
                          <a:cs typeface="Arial Black"/>
                        </a:rPr>
                        <a:t>Dai</a:t>
                      </a:r>
                      <a:r>
                        <a:rPr dirty="0" sz="1700" spc="-15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5">
                          <a:latin typeface="Arial Black"/>
                          <a:cs typeface="Arial Black"/>
                        </a:rPr>
                        <a:t>et</a:t>
                      </a:r>
                      <a:r>
                        <a:rPr dirty="0" sz="1700" spc="-1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al.</a:t>
                      </a:r>
                      <a:r>
                        <a:rPr dirty="0" sz="1700" spc="-15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2023)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234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130810" marR="123825" indent="-635">
                        <a:lnSpc>
                          <a:spcPct val="117600"/>
                        </a:lnSpc>
                      </a:pPr>
                      <a:r>
                        <a:rPr dirty="0" sz="1700" spc="-100">
                          <a:latin typeface="Arial Black"/>
                          <a:cs typeface="Arial Black"/>
                        </a:rPr>
                        <a:t>Microsoft</a:t>
                      </a:r>
                      <a:r>
                        <a:rPr dirty="0" sz="1700" spc="-8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0">
                          <a:latin typeface="Arial Black"/>
                          <a:cs typeface="Arial Black"/>
                        </a:rPr>
                        <a:t>Teams 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Education</a:t>
                      </a:r>
                      <a:r>
                        <a:rPr dirty="0" sz="1700" spc="-11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30">
                          <a:latin typeface="Arial Black"/>
                          <a:cs typeface="Arial Black"/>
                        </a:rPr>
                        <a:t>Insights</a:t>
                      </a:r>
                      <a:r>
                        <a:rPr dirty="0" sz="1700" spc="-10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5">
                          <a:latin typeface="Arial Black"/>
                          <a:cs typeface="Arial Black"/>
                        </a:rPr>
                        <a:t>(2020-</a:t>
                      </a:r>
                      <a:endParaRPr sz="1700">
                        <a:latin typeface="Arial Black"/>
                        <a:cs typeface="Arial Black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700" spc="-10">
                          <a:latin typeface="Arial Black"/>
                          <a:cs typeface="Arial Black"/>
                        </a:rPr>
                        <a:t>2023)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234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30835" marR="323850" indent="196850">
                        <a:lnSpc>
                          <a:spcPct val="117600"/>
                        </a:lnSpc>
                      </a:pPr>
                      <a:r>
                        <a:rPr dirty="0" sz="1700" spc="-130">
                          <a:latin typeface="Arial Black"/>
                          <a:cs typeface="Arial Black"/>
                        </a:rPr>
                        <a:t>Google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Classroom </a:t>
                      </a:r>
                      <a:r>
                        <a:rPr dirty="0" sz="1700" spc="-125">
                          <a:latin typeface="Arial Black"/>
                          <a:cs typeface="Arial Black"/>
                        </a:rPr>
                        <a:t>Analytics</a:t>
                      </a:r>
                      <a:r>
                        <a:rPr dirty="0" sz="1700" spc="-8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85">
                          <a:latin typeface="Arial Black"/>
                          <a:cs typeface="Arial Black"/>
                        </a:rPr>
                        <a:t>(2023-</a:t>
                      </a:r>
                      <a:r>
                        <a:rPr dirty="0" sz="1700" spc="-90">
                          <a:latin typeface="Arial Black"/>
                          <a:cs typeface="Arial Black"/>
                        </a:rPr>
                        <a:t>2025)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1758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323850" marR="316230" indent="-635">
                        <a:lnSpc>
                          <a:spcPct val="117600"/>
                        </a:lnSpc>
                      </a:pPr>
                      <a:r>
                        <a:rPr dirty="0" sz="1700" spc="-105">
                          <a:latin typeface="Arial Black"/>
                          <a:cs typeface="Arial Black"/>
                        </a:rPr>
                        <a:t>Traditional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Network </a:t>
                      </a:r>
                      <a:r>
                        <a:rPr dirty="0" sz="1700" spc="-130">
                          <a:latin typeface="Arial Black"/>
                          <a:cs typeface="Arial Black"/>
                        </a:rPr>
                        <a:t>Management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30">
                          <a:latin typeface="Arial Black"/>
                          <a:cs typeface="Arial Black"/>
                        </a:rPr>
                        <a:t>Systems </a:t>
                      </a:r>
                      <a:r>
                        <a:rPr dirty="0" sz="1700" spc="-55">
                          <a:latin typeface="Arial Black"/>
                          <a:cs typeface="Arial Black"/>
                        </a:rPr>
                        <a:t>(2020-</a:t>
                      </a:r>
                      <a:r>
                        <a:rPr dirty="0" sz="1700" spc="-20">
                          <a:latin typeface="Arial Black"/>
                          <a:cs typeface="Arial Black"/>
                        </a:rPr>
                        <a:t>2024)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234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035050" marR="160020" indent="-868044">
                        <a:lnSpc>
                          <a:spcPct val="117600"/>
                        </a:lnSpc>
                      </a:pPr>
                      <a:r>
                        <a:rPr dirty="0" sz="1700" spc="-85">
                          <a:latin typeface="Arial Black"/>
                          <a:cs typeface="Arial Black"/>
                        </a:rPr>
                        <a:t>Our</a:t>
                      </a:r>
                      <a:r>
                        <a:rPr dirty="0" sz="1700" spc="-1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25">
                          <a:latin typeface="Arial Black"/>
                          <a:cs typeface="Arial Black"/>
                        </a:rPr>
                        <a:t>Smart</a:t>
                      </a:r>
                      <a:r>
                        <a:rPr dirty="0" sz="1700" spc="-130">
                          <a:latin typeface="Arial Black"/>
                          <a:cs typeface="Arial Black"/>
                        </a:rPr>
                        <a:t> Classroom </a:t>
                      </a:r>
                      <a:r>
                        <a:rPr dirty="0" sz="1700" spc="-90">
                          <a:latin typeface="Arial Black"/>
                          <a:cs typeface="Arial Black"/>
                        </a:rPr>
                        <a:t>IoT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Network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1758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910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5565" marR="428625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 spc="-105">
                          <a:latin typeface="Arial Black"/>
                          <a:cs typeface="Arial Black"/>
                        </a:rPr>
                        <a:t>Adaptive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5">
                          <a:latin typeface="Arial Black"/>
                          <a:cs typeface="Arial Black"/>
                        </a:rPr>
                        <a:t>IoT </a:t>
                      </a:r>
                      <a:r>
                        <a:rPr dirty="0" sz="1700" spc="-100">
                          <a:latin typeface="Arial Black"/>
                          <a:cs typeface="Arial Black"/>
                        </a:rPr>
                        <a:t>Environmental</a:t>
                      </a:r>
                      <a:r>
                        <a:rPr dirty="0" sz="1700" spc="-10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445">
                          <a:latin typeface="Arial Black"/>
                          <a:cs typeface="Arial Black"/>
                        </a:rPr>
                        <a:t>&amp;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 Attendance </a:t>
                      </a:r>
                      <a:r>
                        <a:rPr dirty="0" sz="1700" spc="-70">
                          <a:latin typeface="Arial Black"/>
                          <a:cs typeface="Arial Black"/>
                        </a:rPr>
                        <a:t>Monitoring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2108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3825" marR="116205">
                        <a:lnSpc>
                          <a:spcPct val="113999"/>
                        </a:lnSpc>
                        <a:spcBef>
                          <a:spcPts val="1295"/>
                        </a:spcBef>
                      </a:pPr>
                      <a:r>
                        <a:rPr dirty="0" sz="1700" spc="-110">
                          <a:latin typeface="Arial Black"/>
                          <a:cs typeface="Arial Black"/>
                        </a:rPr>
                        <a:t>Partial</a:t>
                      </a:r>
                      <a:r>
                        <a:rPr dirty="0" sz="1700" spc="-9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Basic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environmental</a:t>
                      </a:r>
                      <a:r>
                        <a:rPr dirty="0" sz="1700" spc="-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monitoring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(temp,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50">
                          <a:latin typeface="Lucida Sans Unicode"/>
                          <a:cs typeface="Lucida Sans Unicode"/>
                        </a:rPr>
                        <a:t>CO₂)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but</a:t>
                      </a:r>
                      <a:r>
                        <a:rPr dirty="0" sz="1700" spc="-8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no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adaptive</a:t>
                      </a: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networking</a:t>
                      </a:r>
                      <a:r>
                        <a:rPr dirty="0" sz="1700" spc="-6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or</a:t>
                      </a: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RL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optimization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644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469265" marR="405765" indent="212090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environmental </a:t>
                      </a:r>
                      <a:r>
                        <a:rPr dirty="0" sz="1700" spc="-35">
                          <a:latin typeface="Lucida Sans Unicode"/>
                          <a:cs typeface="Lucida Sans Unicode"/>
                        </a:rPr>
                        <a:t>sensing</a:t>
                      </a:r>
                      <a:r>
                        <a:rPr dirty="0" sz="1700" spc="-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capabilities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469265" marR="405765" indent="212090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environmental </a:t>
                      </a:r>
                      <a:r>
                        <a:rPr dirty="0" sz="1700" spc="-35">
                          <a:latin typeface="Lucida Sans Unicode"/>
                          <a:cs typeface="Lucida Sans Unicode"/>
                        </a:rPr>
                        <a:t>sensing</a:t>
                      </a:r>
                      <a:r>
                        <a:rPr dirty="0" sz="1700" spc="-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capabilities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11225" marR="631190" indent="-4445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IoT</a:t>
                      </a:r>
                      <a:r>
                        <a:rPr dirty="0" sz="1700" spc="-10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sensor integration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045" marR="101600" indent="144145">
                        <a:lnSpc>
                          <a:spcPct val="113999"/>
                        </a:lnSpc>
                        <a:spcBef>
                          <a:spcPts val="1295"/>
                        </a:spcBef>
                      </a:pPr>
                      <a:r>
                        <a:rPr dirty="0" sz="1700" spc="-55">
                          <a:latin typeface="Lucida Sans Unicode"/>
                          <a:cs typeface="Lucida Sans Unicode"/>
                        </a:rPr>
                        <a:t>Multi-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protocol</a:t>
                      </a:r>
                      <a:r>
                        <a:rPr dirty="0" sz="1700" spc="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adaptive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mesh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network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with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RL </a:t>
                      </a:r>
                      <a:r>
                        <a:rPr dirty="0" sz="1700" spc="-35">
                          <a:latin typeface="Lucida Sans Unicode"/>
                          <a:cs typeface="Lucida Sans Unicode"/>
                        </a:rPr>
                        <a:t>optimization,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 integrated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908050" marR="78740" indent="-821690">
                        <a:lnSpc>
                          <a:spcPct val="113999"/>
                        </a:lnSpc>
                      </a:pP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environmental-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attendance correlation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6446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78688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5565" marR="318770">
                        <a:lnSpc>
                          <a:spcPct val="113999"/>
                        </a:lnSpc>
                      </a:pPr>
                      <a:r>
                        <a:rPr dirty="0" sz="1700" spc="-95">
                          <a:latin typeface="Arial Black"/>
                          <a:cs typeface="Arial Black"/>
                        </a:rPr>
                        <a:t>Privacy-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Preserving</a:t>
                      </a:r>
                      <a:r>
                        <a:rPr dirty="0" sz="1700" spc="-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5">
                          <a:latin typeface="Arial Black"/>
                          <a:cs typeface="Arial Black"/>
                        </a:rPr>
                        <a:t>Edge </a:t>
                      </a:r>
                      <a:r>
                        <a:rPr dirty="0" sz="1700" spc="-140">
                          <a:latin typeface="Arial Black"/>
                          <a:cs typeface="Arial Black"/>
                        </a:rPr>
                        <a:t>AI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Behavioral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Analysis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887730" marR="172720" indent="-439420">
                        <a:lnSpc>
                          <a:spcPct val="113999"/>
                        </a:lnSpc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behavioral</a:t>
                      </a:r>
                      <a:r>
                        <a:rPr dirty="0" sz="1700" spc="-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analysis capabilities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8135" marR="310515" indent="636270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Cloud-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based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processing,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8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privacy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170180" marR="163195" indent="407670">
                        <a:lnSpc>
                          <a:spcPct val="113999"/>
                        </a:lnSpc>
                      </a:pP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guarantees,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basic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engagement</a:t>
                      </a:r>
                      <a:r>
                        <a:rPr dirty="0" sz="1700" spc="-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metrics</a:t>
                      </a:r>
                      <a:r>
                        <a:rPr dirty="0" sz="1700" spc="-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only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0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69240" marR="261620" indent="685165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Cloud-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based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processing,</a:t>
                      </a:r>
                      <a:r>
                        <a:rPr dirty="0" sz="1700" spc="-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assignment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489584" marR="481965" indent="134620">
                        <a:lnSpc>
                          <a:spcPct val="113999"/>
                        </a:lnSpc>
                      </a:pP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tracking</a:t>
                      </a:r>
                      <a:r>
                        <a:rPr dirty="0" sz="1700" spc="-10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only,</a:t>
                      </a:r>
                      <a:r>
                        <a:rPr dirty="0" sz="1700" spc="-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no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behavioral</a:t>
                      </a:r>
                      <a:r>
                        <a:rPr dirty="0" sz="1700" spc="-5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analysis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0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07695" marR="346075" indent="14604">
                        <a:lnSpc>
                          <a:spcPct val="113999"/>
                        </a:lnSpc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AI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or</a:t>
                      </a:r>
                      <a:r>
                        <a:rPr dirty="0" sz="1700" spc="-1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behavioral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analysis</a:t>
                      </a:r>
                      <a:r>
                        <a:rPr dirty="0" sz="1700" spc="-1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features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53035" marR="145415" indent="320675">
                        <a:lnSpc>
                          <a:spcPct val="113999"/>
                        </a:lnSpc>
                        <a:spcBef>
                          <a:spcPts val="5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Complete</a:t>
                      </a:r>
                      <a:r>
                        <a:rPr dirty="0" sz="1700" spc="-4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95">
                          <a:latin typeface="Lucida Sans Unicode"/>
                          <a:cs typeface="Lucida Sans Unicode"/>
                        </a:rPr>
                        <a:t>edge-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based </a:t>
                      </a:r>
                      <a:r>
                        <a:rPr dirty="0" sz="1700" spc="-70">
                          <a:latin typeface="Lucida Sans Unicode"/>
                          <a:cs typeface="Lucida Sans Unicode"/>
                        </a:rPr>
                        <a:t>multi-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modal</a:t>
                      </a:r>
                      <a:r>
                        <a:rPr dirty="0" sz="1700" spc="-10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analysis</a:t>
                      </a:r>
                      <a:r>
                        <a:rPr dirty="0" sz="1700" spc="-9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with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878840" marR="348615" indent="-522605">
                        <a:lnSpc>
                          <a:spcPct val="113999"/>
                        </a:lnSpc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mathematical</a:t>
                      </a:r>
                      <a:r>
                        <a:rPr dirty="0" sz="1700" spc="-4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privacy guarantees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0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78688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5565" marR="926465">
                        <a:lnSpc>
                          <a:spcPct val="113999"/>
                        </a:lnSpc>
                      </a:pPr>
                      <a:r>
                        <a:rPr dirty="0" sz="1700" spc="-70">
                          <a:latin typeface="Arial Black"/>
                          <a:cs typeface="Arial Black"/>
                        </a:rPr>
                        <a:t>AI-</a:t>
                      </a:r>
                      <a:r>
                        <a:rPr dirty="0" sz="1700" spc="-85">
                          <a:latin typeface="Arial Black"/>
                          <a:cs typeface="Arial Black"/>
                        </a:rPr>
                        <a:t>Driven</a:t>
                      </a:r>
                      <a:r>
                        <a:rPr dirty="0" sz="1700" spc="-9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Network </a:t>
                      </a:r>
                      <a:r>
                        <a:rPr dirty="0" sz="1700" spc="-100">
                          <a:latin typeface="Arial Black"/>
                          <a:cs typeface="Arial Black"/>
                        </a:rPr>
                        <a:t>Optimization</a:t>
                      </a:r>
                      <a:r>
                        <a:rPr dirty="0" sz="1700" spc="-7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5">
                          <a:latin typeface="Arial Black"/>
                          <a:cs typeface="Arial Black"/>
                        </a:rPr>
                        <a:t>for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Education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15430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1440" marR="83820" indent="800735">
                        <a:lnSpc>
                          <a:spcPct val="113999"/>
                        </a:lnSpc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Basic</a:t>
                      </a:r>
                      <a:r>
                        <a:rPr dirty="0" sz="1700" spc="5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network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connectivity,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intelligent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5607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QoS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management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430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149860" marR="142240">
                        <a:lnSpc>
                          <a:spcPct val="113999"/>
                        </a:lnSpc>
                      </a:pPr>
                      <a:r>
                        <a:rPr dirty="0" sz="1700" spc="-170">
                          <a:latin typeface="Arial Black"/>
                          <a:cs typeface="Arial Black"/>
                        </a:rPr>
                        <a:t>Basic</a:t>
                      </a:r>
                      <a:r>
                        <a:rPr dirty="0" sz="1700" spc="-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Standard</a:t>
                      </a:r>
                      <a:r>
                        <a:rPr dirty="0" sz="17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network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protocols,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educational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app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prioritization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430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238760" marR="231775" indent="-635">
                        <a:lnSpc>
                          <a:spcPct val="113999"/>
                        </a:lnSpc>
                      </a:pPr>
                      <a:r>
                        <a:rPr dirty="0" sz="1700" spc="-170">
                          <a:latin typeface="Arial Black"/>
                          <a:cs typeface="Arial Black"/>
                        </a:rPr>
                        <a:t>Basic</a:t>
                      </a:r>
                      <a:r>
                        <a:rPr dirty="0" sz="1700" spc="-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Standard</a:t>
                      </a:r>
                      <a:r>
                        <a:rPr dirty="0" sz="17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network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protocols,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intelligent optimization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430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95250" marR="87630">
                        <a:lnSpc>
                          <a:spcPct val="113999"/>
                        </a:lnSpc>
                      </a:pPr>
                      <a:r>
                        <a:rPr dirty="0" sz="1700" spc="-110">
                          <a:latin typeface="Arial Black"/>
                          <a:cs typeface="Arial Black"/>
                        </a:rPr>
                        <a:t>Partial</a:t>
                      </a:r>
                      <a:r>
                        <a:rPr dirty="0" sz="1700" spc="-9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Traditional</a:t>
                      </a: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QoS</a:t>
                      </a:r>
                      <a:r>
                        <a:rPr dirty="0" sz="170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but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AI-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driven</a:t>
                      </a:r>
                      <a:r>
                        <a:rPr dirty="0" sz="1700" spc="-8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educational context</a:t>
                      </a:r>
                      <a:r>
                        <a:rPr dirty="0" sz="1700" spc="-8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awareness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430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71450" marR="163830" indent="460375">
                        <a:lnSpc>
                          <a:spcPct val="113999"/>
                        </a:lnSpc>
                      </a:pP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AI-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driven</a:t>
                      </a:r>
                      <a:r>
                        <a:rPr dirty="0" sz="1700" spc="-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50">
                          <a:latin typeface="Lucida Sans Unicode"/>
                          <a:cs typeface="Lucida Sans Unicode"/>
                        </a:rPr>
                        <a:t>SDN</a:t>
                      </a:r>
                      <a:r>
                        <a:rPr dirty="0" sz="1700" spc="-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with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dynamic</a:t>
                      </a:r>
                      <a:r>
                        <a:rPr dirty="0" sz="1700" spc="-6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educational</a:t>
                      </a:r>
                      <a:r>
                        <a:rPr dirty="0" sz="1700" spc="-5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app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prioritization,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 contextual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70548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network</a:t>
                      </a:r>
                      <a:r>
                        <a:rPr dirty="0" sz="1700" spc="-6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slicing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143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8383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5565" marR="234950">
                        <a:lnSpc>
                          <a:spcPct val="117600"/>
                        </a:lnSpc>
                      </a:pPr>
                      <a:r>
                        <a:rPr dirty="0" sz="1700" spc="-140">
                          <a:latin typeface="Arial Black"/>
                          <a:cs typeface="Arial Black"/>
                        </a:rPr>
                        <a:t>Blockchain</a:t>
                      </a:r>
                      <a:r>
                        <a:rPr dirty="0" sz="1700" spc="-12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40">
                          <a:latin typeface="Arial Black"/>
                          <a:cs typeface="Arial Black"/>
                        </a:rPr>
                        <a:t>Zero</a:t>
                      </a:r>
                      <a:r>
                        <a:rPr dirty="0" sz="1700" spc="-1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20">
                          <a:latin typeface="Arial Black"/>
                          <a:cs typeface="Arial Black"/>
                        </a:rPr>
                        <a:t>Trust </a:t>
                      </a:r>
                      <a:r>
                        <a:rPr dirty="0" sz="1700" spc="-114">
                          <a:latin typeface="Arial Black"/>
                          <a:cs typeface="Arial Black"/>
                        </a:rPr>
                        <a:t>Security</a:t>
                      </a:r>
                      <a:r>
                        <a:rPr dirty="0" sz="1700" spc="-1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25">
                          <a:latin typeface="Arial Black"/>
                          <a:cs typeface="Arial Black"/>
                        </a:rPr>
                        <a:t>with</a:t>
                      </a:r>
                      <a:r>
                        <a:rPr dirty="0" sz="1700" spc="-140">
                          <a:latin typeface="Arial Black"/>
                          <a:cs typeface="Arial Black"/>
                        </a:rPr>
                        <a:t> AI </a:t>
                      </a:r>
                      <a:r>
                        <a:rPr dirty="0" sz="1700" spc="-85">
                          <a:latin typeface="Arial Black"/>
                          <a:cs typeface="Arial Black"/>
                        </a:rPr>
                        <a:t>Anomaly </a:t>
                      </a:r>
                      <a:r>
                        <a:rPr dirty="0" sz="1700" spc="-10">
                          <a:latin typeface="Arial Black"/>
                          <a:cs typeface="Arial Black"/>
                        </a:rPr>
                        <a:t>Detection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B="0" marT="2235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01295" marR="193675" indent="405765">
                        <a:lnSpc>
                          <a:spcPct val="113999"/>
                        </a:lnSpc>
                      </a:pP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Traditional</a:t>
                      </a:r>
                      <a:r>
                        <a:rPr dirty="0" sz="1700" spc="-1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security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protocols,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blockchain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marL="911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integration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3050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130175" marR="123189">
                        <a:lnSpc>
                          <a:spcPct val="113999"/>
                        </a:lnSpc>
                      </a:pPr>
                      <a:r>
                        <a:rPr dirty="0" sz="1700" spc="-170">
                          <a:latin typeface="Arial Black"/>
                          <a:cs typeface="Arial Black"/>
                        </a:rPr>
                        <a:t>Basic</a:t>
                      </a:r>
                      <a:r>
                        <a:rPr dirty="0" sz="1700" spc="-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Standard</a:t>
                      </a:r>
                      <a:r>
                        <a:rPr dirty="0" sz="17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enterprise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security,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centralized authentication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3050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130175" marR="123189">
                        <a:lnSpc>
                          <a:spcPct val="113999"/>
                        </a:lnSpc>
                      </a:pPr>
                      <a:r>
                        <a:rPr dirty="0" sz="1700" spc="-170">
                          <a:latin typeface="Arial Black"/>
                          <a:cs typeface="Arial Black"/>
                        </a:rPr>
                        <a:t>Basic</a:t>
                      </a:r>
                      <a:r>
                        <a:rPr dirty="0" sz="1700" spc="-4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Standard</a:t>
                      </a:r>
                      <a:r>
                        <a:rPr dirty="0" sz="17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enterprise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security,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centralized authentication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3050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just" marL="125730" marR="87630" indent="-31115">
                        <a:lnSpc>
                          <a:spcPct val="113999"/>
                        </a:lnSpc>
                      </a:pPr>
                      <a:r>
                        <a:rPr dirty="0" sz="1700" spc="-125">
                          <a:latin typeface="Arial Black"/>
                          <a:cs typeface="Arial Black"/>
                        </a:rPr>
                        <a:t>Partial</a:t>
                      </a:r>
                      <a:r>
                        <a:rPr dirty="0" sz="1700" spc="-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Traditional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network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security,</a:t>
                      </a:r>
                      <a:r>
                        <a:rPr dirty="0" sz="1700" spc="-1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1700" spc="-1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blockchain</a:t>
                      </a:r>
                      <a:r>
                        <a:rPr dirty="0" sz="1700" spc="-1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or 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AI-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driven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threat</a:t>
                      </a:r>
                      <a:r>
                        <a:rPr dirty="0" sz="1700" spc="-1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detection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3050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 marR="153035" indent="280670">
                        <a:lnSpc>
                          <a:spcPct val="113999"/>
                        </a:lnSpc>
                        <a:spcBef>
                          <a:spcPts val="244"/>
                        </a:spcBef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Integrated</a:t>
                      </a:r>
                      <a:r>
                        <a:rPr dirty="0" sz="1700" spc="-1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blockchain-</a:t>
                      </a:r>
                      <a:r>
                        <a:rPr dirty="0" sz="1700" spc="50">
                          <a:latin typeface="Lucida Sans Unicode"/>
                          <a:cs typeface="Lucida Sans Unicode"/>
                        </a:rPr>
                        <a:t>SDN</a:t>
                      </a:r>
                      <a:r>
                        <a:rPr dirty="0" sz="1700" spc="-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architecture</a:t>
                      </a:r>
                      <a:r>
                        <a:rPr dirty="0" sz="1700" spc="-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with</a:t>
                      </a:r>
                      <a:r>
                        <a:rPr dirty="0" sz="1700" spc="-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85">
                          <a:latin typeface="Lucida Sans Unicode"/>
                          <a:cs typeface="Lucida Sans Unicode"/>
                        </a:rPr>
                        <a:t>AI-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  <a:p>
                      <a:pPr algn="ctr" marL="285115" marR="277495" indent="-635">
                        <a:lnSpc>
                          <a:spcPct val="113999"/>
                        </a:lnSpc>
                      </a:pPr>
                      <a:r>
                        <a:rPr dirty="0" sz="1700">
                          <a:latin typeface="Lucida Sans Unicode"/>
                          <a:cs typeface="Lucida Sans Unicode"/>
                        </a:rPr>
                        <a:t>powered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75">
                          <a:latin typeface="Lucida Sans Unicode"/>
                          <a:cs typeface="Lucida Sans Unicode"/>
                        </a:rPr>
                        <a:t>real-</a:t>
                      </a:r>
                      <a:r>
                        <a:rPr dirty="0" sz="1700" spc="-20">
                          <a:latin typeface="Lucida Sans Unicode"/>
                          <a:cs typeface="Lucida Sans Unicode"/>
                        </a:rPr>
                        <a:t>time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anomaly</a:t>
                      </a:r>
                      <a:r>
                        <a:rPr dirty="0" sz="1700" spc="-3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detection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25">
                          <a:latin typeface="Lucida Sans Unicode"/>
                          <a:cs typeface="Lucida Sans Unicode"/>
                        </a:rPr>
                        <a:t>and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decentralized</a:t>
                      </a:r>
                      <a:r>
                        <a:rPr dirty="0" sz="1700" spc="-5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0">
                          <a:latin typeface="Lucida Sans Unicode"/>
                          <a:cs typeface="Lucida Sans Unicode"/>
                        </a:rPr>
                        <a:t>access control</a:t>
                      </a:r>
                      <a:endParaRPr sz="1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1114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  <a:tr h="850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D9D9D9"/>
                      </a:solidFill>
                      <a:prstDash val="solid"/>
                    </a:lnR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4948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96000"/>
            <a:ext cx="16078200" cy="8999855"/>
            <a:chOff x="0" y="696000"/>
            <a:chExt cx="16078200" cy="89998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27499"/>
              <a:ext cx="4119017" cy="7680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267" y="696000"/>
              <a:ext cx="12058649" cy="874394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302924" y="302331"/>
            <a:ext cx="2609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95">
                <a:latin typeface="Arial Black"/>
                <a:cs typeface="Arial Black"/>
              </a:rPr>
              <a:t>System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00">
                <a:latin typeface="Arial Black"/>
                <a:cs typeface="Arial Black"/>
              </a:rPr>
              <a:t>Diagram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5482" y="1219858"/>
            <a:ext cx="3183891" cy="31838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0714" y="6275351"/>
            <a:ext cx="117265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05" b="1">
                <a:latin typeface="Trebuchet MS"/>
                <a:cs typeface="Trebuchet MS"/>
              </a:rPr>
              <a:t>PRIVACY-</a:t>
            </a:r>
            <a:r>
              <a:rPr dirty="0" sz="3600" b="1">
                <a:latin typeface="Trebuchet MS"/>
                <a:cs typeface="Trebuchet MS"/>
              </a:rPr>
              <a:t>PRESERVING</a:t>
            </a:r>
            <a:r>
              <a:rPr dirty="0" sz="3600" spc="130" b="1">
                <a:latin typeface="Trebuchet MS"/>
                <a:cs typeface="Trebuchet MS"/>
              </a:rPr>
              <a:t> </a:t>
            </a:r>
            <a:r>
              <a:rPr dirty="0" sz="3600" spc="100" b="1">
                <a:latin typeface="Trebuchet MS"/>
                <a:cs typeface="Trebuchet MS"/>
              </a:rPr>
              <a:t>EDGE</a:t>
            </a:r>
            <a:r>
              <a:rPr dirty="0" sz="3600" spc="130" b="1">
                <a:latin typeface="Trebuchet MS"/>
                <a:cs typeface="Trebuchet MS"/>
              </a:rPr>
              <a:t> </a:t>
            </a:r>
            <a:r>
              <a:rPr dirty="0" sz="3600" spc="140" b="1">
                <a:latin typeface="Trebuchet MS"/>
                <a:cs typeface="Trebuchet MS"/>
              </a:rPr>
              <a:t>AI</a:t>
            </a:r>
            <a:r>
              <a:rPr dirty="0" sz="3600" spc="130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BEHAVIORAL</a:t>
            </a:r>
            <a:r>
              <a:rPr dirty="0" sz="3600" spc="130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ANALYSIS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14" y="7670513"/>
            <a:ext cx="8778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Engineering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76922" y="1265844"/>
            <a:ext cx="15411450" cy="328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rebuchet MS"/>
                <a:cs typeface="Trebuchet MS"/>
              </a:rPr>
              <a:t>RESEARCH</a:t>
            </a:r>
            <a:r>
              <a:rPr dirty="0" sz="3600" spc="35" b="1">
                <a:latin typeface="Trebuchet MS"/>
                <a:cs typeface="Trebuchet MS"/>
              </a:rPr>
              <a:t> </a:t>
            </a:r>
            <a:r>
              <a:rPr dirty="0" sz="3600" spc="185" b="1">
                <a:latin typeface="Trebuchet MS"/>
                <a:cs typeface="Trebuchet MS"/>
              </a:rPr>
              <a:t>GAP</a:t>
            </a:r>
            <a:endParaRPr sz="3600">
              <a:latin typeface="Trebuchet MS"/>
              <a:cs typeface="Trebuchet MS"/>
            </a:endParaRPr>
          </a:p>
          <a:p>
            <a:pPr marL="12700" marR="161290">
              <a:lnSpc>
                <a:spcPct val="114599"/>
              </a:lnSpc>
              <a:spcBef>
                <a:spcPts val="1560"/>
              </a:spcBef>
            </a:pPr>
            <a:r>
              <a:rPr dirty="0" sz="2400" spc="80">
                <a:latin typeface="Trebuchet MS"/>
                <a:cs typeface="Trebuchet MS"/>
              </a:rPr>
              <a:t>Current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systems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(Microsoft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Teams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Analytics,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35">
                <a:latin typeface="Trebuchet MS"/>
                <a:cs typeface="Trebuchet MS"/>
              </a:rPr>
              <a:t>Google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Classroom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Analytics)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transmit </a:t>
            </a:r>
            <a:r>
              <a:rPr dirty="0" sz="2400" spc="135">
                <a:latin typeface="Trebuchet MS"/>
                <a:cs typeface="Trebuchet MS"/>
              </a:rPr>
              <a:t>raw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cloud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servers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processing,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creating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fundamental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vulnerabilities  </a:t>
            </a:r>
            <a:r>
              <a:rPr dirty="0" sz="2400">
                <a:latin typeface="Trebuchet MS"/>
                <a:cs typeface="Trebuchet MS"/>
              </a:rPr>
              <a:t>Existing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research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by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Liu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(2024)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80">
                <a:latin typeface="Trebuchet MS"/>
                <a:cs typeface="Trebuchet MS"/>
              </a:rPr>
              <a:t>Zhang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et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al. </a:t>
            </a:r>
            <a:r>
              <a:rPr dirty="0" sz="2400">
                <a:latin typeface="Trebuchet MS"/>
                <a:cs typeface="Trebuchet MS"/>
              </a:rPr>
              <a:t>(2020)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achieves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high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emotion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recognition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accuracy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but </a:t>
            </a:r>
            <a:r>
              <a:rPr dirty="0" sz="2400" spc="45">
                <a:latin typeface="Trebuchet MS"/>
                <a:cs typeface="Trebuchet MS"/>
              </a:rPr>
              <a:t>requires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continuous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60">
                <a:latin typeface="Trebuchet MS"/>
                <a:cs typeface="Trebuchet MS"/>
              </a:rPr>
              <a:t>video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streaming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external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servers,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violating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privacy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spc="245">
                <a:latin typeface="Trebuchet MS"/>
                <a:cs typeface="Trebuchet MS"/>
              </a:rPr>
              <a:t>No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existing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solutions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combine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emotion,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posture,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activity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detection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processing</a:t>
            </a:r>
            <a:r>
              <a:rPr dirty="0" sz="2400" spc="2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capabilities </a:t>
            </a:r>
            <a:r>
              <a:rPr dirty="0" sz="2400" spc="45">
                <a:latin typeface="Trebuchet MS"/>
                <a:cs typeface="Trebuchet MS"/>
              </a:rPr>
              <a:t>specifically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designed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educational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contexts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221199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305019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26" y="3888394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37495" y="4728844"/>
            <a:ext cx="6962775" cy="370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rebuchet MS"/>
                <a:cs typeface="Trebuchet MS"/>
              </a:rPr>
              <a:t>PROBLEM</a:t>
            </a:r>
            <a:r>
              <a:rPr dirty="0" sz="3600" spc="-50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IDENTIFICATION</a:t>
            </a:r>
            <a:endParaRPr sz="3600">
              <a:latin typeface="Trebuchet MS"/>
              <a:cs typeface="Trebuchet MS"/>
            </a:endParaRPr>
          </a:p>
          <a:p>
            <a:pPr marL="12700" marR="44450">
              <a:lnSpc>
                <a:spcPct val="114599"/>
              </a:lnSpc>
              <a:spcBef>
                <a:spcPts val="1555"/>
              </a:spcBef>
            </a:pPr>
            <a:r>
              <a:rPr dirty="0" sz="2400" spc="155">
                <a:latin typeface="Trebuchet MS"/>
                <a:cs typeface="Trebuchet MS"/>
              </a:rPr>
              <a:t>What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methods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270">
                <a:latin typeface="Trebuchet MS"/>
                <a:cs typeface="Trebuchet MS"/>
              </a:rPr>
              <a:t>can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perform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real-</a:t>
            </a:r>
            <a:r>
              <a:rPr dirty="0" sz="2400" spc="-20">
                <a:latin typeface="Trebuchet MS"/>
                <a:cs typeface="Trebuchet MS"/>
              </a:rPr>
              <a:t>time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(emotion,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posture,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activity)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devices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while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ensuring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sensitive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leaves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device?</a:t>
            </a: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14599"/>
              </a:lnSpc>
            </a:pPr>
            <a:r>
              <a:rPr dirty="0" sz="2400" spc="155">
                <a:latin typeface="Trebuchet MS"/>
                <a:cs typeface="Trebuchet MS"/>
              </a:rPr>
              <a:t>What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are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limitations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of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current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educational </a:t>
            </a:r>
            <a:r>
              <a:rPr dirty="0" sz="2400" spc="85">
                <a:latin typeface="Trebuchet MS"/>
                <a:cs typeface="Trebuchet MS"/>
              </a:rPr>
              <a:t>AI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systems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regarding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1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preservation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and </a:t>
            </a:r>
            <a:r>
              <a:rPr dirty="0" sz="2400" spc="290">
                <a:latin typeface="Trebuchet MS"/>
                <a:cs typeface="Trebuchet MS"/>
              </a:rPr>
              <a:t>edge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computing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capabilities?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199" y="5674374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199" y="7350774"/>
            <a:ext cx="114300" cy="1142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293779" y="4446845"/>
            <a:ext cx="7849234" cy="4763135"/>
          </a:xfrm>
          <a:prstGeom prst="rect">
            <a:avLst/>
          </a:prstGeom>
        </p:spPr>
        <p:txBody>
          <a:bodyPr wrap="square" lIns="0" tIns="294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dirty="0" sz="3600" spc="60" b="1">
                <a:latin typeface="Trebuchet MS"/>
                <a:cs typeface="Trebuchet MS"/>
              </a:rPr>
              <a:t>OUR</a:t>
            </a:r>
            <a:r>
              <a:rPr dirty="0" sz="3600" spc="-80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SOLUTION</a:t>
            </a:r>
            <a:endParaRPr sz="3600">
              <a:latin typeface="Trebuchet MS"/>
              <a:cs typeface="Trebuchet MS"/>
            </a:endParaRPr>
          </a:p>
          <a:p>
            <a:pPr marL="130175" marR="5080">
              <a:lnSpc>
                <a:spcPct val="114599"/>
              </a:lnSpc>
              <a:spcBef>
                <a:spcPts val="1060"/>
              </a:spcBef>
            </a:pPr>
            <a:r>
              <a:rPr dirty="0" sz="2400" spc="150">
                <a:latin typeface="Trebuchet MS"/>
                <a:cs typeface="Trebuchet MS"/>
              </a:rPr>
              <a:t>Our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system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performs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all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AI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locally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student </a:t>
            </a:r>
            <a:r>
              <a:rPr dirty="0" sz="2400" spc="114">
                <a:latin typeface="Trebuchet MS"/>
                <a:cs typeface="Trebuchet MS"/>
              </a:rPr>
              <a:t>laptops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using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built-</a:t>
            </a:r>
            <a:r>
              <a:rPr dirty="0" sz="2400">
                <a:latin typeface="Trebuchet MS"/>
                <a:cs typeface="Trebuchet MS"/>
              </a:rPr>
              <a:t>in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cameras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sensitive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ever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transmitted</a:t>
            </a:r>
            <a:endParaRPr sz="2400">
              <a:latin typeface="Trebuchet MS"/>
              <a:cs typeface="Trebuchet MS"/>
            </a:endParaRPr>
          </a:p>
          <a:p>
            <a:pPr algn="just" marL="130175" marR="443865">
              <a:lnSpc>
                <a:spcPct val="114599"/>
              </a:lnSpc>
            </a:pPr>
            <a:r>
              <a:rPr dirty="0" sz="2400" spc="90">
                <a:latin typeface="Trebuchet MS"/>
                <a:cs typeface="Trebuchet MS"/>
              </a:rPr>
              <a:t>Implements</a:t>
            </a:r>
            <a:r>
              <a:rPr dirty="0" sz="2400">
                <a:latin typeface="Trebuchet MS"/>
                <a:cs typeface="Trebuchet MS"/>
              </a:rPr>
              <a:t> differential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mechanisms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with </a:t>
            </a:r>
            <a:r>
              <a:rPr dirty="0" sz="2400" spc="135">
                <a:latin typeface="Trebuchet MS"/>
                <a:cs typeface="Trebuchet MS"/>
              </a:rPr>
              <a:t>mathematical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guarantees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behavioral </a:t>
            </a:r>
            <a:r>
              <a:rPr dirty="0" sz="2400" spc="204">
                <a:latin typeface="Trebuchet MS"/>
                <a:cs typeface="Trebuchet MS"/>
              </a:rPr>
              <a:t>metadata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sharing</a:t>
            </a:r>
            <a:endParaRPr sz="2400">
              <a:latin typeface="Trebuchet MS"/>
              <a:cs typeface="Trebuchet MS"/>
            </a:endParaRPr>
          </a:p>
          <a:p>
            <a:pPr marL="130175" marR="330835">
              <a:lnSpc>
                <a:spcPct val="114599"/>
              </a:lnSpc>
            </a:pPr>
            <a:r>
              <a:rPr dirty="0" sz="2400" spc="185">
                <a:latin typeface="Trebuchet MS"/>
                <a:cs typeface="Trebuchet MS"/>
              </a:rPr>
              <a:t>Dynamic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204">
                <a:latin typeface="Trebuchet MS"/>
                <a:cs typeface="Trebuchet MS"/>
              </a:rPr>
              <a:t>budget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(ε)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automatically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adjusts </a:t>
            </a:r>
            <a:r>
              <a:rPr dirty="0" sz="2400" spc="229">
                <a:latin typeface="Trebuchet MS"/>
                <a:cs typeface="Trebuchet MS"/>
              </a:rPr>
              <a:t>based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real-time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network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 spc="160">
                <a:latin typeface="Trebuchet MS"/>
                <a:cs typeface="Trebuchet MS"/>
              </a:rPr>
              <a:t>bandwidth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 spc="630">
                <a:latin typeface="Trebuchet MS"/>
                <a:cs typeface="Trebuchet MS"/>
              </a:rPr>
              <a:t>—</a:t>
            </a:r>
            <a:r>
              <a:rPr dirty="0" sz="2400" spc="5">
                <a:latin typeface="Trebuchet MS"/>
                <a:cs typeface="Trebuchet MS"/>
              </a:rPr>
              <a:t> </a:t>
            </a:r>
            <a:r>
              <a:rPr dirty="0" sz="2400" spc="325">
                <a:latin typeface="Trebuchet MS"/>
                <a:cs typeface="Trebuchet MS"/>
              </a:rPr>
              <a:t>a </a:t>
            </a:r>
            <a:r>
              <a:rPr dirty="0" sz="2400" spc="165">
                <a:latin typeface="Trebuchet MS"/>
                <a:cs typeface="Trebuchet MS"/>
              </a:rPr>
              <a:t>mechanism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not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found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any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existing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system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4" y="5611534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4" y="6868834"/>
            <a:ext cx="114300" cy="1142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5074" y="8126134"/>
            <a:ext cx="114300" cy="114299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6357" y="1132115"/>
            <a:ext cx="7640955" cy="3188970"/>
          </a:xfrm>
          <a:prstGeom prst="rect">
            <a:avLst/>
          </a:prstGeom>
        </p:spPr>
        <p:txBody>
          <a:bodyPr wrap="square" lIns="0" tIns="320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dirty="0" sz="3600" spc="80" b="1">
                <a:latin typeface="Trebuchet MS"/>
                <a:cs typeface="Trebuchet MS"/>
              </a:rPr>
              <a:t>TECHNOLOGIES</a:t>
            </a:r>
            <a:r>
              <a:rPr dirty="0" sz="3600" spc="-135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&amp;</a:t>
            </a:r>
            <a:r>
              <a:rPr dirty="0" sz="3600" spc="-130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EVALUATION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3200" spc="-100" b="1">
                <a:latin typeface="Trebuchet MS"/>
                <a:cs typeface="Trebuchet MS"/>
              </a:rPr>
              <a:t>KEY</a:t>
            </a:r>
            <a:r>
              <a:rPr dirty="0" sz="3200" spc="-55" b="1">
                <a:latin typeface="Trebuchet MS"/>
                <a:cs typeface="Trebuchet MS"/>
              </a:rPr>
              <a:t> </a:t>
            </a:r>
            <a:r>
              <a:rPr dirty="0" sz="3200" spc="215" b="1">
                <a:latin typeface="Trebuchet MS"/>
                <a:cs typeface="Trebuchet MS"/>
              </a:rPr>
              <a:t>DOMAINS</a:t>
            </a:r>
            <a:r>
              <a:rPr dirty="0" sz="3200" spc="-55" b="1">
                <a:latin typeface="Trebuchet MS"/>
                <a:cs typeface="Trebuchet MS"/>
              </a:rPr>
              <a:t> </a:t>
            </a:r>
            <a:r>
              <a:rPr dirty="0" sz="3200" b="1">
                <a:latin typeface="Trebuchet MS"/>
                <a:cs typeface="Trebuchet MS"/>
              </a:rPr>
              <a:t>OF</a:t>
            </a:r>
            <a:r>
              <a:rPr dirty="0" sz="3200" spc="-50" b="1">
                <a:latin typeface="Trebuchet MS"/>
                <a:cs typeface="Trebuchet MS"/>
              </a:rPr>
              <a:t> </a:t>
            </a:r>
            <a:r>
              <a:rPr dirty="0" sz="3200" spc="60" b="1">
                <a:latin typeface="Trebuchet MS"/>
                <a:cs typeface="Trebuchet MS"/>
              </a:rPr>
              <a:t>KNOWLEDGE</a:t>
            </a:r>
            <a:r>
              <a:rPr dirty="0" sz="3200" spc="-55" b="1">
                <a:latin typeface="Trebuchet MS"/>
                <a:cs typeface="Trebuchet MS"/>
              </a:rPr>
              <a:t> </a:t>
            </a:r>
            <a:r>
              <a:rPr dirty="0" sz="3200" spc="-110" b="1">
                <a:latin typeface="Trebuchet MS"/>
                <a:cs typeface="Trebuchet MS"/>
              </a:rPr>
              <a:t>UTILIZED</a:t>
            </a:r>
            <a:endParaRPr sz="3200">
              <a:latin typeface="Trebuchet MS"/>
              <a:cs typeface="Trebuchet MS"/>
            </a:endParaRPr>
          </a:p>
          <a:p>
            <a:pPr marL="646430" marR="1427480">
              <a:lnSpc>
                <a:spcPct val="114599"/>
              </a:lnSpc>
              <a:spcBef>
                <a:spcPts val="2280"/>
              </a:spcBef>
            </a:pPr>
            <a:r>
              <a:rPr dirty="0" sz="2400" spc="220">
                <a:latin typeface="Trebuchet MS"/>
                <a:cs typeface="Trebuchet MS"/>
              </a:rPr>
              <a:t>Machine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Learning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&amp;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Vision </a:t>
            </a:r>
            <a:r>
              <a:rPr dirty="0" sz="2400" spc="60">
                <a:latin typeface="Trebuchet MS"/>
                <a:cs typeface="Trebuchet MS"/>
              </a:rPr>
              <a:t>Privacy-</a:t>
            </a:r>
            <a:r>
              <a:rPr dirty="0" sz="2400" spc="65">
                <a:latin typeface="Trebuchet MS"/>
                <a:cs typeface="Trebuchet MS"/>
              </a:rPr>
              <a:t>Preserving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AI</a:t>
            </a:r>
            <a:endParaRPr sz="2400">
              <a:latin typeface="Trebuchet MS"/>
              <a:cs typeface="Trebuchet MS"/>
            </a:endParaRPr>
          </a:p>
          <a:p>
            <a:pPr marL="646430">
              <a:lnSpc>
                <a:spcPct val="100000"/>
              </a:lnSpc>
              <a:spcBef>
                <a:spcPts val="420"/>
              </a:spcBef>
            </a:pPr>
            <a:r>
              <a:rPr dirty="0" sz="2400" spc="229">
                <a:latin typeface="Trebuchet MS"/>
                <a:cs typeface="Trebuchet MS"/>
              </a:rPr>
              <a:t>Edge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90">
                <a:latin typeface="Trebuchet MS"/>
                <a:cs typeface="Trebuchet MS"/>
              </a:rPr>
              <a:t>Computing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&amp;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10">
                <a:latin typeface="Trebuchet MS"/>
                <a:cs typeface="Trebuchet MS"/>
              </a:rPr>
              <a:t>Model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Optimization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2456684"/>
            <a:ext cx="114300" cy="114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89174" y="1723738"/>
            <a:ext cx="7483475" cy="759777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3200" b="1">
                <a:latin typeface="Trebuchet MS"/>
                <a:cs typeface="Trebuchet MS"/>
              </a:rPr>
              <a:t>USED</a:t>
            </a:r>
            <a:r>
              <a:rPr dirty="0" sz="3200" spc="-200" b="1">
                <a:latin typeface="Trebuchet MS"/>
                <a:cs typeface="Trebuchet MS"/>
              </a:rPr>
              <a:t> </a:t>
            </a:r>
            <a:r>
              <a:rPr dirty="0" sz="3200" spc="55" b="1">
                <a:latin typeface="Trebuchet MS"/>
                <a:cs typeface="Trebuchet MS"/>
              </a:rPr>
              <a:t>TECHNOLOGIES</a:t>
            </a:r>
            <a:endParaRPr sz="3200">
              <a:latin typeface="Trebuchet MS"/>
              <a:cs typeface="Trebuchet MS"/>
            </a:endParaRPr>
          </a:p>
          <a:p>
            <a:pPr marL="113030">
              <a:lnSpc>
                <a:spcPct val="100000"/>
              </a:lnSpc>
              <a:spcBef>
                <a:spcPts val="335"/>
              </a:spcBef>
            </a:pPr>
            <a:r>
              <a:rPr dirty="0" sz="2400">
                <a:latin typeface="Trebuchet MS"/>
                <a:cs typeface="Trebuchet MS"/>
              </a:rPr>
              <a:t>TensorFlow</a:t>
            </a:r>
            <a:r>
              <a:rPr dirty="0" sz="2400" spc="1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Lite</a:t>
            </a:r>
            <a:r>
              <a:rPr dirty="0" sz="2400" spc="1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2.8+</a:t>
            </a:r>
            <a:endParaRPr sz="2400">
              <a:latin typeface="Trebuchet MS"/>
              <a:cs typeface="Trebuchet MS"/>
            </a:endParaRPr>
          </a:p>
          <a:p>
            <a:pPr marL="113030" marR="2694940">
              <a:lnSpc>
                <a:spcPct val="114599"/>
              </a:lnSpc>
            </a:pPr>
            <a:r>
              <a:rPr dirty="0" sz="2400" spc="229">
                <a:latin typeface="Trebuchet MS"/>
                <a:cs typeface="Trebuchet MS"/>
              </a:rPr>
              <a:t>DeepFace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(emotion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detection) </a:t>
            </a:r>
            <a:r>
              <a:rPr dirty="0" sz="2400" spc="320">
                <a:latin typeface="Trebuchet MS"/>
                <a:cs typeface="Trebuchet MS"/>
              </a:rPr>
              <a:t>OpenCV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(video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processing) </a:t>
            </a:r>
            <a:r>
              <a:rPr dirty="0" sz="2400">
                <a:latin typeface="Trebuchet MS"/>
                <a:cs typeface="Trebuchet MS"/>
              </a:rPr>
              <a:t>diffprivlib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(differential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privacy </a:t>
            </a:r>
            <a:r>
              <a:rPr dirty="0" sz="2400" spc="80">
                <a:latin typeface="Trebuchet MS"/>
                <a:cs typeface="Trebuchet MS"/>
              </a:rPr>
              <a:t>implementation)</a:t>
            </a:r>
            <a:endParaRPr sz="2400">
              <a:latin typeface="Trebuchet MS"/>
              <a:cs typeface="Trebuchet MS"/>
            </a:endParaRPr>
          </a:p>
          <a:p>
            <a:pPr marL="113030" marR="2790825">
              <a:lnSpc>
                <a:spcPct val="114599"/>
              </a:lnSpc>
            </a:pPr>
            <a:r>
              <a:rPr dirty="0" sz="2400" spc="180">
                <a:latin typeface="Trebuchet MS"/>
                <a:cs typeface="Trebuchet MS"/>
              </a:rPr>
              <a:t>MediaPipe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(posture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detection) </a:t>
            </a:r>
            <a:r>
              <a:rPr dirty="0" sz="2400" spc="-10">
                <a:latin typeface="Trebuchet MS"/>
                <a:cs typeface="Trebuchet MS"/>
              </a:rPr>
              <a:t>psutil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(bandwidth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monitoring)</a:t>
            </a:r>
            <a:endParaRPr sz="2400">
              <a:latin typeface="Trebuchet MS"/>
              <a:cs typeface="Trebuchet MS"/>
            </a:endParaRPr>
          </a:p>
          <a:p>
            <a:pPr marL="12700" marR="3453765">
              <a:lnSpc>
                <a:spcPts val="4430"/>
              </a:lnSpc>
              <a:spcBef>
                <a:spcPts val="215"/>
              </a:spcBef>
            </a:pPr>
            <a:r>
              <a:rPr dirty="0" sz="3200" b="1">
                <a:latin typeface="Trebuchet MS"/>
                <a:cs typeface="Trebuchet MS"/>
              </a:rPr>
              <a:t>DATA</a:t>
            </a:r>
            <a:r>
              <a:rPr dirty="0" sz="3200" spc="-160" b="1">
                <a:latin typeface="Trebuchet MS"/>
                <a:cs typeface="Trebuchet MS"/>
              </a:rPr>
              <a:t> </a:t>
            </a:r>
            <a:r>
              <a:rPr dirty="0" sz="3200" spc="-45" b="1">
                <a:latin typeface="Trebuchet MS"/>
                <a:cs typeface="Trebuchet MS"/>
              </a:rPr>
              <a:t>AVAILABILITY</a:t>
            </a:r>
            <a:r>
              <a:rPr dirty="0" sz="3200" spc="-160" b="1">
                <a:latin typeface="Trebuchet MS"/>
                <a:cs typeface="Trebuchet MS"/>
              </a:rPr>
              <a:t> </a:t>
            </a:r>
            <a:r>
              <a:rPr dirty="0" sz="3200" spc="-50" b="1">
                <a:latin typeface="Trebuchet MS"/>
                <a:cs typeface="Trebuchet MS"/>
              </a:rPr>
              <a:t>&amp; </a:t>
            </a:r>
            <a:r>
              <a:rPr dirty="0" sz="3200" spc="-45" b="1">
                <a:latin typeface="Trebuchet MS"/>
                <a:cs typeface="Trebuchet MS"/>
              </a:rPr>
              <a:t>ETHICAL</a:t>
            </a:r>
            <a:r>
              <a:rPr dirty="0" sz="3200" spc="-190" b="1">
                <a:latin typeface="Trebuchet MS"/>
                <a:cs typeface="Trebuchet MS"/>
              </a:rPr>
              <a:t> </a:t>
            </a:r>
            <a:r>
              <a:rPr dirty="0" sz="3200" spc="70" b="1">
                <a:latin typeface="Trebuchet MS"/>
                <a:cs typeface="Trebuchet MS"/>
              </a:rPr>
              <a:t>CLEARANCE</a:t>
            </a:r>
            <a:endParaRPr sz="3200">
              <a:latin typeface="Trebuchet MS"/>
              <a:cs typeface="Trebuchet MS"/>
            </a:endParaRPr>
          </a:p>
          <a:p>
            <a:pPr marL="113030" marR="671830">
              <a:lnSpc>
                <a:spcPct val="114599"/>
              </a:lnSpc>
              <a:spcBef>
                <a:spcPts val="140"/>
              </a:spcBef>
            </a:pPr>
            <a:r>
              <a:rPr dirty="0" sz="2400">
                <a:latin typeface="Trebuchet MS"/>
                <a:cs typeface="Trebuchet MS"/>
              </a:rPr>
              <a:t>FER2013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dataset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emotion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recognition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with </a:t>
            </a:r>
            <a:r>
              <a:rPr dirty="0" sz="2400" spc="85">
                <a:latin typeface="Trebuchet MS"/>
                <a:cs typeface="Trebuchet MS"/>
              </a:rPr>
              <a:t>classroom-</a:t>
            </a:r>
            <a:r>
              <a:rPr dirty="0" sz="2400" spc="70">
                <a:latin typeface="Trebuchet MS"/>
                <a:cs typeface="Trebuchet MS"/>
              </a:rPr>
              <a:t>specific</a:t>
            </a:r>
            <a:r>
              <a:rPr dirty="0" sz="2400" spc="2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augmentation</a:t>
            </a:r>
            <a:endParaRPr sz="2400">
              <a:latin typeface="Trebuchet MS"/>
              <a:cs typeface="Trebuchet MS"/>
            </a:endParaRPr>
          </a:p>
          <a:p>
            <a:pPr marL="113030" marR="415925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University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IRB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approval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classroom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validation </a:t>
            </a:r>
            <a:r>
              <a:rPr dirty="0" sz="2400">
                <a:latin typeface="Trebuchet MS"/>
                <a:cs typeface="Trebuchet MS"/>
              </a:rPr>
              <a:t>studies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consent</a:t>
            </a:r>
            <a:endParaRPr sz="2400">
              <a:latin typeface="Trebuchet MS"/>
              <a:cs typeface="Trebuchet MS"/>
            </a:endParaRPr>
          </a:p>
          <a:p>
            <a:pPr marL="113030" marR="508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FERPA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compliance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through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processing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and </a:t>
            </a:r>
            <a:r>
              <a:rPr dirty="0" sz="2400">
                <a:latin typeface="Trebuchet MS"/>
                <a:cs typeface="Trebuchet MS"/>
              </a:rPr>
              <a:t>differential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no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biometric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25">
                <a:latin typeface="Trebuchet MS"/>
                <a:cs typeface="Trebuchet MS"/>
              </a:rPr>
              <a:t>data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storage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or </a:t>
            </a:r>
            <a:r>
              <a:rPr dirty="0" sz="2400" spc="-10">
                <a:latin typeface="Trebuchet MS"/>
                <a:cs typeface="Trebuchet MS"/>
              </a:rPr>
              <a:t>transmission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2875784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3294884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371398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455218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497128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6342562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6761662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132" y="7180762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72239" y="5365748"/>
            <a:ext cx="6615430" cy="2060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140" b="1">
                <a:latin typeface="Trebuchet MS"/>
                <a:cs typeface="Trebuchet MS"/>
              </a:rPr>
              <a:t>HOW</a:t>
            </a:r>
            <a:r>
              <a:rPr dirty="0" sz="3200" spc="-140" b="1">
                <a:latin typeface="Trebuchet MS"/>
                <a:cs typeface="Trebuchet MS"/>
              </a:rPr>
              <a:t> </a:t>
            </a:r>
            <a:r>
              <a:rPr dirty="0" sz="3200" spc="-35" b="1">
                <a:latin typeface="Trebuchet MS"/>
                <a:cs typeface="Trebuchet MS"/>
              </a:rPr>
              <a:t>TO</a:t>
            </a:r>
            <a:r>
              <a:rPr dirty="0" sz="3200" spc="-135" b="1">
                <a:latin typeface="Trebuchet MS"/>
                <a:cs typeface="Trebuchet MS"/>
              </a:rPr>
              <a:t> </a:t>
            </a:r>
            <a:r>
              <a:rPr dirty="0" sz="3200" spc="-10" b="1">
                <a:latin typeface="Trebuchet MS"/>
                <a:cs typeface="Trebuchet MS"/>
              </a:rPr>
              <a:t>EVALUATE</a:t>
            </a:r>
            <a:endParaRPr sz="3200">
              <a:latin typeface="Trebuchet MS"/>
              <a:cs typeface="Trebuchet MS"/>
            </a:endParaRPr>
          </a:p>
          <a:p>
            <a:pPr marL="414655" marR="5080">
              <a:lnSpc>
                <a:spcPct val="114599"/>
              </a:lnSpc>
              <a:spcBef>
                <a:spcPts val="2280"/>
              </a:spcBef>
            </a:pPr>
            <a:r>
              <a:rPr dirty="0" sz="2400">
                <a:latin typeface="Trebuchet MS"/>
                <a:cs typeface="Trebuchet MS"/>
              </a:rPr>
              <a:t>Multi-</a:t>
            </a:r>
            <a:r>
              <a:rPr dirty="0" sz="2400" spc="195">
                <a:latin typeface="Trebuchet MS"/>
                <a:cs typeface="Trebuchet MS"/>
              </a:rPr>
              <a:t>modal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00">
                <a:latin typeface="Trebuchet MS"/>
                <a:cs typeface="Trebuchet MS"/>
              </a:rPr>
              <a:t>accuracy </a:t>
            </a:r>
            <a:r>
              <a:rPr dirty="0" sz="2400" spc="85">
                <a:latin typeface="Trebuchet MS"/>
                <a:cs typeface="Trebuchet MS"/>
              </a:rPr>
              <a:t>Privacy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preservation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35">
                <a:latin typeface="Trebuchet MS"/>
                <a:cs typeface="Trebuchet MS"/>
              </a:rPr>
              <a:t>verification </a:t>
            </a:r>
            <a:r>
              <a:rPr dirty="0" sz="2400" spc="160">
                <a:latin typeface="Trebuchet MS"/>
                <a:cs typeface="Trebuchet MS"/>
              </a:rPr>
              <a:t>Membership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inference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6561211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7399411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3431" y="8237611"/>
            <a:ext cx="114300" cy="11429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-102486" y="3089010"/>
            <a:ext cx="982344" cy="3914775"/>
          </a:xfrm>
          <a:custGeom>
            <a:avLst/>
            <a:gdLst/>
            <a:ahLst/>
            <a:cxnLst/>
            <a:rect l="l" t="t" r="r" b="b"/>
            <a:pathLst>
              <a:path w="982344" h="3914775">
                <a:moveTo>
                  <a:pt x="757070" y="80184"/>
                </a:moveTo>
                <a:lnTo>
                  <a:pt x="102486" y="80184"/>
                </a:lnTo>
                <a:lnTo>
                  <a:pt x="102486" y="642"/>
                </a:lnTo>
                <a:lnTo>
                  <a:pt x="912453" y="0"/>
                </a:lnTo>
                <a:lnTo>
                  <a:pt x="945245" y="1624"/>
                </a:lnTo>
                <a:lnTo>
                  <a:pt x="963539" y="9727"/>
                </a:lnTo>
                <a:lnTo>
                  <a:pt x="971499" y="28455"/>
                </a:lnTo>
                <a:lnTo>
                  <a:pt x="973290" y="61956"/>
                </a:lnTo>
                <a:lnTo>
                  <a:pt x="973298" y="79871"/>
                </a:lnTo>
                <a:lnTo>
                  <a:pt x="860699" y="79871"/>
                </a:lnTo>
                <a:lnTo>
                  <a:pt x="757070" y="80184"/>
                </a:lnTo>
                <a:close/>
              </a:path>
              <a:path w="982344" h="3914775">
                <a:moveTo>
                  <a:pt x="944240" y="1583241"/>
                </a:moveTo>
                <a:lnTo>
                  <a:pt x="926599" y="1579445"/>
                </a:lnTo>
                <a:lnTo>
                  <a:pt x="912469" y="1567192"/>
                </a:lnTo>
                <a:lnTo>
                  <a:pt x="903074" y="1547988"/>
                </a:lnTo>
                <a:lnTo>
                  <a:pt x="899639" y="1523337"/>
                </a:lnTo>
                <a:lnTo>
                  <a:pt x="899708" y="928570"/>
                </a:lnTo>
                <a:lnTo>
                  <a:pt x="899491" y="879013"/>
                </a:lnTo>
                <a:lnTo>
                  <a:pt x="899217" y="834617"/>
                </a:lnTo>
                <a:lnTo>
                  <a:pt x="898779" y="779904"/>
                </a:lnTo>
                <a:lnTo>
                  <a:pt x="898283" y="732463"/>
                </a:lnTo>
                <a:lnTo>
                  <a:pt x="897618" y="680803"/>
                </a:lnTo>
                <a:lnTo>
                  <a:pt x="896840" y="631256"/>
                </a:lnTo>
                <a:lnTo>
                  <a:pt x="896067" y="579304"/>
                </a:lnTo>
                <a:lnTo>
                  <a:pt x="895480" y="527356"/>
                </a:lnTo>
                <a:lnTo>
                  <a:pt x="895043" y="475410"/>
                </a:lnTo>
                <a:lnTo>
                  <a:pt x="894723" y="423467"/>
                </a:lnTo>
                <a:lnTo>
                  <a:pt x="894484" y="371527"/>
                </a:lnTo>
                <a:lnTo>
                  <a:pt x="893908" y="215715"/>
                </a:lnTo>
                <a:lnTo>
                  <a:pt x="893647" y="163779"/>
                </a:lnTo>
                <a:lnTo>
                  <a:pt x="893294" y="111844"/>
                </a:lnTo>
                <a:lnTo>
                  <a:pt x="891595" y="96159"/>
                </a:lnTo>
                <a:lnTo>
                  <a:pt x="886187" y="86340"/>
                </a:lnTo>
                <a:lnTo>
                  <a:pt x="876131" y="81254"/>
                </a:lnTo>
                <a:lnTo>
                  <a:pt x="875894" y="81254"/>
                </a:lnTo>
                <a:lnTo>
                  <a:pt x="860699" y="79871"/>
                </a:lnTo>
                <a:lnTo>
                  <a:pt x="973298" y="79871"/>
                </a:lnTo>
                <a:lnTo>
                  <a:pt x="973343" y="163779"/>
                </a:lnTo>
                <a:lnTo>
                  <a:pt x="973601" y="196132"/>
                </a:lnTo>
                <a:lnTo>
                  <a:pt x="974902" y="300020"/>
                </a:lnTo>
                <a:lnTo>
                  <a:pt x="979075" y="611661"/>
                </a:lnTo>
                <a:lnTo>
                  <a:pt x="973713" y="641891"/>
                </a:lnTo>
                <a:lnTo>
                  <a:pt x="971875" y="672109"/>
                </a:lnTo>
                <a:lnTo>
                  <a:pt x="973791" y="702303"/>
                </a:lnTo>
                <a:lnTo>
                  <a:pt x="979697" y="732463"/>
                </a:lnTo>
                <a:lnTo>
                  <a:pt x="979797" y="834617"/>
                </a:lnTo>
                <a:lnTo>
                  <a:pt x="979923" y="978129"/>
                </a:lnTo>
                <a:lnTo>
                  <a:pt x="979980" y="1038941"/>
                </a:lnTo>
                <a:lnTo>
                  <a:pt x="980105" y="1141106"/>
                </a:lnTo>
                <a:lnTo>
                  <a:pt x="980186" y="1192187"/>
                </a:lnTo>
                <a:lnTo>
                  <a:pt x="980282" y="1243268"/>
                </a:lnTo>
                <a:lnTo>
                  <a:pt x="980532" y="1345425"/>
                </a:lnTo>
                <a:lnTo>
                  <a:pt x="980692" y="1396501"/>
                </a:lnTo>
                <a:lnTo>
                  <a:pt x="981886" y="1440128"/>
                </a:lnTo>
                <a:lnTo>
                  <a:pt x="981886" y="1548977"/>
                </a:lnTo>
                <a:lnTo>
                  <a:pt x="974222" y="1565886"/>
                </a:lnTo>
                <a:lnTo>
                  <a:pt x="961074" y="1578249"/>
                </a:lnTo>
                <a:lnTo>
                  <a:pt x="944240" y="1583241"/>
                </a:lnTo>
                <a:close/>
              </a:path>
              <a:path w="982344" h="3914775">
                <a:moveTo>
                  <a:pt x="102486" y="80888"/>
                </a:moveTo>
                <a:lnTo>
                  <a:pt x="0" y="80888"/>
                </a:lnTo>
                <a:lnTo>
                  <a:pt x="708422" y="80184"/>
                </a:lnTo>
                <a:lnTo>
                  <a:pt x="102486" y="80184"/>
                </a:lnTo>
                <a:lnTo>
                  <a:pt x="102486" y="80888"/>
                </a:lnTo>
                <a:close/>
              </a:path>
              <a:path w="982344" h="3914775">
                <a:moveTo>
                  <a:pt x="102486" y="81254"/>
                </a:moveTo>
                <a:lnTo>
                  <a:pt x="102486" y="80888"/>
                </a:lnTo>
                <a:lnTo>
                  <a:pt x="187076" y="80888"/>
                </a:lnTo>
                <a:lnTo>
                  <a:pt x="102486" y="81254"/>
                </a:lnTo>
                <a:close/>
              </a:path>
              <a:path w="982344" h="3914775">
                <a:moveTo>
                  <a:pt x="102486" y="3914207"/>
                </a:moveTo>
                <a:lnTo>
                  <a:pt x="102486" y="3833363"/>
                </a:lnTo>
                <a:lnTo>
                  <a:pt x="667979" y="3832831"/>
                </a:lnTo>
                <a:lnTo>
                  <a:pt x="794382" y="3832831"/>
                </a:lnTo>
                <a:lnTo>
                  <a:pt x="826175" y="3832325"/>
                </a:lnTo>
                <a:lnTo>
                  <a:pt x="845171" y="3833824"/>
                </a:lnTo>
                <a:lnTo>
                  <a:pt x="860294" y="3839976"/>
                </a:lnTo>
                <a:lnTo>
                  <a:pt x="870892" y="3851587"/>
                </a:lnTo>
                <a:lnTo>
                  <a:pt x="876312" y="3869462"/>
                </a:lnTo>
                <a:lnTo>
                  <a:pt x="874107" y="3885166"/>
                </a:lnTo>
                <a:lnTo>
                  <a:pt x="824744" y="3908277"/>
                </a:lnTo>
                <a:lnTo>
                  <a:pt x="724597" y="3911342"/>
                </a:lnTo>
                <a:lnTo>
                  <a:pt x="530711" y="3913864"/>
                </a:lnTo>
                <a:lnTo>
                  <a:pt x="173707" y="3913864"/>
                </a:lnTo>
                <a:lnTo>
                  <a:pt x="102486" y="3914207"/>
                </a:lnTo>
                <a:close/>
              </a:path>
              <a:path w="982344" h="3914775">
                <a:moveTo>
                  <a:pt x="759514" y="3832831"/>
                </a:moveTo>
                <a:lnTo>
                  <a:pt x="661659" y="3832831"/>
                </a:lnTo>
                <a:lnTo>
                  <a:pt x="693579" y="3832631"/>
                </a:lnTo>
                <a:lnTo>
                  <a:pt x="726164" y="3832631"/>
                </a:lnTo>
                <a:lnTo>
                  <a:pt x="759514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107" y="2894163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75403" y="1945488"/>
            <a:ext cx="15331440" cy="245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3200" spc="-30" b="1">
                <a:latin typeface="Trebuchet MS"/>
                <a:cs typeface="Trebuchet MS"/>
              </a:rPr>
              <a:t>EXPECTED</a:t>
            </a:r>
            <a:r>
              <a:rPr dirty="0" sz="3200" spc="-195" b="1">
                <a:latin typeface="Trebuchet MS"/>
                <a:cs typeface="Trebuchet MS"/>
              </a:rPr>
              <a:t> </a:t>
            </a:r>
            <a:r>
              <a:rPr dirty="0" sz="3200" spc="-40" b="1">
                <a:latin typeface="Trebuchet MS"/>
                <a:cs typeface="Trebuchet MS"/>
              </a:rPr>
              <a:t>OUTPUTS</a:t>
            </a:r>
            <a:endParaRPr sz="3200">
              <a:latin typeface="Trebuchet MS"/>
              <a:cs typeface="Trebuchet MS"/>
            </a:endParaRPr>
          </a:p>
          <a:p>
            <a:pPr marL="12700" marR="323850">
              <a:lnSpc>
                <a:spcPct val="114599"/>
              </a:lnSpc>
              <a:spcBef>
                <a:spcPts val="2060"/>
              </a:spcBef>
            </a:pPr>
            <a:r>
              <a:rPr dirty="0" sz="2400" spc="55">
                <a:latin typeface="Trebuchet MS"/>
                <a:cs typeface="Trebuchet MS"/>
              </a:rPr>
              <a:t>Real-</a:t>
            </a:r>
            <a:r>
              <a:rPr dirty="0" sz="2400" spc="10">
                <a:latin typeface="Trebuchet MS"/>
                <a:cs typeface="Trebuchet MS"/>
              </a:rPr>
              <a:t>time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individual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130">
                <a:latin typeface="Trebuchet MS"/>
                <a:cs typeface="Trebuchet MS"/>
              </a:rPr>
              <a:t>behavioral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analysis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(emotion,</a:t>
            </a:r>
            <a:r>
              <a:rPr dirty="0" sz="2400" spc="45">
                <a:latin typeface="Trebuchet MS"/>
                <a:cs typeface="Trebuchet MS"/>
              </a:rPr>
              <a:t> posture,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0">
                <a:latin typeface="Trebuchet MS"/>
                <a:cs typeface="Trebuchet MS"/>
              </a:rPr>
              <a:t>activity</a:t>
            </a:r>
            <a:r>
              <a:rPr dirty="0" sz="2400" spc="45">
                <a:latin typeface="Trebuchet MS"/>
                <a:cs typeface="Trebuchet MS"/>
              </a:rPr>
              <a:t> </a:t>
            </a:r>
            <a:r>
              <a:rPr dirty="0" sz="2400" spc="10">
                <a:latin typeface="Trebuchet MS"/>
                <a:cs typeface="Trebuchet MS"/>
              </a:rPr>
              <a:t>classification)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processed</a:t>
            </a:r>
            <a:r>
              <a:rPr dirty="0" sz="2400" spc="45">
                <a:latin typeface="Trebuchet MS"/>
                <a:cs typeface="Trebuchet MS"/>
              </a:rPr>
              <a:t> locally </a:t>
            </a:r>
            <a:r>
              <a:rPr dirty="0" sz="2400" spc="195">
                <a:latin typeface="Trebuchet MS"/>
                <a:cs typeface="Trebuchet MS"/>
              </a:rPr>
              <a:t>on </a:t>
            </a:r>
            <a:r>
              <a:rPr dirty="0" sz="2400" spc="260">
                <a:latin typeface="Trebuchet MS"/>
                <a:cs typeface="Trebuchet MS"/>
              </a:rPr>
              <a:t>each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160">
                <a:latin typeface="Trebuchet MS"/>
                <a:cs typeface="Trebuchet MS"/>
              </a:rPr>
              <a:t>device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spc="175">
                <a:latin typeface="Trebuchet MS"/>
                <a:cs typeface="Trebuchet MS"/>
              </a:rPr>
              <a:t>Anonymous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aggregated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classroom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insights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40">
                <a:latin typeface="Trebuchet MS"/>
                <a:cs typeface="Trebuchet MS"/>
              </a:rPr>
              <a:t>educators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through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privacy-preserving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204">
                <a:latin typeface="Trebuchet MS"/>
                <a:cs typeface="Trebuchet MS"/>
              </a:rPr>
              <a:t>metadata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sharing </a:t>
            </a:r>
            <a:r>
              <a:rPr dirty="0" sz="2400">
                <a:latin typeface="Trebuchet MS"/>
                <a:cs typeface="Trebuchet MS"/>
              </a:rPr>
              <a:t>Live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lecturer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04">
                <a:latin typeface="Trebuchet MS"/>
                <a:cs typeface="Trebuchet MS"/>
              </a:rPr>
              <a:t>dashboard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reflecting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classroom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29">
                <a:latin typeface="Trebuchet MS"/>
                <a:cs typeface="Trebuchet MS"/>
              </a:rPr>
              <a:t>engagement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state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within</a:t>
            </a:r>
            <a:r>
              <a:rPr dirty="0" sz="2400" spc="-20">
                <a:latin typeface="Trebuchet MS"/>
                <a:cs typeface="Trebuchet MS"/>
              </a:rPr>
              <a:t> 2.1 </a:t>
            </a:r>
            <a:r>
              <a:rPr dirty="0" sz="2400" spc="165">
                <a:latin typeface="Trebuchet MS"/>
                <a:cs typeface="Trebuchet MS"/>
              </a:rPr>
              <a:t>seconds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via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WebSocket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107" y="3732363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107" y="4151463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5756466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6175566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6594667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7013766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2301" y="7432866"/>
            <a:ext cx="114300" cy="1142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09250" y="4838154"/>
            <a:ext cx="5442585" cy="284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45" b="1">
                <a:latin typeface="Trebuchet MS"/>
                <a:cs typeface="Trebuchet MS"/>
              </a:rPr>
              <a:t>ETHICAL</a:t>
            </a:r>
            <a:r>
              <a:rPr dirty="0" sz="3200" spc="-190" b="1">
                <a:latin typeface="Trebuchet MS"/>
                <a:cs typeface="Trebuchet MS"/>
              </a:rPr>
              <a:t> </a:t>
            </a:r>
            <a:r>
              <a:rPr dirty="0" sz="3200" spc="85" b="1">
                <a:latin typeface="Trebuchet MS"/>
                <a:cs typeface="Trebuchet MS"/>
              </a:rPr>
              <a:t>CONSIDERATIONS</a:t>
            </a:r>
            <a:endParaRPr sz="3200">
              <a:latin typeface="Trebuchet MS"/>
              <a:cs typeface="Trebuchet MS"/>
            </a:endParaRPr>
          </a:p>
          <a:p>
            <a:pPr marL="341630" marR="5080">
              <a:lnSpc>
                <a:spcPct val="114599"/>
              </a:lnSpc>
              <a:spcBef>
                <a:spcPts val="1820"/>
              </a:spcBef>
            </a:pPr>
            <a:r>
              <a:rPr dirty="0" sz="2400" spc="175">
                <a:latin typeface="Trebuchet MS"/>
                <a:cs typeface="Trebuchet MS"/>
              </a:rPr>
              <a:t>Complete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local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processing </a:t>
            </a:r>
            <a:r>
              <a:rPr dirty="0" sz="2400" spc="155">
                <a:latin typeface="Trebuchet MS"/>
                <a:cs typeface="Trebuchet MS"/>
              </a:rPr>
              <a:t>Mathematical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guarantees </a:t>
            </a:r>
            <a:r>
              <a:rPr dirty="0" sz="2400" spc="75">
                <a:latin typeface="Trebuchet MS"/>
                <a:cs typeface="Trebuchet MS"/>
              </a:rPr>
              <a:t>Student</a:t>
            </a:r>
            <a:r>
              <a:rPr dirty="0" sz="2400" spc="-30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autonomy</a:t>
            </a:r>
            <a:endParaRPr sz="2400">
              <a:latin typeface="Trebuchet MS"/>
              <a:cs typeface="Trebuchet MS"/>
            </a:endParaRPr>
          </a:p>
          <a:p>
            <a:pPr marL="341630" marR="1608455">
              <a:lnSpc>
                <a:spcPct val="114599"/>
              </a:lnSpc>
            </a:pPr>
            <a:r>
              <a:rPr dirty="0" sz="2400" spc="245">
                <a:latin typeface="Trebuchet MS"/>
                <a:cs typeface="Trebuchet MS"/>
              </a:rPr>
              <a:t>No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surveillance </a:t>
            </a:r>
            <a:r>
              <a:rPr dirty="0" sz="2400" spc="100">
                <a:latin typeface="Trebuchet MS"/>
                <a:cs typeface="Trebuchet MS"/>
              </a:rPr>
              <a:t>Regulatory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65">
                <a:latin typeface="Trebuchet MS"/>
                <a:cs typeface="Trebuchet MS"/>
              </a:rPr>
              <a:t>compliance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930" rIns="0" bIns="0" rtlCol="0" vert="horz">
            <a:spAutoFit/>
          </a:bodyPr>
          <a:lstStyle/>
          <a:p>
            <a:pPr marL="1141095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5756466"/>
            <a:ext cx="114300" cy="1142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6175566"/>
            <a:ext cx="114300" cy="1142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6594667"/>
            <a:ext cx="114300" cy="1142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013766"/>
            <a:ext cx="114300" cy="1142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432866"/>
            <a:ext cx="114300" cy="1142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7847" y="7851966"/>
            <a:ext cx="114300" cy="1142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106173" y="4838154"/>
            <a:ext cx="9053830" cy="3259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" b="1">
                <a:latin typeface="Trebuchet MS"/>
                <a:cs typeface="Trebuchet MS"/>
              </a:rPr>
              <a:t>NETWORK</a:t>
            </a:r>
            <a:r>
              <a:rPr dirty="0" sz="3200" spc="-175" b="1">
                <a:latin typeface="Trebuchet MS"/>
                <a:cs typeface="Trebuchet MS"/>
              </a:rPr>
              <a:t> </a:t>
            </a:r>
            <a:r>
              <a:rPr dirty="0" sz="3200" spc="50" b="1">
                <a:latin typeface="Trebuchet MS"/>
                <a:cs typeface="Trebuchet MS"/>
              </a:rPr>
              <a:t>PERFORMANCE</a:t>
            </a:r>
            <a:endParaRPr sz="3200">
              <a:latin typeface="Trebuchet MS"/>
              <a:cs typeface="Trebuchet MS"/>
            </a:endParaRPr>
          </a:p>
          <a:p>
            <a:pPr marL="260350" marR="5080">
              <a:lnSpc>
                <a:spcPct val="114599"/>
              </a:lnSpc>
              <a:spcBef>
                <a:spcPts val="1820"/>
              </a:spcBef>
            </a:pPr>
            <a:r>
              <a:rPr dirty="0" sz="2400" spc="90">
                <a:latin typeface="Trebuchet MS"/>
                <a:cs typeface="Trebuchet MS"/>
              </a:rPr>
              <a:t>Bandwidth: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0.20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vs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72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(358,293×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reduction) </a:t>
            </a:r>
            <a:r>
              <a:rPr dirty="0" sz="2400" spc="60">
                <a:latin typeface="Trebuchet MS"/>
                <a:cs typeface="Trebuchet MS"/>
              </a:rPr>
              <a:t>Works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low-</a:t>
            </a:r>
            <a:r>
              <a:rPr dirty="0" sz="2400" spc="160">
                <a:latin typeface="Trebuchet MS"/>
                <a:cs typeface="Trebuchet MS"/>
              </a:rPr>
              <a:t>bandwidth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connections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(2G/3G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compatible) </a:t>
            </a:r>
            <a:r>
              <a:rPr dirty="0" sz="2400" spc="80">
                <a:latin typeface="Trebuchet MS"/>
                <a:cs typeface="Trebuchet MS"/>
              </a:rPr>
              <a:t>Latency: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2.1s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end-</a:t>
            </a:r>
            <a:r>
              <a:rPr dirty="0" sz="2400">
                <a:latin typeface="Trebuchet MS"/>
                <a:cs typeface="Trebuchet MS"/>
              </a:rPr>
              <a:t>to-</a:t>
            </a:r>
            <a:r>
              <a:rPr dirty="0" sz="2400" spc="225">
                <a:latin typeface="Trebuchet MS"/>
                <a:cs typeface="Trebuchet MS"/>
              </a:rPr>
              <a:t>end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(detection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1100" spc="1510">
                <a:latin typeface="Lucida Sans Unicode"/>
                <a:cs typeface="Lucida Sans Unicode"/>
              </a:rPr>
              <a:t>→</a:t>
            </a:r>
            <a:r>
              <a:rPr dirty="0" sz="1100" spc="190">
                <a:latin typeface="Lucida Sans Unicode"/>
                <a:cs typeface="Lucida Sans Unicode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dashboard) </a:t>
            </a:r>
            <a:r>
              <a:rPr dirty="0" sz="2400">
                <a:latin typeface="Trebuchet MS"/>
                <a:cs typeface="Trebuchet MS"/>
              </a:rPr>
              <a:t>Scalability:</a:t>
            </a:r>
            <a:r>
              <a:rPr dirty="0" sz="2400" spc="-2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&lt;1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100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students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(vs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400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254">
                <a:latin typeface="Trebuchet MS"/>
                <a:cs typeface="Trebuchet MS"/>
              </a:rPr>
              <a:t>Mbps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-2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video) </a:t>
            </a:r>
            <a:r>
              <a:rPr dirty="0" sz="2400" spc="-20">
                <a:latin typeface="Trebuchet MS"/>
                <a:cs typeface="Trebuchet MS"/>
              </a:rPr>
              <a:t>Reliability: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150">
                <a:latin typeface="Trebuchet MS"/>
                <a:cs typeface="Trebuchet MS"/>
              </a:rPr>
              <a:t>100%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offline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capability,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240">
                <a:latin typeface="Trebuchet MS"/>
                <a:cs typeface="Trebuchet MS"/>
              </a:rPr>
              <a:t>0%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data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loss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risk </a:t>
            </a:r>
            <a:r>
              <a:rPr dirty="0" sz="2400">
                <a:latin typeface="Trebuchet MS"/>
                <a:cs typeface="Trebuchet MS"/>
              </a:rPr>
              <a:t>Efficiency: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1-</a:t>
            </a:r>
            <a:r>
              <a:rPr dirty="0" sz="2400" spc="60">
                <a:latin typeface="Trebuchet MS"/>
                <a:cs typeface="Trebuchet MS"/>
              </a:rPr>
              <a:t>2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packets/min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vs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600+</a:t>
            </a:r>
            <a:r>
              <a:rPr dirty="0" sz="2400">
                <a:latin typeface="Trebuchet MS"/>
                <a:cs typeface="Trebuchet MS"/>
              </a:rPr>
              <a:t> </a:t>
            </a:r>
            <a:r>
              <a:rPr dirty="0" sz="2400" spc="90">
                <a:latin typeface="Trebuchet MS"/>
                <a:cs typeface="Trebuchet MS"/>
              </a:rPr>
              <a:t>packets/min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(video)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-102486" y="3089010"/>
            <a:ext cx="982344" cy="3914775"/>
          </a:xfrm>
          <a:custGeom>
            <a:avLst/>
            <a:gdLst/>
            <a:ahLst/>
            <a:cxnLst/>
            <a:rect l="l" t="t" r="r" b="b"/>
            <a:pathLst>
              <a:path w="982344" h="3914775">
                <a:moveTo>
                  <a:pt x="757070" y="80184"/>
                </a:moveTo>
                <a:lnTo>
                  <a:pt x="102486" y="80184"/>
                </a:lnTo>
                <a:lnTo>
                  <a:pt x="102486" y="642"/>
                </a:lnTo>
                <a:lnTo>
                  <a:pt x="912453" y="0"/>
                </a:lnTo>
                <a:lnTo>
                  <a:pt x="945245" y="1624"/>
                </a:lnTo>
                <a:lnTo>
                  <a:pt x="963539" y="9727"/>
                </a:lnTo>
                <a:lnTo>
                  <a:pt x="971499" y="28455"/>
                </a:lnTo>
                <a:lnTo>
                  <a:pt x="973290" y="61956"/>
                </a:lnTo>
                <a:lnTo>
                  <a:pt x="973298" y="79871"/>
                </a:lnTo>
                <a:lnTo>
                  <a:pt x="860699" y="79871"/>
                </a:lnTo>
                <a:lnTo>
                  <a:pt x="757070" y="80184"/>
                </a:lnTo>
                <a:close/>
              </a:path>
              <a:path w="982344" h="3914775">
                <a:moveTo>
                  <a:pt x="944240" y="1583241"/>
                </a:moveTo>
                <a:lnTo>
                  <a:pt x="926599" y="1579445"/>
                </a:lnTo>
                <a:lnTo>
                  <a:pt x="912469" y="1567192"/>
                </a:lnTo>
                <a:lnTo>
                  <a:pt x="903074" y="1547988"/>
                </a:lnTo>
                <a:lnTo>
                  <a:pt x="899639" y="1523337"/>
                </a:lnTo>
                <a:lnTo>
                  <a:pt x="899708" y="928570"/>
                </a:lnTo>
                <a:lnTo>
                  <a:pt x="899491" y="879013"/>
                </a:lnTo>
                <a:lnTo>
                  <a:pt x="899217" y="834617"/>
                </a:lnTo>
                <a:lnTo>
                  <a:pt x="898779" y="779904"/>
                </a:lnTo>
                <a:lnTo>
                  <a:pt x="898283" y="732463"/>
                </a:lnTo>
                <a:lnTo>
                  <a:pt x="897618" y="680803"/>
                </a:lnTo>
                <a:lnTo>
                  <a:pt x="896840" y="631256"/>
                </a:lnTo>
                <a:lnTo>
                  <a:pt x="896067" y="579304"/>
                </a:lnTo>
                <a:lnTo>
                  <a:pt x="895480" y="527356"/>
                </a:lnTo>
                <a:lnTo>
                  <a:pt x="895043" y="475410"/>
                </a:lnTo>
                <a:lnTo>
                  <a:pt x="894723" y="423467"/>
                </a:lnTo>
                <a:lnTo>
                  <a:pt x="894484" y="371527"/>
                </a:lnTo>
                <a:lnTo>
                  <a:pt x="893908" y="215715"/>
                </a:lnTo>
                <a:lnTo>
                  <a:pt x="893647" y="163779"/>
                </a:lnTo>
                <a:lnTo>
                  <a:pt x="893294" y="111844"/>
                </a:lnTo>
                <a:lnTo>
                  <a:pt x="891595" y="96159"/>
                </a:lnTo>
                <a:lnTo>
                  <a:pt x="886187" y="86340"/>
                </a:lnTo>
                <a:lnTo>
                  <a:pt x="876131" y="81254"/>
                </a:lnTo>
                <a:lnTo>
                  <a:pt x="875894" y="81254"/>
                </a:lnTo>
                <a:lnTo>
                  <a:pt x="860699" y="79871"/>
                </a:lnTo>
                <a:lnTo>
                  <a:pt x="973298" y="79871"/>
                </a:lnTo>
                <a:lnTo>
                  <a:pt x="973343" y="163779"/>
                </a:lnTo>
                <a:lnTo>
                  <a:pt x="973601" y="196132"/>
                </a:lnTo>
                <a:lnTo>
                  <a:pt x="974902" y="300020"/>
                </a:lnTo>
                <a:lnTo>
                  <a:pt x="979075" y="611661"/>
                </a:lnTo>
                <a:lnTo>
                  <a:pt x="973713" y="641891"/>
                </a:lnTo>
                <a:lnTo>
                  <a:pt x="971875" y="672109"/>
                </a:lnTo>
                <a:lnTo>
                  <a:pt x="973791" y="702303"/>
                </a:lnTo>
                <a:lnTo>
                  <a:pt x="979697" y="732463"/>
                </a:lnTo>
                <a:lnTo>
                  <a:pt x="979797" y="834617"/>
                </a:lnTo>
                <a:lnTo>
                  <a:pt x="979923" y="978129"/>
                </a:lnTo>
                <a:lnTo>
                  <a:pt x="979980" y="1038941"/>
                </a:lnTo>
                <a:lnTo>
                  <a:pt x="980105" y="1141106"/>
                </a:lnTo>
                <a:lnTo>
                  <a:pt x="980186" y="1192187"/>
                </a:lnTo>
                <a:lnTo>
                  <a:pt x="980282" y="1243268"/>
                </a:lnTo>
                <a:lnTo>
                  <a:pt x="980532" y="1345425"/>
                </a:lnTo>
                <a:lnTo>
                  <a:pt x="980692" y="1396501"/>
                </a:lnTo>
                <a:lnTo>
                  <a:pt x="981886" y="1440128"/>
                </a:lnTo>
                <a:lnTo>
                  <a:pt x="981886" y="1548977"/>
                </a:lnTo>
                <a:lnTo>
                  <a:pt x="974222" y="1565886"/>
                </a:lnTo>
                <a:lnTo>
                  <a:pt x="961074" y="1578249"/>
                </a:lnTo>
                <a:lnTo>
                  <a:pt x="944240" y="1583241"/>
                </a:lnTo>
                <a:close/>
              </a:path>
              <a:path w="982344" h="3914775">
                <a:moveTo>
                  <a:pt x="102486" y="80888"/>
                </a:moveTo>
                <a:lnTo>
                  <a:pt x="0" y="80888"/>
                </a:lnTo>
                <a:lnTo>
                  <a:pt x="708422" y="80184"/>
                </a:lnTo>
                <a:lnTo>
                  <a:pt x="102486" y="80184"/>
                </a:lnTo>
                <a:lnTo>
                  <a:pt x="102486" y="80888"/>
                </a:lnTo>
                <a:close/>
              </a:path>
              <a:path w="982344" h="3914775">
                <a:moveTo>
                  <a:pt x="102486" y="81254"/>
                </a:moveTo>
                <a:lnTo>
                  <a:pt x="102486" y="80888"/>
                </a:lnTo>
                <a:lnTo>
                  <a:pt x="187076" y="80888"/>
                </a:lnTo>
                <a:lnTo>
                  <a:pt x="102486" y="81254"/>
                </a:lnTo>
                <a:close/>
              </a:path>
              <a:path w="982344" h="3914775">
                <a:moveTo>
                  <a:pt x="102486" y="3914207"/>
                </a:moveTo>
                <a:lnTo>
                  <a:pt x="102486" y="3833363"/>
                </a:lnTo>
                <a:lnTo>
                  <a:pt x="667979" y="3832831"/>
                </a:lnTo>
                <a:lnTo>
                  <a:pt x="794382" y="3832831"/>
                </a:lnTo>
                <a:lnTo>
                  <a:pt x="826175" y="3832325"/>
                </a:lnTo>
                <a:lnTo>
                  <a:pt x="845171" y="3833824"/>
                </a:lnTo>
                <a:lnTo>
                  <a:pt x="860294" y="3839976"/>
                </a:lnTo>
                <a:lnTo>
                  <a:pt x="870892" y="3851587"/>
                </a:lnTo>
                <a:lnTo>
                  <a:pt x="876312" y="3869462"/>
                </a:lnTo>
                <a:lnTo>
                  <a:pt x="874107" y="3885166"/>
                </a:lnTo>
                <a:lnTo>
                  <a:pt x="824744" y="3908277"/>
                </a:lnTo>
                <a:lnTo>
                  <a:pt x="724597" y="3911342"/>
                </a:lnTo>
                <a:lnTo>
                  <a:pt x="530711" y="3913864"/>
                </a:lnTo>
                <a:lnTo>
                  <a:pt x="173707" y="3913864"/>
                </a:lnTo>
                <a:lnTo>
                  <a:pt x="102486" y="3914207"/>
                </a:lnTo>
                <a:close/>
              </a:path>
              <a:path w="982344" h="3914775">
                <a:moveTo>
                  <a:pt x="759514" y="3832831"/>
                </a:moveTo>
                <a:lnTo>
                  <a:pt x="661659" y="3832831"/>
                </a:lnTo>
                <a:lnTo>
                  <a:pt x="693579" y="3832631"/>
                </a:lnTo>
                <a:lnTo>
                  <a:pt x="726164" y="3832631"/>
                </a:lnTo>
                <a:lnTo>
                  <a:pt x="759514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603608" y="2017616"/>
            <a:ext cx="5419725" cy="7397115"/>
            <a:chOff x="10603608" y="2017616"/>
            <a:chExt cx="5419725" cy="73971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3250" y="2017616"/>
              <a:ext cx="3781799" cy="53879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3608" y="7357316"/>
              <a:ext cx="5419724" cy="20573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7703" y="6590853"/>
            <a:ext cx="8553449" cy="2419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25003" y="1224154"/>
            <a:ext cx="13342619" cy="548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60" b="1">
                <a:latin typeface="Trebuchet MS"/>
                <a:cs typeface="Trebuchet MS"/>
              </a:rPr>
              <a:t>SYSTEM</a:t>
            </a:r>
            <a:r>
              <a:rPr dirty="0" sz="3200" spc="-135" b="1">
                <a:latin typeface="Trebuchet MS"/>
                <a:cs typeface="Trebuchet MS"/>
              </a:rPr>
              <a:t> </a:t>
            </a:r>
            <a:r>
              <a:rPr dirty="0" sz="3200" spc="50" b="1">
                <a:latin typeface="Trebuchet MS"/>
                <a:cs typeface="Trebuchet MS"/>
              </a:rPr>
              <a:t>OVERVIEW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3200">
              <a:latin typeface="Trebuchet MS"/>
              <a:cs typeface="Trebuchet MS"/>
            </a:endParaRPr>
          </a:p>
          <a:p>
            <a:pPr marL="243840">
              <a:lnSpc>
                <a:spcPct val="100000"/>
              </a:lnSpc>
            </a:pPr>
            <a:r>
              <a:rPr dirty="0" sz="3200" spc="-120" b="1">
                <a:latin typeface="Trebuchet MS"/>
                <a:cs typeface="Trebuchet MS"/>
              </a:rPr>
              <a:t>REAL</a:t>
            </a:r>
            <a:r>
              <a:rPr dirty="0" sz="3200" spc="-40" b="1">
                <a:latin typeface="Trebuchet MS"/>
                <a:cs typeface="Trebuchet MS"/>
              </a:rPr>
              <a:t> </a:t>
            </a:r>
            <a:r>
              <a:rPr dirty="0" sz="3200" b="1">
                <a:latin typeface="Trebuchet MS"/>
                <a:cs typeface="Trebuchet MS"/>
              </a:rPr>
              <a:t>WORLD</a:t>
            </a:r>
            <a:r>
              <a:rPr dirty="0" sz="3200" spc="-35" b="1">
                <a:latin typeface="Trebuchet MS"/>
                <a:cs typeface="Trebuchet MS"/>
              </a:rPr>
              <a:t> </a:t>
            </a:r>
            <a:r>
              <a:rPr dirty="0" sz="3200" spc="125" b="1">
                <a:latin typeface="Trebuchet MS"/>
                <a:cs typeface="Trebuchet MS"/>
              </a:rPr>
              <a:t>SCENARIO</a:t>
            </a:r>
            <a:endParaRPr sz="3200">
              <a:latin typeface="Trebuchet MS"/>
              <a:cs typeface="Trebuchet MS"/>
            </a:endParaRPr>
          </a:p>
          <a:p>
            <a:pPr algn="just" marL="12700" marR="3514090">
              <a:lnSpc>
                <a:spcPct val="114599"/>
              </a:lnSpc>
              <a:spcBef>
                <a:spcPts val="1185"/>
              </a:spcBef>
            </a:pPr>
            <a:r>
              <a:rPr dirty="0" sz="2400" spc="114">
                <a:latin typeface="Trebuchet MS"/>
                <a:cs typeface="Trebuchet MS"/>
              </a:rPr>
              <a:t>During</a:t>
            </a:r>
            <a:r>
              <a:rPr dirty="0" sz="2400" spc="175">
                <a:latin typeface="Trebuchet MS"/>
                <a:cs typeface="Trebuchet MS"/>
              </a:rPr>
              <a:t> </a:t>
            </a:r>
            <a:r>
              <a:rPr dirty="0" sz="2400" spc="375">
                <a:latin typeface="Trebuchet MS"/>
                <a:cs typeface="Trebuchet MS"/>
              </a:rPr>
              <a:t>a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90-</a:t>
            </a:r>
            <a:r>
              <a:rPr dirty="0" sz="2400" spc="80">
                <a:latin typeface="Trebuchet MS"/>
                <a:cs typeface="Trebuchet MS"/>
              </a:rPr>
              <a:t>minute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 spc="-110">
                <a:latin typeface="Trebuchet MS"/>
                <a:cs typeface="Trebuchet MS"/>
              </a:rPr>
              <a:t>IT</a:t>
            </a:r>
            <a:r>
              <a:rPr dirty="0" sz="2400" spc="175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undergraduate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lecture,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25</a:t>
            </a:r>
            <a:r>
              <a:rPr dirty="0" sz="2400" spc="175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students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run</a:t>
            </a:r>
            <a:r>
              <a:rPr dirty="0" sz="2400" spc="180">
                <a:latin typeface="Trebuchet MS"/>
                <a:cs typeface="Trebuchet MS"/>
              </a:rPr>
              <a:t> </a:t>
            </a:r>
            <a:r>
              <a:rPr dirty="0" sz="2400" spc="55">
                <a:latin typeface="Trebuchet MS"/>
                <a:cs typeface="Trebuchet MS"/>
              </a:rPr>
              <a:t>the </a:t>
            </a:r>
            <a:r>
              <a:rPr dirty="0" sz="2400" spc="95">
                <a:latin typeface="Trebuchet MS"/>
                <a:cs typeface="Trebuchet MS"/>
              </a:rPr>
              <a:t>privacy-preserving</a:t>
            </a:r>
            <a:r>
              <a:rPr dirty="0" sz="2400" spc="195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analytics</a:t>
            </a:r>
            <a:r>
              <a:rPr dirty="0" sz="2400" spc="20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2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their</a:t>
            </a:r>
            <a:r>
              <a:rPr dirty="0" sz="2400" spc="19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laptops.</a:t>
            </a:r>
            <a:r>
              <a:rPr dirty="0" sz="2400" spc="200">
                <a:latin typeface="Trebuchet MS"/>
                <a:cs typeface="Trebuchet MS"/>
              </a:rPr>
              <a:t> </a:t>
            </a:r>
            <a:r>
              <a:rPr dirty="0" sz="2400" spc="195">
                <a:latin typeface="Trebuchet MS"/>
                <a:cs typeface="Trebuchet MS"/>
              </a:rPr>
              <a:t>When</a:t>
            </a:r>
            <a:r>
              <a:rPr dirty="0" sz="2400" spc="200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1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instructor </a:t>
            </a:r>
            <a:r>
              <a:rPr dirty="0" sz="2400" spc="70">
                <a:latin typeface="Trebuchet MS"/>
                <a:cs typeface="Trebuchet MS"/>
              </a:rPr>
              <a:t>explains</a:t>
            </a:r>
            <a:r>
              <a:rPr dirty="0" sz="2400" spc="-2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distributed</a:t>
            </a:r>
            <a:r>
              <a:rPr dirty="0" sz="2400" spc="-2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systems,</a:t>
            </a:r>
            <a:r>
              <a:rPr dirty="0" sz="2400" spc="-15">
                <a:latin typeface="Trebuchet MS"/>
                <a:cs typeface="Trebuchet MS"/>
              </a:rPr>
              <a:t> 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-20">
                <a:latin typeface="Trebuchet MS"/>
                <a:cs typeface="Trebuchet MS"/>
              </a:rPr>
              <a:t>  </a:t>
            </a:r>
            <a:r>
              <a:rPr dirty="0" sz="2400" spc="240">
                <a:latin typeface="Trebuchet MS"/>
                <a:cs typeface="Trebuchet MS"/>
              </a:rPr>
              <a:t>aggregated</a:t>
            </a:r>
            <a:r>
              <a:rPr dirty="0" sz="2400" spc="-15">
                <a:latin typeface="Trebuchet MS"/>
                <a:cs typeface="Trebuchet MS"/>
              </a:rPr>
              <a:t>  </a:t>
            </a:r>
            <a:r>
              <a:rPr dirty="0" sz="2400" spc="204">
                <a:latin typeface="Trebuchet MS"/>
                <a:cs typeface="Trebuchet MS"/>
              </a:rPr>
              <a:t>dashboard</a:t>
            </a:r>
            <a:r>
              <a:rPr dirty="0" sz="2400" spc="-20">
                <a:latin typeface="Trebuchet MS"/>
                <a:cs typeface="Trebuchet MS"/>
              </a:rPr>
              <a:t>  </a:t>
            </a:r>
            <a:r>
              <a:rPr dirty="0" sz="2400" spc="85">
                <a:latin typeface="Trebuchet MS"/>
                <a:cs typeface="Trebuchet MS"/>
              </a:rPr>
              <a:t>shows </a:t>
            </a:r>
            <a:r>
              <a:rPr dirty="0" sz="2400" spc="180">
                <a:latin typeface="Trebuchet MS"/>
                <a:cs typeface="Trebuchet MS"/>
              </a:rPr>
              <a:t>68%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 spc="229">
                <a:latin typeface="Trebuchet MS"/>
                <a:cs typeface="Trebuchet MS"/>
              </a:rPr>
              <a:t>engagement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 spc="180">
                <a:latin typeface="Trebuchet MS"/>
                <a:cs typeface="Trebuchet MS"/>
              </a:rPr>
              <a:t>15%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 spc="140">
                <a:latin typeface="Trebuchet MS"/>
                <a:cs typeface="Trebuchet MS"/>
              </a:rPr>
              <a:t>showing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 spc="105">
                <a:latin typeface="Trebuchet MS"/>
                <a:cs typeface="Trebuchet MS"/>
              </a:rPr>
              <a:t>confusion</a:t>
            </a:r>
            <a:r>
              <a:rPr dirty="0" sz="2400" spc="10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indicators.</a:t>
            </a:r>
            <a:r>
              <a:rPr dirty="0" sz="2400" spc="95">
                <a:latin typeface="Trebuchet MS"/>
                <a:cs typeface="Trebuchet MS"/>
              </a:rPr>
              <a:t>  </a:t>
            </a:r>
            <a:r>
              <a:rPr dirty="0" sz="2400" spc="-25">
                <a:latin typeface="Trebuchet MS"/>
                <a:cs typeface="Trebuchet MS"/>
              </a:rPr>
              <a:t>The </a:t>
            </a:r>
            <a:r>
              <a:rPr dirty="0" sz="2400">
                <a:latin typeface="Trebuchet MS"/>
                <a:cs typeface="Trebuchet MS"/>
              </a:rPr>
              <a:t>instructor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pauses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clarify,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improving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229">
                <a:latin typeface="Trebuchet MS"/>
                <a:cs typeface="Trebuchet MS"/>
              </a:rPr>
              <a:t>engagement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to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55">
                <a:latin typeface="Trebuchet MS"/>
                <a:cs typeface="Trebuchet MS"/>
              </a:rPr>
              <a:t>82%</a:t>
            </a:r>
            <a:endParaRPr sz="2400">
              <a:latin typeface="Trebuchet MS"/>
              <a:cs typeface="Trebuchet MS"/>
            </a:endParaRPr>
          </a:p>
          <a:p>
            <a:pPr algn="just" marL="12700" marR="351409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-</a:t>
            </a:r>
            <a:r>
              <a:rPr dirty="0" sz="2400" spc="30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all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while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 spc="105">
                <a:latin typeface="Trebuchet MS"/>
                <a:cs typeface="Trebuchet MS"/>
              </a:rPr>
              <a:t>protecting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 spc="70">
                <a:latin typeface="Trebuchet MS"/>
                <a:cs typeface="Trebuchet MS"/>
              </a:rPr>
              <a:t>individual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 spc="125">
                <a:latin typeface="Trebuchet MS"/>
                <a:cs typeface="Trebuchet MS"/>
              </a:rPr>
              <a:t>privacy</a:t>
            </a:r>
            <a:r>
              <a:rPr dirty="0" sz="2400" spc="30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with</a:t>
            </a:r>
            <a:r>
              <a:rPr dirty="0" sz="2400" spc="300">
                <a:latin typeface="Trebuchet MS"/>
                <a:cs typeface="Trebuchet MS"/>
              </a:rPr>
              <a:t>  </a:t>
            </a:r>
            <a:r>
              <a:rPr dirty="0" sz="2400" spc="-10">
                <a:latin typeface="Trebuchet MS"/>
                <a:cs typeface="Trebuchet MS"/>
              </a:rPr>
              <a:t>ε=1.</a:t>
            </a:r>
            <a:r>
              <a:rPr dirty="0" sz="2400" spc="-10">
                <a:latin typeface="Trebuchet MS"/>
                <a:cs typeface="Trebuchet MS"/>
              </a:rPr>
              <a:t>3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Differential</a:t>
            </a:r>
            <a:r>
              <a:rPr dirty="0" sz="2400" spc="1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Privacy.</a:t>
            </a:r>
            <a:endParaRPr sz="2400">
              <a:latin typeface="Trebuchet MS"/>
              <a:cs typeface="Trebuchet MS"/>
            </a:endParaRPr>
          </a:p>
          <a:p>
            <a:pPr algn="just" marL="12700" marR="351409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All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AI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120">
                <a:latin typeface="Trebuchet MS"/>
                <a:cs typeface="Trebuchet MS"/>
              </a:rPr>
              <a:t>processing</a:t>
            </a:r>
            <a:r>
              <a:rPr dirty="0" sz="2400" spc="25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stays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220">
                <a:latin typeface="Trebuchet MS"/>
                <a:cs typeface="Trebuchet MS"/>
              </a:rPr>
              <a:t>on</a:t>
            </a:r>
            <a:r>
              <a:rPr dirty="0" sz="2400" spc="254">
                <a:latin typeface="Trebuchet MS"/>
                <a:cs typeface="Trebuchet MS"/>
              </a:rPr>
              <a:t> </a:t>
            </a:r>
            <a:r>
              <a:rPr dirty="0" sz="2400" spc="80">
                <a:latin typeface="Trebuchet MS"/>
                <a:cs typeface="Trebuchet MS"/>
              </a:rPr>
              <a:t>the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70">
                <a:latin typeface="Trebuchet MS"/>
                <a:cs typeface="Trebuchet MS"/>
              </a:rPr>
              <a:t>student</a:t>
            </a:r>
            <a:r>
              <a:rPr dirty="0" sz="2400" spc="254">
                <a:latin typeface="Trebuchet MS"/>
                <a:cs typeface="Trebuchet MS"/>
              </a:rPr>
              <a:t> </a:t>
            </a:r>
            <a:r>
              <a:rPr dirty="0" sz="2400" spc="170">
                <a:latin typeface="Trebuchet MS"/>
                <a:cs typeface="Trebuchet MS"/>
              </a:rPr>
              <a:t>device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630">
                <a:latin typeface="Trebuchet MS"/>
                <a:cs typeface="Trebuchet MS"/>
              </a:rPr>
              <a:t>—</a:t>
            </a:r>
            <a:r>
              <a:rPr dirty="0" sz="2400" spc="254">
                <a:latin typeface="Trebuchet MS"/>
                <a:cs typeface="Trebuchet MS"/>
              </a:rPr>
              <a:t> </a:t>
            </a:r>
            <a:r>
              <a:rPr dirty="0" sz="2400" spc="75">
                <a:latin typeface="Trebuchet MS"/>
                <a:cs typeface="Trebuchet MS"/>
              </a:rPr>
              <a:t>only</a:t>
            </a:r>
            <a:r>
              <a:rPr dirty="0" sz="2400" spc="250">
                <a:latin typeface="Trebuchet MS"/>
                <a:cs typeface="Trebuchet MS"/>
              </a:rPr>
              <a:t> </a:t>
            </a:r>
            <a:r>
              <a:rPr dirty="0" sz="2400" spc="165">
                <a:latin typeface="Trebuchet MS"/>
                <a:cs typeface="Trebuchet MS"/>
              </a:rPr>
              <a:t>anonymous </a:t>
            </a:r>
            <a:r>
              <a:rPr dirty="0" sz="2400" spc="204">
                <a:latin typeface="Trebuchet MS"/>
                <a:cs typeface="Trebuchet MS"/>
              </a:rPr>
              <a:t>metadata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10">
                <a:latin typeface="Trebuchet MS"/>
                <a:cs typeface="Trebuchet MS"/>
              </a:rPr>
              <a:t>leaves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779450" y="286070"/>
            <a:ext cx="1211135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-102486" y="3089010"/>
            <a:ext cx="982344" cy="3914775"/>
          </a:xfrm>
          <a:custGeom>
            <a:avLst/>
            <a:gdLst/>
            <a:ahLst/>
            <a:cxnLst/>
            <a:rect l="l" t="t" r="r" b="b"/>
            <a:pathLst>
              <a:path w="982344" h="3914775">
                <a:moveTo>
                  <a:pt x="757070" y="80184"/>
                </a:moveTo>
                <a:lnTo>
                  <a:pt x="102486" y="80184"/>
                </a:lnTo>
                <a:lnTo>
                  <a:pt x="102486" y="642"/>
                </a:lnTo>
                <a:lnTo>
                  <a:pt x="912453" y="0"/>
                </a:lnTo>
                <a:lnTo>
                  <a:pt x="945245" y="1624"/>
                </a:lnTo>
                <a:lnTo>
                  <a:pt x="963539" y="9727"/>
                </a:lnTo>
                <a:lnTo>
                  <a:pt x="971499" y="28455"/>
                </a:lnTo>
                <a:lnTo>
                  <a:pt x="973290" y="61956"/>
                </a:lnTo>
                <a:lnTo>
                  <a:pt x="973298" y="79871"/>
                </a:lnTo>
                <a:lnTo>
                  <a:pt x="860699" y="79871"/>
                </a:lnTo>
                <a:lnTo>
                  <a:pt x="757070" y="80184"/>
                </a:lnTo>
                <a:close/>
              </a:path>
              <a:path w="982344" h="3914775">
                <a:moveTo>
                  <a:pt x="944240" y="1583241"/>
                </a:moveTo>
                <a:lnTo>
                  <a:pt x="926599" y="1579445"/>
                </a:lnTo>
                <a:lnTo>
                  <a:pt x="912469" y="1567192"/>
                </a:lnTo>
                <a:lnTo>
                  <a:pt x="903074" y="1547988"/>
                </a:lnTo>
                <a:lnTo>
                  <a:pt x="899639" y="1523337"/>
                </a:lnTo>
                <a:lnTo>
                  <a:pt x="899708" y="928570"/>
                </a:lnTo>
                <a:lnTo>
                  <a:pt x="899491" y="879013"/>
                </a:lnTo>
                <a:lnTo>
                  <a:pt x="899217" y="834617"/>
                </a:lnTo>
                <a:lnTo>
                  <a:pt x="898779" y="779904"/>
                </a:lnTo>
                <a:lnTo>
                  <a:pt x="898283" y="732463"/>
                </a:lnTo>
                <a:lnTo>
                  <a:pt x="897618" y="680803"/>
                </a:lnTo>
                <a:lnTo>
                  <a:pt x="896840" y="631256"/>
                </a:lnTo>
                <a:lnTo>
                  <a:pt x="896067" y="579304"/>
                </a:lnTo>
                <a:lnTo>
                  <a:pt x="895480" y="527356"/>
                </a:lnTo>
                <a:lnTo>
                  <a:pt x="895043" y="475410"/>
                </a:lnTo>
                <a:lnTo>
                  <a:pt x="894723" y="423467"/>
                </a:lnTo>
                <a:lnTo>
                  <a:pt x="894484" y="371527"/>
                </a:lnTo>
                <a:lnTo>
                  <a:pt x="893908" y="215715"/>
                </a:lnTo>
                <a:lnTo>
                  <a:pt x="893647" y="163779"/>
                </a:lnTo>
                <a:lnTo>
                  <a:pt x="893294" y="111844"/>
                </a:lnTo>
                <a:lnTo>
                  <a:pt x="891595" y="96159"/>
                </a:lnTo>
                <a:lnTo>
                  <a:pt x="886187" y="86340"/>
                </a:lnTo>
                <a:lnTo>
                  <a:pt x="876131" y="81254"/>
                </a:lnTo>
                <a:lnTo>
                  <a:pt x="875894" y="81254"/>
                </a:lnTo>
                <a:lnTo>
                  <a:pt x="860699" y="79871"/>
                </a:lnTo>
                <a:lnTo>
                  <a:pt x="973298" y="79871"/>
                </a:lnTo>
                <a:lnTo>
                  <a:pt x="973343" y="163779"/>
                </a:lnTo>
                <a:lnTo>
                  <a:pt x="973601" y="196132"/>
                </a:lnTo>
                <a:lnTo>
                  <a:pt x="974902" y="300020"/>
                </a:lnTo>
                <a:lnTo>
                  <a:pt x="979075" y="611661"/>
                </a:lnTo>
                <a:lnTo>
                  <a:pt x="973713" y="641891"/>
                </a:lnTo>
                <a:lnTo>
                  <a:pt x="971875" y="672109"/>
                </a:lnTo>
                <a:lnTo>
                  <a:pt x="973791" y="702303"/>
                </a:lnTo>
                <a:lnTo>
                  <a:pt x="979697" y="732463"/>
                </a:lnTo>
                <a:lnTo>
                  <a:pt x="979797" y="834617"/>
                </a:lnTo>
                <a:lnTo>
                  <a:pt x="979923" y="978129"/>
                </a:lnTo>
                <a:lnTo>
                  <a:pt x="979980" y="1038941"/>
                </a:lnTo>
                <a:lnTo>
                  <a:pt x="980105" y="1141106"/>
                </a:lnTo>
                <a:lnTo>
                  <a:pt x="980186" y="1192187"/>
                </a:lnTo>
                <a:lnTo>
                  <a:pt x="980282" y="1243268"/>
                </a:lnTo>
                <a:lnTo>
                  <a:pt x="980532" y="1345425"/>
                </a:lnTo>
                <a:lnTo>
                  <a:pt x="980692" y="1396501"/>
                </a:lnTo>
                <a:lnTo>
                  <a:pt x="981886" y="1440128"/>
                </a:lnTo>
                <a:lnTo>
                  <a:pt x="981886" y="1548977"/>
                </a:lnTo>
                <a:lnTo>
                  <a:pt x="974222" y="1565886"/>
                </a:lnTo>
                <a:lnTo>
                  <a:pt x="961074" y="1578249"/>
                </a:lnTo>
                <a:lnTo>
                  <a:pt x="944240" y="1583241"/>
                </a:lnTo>
                <a:close/>
              </a:path>
              <a:path w="982344" h="3914775">
                <a:moveTo>
                  <a:pt x="102486" y="80888"/>
                </a:moveTo>
                <a:lnTo>
                  <a:pt x="0" y="80888"/>
                </a:lnTo>
                <a:lnTo>
                  <a:pt x="708422" y="80184"/>
                </a:lnTo>
                <a:lnTo>
                  <a:pt x="102486" y="80184"/>
                </a:lnTo>
                <a:lnTo>
                  <a:pt x="102486" y="80888"/>
                </a:lnTo>
                <a:close/>
              </a:path>
              <a:path w="982344" h="3914775">
                <a:moveTo>
                  <a:pt x="102486" y="81254"/>
                </a:moveTo>
                <a:lnTo>
                  <a:pt x="102486" y="80888"/>
                </a:lnTo>
                <a:lnTo>
                  <a:pt x="187076" y="80888"/>
                </a:lnTo>
                <a:lnTo>
                  <a:pt x="102486" y="81254"/>
                </a:lnTo>
                <a:close/>
              </a:path>
              <a:path w="982344" h="3914775">
                <a:moveTo>
                  <a:pt x="102486" y="3914207"/>
                </a:moveTo>
                <a:lnTo>
                  <a:pt x="102486" y="3833363"/>
                </a:lnTo>
                <a:lnTo>
                  <a:pt x="667979" y="3832831"/>
                </a:lnTo>
                <a:lnTo>
                  <a:pt x="794382" y="3832831"/>
                </a:lnTo>
                <a:lnTo>
                  <a:pt x="826175" y="3832325"/>
                </a:lnTo>
                <a:lnTo>
                  <a:pt x="845171" y="3833824"/>
                </a:lnTo>
                <a:lnTo>
                  <a:pt x="860294" y="3839976"/>
                </a:lnTo>
                <a:lnTo>
                  <a:pt x="870892" y="3851587"/>
                </a:lnTo>
                <a:lnTo>
                  <a:pt x="876312" y="3869462"/>
                </a:lnTo>
                <a:lnTo>
                  <a:pt x="874107" y="3885166"/>
                </a:lnTo>
                <a:lnTo>
                  <a:pt x="824744" y="3908277"/>
                </a:lnTo>
                <a:lnTo>
                  <a:pt x="724597" y="3911342"/>
                </a:lnTo>
                <a:lnTo>
                  <a:pt x="530711" y="3913864"/>
                </a:lnTo>
                <a:lnTo>
                  <a:pt x="173707" y="3913864"/>
                </a:lnTo>
                <a:lnTo>
                  <a:pt x="102486" y="3914207"/>
                </a:lnTo>
                <a:close/>
              </a:path>
              <a:path w="982344" h="3914775">
                <a:moveTo>
                  <a:pt x="759514" y="3832831"/>
                </a:moveTo>
                <a:lnTo>
                  <a:pt x="661659" y="3832831"/>
                </a:lnTo>
                <a:lnTo>
                  <a:pt x="693579" y="3832631"/>
                </a:lnTo>
                <a:lnTo>
                  <a:pt x="726164" y="3832631"/>
                </a:lnTo>
                <a:lnTo>
                  <a:pt x="759514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30005" y="1988436"/>
            <a:ext cx="8392160" cy="4893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1530">
              <a:lnSpc>
                <a:spcPct val="100000"/>
              </a:lnSpc>
              <a:spcBef>
                <a:spcPts val="100"/>
              </a:spcBef>
            </a:pPr>
            <a:r>
              <a:rPr dirty="0" sz="3200" spc="45" b="1">
                <a:latin typeface="Trebuchet MS"/>
                <a:cs typeface="Trebuchet MS"/>
              </a:rPr>
              <a:t>NETWORKING</a:t>
            </a:r>
            <a:r>
              <a:rPr dirty="0" sz="3200" spc="-65" b="1">
                <a:latin typeface="Trebuchet MS"/>
                <a:cs typeface="Trebuchet MS"/>
              </a:rPr>
              <a:t> </a:t>
            </a:r>
            <a:r>
              <a:rPr dirty="0" sz="3200" spc="-10" b="1">
                <a:latin typeface="Trebuchet MS"/>
                <a:cs typeface="Trebuchet MS"/>
              </a:rPr>
              <a:t>LAYER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spcBef>
                <a:spcPts val="1190"/>
              </a:spcBef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protocol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WebSocket,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implemented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using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Flask-SocketIO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the </a:t>
            </a:r>
            <a:r>
              <a:rPr dirty="0" sz="2000" spc="55">
                <a:latin typeface="Tahoma"/>
                <a:cs typeface="Tahoma"/>
              </a:rPr>
              <a:t>server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side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python-</a:t>
            </a:r>
            <a:r>
              <a:rPr dirty="0" sz="2000" spc="55">
                <a:latin typeface="Tahoma"/>
                <a:cs typeface="Tahoma"/>
              </a:rPr>
              <a:t>socketio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student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client.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Every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2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seconds,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student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client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emits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packet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server.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packet is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roughly </a:t>
            </a:r>
            <a:r>
              <a:rPr dirty="0" sz="2000">
                <a:latin typeface="Tahoma"/>
                <a:cs typeface="Tahoma"/>
              </a:rPr>
              <a:t>200–</a:t>
            </a:r>
            <a:r>
              <a:rPr dirty="0" sz="2000" spc="50">
                <a:latin typeface="Tahoma"/>
                <a:cs typeface="Tahoma"/>
              </a:rPr>
              <a:t>400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bytes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180">
                <a:latin typeface="Tahoma"/>
                <a:cs typeface="Tahoma"/>
              </a:rPr>
              <a:t>—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compare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that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single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raw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720p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video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frame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which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95">
                <a:latin typeface="Tahoma"/>
                <a:cs typeface="Tahoma"/>
              </a:rPr>
              <a:t>around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900KB.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Your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uses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over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99.9%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less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bandwidth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than </a:t>
            </a:r>
            <a:r>
              <a:rPr dirty="0" sz="2000" spc="60">
                <a:latin typeface="Tahoma"/>
                <a:cs typeface="Tahoma"/>
              </a:rPr>
              <a:t>streaming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video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would.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For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100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students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simultaneously,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your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system </a:t>
            </a:r>
            <a:r>
              <a:rPr dirty="0" sz="2000" spc="80">
                <a:latin typeface="Tahoma"/>
                <a:cs typeface="Tahoma"/>
              </a:rPr>
              <a:t>needs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under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1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135">
                <a:latin typeface="Tahoma"/>
                <a:cs typeface="Tahoma"/>
              </a:rPr>
              <a:t>Mbps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total.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Raw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video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streaming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for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same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25">
                <a:latin typeface="Tahoma"/>
                <a:cs typeface="Tahoma"/>
              </a:rPr>
              <a:t>100 </a:t>
            </a:r>
            <a:r>
              <a:rPr dirty="0" sz="2000" spc="65">
                <a:latin typeface="Tahoma"/>
                <a:cs typeface="Tahoma"/>
              </a:rPr>
              <a:t>students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would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require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95">
                <a:latin typeface="Tahoma"/>
                <a:cs typeface="Tahoma"/>
              </a:rPr>
              <a:t>around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400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Mbps.</a:t>
            </a:r>
            <a:endParaRPr sz="2000">
              <a:latin typeface="Tahoma"/>
              <a:cs typeface="Tahoma"/>
            </a:endParaRPr>
          </a:p>
          <a:p>
            <a:pPr marL="12700" marR="34925">
              <a:lnSpc>
                <a:spcPct val="115599"/>
              </a:lnSpc>
            </a:pPr>
            <a:r>
              <a:rPr dirty="0" sz="2000" spc="75">
                <a:latin typeface="Tahoma"/>
                <a:cs typeface="Tahoma"/>
              </a:rPr>
              <a:t>When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server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receives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student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update,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it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immediately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pushes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 </a:t>
            </a:r>
            <a:r>
              <a:rPr dirty="0" sz="2000" spc="50">
                <a:latin typeface="Tahoma"/>
                <a:cs typeface="Tahoma"/>
              </a:rPr>
              <a:t>full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classroom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snapshot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lecturer's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browser.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end-to-</a:t>
            </a:r>
            <a:r>
              <a:rPr dirty="0" sz="2000" spc="70">
                <a:latin typeface="Tahoma"/>
                <a:cs typeface="Tahoma"/>
              </a:rPr>
              <a:t>end </a:t>
            </a:r>
            <a:r>
              <a:rPr dirty="0" sz="2000">
                <a:latin typeface="Tahoma"/>
                <a:cs typeface="Tahoma"/>
              </a:rPr>
              <a:t>latency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100">
                <a:latin typeface="Tahoma"/>
                <a:cs typeface="Tahoma"/>
              </a:rPr>
              <a:t>from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webcam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frame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dashboard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update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approximately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2.1 </a:t>
            </a:r>
            <a:r>
              <a:rPr dirty="0" sz="2000" spc="45">
                <a:latin typeface="Tahoma"/>
                <a:cs typeface="Tahoma"/>
              </a:rPr>
              <a:t>seconds.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6778" y="3106608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6778" y="3525708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6778" y="3944808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6778" y="4363908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56357" y="1996881"/>
            <a:ext cx="6919595" cy="2612390"/>
          </a:xfrm>
          <a:prstGeom prst="rect">
            <a:avLst/>
          </a:prstGeom>
        </p:spPr>
        <p:txBody>
          <a:bodyPr wrap="square" lIns="0" tIns="284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dirty="0" sz="3200" spc="210" b="1">
                <a:latin typeface="Trebuchet MS"/>
                <a:cs typeface="Trebuchet MS"/>
              </a:rPr>
              <a:t>DYNAMIC</a:t>
            </a:r>
            <a:r>
              <a:rPr dirty="0" sz="3200" spc="-45" b="1">
                <a:latin typeface="Trebuchet MS"/>
                <a:cs typeface="Trebuchet MS"/>
              </a:rPr>
              <a:t> </a:t>
            </a:r>
            <a:r>
              <a:rPr dirty="0" sz="3200" spc="-130" b="1">
                <a:latin typeface="Trebuchet MS"/>
                <a:cs typeface="Trebuchet MS"/>
              </a:rPr>
              <a:t>DIFFERENTIAL</a:t>
            </a:r>
            <a:r>
              <a:rPr dirty="0" sz="3200" spc="-40" b="1">
                <a:latin typeface="Trebuchet MS"/>
                <a:cs typeface="Trebuchet MS"/>
              </a:rPr>
              <a:t> </a:t>
            </a:r>
            <a:r>
              <a:rPr dirty="0" sz="3200" spc="70" b="1">
                <a:latin typeface="Trebuchet MS"/>
                <a:cs typeface="Trebuchet MS"/>
              </a:rPr>
              <a:t>PRIVACY</a:t>
            </a:r>
            <a:endParaRPr sz="3200">
              <a:latin typeface="Trebuchet MS"/>
              <a:cs typeface="Trebuchet MS"/>
            </a:endParaRPr>
          </a:p>
          <a:p>
            <a:pPr marL="299085" marR="5080">
              <a:lnSpc>
                <a:spcPct val="114599"/>
              </a:lnSpc>
              <a:spcBef>
                <a:spcPts val="1185"/>
              </a:spcBef>
            </a:pPr>
            <a:r>
              <a:rPr dirty="0" sz="2400" spc="95">
                <a:latin typeface="Trebuchet MS"/>
                <a:cs typeface="Trebuchet MS"/>
              </a:rPr>
              <a:t>Below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100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1100" spc="1510">
                <a:latin typeface="Lucida Sans Unicode"/>
                <a:cs typeface="Lucida Sans Unicode"/>
              </a:rPr>
              <a:t>→</a:t>
            </a:r>
            <a:r>
              <a:rPr dirty="0" sz="1100" spc="175">
                <a:latin typeface="Lucida Sans Unicode"/>
                <a:cs typeface="Lucida Sans Unicode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ε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=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0.3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135">
                <a:latin typeface="Trebuchet MS"/>
                <a:cs typeface="Trebuchet MS"/>
              </a:rPr>
              <a:t>(maximum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privacy) </a:t>
            </a:r>
            <a:r>
              <a:rPr dirty="0" sz="2400" spc="140">
                <a:latin typeface="Trebuchet MS"/>
                <a:cs typeface="Trebuchet MS"/>
              </a:rPr>
              <a:t>100–</a:t>
            </a:r>
            <a:r>
              <a:rPr dirty="0" sz="2400" spc="60">
                <a:latin typeface="Trebuchet MS"/>
                <a:cs typeface="Trebuchet MS"/>
              </a:rPr>
              <a:t>500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1100" spc="1510">
                <a:latin typeface="Lucida Sans Unicode"/>
                <a:cs typeface="Lucida Sans Unicode"/>
              </a:rPr>
              <a:t>→</a:t>
            </a:r>
            <a:r>
              <a:rPr dirty="0" sz="1100" spc="185">
                <a:latin typeface="Lucida Sans Unicode"/>
                <a:cs typeface="Lucida Sans Unicode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ε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=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1.0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420"/>
              </a:spcBef>
            </a:pPr>
            <a:r>
              <a:rPr dirty="0" sz="2400" spc="140">
                <a:latin typeface="Trebuchet MS"/>
                <a:cs typeface="Trebuchet MS"/>
              </a:rPr>
              <a:t>500–</a:t>
            </a:r>
            <a:r>
              <a:rPr dirty="0" sz="2400" spc="60">
                <a:latin typeface="Trebuchet MS"/>
                <a:cs typeface="Trebuchet MS"/>
              </a:rPr>
              <a:t>1000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1100" spc="1510">
                <a:latin typeface="Lucida Sans Unicode"/>
                <a:cs typeface="Lucida Sans Unicode"/>
              </a:rPr>
              <a:t>→</a:t>
            </a:r>
            <a:r>
              <a:rPr dirty="0" sz="1100" spc="190">
                <a:latin typeface="Lucida Sans Unicode"/>
                <a:cs typeface="Lucida Sans Unicode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ε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=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2.5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420"/>
              </a:spcBef>
            </a:pPr>
            <a:r>
              <a:rPr dirty="0" sz="2400" spc="240">
                <a:latin typeface="Trebuchet MS"/>
                <a:cs typeface="Trebuchet MS"/>
              </a:rPr>
              <a:t>Above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1000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125">
                <a:latin typeface="Trebuchet MS"/>
                <a:cs typeface="Trebuchet MS"/>
              </a:rPr>
              <a:t>Kbps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1100" spc="1510">
                <a:latin typeface="Lucida Sans Unicode"/>
                <a:cs typeface="Lucida Sans Unicode"/>
              </a:rPr>
              <a:t>→</a:t>
            </a:r>
            <a:r>
              <a:rPr dirty="0" sz="1100" spc="175">
                <a:latin typeface="Lucida Sans Unicode"/>
                <a:cs typeface="Lucida Sans Unicode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ε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85">
                <a:latin typeface="Trebuchet MS"/>
                <a:cs typeface="Trebuchet MS"/>
              </a:rPr>
              <a:t>=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5.0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65">
                <a:latin typeface="Trebuchet MS"/>
                <a:cs typeface="Trebuchet MS"/>
              </a:rPr>
              <a:t>(most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145">
                <a:latin typeface="Trebuchet MS"/>
                <a:cs typeface="Trebuchet MS"/>
              </a:rPr>
              <a:t>accurate)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930" rIns="0" bIns="0" rtlCol="0" vert="horz">
            <a:spAutoFit/>
          </a:bodyPr>
          <a:lstStyle/>
          <a:p>
            <a:pPr marL="1141095">
              <a:lnSpc>
                <a:spcPct val="100000"/>
              </a:lnSpc>
              <a:spcBef>
                <a:spcPts val="100"/>
              </a:spcBef>
            </a:pPr>
            <a:r>
              <a:rPr dirty="0" u="heavy" sz="3700" spc="6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PRIVACY-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PRESERVING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8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EDGE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16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AI</a:t>
            </a:r>
            <a:r>
              <a:rPr dirty="0" u="heavy" sz="37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BEHAVIORAL</a:t>
            </a:r>
            <a:r>
              <a:rPr dirty="0" u="heavy" sz="3700" spc="-5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heavy" sz="3700" spc="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ANALYSIS</a:t>
            </a:r>
            <a:endParaRPr sz="37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8" y="6608112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8" y="7027212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8" y="7446312"/>
            <a:ext cx="104775" cy="104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843074" y="7237378"/>
            <a:ext cx="1062101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0515">
              <a:lnSpc>
                <a:spcPct val="114599"/>
              </a:lnSpc>
              <a:spcBef>
                <a:spcPts val="100"/>
              </a:spcBef>
            </a:pPr>
            <a:r>
              <a:rPr dirty="0" sz="2400" spc="90">
                <a:latin typeface="Tahoma"/>
                <a:cs typeface="Tahoma"/>
              </a:rPr>
              <a:t>Current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ε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value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(so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lecturer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can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see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how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private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data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currently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is) </a:t>
            </a:r>
            <a:r>
              <a:rPr dirty="0" sz="2400" spc="95">
                <a:latin typeface="Tahoma"/>
                <a:cs typeface="Tahoma"/>
              </a:rPr>
              <a:t>Bandwidth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quality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badge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(POOR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/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55">
                <a:latin typeface="Tahoma"/>
                <a:cs typeface="Tahoma"/>
              </a:rPr>
              <a:t>FAIR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/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GOOD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/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EXCELLENT)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90">
                <a:latin typeface="Tahoma"/>
                <a:cs typeface="Tahoma"/>
              </a:rPr>
              <a:t>Card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colour: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green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happy,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amber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neutral,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red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negative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emotions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5003" y="5530608"/>
            <a:ext cx="4782820" cy="1732280"/>
          </a:xfrm>
          <a:prstGeom prst="rect">
            <a:avLst/>
          </a:prstGeom>
        </p:spPr>
        <p:txBody>
          <a:bodyPr wrap="square" lIns="0" tIns="260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3200" spc="95" b="1">
                <a:latin typeface="Trebuchet MS"/>
                <a:cs typeface="Trebuchet MS"/>
              </a:rPr>
              <a:t>DASHBOARD</a:t>
            </a:r>
            <a:r>
              <a:rPr dirty="0" sz="3200" spc="-45" b="1">
                <a:latin typeface="Trebuchet MS"/>
                <a:cs typeface="Trebuchet MS"/>
              </a:rPr>
              <a:t> </a:t>
            </a:r>
            <a:r>
              <a:rPr dirty="0" sz="3200" spc="-10" b="1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530225" marR="416559">
              <a:lnSpc>
                <a:spcPct val="114599"/>
              </a:lnSpc>
              <a:spcBef>
                <a:spcPts val="1040"/>
              </a:spcBef>
            </a:pPr>
            <a:r>
              <a:rPr dirty="0" sz="2400" spc="90">
                <a:latin typeface="Tahoma"/>
                <a:cs typeface="Tahoma"/>
              </a:rPr>
              <a:t>Current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dominant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emotion </a:t>
            </a:r>
            <a:r>
              <a:rPr dirty="0" sz="2400" spc="90">
                <a:latin typeface="Tahoma"/>
                <a:cs typeface="Tahoma"/>
              </a:rPr>
              <a:t>Posture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score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8" y="7865412"/>
            <a:ext cx="104775" cy="1047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8" y="8284512"/>
            <a:ext cx="104775" cy="1047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478809" y="9192091"/>
            <a:ext cx="81146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IT22073228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D.W.A.I.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240">
                <a:latin typeface="Trebuchet MS"/>
                <a:cs typeface="Trebuchet MS"/>
              </a:rPr>
              <a:t>Abeynayake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69946" y="1028700"/>
            <a:ext cx="3771900" cy="4343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5598" y="5379128"/>
            <a:ext cx="10255250" cy="193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3600" b="1">
                <a:latin typeface="Trebuchet MS"/>
                <a:cs typeface="Trebuchet MS"/>
              </a:rPr>
              <a:t>ADAPTIVE</a:t>
            </a:r>
            <a:r>
              <a:rPr dirty="0" sz="3600" spc="-185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IOT</a:t>
            </a:r>
            <a:r>
              <a:rPr dirty="0" sz="3600" spc="-180" b="1">
                <a:latin typeface="Trebuchet MS"/>
                <a:cs typeface="Trebuchet MS"/>
              </a:rPr>
              <a:t> </a:t>
            </a:r>
            <a:r>
              <a:rPr dirty="0" sz="3600" spc="55" b="1">
                <a:latin typeface="Trebuchet MS"/>
                <a:cs typeface="Trebuchet MS"/>
              </a:rPr>
              <a:t>ENVIRONMENTAL</a:t>
            </a:r>
            <a:r>
              <a:rPr dirty="0" sz="3600" spc="-180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&amp;</a:t>
            </a:r>
            <a:r>
              <a:rPr dirty="0" sz="3600" spc="-180" b="1">
                <a:latin typeface="Trebuchet MS"/>
                <a:cs typeface="Trebuchet MS"/>
              </a:rPr>
              <a:t> </a:t>
            </a:r>
            <a:r>
              <a:rPr dirty="0" sz="3600" spc="-10" b="1">
                <a:latin typeface="Trebuchet MS"/>
                <a:cs typeface="Trebuchet MS"/>
              </a:rPr>
              <a:t>ATTENDANCE </a:t>
            </a:r>
            <a:r>
              <a:rPr dirty="0" sz="3600" spc="190" b="1">
                <a:latin typeface="Trebuchet MS"/>
                <a:cs typeface="Trebuchet MS"/>
              </a:rPr>
              <a:t>MONITORING</a:t>
            </a:r>
            <a:r>
              <a:rPr dirty="0" sz="3600" spc="10" b="1">
                <a:latin typeface="Trebuchet MS"/>
                <a:cs typeface="Trebuchet MS"/>
              </a:rPr>
              <a:t> </a:t>
            </a:r>
            <a:r>
              <a:rPr dirty="0" sz="3600" spc="-150" b="1">
                <a:latin typeface="Trebuchet MS"/>
                <a:cs typeface="Trebuchet MS"/>
              </a:rPr>
              <a:t>WITH</a:t>
            </a:r>
            <a:r>
              <a:rPr dirty="0" sz="3600" spc="10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REINFORCEMENT</a:t>
            </a:r>
            <a:r>
              <a:rPr dirty="0" sz="3600" spc="15" b="1">
                <a:latin typeface="Trebuchet MS"/>
                <a:cs typeface="Trebuchet MS"/>
              </a:rPr>
              <a:t> </a:t>
            </a:r>
            <a:r>
              <a:rPr dirty="0" sz="3600" spc="70" b="1">
                <a:latin typeface="Trebuchet MS"/>
                <a:cs typeface="Trebuchet MS"/>
              </a:rPr>
              <a:t>LEARNING </a:t>
            </a:r>
            <a:r>
              <a:rPr dirty="0" sz="3600" spc="-10" b="1">
                <a:latin typeface="Trebuchet MS"/>
                <a:cs typeface="Trebuchet MS"/>
              </a:rPr>
              <a:t>MIDDLEWARE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5598" y="7798574"/>
            <a:ext cx="9872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14">
                <a:latin typeface="Trebuchet MS"/>
                <a:cs typeface="Trebuchet MS"/>
              </a:rPr>
              <a:t>Engineering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(CSNE)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8809" y="9235471"/>
            <a:ext cx="8022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1611158"/>
            <a:ext cx="8666480" cy="8084820"/>
            <a:chOff x="0" y="1611158"/>
            <a:chExt cx="8666480" cy="80848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27499"/>
              <a:ext cx="4119017" cy="7680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7968" y="1611158"/>
              <a:ext cx="8468360" cy="7284720"/>
            </a:xfrm>
            <a:custGeom>
              <a:avLst/>
              <a:gdLst/>
              <a:ahLst/>
              <a:cxnLst/>
              <a:rect l="l" t="t" r="r" b="b"/>
              <a:pathLst>
                <a:path w="8468360" h="7284720">
                  <a:moveTo>
                    <a:pt x="8229796" y="7284337"/>
                  </a:moveTo>
                  <a:lnTo>
                    <a:pt x="238125" y="7284337"/>
                  </a:lnTo>
                  <a:lnTo>
                    <a:pt x="191452" y="7279719"/>
                  </a:lnTo>
                  <a:lnTo>
                    <a:pt x="146998" y="7266211"/>
                  </a:lnTo>
                  <a:lnTo>
                    <a:pt x="106013" y="7244329"/>
                  </a:lnTo>
                  <a:lnTo>
                    <a:pt x="69745" y="7214592"/>
                  </a:lnTo>
                  <a:lnTo>
                    <a:pt x="40007" y="7178324"/>
                  </a:lnTo>
                  <a:lnTo>
                    <a:pt x="18126" y="7137338"/>
                  </a:lnTo>
                  <a:lnTo>
                    <a:pt x="4617" y="7092885"/>
                  </a:lnTo>
                  <a:lnTo>
                    <a:pt x="0" y="7046212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8229796" y="0"/>
                  </a:lnTo>
                  <a:lnTo>
                    <a:pt x="8276469" y="4617"/>
                  </a:lnTo>
                  <a:lnTo>
                    <a:pt x="8320923" y="18126"/>
                  </a:lnTo>
                  <a:lnTo>
                    <a:pt x="8361909" y="40007"/>
                  </a:lnTo>
                  <a:lnTo>
                    <a:pt x="8398177" y="69745"/>
                  </a:lnTo>
                  <a:lnTo>
                    <a:pt x="8427914" y="106013"/>
                  </a:lnTo>
                  <a:lnTo>
                    <a:pt x="8449796" y="146998"/>
                  </a:lnTo>
                  <a:lnTo>
                    <a:pt x="8463304" y="191452"/>
                  </a:lnTo>
                  <a:lnTo>
                    <a:pt x="8467922" y="238125"/>
                  </a:lnTo>
                  <a:lnTo>
                    <a:pt x="8467922" y="7046212"/>
                  </a:lnTo>
                  <a:lnTo>
                    <a:pt x="8463304" y="7092885"/>
                  </a:lnTo>
                  <a:lnTo>
                    <a:pt x="8449796" y="7137338"/>
                  </a:lnTo>
                  <a:lnTo>
                    <a:pt x="8427914" y="7178324"/>
                  </a:lnTo>
                  <a:lnTo>
                    <a:pt x="8398177" y="7214592"/>
                  </a:lnTo>
                  <a:lnTo>
                    <a:pt x="8361909" y="7244329"/>
                  </a:lnTo>
                  <a:lnTo>
                    <a:pt x="8320923" y="7266211"/>
                  </a:lnTo>
                  <a:lnTo>
                    <a:pt x="8276469" y="7279719"/>
                  </a:lnTo>
                  <a:lnTo>
                    <a:pt x="8229796" y="7284337"/>
                  </a:lnTo>
                  <a:close/>
                </a:path>
              </a:pathLst>
            </a:custGeom>
            <a:solidFill>
              <a:srgbClr val="FAE7BC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46430" marR="5080">
              <a:lnSpc>
                <a:spcPct val="116100"/>
              </a:lnSpc>
              <a:spcBef>
                <a:spcPts val="95"/>
              </a:spcBef>
            </a:pPr>
            <a:r>
              <a:rPr dirty="0" sz="3500" b="1">
                <a:latin typeface="Trebuchet MS"/>
                <a:cs typeface="Trebuchet MS"/>
              </a:rPr>
              <a:t>ADAPTIVE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IOT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ENVIRONMENTAL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&amp;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ATTENDANCE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175" b="1">
                <a:latin typeface="Trebuchet MS"/>
                <a:cs typeface="Trebuchet MS"/>
              </a:rPr>
              <a:t>MONITORING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spc="-20" b="1">
                <a:latin typeface="Trebuchet MS"/>
                <a:cs typeface="Trebuchet MS"/>
              </a:rPr>
              <a:t>WITH </a:t>
            </a:r>
            <a:r>
              <a:rPr dirty="0" sz="3500" b="1">
                <a:latin typeface="Trebuchet MS"/>
                <a:cs typeface="Trebuchet MS"/>
              </a:rPr>
              <a:t>REINFORCEMENT</a:t>
            </a:r>
            <a:r>
              <a:rPr dirty="0" sz="3500" spc="-5" b="1">
                <a:latin typeface="Trebuchet MS"/>
                <a:cs typeface="Trebuchet MS"/>
              </a:rPr>
              <a:t> </a:t>
            </a:r>
            <a:r>
              <a:rPr dirty="0" sz="3500" spc="70" b="1">
                <a:latin typeface="Trebuchet MS"/>
                <a:cs typeface="Trebuchet MS"/>
              </a:rPr>
              <a:t>LEARNING</a:t>
            </a:r>
            <a:r>
              <a:rPr dirty="0" sz="3500" b="1">
                <a:latin typeface="Trebuchet MS"/>
                <a:cs typeface="Trebuchet MS"/>
              </a:rPr>
              <a:t> </a:t>
            </a:r>
            <a:r>
              <a:rPr dirty="0" sz="3500" spc="-10" b="1">
                <a:latin typeface="Trebuchet MS"/>
                <a:cs typeface="Trebuchet MS"/>
              </a:rPr>
              <a:t>MIDDLEWARE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8809" y="9335865"/>
            <a:ext cx="715899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latin typeface="Trebuchet MS"/>
                <a:cs typeface="Trebuchet MS"/>
              </a:rPr>
              <a:t>IT22132000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350">
                <a:latin typeface="Trebuchet MS"/>
                <a:cs typeface="Trebuchet MS"/>
              </a:rPr>
              <a:t>|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-85">
                <a:latin typeface="Trebuchet MS"/>
                <a:cs typeface="Trebuchet MS"/>
              </a:rPr>
              <a:t>S.S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175">
                <a:latin typeface="Trebuchet MS"/>
                <a:cs typeface="Trebuchet MS"/>
              </a:rPr>
              <a:t>Bamunuarachchi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350">
                <a:latin typeface="Trebuchet MS"/>
                <a:cs typeface="Trebuchet MS"/>
              </a:rPr>
              <a:t>|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25-26J-</a:t>
            </a:r>
            <a:r>
              <a:rPr dirty="0" sz="2500" spc="35">
                <a:latin typeface="Trebuchet MS"/>
                <a:cs typeface="Trebuchet MS"/>
              </a:rPr>
              <a:t>024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642" y="1725897"/>
            <a:ext cx="4937125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50" b="1">
                <a:latin typeface="Trebuchet MS"/>
                <a:cs typeface="Trebuchet MS"/>
              </a:rPr>
              <a:t>Problem,</a:t>
            </a:r>
            <a:r>
              <a:rPr dirty="0" sz="2150" spc="60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Motivation</a:t>
            </a:r>
            <a:r>
              <a:rPr dirty="0" sz="2150" spc="60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&amp;</a:t>
            </a:r>
            <a:r>
              <a:rPr dirty="0" sz="2150" spc="60" b="1">
                <a:latin typeface="Trebuchet MS"/>
                <a:cs typeface="Trebuchet MS"/>
              </a:rPr>
              <a:t> </a:t>
            </a:r>
            <a:r>
              <a:rPr dirty="0" sz="2150" spc="65" b="1">
                <a:latin typeface="Trebuchet MS"/>
                <a:cs typeface="Trebuchet MS"/>
              </a:rPr>
              <a:t>Research</a:t>
            </a:r>
            <a:r>
              <a:rPr dirty="0" sz="2150" spc="60" b="1">
                <a:latin typeface="Trebuchet MS"/>
                <a:cs typeface="Trebuchet MS"/>
              </a:rPr>
              <a:t> </a:t>
            </a:r>
            <a:r>
              <a:rPr dirty="0" sz="2150" spc="240" b="1">
                <a:latin typeface="Trebuchet MS"/>
                <a:cs typeface="Trebuchet MS"/>
              </a:rPr>
              <a:t>Gap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5642" y="2415450"/>
            <a:ext cx="8023225" cy="749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2050" spc="175" b="1">
                <a:latin typeface="Trebuchet MS"/>
                <a:cs typeface="Trebuchet MS"/>
              </a:rPr>
              <a:t>Many</a:t>
            </a:r>
            <a:r>
              <a:rPr dirty="0" sz="2050" spc="50" b="1">
                <a:latin typeface="Trebuchet MS"/>
                <a:cs typeface="Trebuchet MS"/>
              </a:rPr>
              <a:t> </a:t>
            </a:r>
            <a:r>
              <a:rPr dirty="0" sz="2050" spc="-10" b="1">
                <a:latin typeface="Trebuchet MS"/>
                <a:cs typeface="Trebuchet MS"/>
              </a:rPr>
              <a:t>university</a:t>
            </a:r>
            <a:r>
              <a:rPr dirty="0" sz="2050" spc="65" b="1">
                <a:latin typeface="Trebuchet MS"/>
                <a:cs typeface="Trebuchet MS"/>
              </a:rPr>
              <a:t> classrooms</a:t>
            </a:r>
            <a:r>
              <a:rPr dirty="0" sz="2050" spc="60" b="1">
                <a:latin typeface="Trebuchet MS"/>
                <a:cs typeface="Trebuchet MS"/>
              </a:rPr>
              <a:t> </a:t>
            </a:r>
            <a:r>
              <a:rPr dirty="0" sz="2050" spc="100" b="1">
                <a:latin typeface="Trebuchet MS"/>
                <a:cs typeface="Trebuchet MS"/>
              </a:rPr>
              <a:t>lack</a:t>
            </a:r>
            <a:r>
              <a:rPr dirty="0" sz="2050" spc="6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real-time</a:t>
            </a:r>
            <a:r>
              <a:rPr dirty="0" sz="2050" spc="6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monitoring</a:t>
            </a:r>
            <a:r>
              <a:rPr dirty="0" sz="2050" spc="65" b="1">
                <a:latin typeface="Trebuchet MS"/>
                <a:cs typeface="Trebuchet MS"/>
              </a:rPr>
              <a:t> </a:t>
            </a:r>
            <a:r>
              <a:rPr dirty="0" sz="2050" spc="-25" b="1">
                <a:latin typeface="Trebuchet MS"/>
                <a:cs typeface="Trebuchet MS"/>
              </a:rPr>
              <a:t>of </a:t>
            </a:r>
            <a:r>
              <a:rPr dirty="0" sz="2050" b="1">
                <a:latin typeface="Trebuchet MS"/>
                <a:cs typeface="Trebuchet MS"/>
              </a:rPr>
              <a:t>environmental</a:t>
            </a:r>
            <a:r>
              <a:rPr dirty="0" sz="2050" spc="12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conditions</a:t>
            </a:r>
            <a:r>
              <a:rPr dirty="0" sz="2050" spc="135" b="1">
                <a:latin typeface="Trebuchet MS"/>
                <a:cs typeface="Trebuchet MS"/>
              </a:rPr>
              <a:t> </a:t>
            </a:r>
            <a:r>
              <a:rPr dirty="0" sz="2050" spc="145" b="1">
                <a:latin typeface="Trebuchet MS"/>
                <a:cs typeface="Trebuchet MS"/>
              </a:rPr>
              <a:t>and</a:t>
            </a:r>
            <a:r>
              <a:rPr dirty="0" sz="2050" spc="135" b="1">
                <a:latin typeface="Trebuchet MS"/>
                <a:cs typeface="Trebuchet MS"/>
              </a:rPr>
              <a:t> </a:t>
            </a:r>
            <a:r>
              <a:rPr dirty="0" sz="2050" spc="80" b="1">
                <a:latin typeface="Trebuchet MS"/>
                <a:cs typeface="Trebuchet MS"/>
              </a:rPr>
              <a:t>automated</a:t>
            </a:r>
            <a:r>
              <a:rPr dirty="0" sz="2050" spc="140" b="1">
                <a:latin typeface="Trebuchet MS"/>
                <a:cs typeface="Trebuchet MS"/>
              </a:rPr>
              <a:t> </a:t>
            </a:r>
            <a:r>
              <a:rPr dirty="0" sz="2050" spc="75" b="1">
                <a:latin typeface="Trebuchet MS"/>
                <a:cs typeface="Trebuchet MS"/>
              </a:rPr>
              <a:t>attendance</a:t>
            </a:r>
            <a:r>
              <a:rPr dirty="0" sz="2050" spc="135" b="1">
                <a:latin typeface="Trebuchet MS"/>
                <a:cs typeface="Trebuchet MS"/>
              </a:rPr>
              <a:t> </a:t>
            </a:r>
            <a:r>
              <a:rPr dirty="0" sz="2050" spc="-10" b="1">
                <a:latin typeface="Trebuchet MS"/>
                <a:cs typeface="Trebuchet MS"/>
              </a:rPr>
              <a:t>systems.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8842" y="4042504"/>
            <a:ext cx="95250" cy="819150"/>
            <a:chOff x="678842" y="4042504"/>
            <a:chExt cx="95250" cy="81915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4042504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4404454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4766403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75642" y="3501299"/>
            <a:ext cx="7735570" cy="18351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10" b="1">
                <a:latin typeface="Trebuchet MS"/>
                <a:cs typeface="Trebuchet MS"/>
              </a:rPr>
              <a:t>Stakeholders</a:t>
            </a:r>
            <a:endParaRPr sz="2050">
              <a:latin typeface="Trebuchet MS"/>
              <a:cs typeface="Trebuchet MS"/>
            </a:endParaRPr>
          </a:p>
          <a:p>
            <a:pPr marL="459105" marR="1755139">
              <a:lnSpc>
                <a:spcPts val="2850"/>
              </a:lnSpc>
              <a:spcBef>
                <a:spcPts val="160"/>
              </a:spcBef>
            </a:pPr>
            <a:r>
              <a:rPr dirty="0" sz="2050">
                <a:latin typeface="Trebuchet MS"/>
                <a:cs typeface="Trebuchet MS"/>
              </a:rPr>
              <a:t>Primary</a:t>
            </a:r>
            <a:r>
              <a:rPr dirty="0" sz="2050" spc="2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users:</a:t>
            </a:r>
            <a:r>
              <a:rPr dirty="0" sz="2050" spc="20">
                <a:latin typeface="Trebuchet MS"/>
                <a:cs typeface="Trebuchet MS"/>
              </a:rPr>
              <a:t> </a:t>
            </a:r>
            <a:r>
              <a:rPr dirty="0" sz="2050" spc="55">
                <a:latin typeface="Trebuchet MS"/>
                <a:cs typeface="Trebuchet MS"/>
              </a:rPr>
              <a:t>Students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240">
                <a:latin typeface="Trebuchet MS"/>
                <a:cs typeface="Trebuchet MS"/>
              </a:rPr>
              <a:t>and</a:t>
            </a:r>
            <a:r>
              <a:rPr dirty="0" sz="2050" spc="2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lecturers </a:t>
            </a:r>
            <a:r>
              <a:rPr dirty="0" sz="2050" spc="155">
                <a:latin typeface="Trebuchet MS"/>
                <a:cs typeface="Trebuchet MS"/>
              </a:rPr>
              <a:t>Secondary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users: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University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-200">
                <a:latin typeface="Trebuchet MS"/>
                <a:cs typeface="Trebuchet MS"/>
              </a:rPr>
              <a:t>IT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050" spc="35">
                <a:latin typeface="Trebuchet MS"/>
                <a:cs typeface="Trebuchet MS"/>
              </a:rPr>
              <a:t>administrators</a:t>
            </a:r>
            <a:endParaRPr sz="2050">
              <a:latin typeface="Trebuchet MS"/>
              <a:cs typeface="Trebuchet MS"/>
            </a:endParaRPr>
          </a:p>
          <a:p>
            <a:pPr marL="459105" marR="5080">
              <a:lnSpc>
                <a:spcPts val="2850"/>
              </a:lnSpc>
            </a:pPr>
            <a:r>
              <a:rPr dirty="0" sz="2050" spc="100">
                <a:latin typeface="Trebuchet MS"/>
                <a:cs typeface="Trebuchet MS"/>
              </a:rPr>
              <a:t>Decision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60">
                <a:latin typeface="Trebuchet MS"/>
                <a:cs typeface="Trebuchet MS"/>
              </a:rPr>
              <a:t>makers: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University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204">
                <a:latin typeface="Trebuchet MS"/>
                <a:cs typeface="Trebuchet MS"/>
              </a:rPr>
              <a:t>management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240">
                <a:latin typeface="Trebuchet MS"/>
                <a:cs typeface="Trebuchet MS"/>
              </a:rPr>
              <a:t>and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204">
                <a:latin typeface="Trebuchet MS"/>
                <a:cs typeface="Trebuchet MS"/>
              </a:rPr>
              <a:t>academic </a:t>
            </a:r>
            <a:r>
              <a:rPr dirty="0" sz="2050" spc="105">
                <a:latin typeface="Trebuchet MS"/>
                <a:cs typeface="Trebuchet MS"/>
              </a:rPr>
              <a:t>departments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8842" y="6576153"/>
            <a:ext cx="95250" cy="1181100"/>
            <a:chOff x="678842" y="6576153"/>
            <a:chExt cx="95250" cy="11811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6576153"/>
              <a:ext cx="95250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6938103"/>
              <a:ext cx="95250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7300053"/>
              <a:ext cx="95250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842" y="7662003"/>
              <a:ext cx="95250" cy="952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75642" y="5672999"/>
            <a:ext cx="7980680" cy="292100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100" b="1">
                <a:latin typeface="Trebuchet MS"/>
                <a:cs typeface="Trebuchet MS"/>
              </a:rPr>
              <a:t>Observed</a:t>
            </a:r>
            <a:r>
              <a:rPr dirty="0" sz="2050" spc="-40" b="1">
                <a:latin typeface="Trebuchet MS"/>
                <a:cs typeface="Trebuchet MS"/>
              </a:rPr>
              <a:t> </a:t>
            </a:r>
            <a:r>
              <a:rPr dirty="0" sz="2050" spc="-20" b="1">
                <a:latin typeface="Trebuchet MS"/>
                <a:cs typeface="Trebuchet MS"/>
              </a:rPr>
              <a:t>Issue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80" b="1">
                <a:latin typeface="Trebuchet MS"/>
                <a:cs typeface="Trebuchet MS"/>
              </a:rPr>
              <a:t>Classrooms</a:t>
            </a:r>
            <a:r>
              <a:rPr dirty="0" sz="2050" spc="-6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often</a:t>
            </a:r>
            <a:r>
              <a:rPr dirty="0" sz="2050" spc="-60" b="1">
                <a:latin typeface="Trebuchet MS"/>
                <a:cs typeface="Trebuchet MS"/>
              </a:rPr>
              <a:t> </a:t>
            </a:r>
            <a:r>
              <a:rPr dirty="0" sz="2050" spc="35" b="1">
                <a:latin typeface="Trebuchet MS"/>
                <a:cs typeface="Trebuchet MS"/>
              </a:rPr>
              <a:t>experience:</a:t>
            </a:r>
            <a:endParaRPr sz="2050">
              <a:latin typeface="Trebuchet MS"/>
              <a:cs typeface="Trebuchet MS"/>
            </a:endParaRPr>
          </a:p>
          <a:p>
            <a:pPr marL="459105" marR="3476625">
              <a:lnSpc>
                <a:spcPts val="2850"/>
              </a:lnSpc>
              <a:spcBef>
                <a:spcPts val="160"/>
              </a:spcBef>
            </a:pPr>
            <a:r>
              <a:rPr dirty="0" sz="2050" spc="100">
                <a:latin typeface="Trebuchet MS"/>
                <a:cs typeface="Trebuchet MS"/>
              </a:rPr>
              <a:t>High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100">
                <a:latin typeface="Trebuchet MS"/>
                <a:cs typeface="Trebuchet MS"/>
              </a:rPr>
              <a:t>temperature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050" spc="240">
                <a:latin typeface="Trebuchet MS"/>
                <a:cs typeface="Trebuchet MS"/>
              </a:rPr>
              <a:t>and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45">
                <a:latin typeface="Trebuchet MS"/>
                <a:cs typeface="Trebuchet MS"/>
              </a:rPr>
              <a:t>humidity </a:t>
            </a:r>
            <a:r>
              <a:rPr dirty="0" sz="2050" spc="95">
                <a:latin typeface="Trebuchet MS"/>
                <a:cs typeface="Trebuchet MS"/>
              </a:rPr>
              <a:t>Poor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air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quality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150">
                <a:latin typeface="Trebuchet MS"/>
                <a:cs typeface="Trebuchet MS"/>
              </a:rPr>
              <a:t>(CO₂</a:t>
            </a:r>
            <a:r>
              <a:rPr dirty="0" sz="2050" spc="-2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levels) </a:t>
            </a:r>
            <a:r>
              <a:rPr dirty="0" sz="2050" spc="60">
                <a:latin typeface="Trebuchet MS"/>
                <a:cs typeface="Trebuchet MS"/>
              </a:rPr>
              <a:t>Excessive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85">
                <a:latin typeface="Trebuchet MS"/>
                <a:cs typeface="Trebuchet MS"/>
              </a:rPr>
              <a:t>noise</a:t>
            </a:r>
            <a:r>
              <a:rPr dirty="0" sz="2050" spc="-2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levels</a:t>
            </a:r>
            <a:endParaRPr sz="2050">
              <a:latin typeface="Trebuchet MS"/>
              <a:cs typeface="Trebuchet MS"/>
            </a:endParaRPr>
          </a:p>
          <a:p>
            <a:pPr marL="459105">
              <a:lnSpc>
                <a:spcPct val="100000"/>
              </a:lnSpc>
              <a:spcBef>
                <a:spcPts val="229"/>
              </a:spcBef>
            </a:pPr>
            <a:r>
              <a:rPr dirty="0" sz="2050" spc="190">
                <a:latin typeface="Trebuchet MS"/>
                <a:cs typeface="Trebuchet MS"/>
              </a:rPr>
              <a:t>Manual</a:t>
            </a:r>
            <a:r>
              <a:rPr dirty="0" sz="2050" spc="10">
                <a:latin typeface="Trebuchet MS"/>
                <a:cs typeface="Trebuchet MS"/>
              </a:rPr>
              <a:t> </a:t>
            </a:r>
            <a:r>
              <a:rPr dirty="0" sz="2050" spc="60">
                <a:latin typeface="Trebuchet MS"/>
                <a:cs typeface="Trebuchet MS"/>
              </a:rPr>
              <a:t>or</a:t>
            </a:r>
            <a:r>
              <a:rPr dirty="0" sz="2050" spc="1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inefficient</a:t>
            </a:r>
            <a:r>
              <a:rPr dirty="0" sz="2050" spc="10">
                <a:latin typeface="Trebuchet MS"/>
                <a:cs typeface="Trebuchet MS"/>
              </a:rPr>
              <a:t> </a:t>
            </a:r>
            <a:r>
              <a:rPr dirty="0" sz="2050" spc="160">
                <a:latin typeface="Trebuchet MS"/>
                <a:cs typeface="Trebuchet MS"/>
              </a:rPr>
              <a:t>attendance</a:t>
            </a:r>
            <a:r>
              <a:rPr dirty="0" sz="2050" spc="10">
                <a:latin typeface="Trebuchet MS"/>
                <a:cs typeface="Trebuchet MS"/>
              </a:rPr>
              <a:t> </a:t>
            </a:r>
            <a:r>
              <a:rPr dirty="0" sz="2050" spc="70">
                <a:latin typeface="Trebuchet MS"/>
                <a:cs typeface="Trebuchet MS"/>
              </a:rPr>
              <a:t>tracking</a:t>
            </a:r>
            <a:endParaRPr sz="205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050">
                <a:latin typeface="Trebuchet MS"/>
                <a:cs typeface="Trebuchet MS"/>
              </a:rPr>
              <a:t>These </a:t>
            </a:r>
            <a:r>
              <a:rPr dirty="0" sz="2050" spc="60">
                <a:latin typeface="Trebuchet MS"/>
                <a:cs typeface="Trebuchet MS"/>
              </a:rPr>
              <a:t>factors</a:t>
            </a:r>
            <a:r>
              <a:rPr dirty="0" sz="2050">
                <a:latin typeface="Trebuchet MS"/>
                <a:cs typeface="Trebuchet MS"/>
              </a:rPr>
              <a:t> </a:t>
            </a:r>
            <a:r>
              <a:rPr dirty="0" sz="2050" spc="155">
                <a:latin typeface="Trebuchet MS"/>
                <a:cs typeface="Trebuchet MS"/>
              </a:rPr>
              <a:t>reduce</a:t>
            </a:r>
            <a:r>
              <a:rPr dirty="0" sz="2050">
                <a:latin typeface="Trebuchet MS"/>
                <a:cs typeface="Trebuchet MS"/>
              </a:rPr>
              <a:t> </a:t>
            </a:r>
            <a:r>
              <a:rPr dirty="0" sz="2050" spc="65">
                <a:latin typeface="Trebuchet MS"/>
                <a:cs typeface="Trebuchet MS"/>
              </a:rPr>
              <a:t>student</a:t>
            </a:r>
            <a:r>
              <a:rPr dirty="0" sz="2050" spc="5">
                <a:latin typeface="Trebuchet MS"/>
                <a:cs typeface="Trebuchet MS"/>
              </a:rPr>
              <a:t> </a:t>
            </a:r>
            <a:r>
              <a:rPr dirty="0" sz="2050" spc="110">
                <a:latin typeface="Trebuchet MS"/>
                <a:cs typeface="Trebuchet MS"/>
              </a:rPr>
              <a:t>concentration</a:t>
            </a:r>
            <a:r>
              <a:rPr dirty="0" sz="2050">
                <a:latin typeface="Trebuchet MS"/>
                <a:cs typeface="Trebuchet MS"/>
              </a:rPr>
              <a:t> </a:t>
            </a:r>
            <a:r>
              <a:rPr dirty="0" sz="2050" spc="240">
                <a:latin typeface="Trebuchet MS"/>
                <a:cs typeface="Trebuchet MS"/>
              </a:rPr>
              <a:t>and</a:t>
            </a:r>
            <a:r>
              <a:rPr dirty="0" sz="2050">
                <a:latin typeface="Trebuchet MS"/>
                <a:cs typeface="Trebuchet MS"/>
              </a:rPr>
              <a:t> </a:t>
            </a:r>
            <a:r>
              <a:rPr dirty="0" sz="2050" spc="195">
                <a:latin typeface="Trebuchet MS"/>
                <a:cs typeface="Trebuchet MS"/>
              </a:rPr>
              <a:t>engagement </a:t>
            </a:r>
            <a:r>
              <a:rPr dirty="0" sz="2050" spc="100">
                <a:latin typeface="Trebuchet MS"/>
                <a:cs typeface="Trebuchet MS"/>
              </a:rPr>
              <a:t>during</a:t>
            </a:r>
            <a:r>
              <a:rPr dirty="0" sz="2050" spc="-5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lectures.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19021" y="1611157"/>
            <a:ext cx="8367395" cy="7515859"/>
            <a:chOff x="9419021" y="1611157"/>
            <a:chExt cx="8367395" cy="7515859"/>
          </a:xfrm>
        </p:grpSpPr>
        <p:sp>
          <p:nvSpPr>
            <p:cNvPr id="26" name="object 26"/>
            <p:cNvSpPr/>
            <p:nvPr/>
          </p:nvSpPr>
          <p:spPr>
            <a:xfrm>
              <a:off x="9419021" y="1611157"/>
              <a:ext cx="8367395" cy="7515859"/>
            </a:xfrm>
            <a:custGeom>
              <a:avLst/>
              <a:gdLst/>
              <a:ahLst/>
              <a:cxnLst/>
              <a:rect l="l" t="t" r="r" b="b"/>
              <a:pathLst>
                <a:path w="8367394" h="7515859">
                  <a:moveTo>
                    <a:pt x="8142511" y="7515680"/>
                  </a:moveTo>
                  <a:lnTo>
                    <a:pt x="238124" y="7515680"/>
                  </a:lnTo>
                  <a:lnTo>
                    <a:pt x="191452" y="7511062"/>
                  </a:lnTo>
                  <a:lnTo>
                    <a:pt x="146998" y="7497554"/>
                  </a:lnTo>
                  <a:lnTo>
                    <a:pt x="106013" y="7475672"/>
                  </a:lnTo>
                  <a:lnTo>
                    <a:pt x="69745" y="7445935"/>
                  </a:lnTo>
                  <a:lnTo>
                    <a:pt x="40007" y="7409667"/>
                  </a:lnTo>
                  <a:lnTo>
                    <a:pt x="18126" y="7368682"/>
                  </a:lnTo>
                  <a:lnTo>
                    <a:pt x="4617" y="7324228"/>
                  </a:lnTo>
                  <a:lnTo>
                    <a:pt x="0" y="7277555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8142511" y="0"/>
                  </a:lnTo>
                  <a:lnTo>
                    <a:pt x="8189184" y="4617"/>
                  </a:lnTo>
                  <a:lnTo>
                    <a:pt x="8233638" y="18126"/>
                  </a:lnTo>
                  <a:lnTo>
                    <a:pt x="8274623" y="40007"/>
                  </a:lnTo>
                  <a:lnTo>
                    <a:pt x="8310891" y="69745"/>
                  </a:lnTo>
                  <a:lnTo>
                    <a:pt x="8340628" y="106013"/>
                  </a:lnTo>
                  <a:lnTo>
                    <a:pt x="8362510" y="146998"/>
                  </a:lnTo>
                  <a:lnTo>
                    <a:pt x="8367065" y="161988"/>
                  </a:lnTo>
                  <a:lnTo>
                    <a:pt x="8367065" y="7353691"/>
                  </a:lnTo>
                  <a:lnTo>
                    <a:pt x="8340628" y="7409667"/>
                  </a:lnTo>
                  <a:lnTo>
                    <a:pt x="8310891" y="7445935"/>
                  </a:lnTo>
                  <a:lnTo>
                    <a:pt x="8274623" y="7475672"/>
                  </a:lnTo>
                  <a:lnTo>
                    <a:pt x="8233638" y="7497554"/>
                  </a:lnTo>
                  <a:lnTo>
                    <a:pt x="8189184" y="7511062"/>
                  </a:lnTo>
                  <a:lnTo>
                    <a:pt x="8142511" y="7515680"/>
                  </a:lnTo>
                  <a:close/>
                </a:path>
              </a:pathLst>
            </a:custGeom>
            <a:solidFill>
              <a:srgbClr val="FF8E4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2558335"/>
              <a:ext cx="95250" cy="952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2920285"/>
              <a:ext cx="95250" cy="952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3282235"/>
              <a:ext cx="95250" cy="952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3644185"/>
              <a:ext cx="95250" cy="952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542324" y="1654495"/>
            <a:ext cx="5302885" cy="21971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050" b="1">
                <a:latin typeface="Trebuchet MS"/>
                <a:cs typeface="Trebuchet MS"/>
              </a:rPr>
              <a:t>Why</a:t>
            </a:r>
            <a:r>
              <a:rPr dirty="0" sz="2050" spc="5" b="1">
                <a:latin typeface="Trebuchet MS"/>
                <a:cs typeface="Trebuchet MS"/>
              </a:rPr>
              <a:t> </a:t>
            </a:r>
            <a:r>
              <a:rPr dirty="0" sz="2050" spc="-145" b="1">
                <a:latin typeface="Trebuchet MS"/>
                <a:cs typeface="Trebuchet MS"/>
              </a:rPr>
              <a:t>it</a:t>
            </a:r>
            <a:r>
              <a:rPr dirty="0" sz="2050" spc="5" b="1">
                <a:latin typeface="Trebuchet MS"/>
                <a:cs typeface="Trebuchet MS"/>
              </a:rPr>
              <a:t> </a:t>
            </a:r>
            <a:r>
              <a:rPr dirty="0" sz="2050" spc="-10" b="1">
                <a:latin typeface="Trebuchet MS"/>
                <a:cs typeface="Trebuchet MS"/>
              </a:rPr>
              <a:t>Matters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b="1">
                <a:latin typeface="Trebuchet MS"/>
                <a:cs typeface="Trebuchet MS"/>
              </a:rPr>
              <a:t>Poor</a:t>
            </a:r>
            <a:r>
              <a:rPr dirty="0" sz="2050" spc="-25" b="1">
                <a:latin typeface="Trebuchet MS"/>
                <a:cs typeface="Trebuchet MS"/>
              </a:rPr>
              <a:t> </a:t>
            </a:r>
            <a:r>
              <a:rPr dirty="0" sz="2050" spc="60" b="1">
                <a:latin typeface="Trebuchet MS"/>
                <a:cs typeface="Trebuchet MS"/>
              </a:rPr>
              <a:t>classroom</a:t>
            </a:r>
            <a:r>
              <a:rPr dirty="0" sz="2050" spc="-2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environments</a:t>
            </a:r>
            <a:r>
              <a:rPr dirty="0" sz="2050" spc="-25" b="1">
                <a:latin typeface="Trebuchet MS"/>
                <a:cs typeface="Trebuchet MS"/>
              </a:rPr>
              <a:t> </a:t>
            </a:r>
            <a:r>
              <a:rPr dirty="0" sz="2050" spc="140" b="1">
                <a:latin typeface="Trebuchet MS"/>
                <a:cs typeface="Trebuchet MS"/>
              </a:rPr>
              <a:t>can</a:t>
            </a:r>
            <a:r>
              <a:rPr dirty="0" sz="2050" spc="-25" b="1">
                <a:latin typeface="Trebuchet MS"/>
                <a:cs typeface="Trebuchet MS"/>
              </a:rPr>
              <a:t> </a:t>
            </a:r>
            <a:r>
              <a:rPr dirty="0" sz="2050" spc="95" b="1">
                <a:latin typeface="Trebuchet MS"/>
                <a:cs typeface="Trebuchet MS"/>
              </a:rPr>
              <a:t>lead</a:t>
            </a:r>
            <a:r>
              <a:rPr dirty="0" sz="2050" spc="-25" b="1">
                <a:latin typeface="Trebuchet MS"/>
                <a:cs typeface="Trebuchet MS"/>
              </a:rPr>
              <a:t> to:</a:t>
            </a:r>
            <a:endParaRPr sz="2050">
              <a:latin typeface="Trebuchet MS"/>
              <a:cs typeface="Trebuchet MS"/>
            </a:endParaRPr>
          </a:p>
          <a:p>
            <a:pPr marL="452755" marR="747395">
              <a:lnSpc>
                <a:spcPts val="2850"/>
              </a:lnSpc>
              <a:spcBef>
                <a:spcPts val="100"/>
              </a:spcBef>
            </a:pPr>
            <a:r>
              <a:rPr dirty="0" sz="2050" spc="180">
                <a:latin typeface="Trebuchet MS"/>
                <a:cs typeface="Trebuchet MS"/>
              </a:rPr>
              <a:t>Reduced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student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050" spc="70">
                <a:latin typeface="Trebuchet MS"/>
                <a:cs typeface="Trebuchet MS"/>
              </a:rPr>
              <a:t>focus </a:t>
            </a:r>
            <a:r>
              <a:rPr dirty="0" sz="2050" spc="114">
                <a:latin typeface="Trebuchet MS"/>
                <a:cs typeface="Trebuchet MS"/>
              </a:rPr>
              <a:t>Increased</a:t>
            </a:r>
            <a:r>
              <a:rPr dirty="0" sz="2050" spc="-70">
                <a:latin typeface="Trebuchet MS"/>
                <a:cs typeface="Trebuchet MS"/>
              </a:rPr>
              <a:t> </a:t>
            </a:r>
            <a:r>
              <a:rPr dirty="0" sz="2050" spc="-25">
                <a:latin typeface="Trebuchet MS"/>
                <a:cs typeface="Trebuchet MS"/>
              </a:rPr>
              <a:t>stress</a:t>
            </a:r>
            <a:r>
              <a:rPr dirty="0" sz="2050" spc="-7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levels </a:t>
            </a:r>
            <a:r>
              <a:rPr dirty="0" sz="2050" spc="114">
                <a:latin typeface="Trebuchet MS"/>
                <a:cs typeface="Trebuchet MS"/>
              </a:rPr>
              <a:t>Inaccurate</a:t>
            </a:r>
            <a:r>
              <a:rPr dirty="0" sz="2050" spc="-20">
                <a:latin typeface="Trebuchet MS"/>
                <a:cs typeface="Trebuchet MS"/>
              </a:rPr>
              <a:t> </a:t>
            </a:r>
            <a:r>
              <a:rPr dirty="0" sz="2050" spc="145">
                <a:latin typeface="Trebuchet MS"/>
                <a:cs typeface="Trebuchet MS"/>
              </a:rPr>
              <a:t>attendance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60">
                <a:latin typeface="Trebuchet MS"/>
                <a:cs typeface="Trebuchet MS"/>
              </a:rPr>
              <a:t>tracking </a:t>
            </a:r>
            <a:r>
              <a:rPr dirty="0" sz="2050" spc="70">
                <a:latin typeface="Trebuchet MS"/>
                <a:cs typeface="Trebuchet MS"/>
              </a:rPr>
              <a:t>Lower</a:t>
            </a:r>
            <a:r>
              <a:rPr dirty="0" sz="2050" spc="-55">
                <a:latin typeface="Trebuchet MS"/>
                <a:cs typeface="Trebuchet MS"/>
              </a:rPr>
              <a:t> </a:t>
            </a:r>
            <a:r>
              <a:rPr dirty="0" sz="2050" spc="75">
                <a:latin typeface="Trebuchet MS"/>
                <a:cs typeface="Trebuchet MS"/>
              </a:rPr>
              <a:t>learning</a:t>
            </a:r>
            <a:r>
              <a:rPr dirty="0" sz="2050" spc="-50">
                <a:latin typeface="Trebuchet MS"/>
                <a:cs typeface="Trebuchet MS"/>
              </a:rPr>
              <a:t> </a:t>
            </a:r>
            <a:r>
              <a:rPr dirty="0" sz="2050" spc="40">
                <a:latin typeface="Trebuchet MS"/>
                <a:cs typeface="Trebuchet MS"/>
              </a:rPr>
              <a:t>effectiveness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735999" y="5091984"/>
            <a:ext cx="95250" cy="1181100"/>
            <a:chOff x="9735999" y="5091984"/>
            <a:chExt cx="95250" cy="118110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5091984"/>
              <a:ext cx="95250" cy="952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5815884"/>
              <a:ext cx="95250" cy="9524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5999" y="6177834"/>
              <a:ext cx="95250" cy="9524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9542324" y="4188145"/>
            <a:ext cx="7313930" cy="25590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050" spc="50" b="1">
                <a:latin typeface="Trebuchet MS"/>
                <a:cs typeface="Trebuchet MS"/>
              </a:rPr>
              <a:t>Research</a:t>
            </a:r>
            <a:r>
              <a:rPr dirty="0" sz="2050" spc="-45" b="1">
                <a:latin typeface="Trebuchet MS"/>
                <a:cs typeface="Trebuchet MS"/>
              </a:rPr>
              <a:t> </a:t>
            </a:r>
            <a:r>
              <a:rPr dirty="0" sz="2050" spc="204" b="1">
                <a:latin typeface="Trebuchet MS"/>
                <a:cs typeface="Trebuchet MS"/>
              </a:rPr>
              <a:t>Gap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2050" spc="-10" b="1">
                <a:latin typeface="Trebuchet MS"/>
                <a:cs typeface="Trebuchet MS"/>
              </a:rPr>
              <a:t>Existing</a:t>
            </a:r>
            <a:r>
              <a:rPr dirty="0" sz="2050" spc="-5" b="1">
                <a:latin typeface="Trebuchet MS"/>
                <a:cs typeface="Trebuchet MS"/>
              </a:rPr>
              <a:t> </a:t>
            </a:r>
            <a:r>
              <a:rPr dirty="0" sz="2050" spc="60" b="1">
                <a:latin typeface="Trebuchet MS"/>
                <a:cs typeface="Trebuchet MS"/>
              </a:rPr>
              <a:t>classroom</a:t>
            </a:r>
            <a:r>
              <a:rPr dirty="0" sz="2050" spc="-5" b="1">
                <a:latin typeface="Trebuchet MS"/>
                <a:cs typeface="Trebuchet MS"/>
              </a:rPr>
              <a:t> </a:t>
            </a:r>
            <a:r>
              <a:rPr dirty="0" sz="2050" b="1">
                <a:latin typeface="Trebuchet MS"/>
                <a:cs typeface="Trebuchet MS"/>
              </a:rPr>
              <a:t>monitoring</a:t>
            </a:r>
            <a:r>
              <a:rPr dirty="0" sz="2050" spc="-5" b="1">
                <a:latin typeface="Trebuchet MS"/>
                <a:cs typeface="Trebuchet MS"/>
              </a:rPr>
              <a:t> </a:t>
            </a:r>
            <a:r>
              <a:rPr dirty="0" sz="2050" spc="-10" b="1">
                <a:latin typeface="Trebuchet MS"/>
                <a:cs typeface="Trebuchet MS"/>
              </a:rPr>
              <a:t>solutions:</a:t>
            </a:r>
            <a:endParaRPr sz="2050">
              <a:latin typeface="Trebuchet MS"/>
              <a:cs typeface="Trebuchet MS"/>
            </a:endParaRPr>
          </a:p>
          <a:p>
            <a:pPr marL="452755" marR="568325">
              <a:lnSpc>
                <a:spcPts val="2850"/>
              </a:lnSpc>
              <a:spcBef>
                <a:spcPts val="160"/>
              </a:spcBef>
            </a:pPr>
            <a:r>
              <a:rPr dirty="0" sz="2050" spc="80">
                <a:latin typeface="Trebuchet MS"/>
                <a:cs typeface="Trebuchet MS"/>
              </a:rPr>
              <a:t>Monitor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75">
                <a:latin typeface="Trebuchet MS"/>
                <a:cs typeface="Trebuchet MS"/>
              </a:rPr>
              <a:t>environmental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70">
                <a:latin typeface="Trebuchet MS"/>
                <a:cs typeface="Trebuchet MS"/>
              </a:rPr>
              <a:t>conditions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190">
                <a:latin typeface="Trebuchet MS"/>
                <a:cs typeface="Trebuchet MS"/>
              </a:rPr>
              <a:t>OR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135">
                <a:latin typeface="Trebuchet MS"/>
                <a:cs typeface="Trebuchet MS"/>
              </a:rPr>
              <a:t>attendance </a:t>
            </a:r>
            <a:r>
              <a:rPr dirty="0" sz="2050" spc="70">
                <a:latin typeface="Trebuchet MS"/>
                <a:cs typeface="Trebuchet MS"/>
              </a:rPr>
              <a:t>separately</a:t>
            </a:r>
            <a:endParaRPr sz="2050">
              <a:latin typeface="Trebuchet MS"/>
              <a:cs typeface="Trebuchet MS"/>
            </a:endParaRPr>
          </a:p>
          <a:p>
            <a:pPr marL="452755">
              <a:lnSpc>
                <a:spcPct val="100000"/>
              </a:lnSpc>
              <a:spcBef>
                <a:spcPts val="229"/>
              </a:spcBef>
            </a:pPr>
            <a:r>
              <a:rPr dirty="0" sz="2050" spc="85">
                <a:latin typeface="Trebuchet MS"/>
                <a:cs typeface="Trebuchet MS"/>
              </a:rPr>
              <a:t>Are</a:t>
            </a:r>
            <a:r>
              <a:rPr dirty="0" sz="2050" spc="-2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static</a:t>
            </a:r>
            <a:r>
              <a:rPr dirty="0" sz="2050" spc="-20">
                <a:latin typeface="Trebuchet MS"/>
                <a:cs typeface="Trebuchet MS"/>
              </a:rPr>
              <a:t> </a:t>
            </a:r>
            <a:r>
              <a:rPr dirty="0" sz="2050" spc="225">
                <a:latin typeface="Trebuchet MS"/>
                <a:cs typeface="Trebuchet MS"/>
              </a:rPr>
              <a:t>and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95">
                <a:latin typeface="Trebuchet MS"/>
                <a:cs typeface="Trebuchet MS"/>
              </a:rPr>
              <a:t>non-</a:t>
            </a:r>
            <a:r>
              <a:rPr dirty="0" sz="2050" spc="135">
                <a:latin typeface="Trebuchet MS"/>
                <a:cs typeface="Trebuchet MS"/>
              </a:rPr>
              <a:t>adaptive</a:t>
            </a:r>
            <a:endParaRPr sz="2050">
              <a:latin typeface="Trebuchet MS"/>
              <a:cs typeface="Trebuchet MS"/>
            </a:endParaRPr>
          </a:p>
          <a:p>
            <a:pPr marL="452755" marR="5080">
              <a:lnSpc>
                <a:spcPts val="2850"/>
              </a:lnSpc>
              <a:spcBef>
                <a:spcPts val="100"/>
              </a:spcBef>
            </a:pPr>
            <a:r>
              <a:rPr dirty="0" sz="2050" spc="245">
                <a:latin typeface="Trebuchet MS"/>
                <a:cs typeface="Trebuchet MS"/>
              </a:rPr>
              <a:t>Do</a:t>
            </a:r>
            <a:r>
              <a:rPr dirty="0" sz="2050" spc="-10">
                <a:latin typeface="Trebuchet MS"/>
                <a:cs typeface="Trebuchet MS"/>
              </a:rPr>
              <a:t> </a:t>
            </a:r>
            <a:r>
              <a:rPr dirty="0" sz="2050" spc="70">
                <a:latin typeface="Trebuchet MS"/>
                <a:cs typeface="Trebuchet MS"/>
              </a:rPr>
              <a:t>not</a:t>
            </a:r>
            <a:r>
              <a:rPr dirty="0" sz="2050" spc="-5">
                <a:latin typeface="Trebuchet MS"/>
                <a:cs typeface="Trebuchet MS"/>
              </a:rPr>
              <a:t> </a:t>
            </a:r>
            <a:r>
              <a:rPr dirty="0" sz="2050" spc="90">
                <a:latin typeface="Trebuchet MS"/>
                <a:cs typeface="Trebuchet MS"/>
              </a:rPr>
              <a:t>use</a:t>
            </a:r>
            <a:r>
              <a:rPr dirty="0" sz="2050" spc="-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intelligent</a:t>
            </a:r>
            <a:r>
              <a:rPr dirty="0" sz="2050" spc="-5">
                <a:latin typeface="Trebuchet MS"/>
                <a:cs typeface="Trebuchet MS"/>
              </a:rPr>
              <a:t> </a:t>
            </a:r>
            <a:r>
              <a:rPr dirty="0" sz="2050" spc="55">
                <a:latin typeface="Trebuchet MS"/>
                <a:cs typeface="Trebuchet MS"/>
              </a:rPr>
              <a:t>learning-</a:t>
            </a:r>
            <a:r>
              <a:rPr dirty="0" sz="2050" spc="190">
                <a:latin typeface="Trebuchet MS"/>
                <a:cs typeface="Trebuchet MS"/>
              </a:rPr>
              <a:t>based</a:t>
            </a:r>
            <a:r>
              <a:rPr dirty="0" sz="2050" spc="-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systems</a:t>
            </a:r>
            <a:r>
              <a:rPr dirty="0" sz="2050" spc="-5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to</a:t>
            </a:r>
            <a:r>
              <a:rPr dirty="0" sz="2050" spc="-10">
                <a:latin typeface="Trebuchet MS"/>
                <a:cs typeface="Trebuchet MS"/>
              </a:rPr>
              <a:t> </a:t>
            </a:r>
            <a:r>
              <a:rPr dirty="0" sz="2050" spc="185">
                <a:latin typeface="Trebuchet MS"/>
                <a:cs typeface="Trebuchet MS"/>
              </a:rPr>
              <a:t>adapt </a:t>
            </a:r>
            <a:r>
              <a:rPr dirty="0" sz="2050" spc="85">
                <a:latin typeface="Trebuchet MS"/>
                <a:cs typeface="Trebuchet MS"/>
              </a:rPr>
              <a:t>classroom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conditions.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42324" y="7083745"/>
            <a:ext cx="7851140" cy="183515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2050" spc="114" b="1">
                <a:latin typeface="Trebuchet MS"/>
                <a:cs typeface="Trebuchet MS"/>
              </a:rPr>
              <a:t>Main</a:t>
            </a:r>
            <a:r>
              <a:rPr dirty="0" sz="2050" spc="-40" b="1">
                <a:latin typeface="Trebuchet MS"/>
                <a:cs typeface="Trebuchet MS"/>
              </a:rPr>
              <a:t> </a:t>
            </a:r>
            <a:r>
              <a:rPr dirty="0" sz="2050" spc="35" b="1">
                <a:latin typeface="Trebuchet MS"/>
                <a:cs typeface="Trebuchet MS"/>
              </a:rPr>
              <a:t>Objective</a:t>
            </a:r>
            <a:endParaRPr sz="205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  <a:spcBef>
                <a:spcPts val="100"/>
              </a:spcBef>
            </a:pPr>
            <a:r>
              <a:rPr dirty="0" sz="2050" spc="120">
                <a:latin typeface="Trebuchet MS"/>
                <a:cs typeface="Trebuchet MS"/>
              </a:rPr>
              <a:t>Design</a:t>
            </a:r>
            <a:r>
              <a:rPr dirty="0" sz="2050" spc="-20">
                <a:latin typeface="Trebuchet MS"/>
                <a:cs typeface="Trebuchet MS"/>
              </a:rPr>
              <a:t> </a:t>
            </a:r>
            <a:r>
              <a:rPr dirty="0" sz="2050" spc="225">
                <a:latin typeface="Trebuchet MS"/>
                <a:cs typeface="Trebuchet MS"/>
              </a:rPr>
              <a:t>and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80">
                <a:latin typeface="Trebuchet MS"/>
                <a:cs typeface="Trebuchet MS"/>
              </a:rPr>
              <a:t>implement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310">
                <a:latin typeface="Trebuchet MS"/>
                <a:cs typeface="Trebuchet MS"/>
              </a:rPr>
              <a:t>a</a:t>
            </a:r>
            <a:r>
              <a:rPr dirty="0" sz="2050" spc="-20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Smart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105">
                <a:latin typeface="Trebuchet MS"/>
                <a:cs typeface="Trebuchet MS"/>
              </a:rPr>
              <a:t>Classroom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 spc="-45">
                <a:latin typeface="Trebuchet MS"/>
                <a:cs typeface="Trebuchet MS"/>
              </a:rPr>
              <a:t>IoT</a:t>
            </a:r>
            <a:r>
              <a:rPr dirty="0" sz="2050" spc="-1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system</a:t>
            </a:r>
            <a:r>
              <a:rPr dirty="0" sz="2050" spc="-20">
                <a:latin typeface="Trebuchet MS"/>
                <a:cs typeface="Trebuchet MS"/>
              </a:rPr>
              <a:t> that </a:t>
            </a:r>
            <a:r>
              <a:rPr dirty="0" sz="2050">
                <a:latin typeface="Trebuchet MS"/>
                <a:cs typeface="Trebuchet MS"/>
              </a:rPr>
              <a:t>monitors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75">
                <a:latin typeface="Trebuchet MS"/>
                <a:cs typeface="Trebuchet MS"/>
              </a:rPr>
              <a:t>environmental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70">
                <a:latin typeface="Trebuchet MS"/>
                <a:cs typeface="Trebuchet MS"/>
              </a:rPr>
              <a:t>conditions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225">
                <a:latin typeface="Trebuchet MS"/>
                <a:cs typeface="Trebuchet MS"/>
              </a:rPr>
              <a:t>and</a:t>
            </a:r>
            <a:r>
              <a:rPr dirty="0" sz="2050" spc="30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student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145">
                <a:latin typeface="Trebuchet MS"/>
                <a:cs typeface="Trebuchet MS"/>
              </a:rPr>
              <a:t>attendance</a:t>
            </a:r>
            <a:r>
              <a:rPr dirty="0" sz="2050" spc="25">
                <a:latin typeface="Trebuchet MS"/>
                <a:cs typeface="Trebuchet MS"/>
              </a:rPr>
              <a:t> </a:t>
            </a:r>
            <a:r>
              <a:rPr dirty="0" sz="2050" spc="-25">
                <a:latin typeface="Trebuchet MS"/>
                <a:cs typeface="Trebuchet MS"/>
              </a:rPr>
              <a:t>in </a:t>
            </a:r>
            <a:r>
              <a:rPr dirty="0" sz="2050">
                <a:latin typeface="Trebuchet MS"/>
                <a:cs typeface="Trebuchet MS"/>
              </a:rPr>
              <a:t>real-time</a:t>
            </a:r>
            <a:r>
              <a:rPr dirty="0" sz="2050" spc="105">
                <a:latin typeface="Trebuchet MS"/>
                <a:cs typeface="Trebuchet MS"/>
              </a:rPr>
              <a:t> </a:t>
            </a:r>
            <a:r>
              <a:rPr dirty="0" sz="2050" spc="225">
                <a:latin typeface="Trebuchet MS"/>
                <a:cs typeface="Trebuchet MS"/>
              </a:rPr>
              <a:t>and</a:t>
            </a:r>
            <a:r>
              <a:rPr dirty="0" sz="2050" spc="110">
                <a:latin typeface="Trebuchet MS"/>
                <a:cs typeface="Trebuchet MS"/>
              </a:rPr>
              <a:t> </a:t>
            </a:r>
            <a:r>
              <a:rPr dirty="0" sz="2050" spc="55">
                <a:latin typeface="Trebuchet MS"/>
                <a:cs typeface="Trebuchet MS"/>
              </a:rPr>
              <a:t>supports</a:t>
            </a:r>
            <a:r>
              <a:rPr dirty="0" sz="2050" spc="105">
                <a:latin typeface="Trebuchet MS"/>
                <a:cs typeface="Trebuchet MS"/>
              </a:rPr>
              <a:t> </a:t>
            </a:r>
            <a:r>
              <a:rPr dirty="0" sz="2050" spc="145">
                <a:latin typeface="Trebuchet MS"/>
                <a:cs typeface="Trebuchet MS"/>
              </a:rPr>
              <a:t>adaptive</a:t>
            </a:r>
            <a:r>
              <a:rPr dirty="0" sz="2050" spc="11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optimization</a:t>
            </a:r>
            <a:r>
              <a:rPr dirty="0" sz="2050" spc="110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using </a:t>
            </a:r>
            <a:r>
              <a:rPr dirty="0" sz="2050" spc="75">
                <a:latin typeface="Trebuchet MS"/>
                <a:cs typeface="Trebuchet MS"/>
              </a:rPr>
              <a:t>Reinforcement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85">
                <a:latin typeface="Trebuchet MS"/>
                <a:cs typeface="Trebuchet MS"/>
              </a:rPr>
              <a:t>Learning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65">
                <a:latin typeface="Trebuchet MS"/>
                <a:cs typeface="Trebuchet MS"/>
              </a:rPr>
              <a:t>middleware.</a:t>
            </a:r>
            <a:endParaRPr sz="2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4328367"/>
            <a:ext cx="4119245" cy="5367655"/>
            <a:chOff x="0" y="4328367"/>
            <a:chExt cx="4119245" cy="53676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27499"/>
              <a:ext cx="4119017" cy="7680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211" y="4328367"/>
              <a:ext cx="95532" cy="955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211" y="6199217"/>
              <a:ext cx="95532" cy="955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211" y="7695896"/>
              <a:ext cx="95532" cy="955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53563" y="3764555"/>
            <a:ext cx="6452870" cy="526415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100" spc="65" b="1">
                <a:latin typeface="Trebuchet MS"/>
                <a:cs typeface="Trebuchet MS"/>
              </a:rPr>
              <a:t>Key</a:t>
            </a:r>
            <a:r>
              <a:rPr dirty="0" sz="2100" spc="-5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Features</a:t>
            </a:r>
            <a:r>
              <a:rPr dirty="0" sz="2100" spc="-50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Delivered</a:t>
            </a:r>
            <a:endParaRPr sz="2100">
              <a:latin typeface="Trebuchet MS"/>
              <a:cs typeface="Trebuchet MS"/>
            </a:endParaRPr>
          </a:p>
          <a:p>
            <a:pPr marL="541020" marR="1908175" indent="-70485">
              <a:lnSpc>
                <a:spcPct val="116900"/>
              </a:lnSpc>
            </a:pPr>
            <a:r>
              <a:rPr dirty="0" sz="2100" spc="-120" b="1">
                <a:latin typeface="Trebuchet MS"/>
                <a:cs typeface="Trebuchet MS"/>
              </a:rPr>
              <a:t>FR1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275" b="1">
                <a:latin typeface="Trebuchet MS"/>
                <a:cs typeface="Trebuchet MS"/>
              </a:rPr>
              <a:t>–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Environmental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45" b="1">
                <a:latin typeface="Trebuchet MS"/>
                <a:cs typeface="Trebuchet MS"/>
              </a:rPr>
              <a:t>Monitoring </a:t>
            </a:r>
            <a:r>
              <a:rPr dirty="0" sz="2100" b="1">
                <a:latin typeface="Trebuchet MS"/>
                <a:cs typeface="Trebuchet MS"/>
              </a:rPr>
              <a:t>Temperature</a:t>
            </a:r>
            <a:r>
              <a:rPr dirty="0" sz="2100" spc="40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monitoring </a:t>
            </a:r>
            <a:r>
              <a:rPr dirty="0" sz="2100" b="1">
                <a:latin typeface="Trebuchet MS"/>
                <a:cs typeface="Trebuchet MS"/>
              </a:rPr>
              <a:t>Humidity</a:t>
            </a:r>
            <a:r>
              <a:rPr dirty="0" sz="2100" spc="8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monitoring</a:t>
            </a:r>
            <a:endParaRPr sz="21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425"/>
              </a:spcBef>
            </a:pPr>
            <a:r>
              <a:rPr dirty="0" sz="2100" spc="80" b="1">
                <a:latin typeface="Trebuchet MS"/>
                <a:cs typeface="Trebuchet MS"/>
              </a:rPr>
              <a:t>Noise</a:t>
            </a:r>
            <a:r>
              <a:rPr dirty="0" sz="2100" spc="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level</a:t>
            </a:r>
            <a:r>
              <a:rPr dirty="0" sz="2100" spc="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monitoring</a:t>
            </a:r>
            <a:endParaRPr sz="2100">
              <a:latin typeface="Trebuchet MS"/>
              <a:cs typeface="Trebuchet MS"/>
            </a:endParaRPr>
          </a:p>
          <a:p>
            <a:pPr marL="470534" marR="1880870" indent="69850">
              <a:lnSpc>
                <a:spcPct val="116900"/>
              </a:lnSpc>
            </a:pPr>
            <a:r>
              <a:rPr dirty="0" sz="2100" spc="170" b="1">
                <a:latin typeface="Trebuchet MS"/>
                <a:cs typeface="Trebuchet MS"/>
              </a:rPr>
              <a:t>CO₂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spc="145" b="1">
                <a:latin typeface="Trebuchet MS"/>
                <a:cs typeface="Trebuchet MS"/>
              </a:rPr>
              <a:t>/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air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quality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monitoring</a:t>
            </a:r>
            <a:r>
              <a:rPr dirty="0" sz="2100" spc="525" b="1">
                <a:latin typeface="Trebuchet MS"/>
                <a:cs typeface="Trebuchet MS"/>
              </a:rPr>
              <a:t> </a:t>
            </a:r>
            <a:r>
              <a:rPr dirty="0" sz="2100" spc="-120" b="1">
                <a:latin typeface="Trebuchet MS"/>
                <a:cs typeface="Trebuchet MS"/>
              </a:rPr>
              <a:t>FR2</a:t>
            </a:r>
            <a:r>
              <a:rPr dirty="0" sz="2100" spc="-10" b="1">
                <a:latin typeface="Trebuchet MS"/>
                <a:cs typeface="Trebuchet MS"/>
              </a:rPr>
              <a:t> </a:t>
            </a:r>
            <a:r>
              <a:rPr dirty="0" sz="2100" spc="275" b="1">
                <a:latin typeface="Trebuchet MS"/>
                <a:cs typeface="Trebuchet MS"/>
              </a:rPr>
              <a:t>–</a:t>
            </a:r>
            <a:r>
              <a:rPr dirty="0" sz="2100" spc="-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Smart</a:t>
            </a:r>
            <a:r>
              <a:rPr dirty="0" sz="2100" spc="-10" b="1">
                <a:latin typeface="Trebuchet MS"/>
                <a:cs typeface="Trebuchet MS"/>
              </a:rPr>
              <a:t> </a:t>
            </a:r>
            <a:r>
              <a:rPr dirty="0" sz="2100" spc="65" b="1">
                <a:latin typeface="Trebuchet MS"/>
                <a:cs typeface="Trebuchet MS"/>
              </a:rPr>
              <a:t>Attendance</a:t>
            </a:r>
            <a:r>
              <a:rPr dirty="0" sz="2100" spc="-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System </a:t>
            </a:r>
            <a:r>
              <a:rPr dirty="0" sz="2100" b="1">
                <a:latin typeface="Trebuchet MS"/>
                <a:cs typeface="Trebuchet MS"/>
              </a:rPr>
              <a:t>NFC/RFID</a:t>
            </a:r>
            <a:r>
              <a:rPr dirty="0" sz="2100" spc="110" b="1">
                <a:latin typeface="Trebuchet MS"/>
                <a:cs typeface="Trebuchet MS"/>
              </a:rPr>
              <a:t> </a:t>
            </a:r>
            <a:r>
              <a:rPr dirty="0" sz="2100" spc="150" b="1">
                <a:latin typeface="Trebuchet MS"/>
                <a:cs typeface="Trebuchet MS"/>
              </a:rPr>
              <a:t>based</a:t>
            </a:r>
            <a:r>
              <a:rPr dirty="0" sz="2100" spc="110" b="1">
                <a:latin typeface="Trebuchet MS"/>
                <a:cs typeface="Trebuchet MS"/>
              </a:rPr>
              <a:t> </a:t>
            </a:r>
            <a:r>
              <a:rPr dirty="0" sz="2100" spc="70" b="1">
                <a:latin typeface="Trebuchet MS"/>
                <a:cs typeface="Trebuchet MS"/>
              </a:rPr>
              <a:t>attendance </a:t>
            </a:r>
            <a:r>
              <a:rPr dirty="0" sz="2100" spc="55" b="1">
                <a:latin typeface="Trebuchet MS"/>
                <a:cs typeface="Trebuchet MS"/>
              </a:rPr>
              <a:t>Automatic</a:t>
            </a:r>
            <a:r>
              <a:rPr dirty="0" sz="2100" spc="-35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attendance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35" b="1">
                <a:latin typeface="Trebuchet MS"/>
                <a:cs typeface="Trebuchet MS"/>
              </a:rPr>
              <a:t>logging</a:t>
            </a:r>
            <a:endParaRPr sz="2100">
              <a:latin typeface="Trebuchet MS"/>
              <a:cs typeface="Trebuchet MS"/>
            </a:endParaRPr>
          </a:p>
          <a:p>
            <a:pPr marL="470534" marR="5080" indent="64135">
              <a:lnSpc>
                <a:spcPct val="116900"/>
              </a:lnSpc>
            </a:pPr>
            <a:r>
              <a:rPr dirty="0" sz="2100" b="1">
                <a:latin typeface="Trebuchet MS"/>
                <a:cs typeface="Trebuchet MS"/>
              </a:rPr>
              <a:t>Integration</a:t>
            </a:r>
            <a:r>
              <a:rPr dirty="0" sz="2100" spc="25" b="1">
                <a:latin typeface="Trebuchet MS"/>
                <a:cs typeface="Trebuchet MS"/>
              </a:rPr>
              <a:t> </a:t>
            </a:r>
            <a:r>
              <a:rPr dirty="0" sz="2100" spc="-40" b="1">
                <a:latin typeface="Trebuchet MS"/>
                <a:cs typeface="Trebuchet MS"/>
              </a:rPr>
              <a:t>with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student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130" b="1">
                <a:latin typeface="Trebuchet MS"/>
                <a:cs typeface="Trebuchet MS"/>
              </a:rPr>
              <a:t>management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system </a:t>
            </a:r>
            <a:r>
              <a:rPr dirty="0" sz="2100" spc="-120" b="1">
                <a:latin typeface="Trebuchet MS"/>
                <a:cs typeface="Trebuchet MS"/>
              </a:rPr>
              <a:t>FR3</a:t>
            </a:r>
            <a:r>
              <a:rPr dirty="0" sz="2100" spc="-25" b="1">
                <a:latin typeface="Trebuchet MS"/>
                <a:cs typeface="Trebuchet MS"/>
              </a:rPr>
              <a:t> </a:t>
            </a:r>
            <a:r>
              <a:rPr dirty="0" sz="2100" spc="275" b="1">
                <a:latin typeface="Trebuchet MS"/>
                <a:cs typeface="Trebuchet MS"/>
              </a:rPr>
              <a:t>–</a:t>
            </a:r>
            <a:r>
              <a:rPr dirty="0" sz="2100" spc="-25" b="1">
                <a:latin typeface="Trebuchet MS"/>
                <a:cs typeface="Trebuchet MS"/>
              </a:rPr>
              <a:t> </a:t>
            </a:r>
            <a:r>
              <a:rPr dirty="0" sz="2100" spc="60" b="1">
                <a:latin typeface="Trebuchet MS"/>
                <a:cs typeface="Trebuchet MS"/>
              </a:rPr>
              <a:t>Real-</a:t>
            </a:r>
            <a:r>
              <a:rPr dirty="0" sz="2100" b="1">
                <a:latin typeface="Trebuchet MS"/>
                <a:cs typeface="Trebuchet MS"/>
              </a:rPr>
              <a:t>time</a:t>
            </a:r>
            <a:r>
              <a:rPr dirty="0" sz="2100" spc="-20" b="1">
                <a:latin typeface="Trebuchet MS"/>
                <a:cs typeface="Trebuchet MS"/>
              </a:rPr>
              <a:t> </a:t>
            </a:r>
            <a:r>
              <a:rPr dirty="0" sz="2100" spc="55" b="1">
                <a:latin typeface="Trebuchet MS"/>
                <a:cs typeface="Trebuchet MS"/>
              </a:rPr>
              <a:t>Monitoring</a:t>
            </a:r>
            <a:r>
              <a:rPr dirty="0" sz="2100" spc="-25" b="1">
                <a:latin typeface="Trebuchet MS"/>
                <a:cs typeface="Trebuchet MS"/>
              </a:rPr>
              <a:t> </a:t>
            </a:r>
            <a:r>
              <a:rPr dirty="0" sz="2100" spc="105" b="1">
                <a:latin typeface="Trebuchet MS"/>
                <a:cs typeface="Trebuchet MS"/>
              </a:rPr>
              <a:t>Dashboard</a:t>
            </a:r>
            <a:endParaRPr sz="2100">
              <a:latin typeface="Trebuchet MS"/>
              <a:cs typeface="Trebuchet MS"/>
            </a:endParaRPr>
          </a:p>
          <a:p>
            <a:pPr marL="535305" marR="2178050">
              <a:lnSpc>
                <a:spcPct val="116900"/>
              </a:lnSpc>
              <a:spcBef>
                <a:spcPts val="5"/>
              </a:spcBef>
            </a:pPr>
            <a:r>
              <a:rPr dirty="0" sz="2100" spc="75" b="1">
                <a:latin typeface="Trebuchet MS"/>
                <a:cs typeface="Trebuchet MS"/>
              </a:rPr>
              <a:t>MERN</a:t>
            </a:r>
            <a:r>
              <a:rPr dirty="0" sz="2100" spc="-35" b="1">
                <a:latin typeface="Trebuchet MS"/>
                <a:cs typeface="Trebuchet MS"/>
              </a:rPr>
              <a:t> </a:t>
            </a:r>
            <a:r>
              <a:rPr dirty="0" sz="2100" spc="75" b="1">
                <a:latin typeface="Trebuchet MS"/>
                <a:cs typeface="Trebuchet MS"/>
              </a:rPr>
              <a:t>stack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05" b="1">
                <a:latin typeface="Trebuchet MS"/>
                <a:cs typeface="Trebuchet MS"/>
              </a:rPr>
              <a:t>web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10" b="1">
                <a:latin typeface="Trebuchet MS"/>
                <a:cs typeface="Trebuchet MS"/>
              </a:rPr>
              <a:t>dashboard </a:t>
            </a:r>
            <a:r>
              <a:rPr dirty="0" sz="2100" spc="60" b="1">
                <a:latin typeface="Trebuchet MS"/>
                <a:cs typeface="Trebuchet MS"/>
              </a:rPr>
              <a:t>Displays</a:t>
            </a:r>
            <a:r>
              <a:rPr dirty="0" sz="2100" spc="19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environmental</a:t>
            </a:r>
            <a:r>
              <a:rPr dirty="0" sz="2100" spc="195" b="1">
                <a:latin typeface="Trebuchet MS"/>
                <a:cs typeface="Trebuchet MS"/>
              </a:rPr>
              <a:t> </a:t>
            </a:r>
            <a:r>
              <a:rPr dirty="0" sz="2100" spc="105" b="1">
                <a:latin typeface="Trebuchet MS"/>
                <a:cs typeface="Trebuchet MS"/>
              </a:rPr>
              <a:t>data</a:t>
            </a:r>
            <a:endParaRPr sz="2100">
              <a:latin typeface="Trebuchet MS"/>
              <a:cs typeface="Trebuchet MS"/>
            </a:endParaRPr>
          </a:p>
          <a:p>
            <a:pPr marL="535305">
              <a:lnSpc>
                <a:spcPct val="100000"/>
              </a:lnSpc>
              <a:spcBef>
                <a:spcPts val="425"/>
              </a:spcBef>
            </a:pPr>
            <a:r>
              <a:rPr dirty="0" sz="2100" spc="50" b="1">
                <a:latin typeface="Trebuchet MS"/>
                <a:cs typeface="Trebuchet MS"/>
              </a:rPr>
              <a:t>Shows</a:t>
            </a:r>
            <a:r>
              <a:rPr dirty="0" sz="2100" spc="-35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attendance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00" b="1">
                <a:latin typeface="Trebuchet MS"/>
                <a:cs typeface="Trebuchet MS"/>
              </a:rPr>
              <a:t>logs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50" b="1">
                <a:latin typeface="Trebuchet MS"/>
                <a:cs typeface="Trebuchet MS"/>
              </a:rPr>
              <a:t>and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45" b="1">
                <a:latin typeface="Trebuchet MS"/>
                <a:cs typeface="Trebuchet MS"/>
              </a:rPr>
              <a:t>analytics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8801" y="3762281"/>
            <a:ext cx="6698615" cy="5295900"/>
          </a:xfrm>
          <a:custGeom>
            <a:avLst/>
            <a:gdLst/>
            <a:ahLst/>
            <a:cxnLst/>
            <a:rect l="l" t="t" r="r" b="b"/>
            <a:pathLst>
              <a:path w="6698615" h="5295900">
                <a:moveTo>
                  <a:pt x="6459939" y="5295649"/>
                </a:moveTo>
                <a:lnTo>
                  <a:pt x="238125" y="5295649"/>
                </a:lnTo>
                <a:lnTo>
                  <a:pt x="191452" y="5291031"/>
                </a:lnTo>
                <a:lnTo>
                  <a:pt x="146998" y="5277523"/>
                </a:lnTo>
                <a:lnTo>
                  <a:pt x="106013" y="5255641"/>
                </a:lnTo>
                <a:lnTo>
                  <a:pt x="69745" y="5225904"/>
                </a:lnTo>
                <a:lnTo>
                  <a:pt x="40007" y="5189636"/>
                </a:lnTo>
                <a:lnTo>
                  <a:pt x="18126" y="5148651"/>
                </a:lnTo>
                <a:lnTo>
                  <a:pt x="4617" y="5104197"/>
                </a:lnTo>
                <a:lnTo>
                  <a:pt x="0" y="5057524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6459939" y="0"/>
                </a:lnTo>
                <a:lnTo>
                  <a:pt x="6506611" y="4617"/>
                </a:lnTo>
                <a:lnTo>
                  <a:pt x="6551065" y="18126"/>
                </a:lnTo>
                <a:lnTo>
                  <a:pt x="6592050" y="40007"/>
                </a:lnTo>
                <a:lnTo>
                  <a:pt x="6628319" y="69745"/>
                </a:lnTo>
                <a:lnTo>
                  <a:pt x="6658056" y="106013"/>
                </a:lnTo>
                <a:lnTo>
                  <a:pt x="6679937" y="146998"/>
                </a:lnTo>
                <a:lnTo>
                  <a:pt x="6693445" y="191452"/>
                </a:lnTo>
                <a:lnTo>
                  <a:pt x="6698063" y="238125"/>
                </a:lnTo>
                <a:lnTo>
                  <a:pt x="6698063" y="5057524"/>
                </a:lnTo>
                <a:lnTo>
                  <a:pt x="6693445" y="5104197"/>
                </a:lnTo>
                <a:lnTo>
                  <a:pt x="6679937" y="5148651"/>
                </a:lnTo>
                <a:lnTo>
                  <a:pt x="6658056" y="5189636"/>
                </a:lnTo>
                <a:lnTo>
                  <a:pt x="6628319" y="5225904"/>
                </a:lnTo>
                <a:lnTo>
                  <a:pt x="6592050" y="5255641"/>
                </a:lnTo>
                <a:lnTo>
                  <a:pt x="6551065" y="5277523"/>
                </a:lnTo>
                <a:lnTo>
                  <a:pt x="6506611" y="5291031"/>
                </a:lnTo>
                <a:lnTo>
                  <a:pt x="6459939" y="5295649"/>
                </a:lnTo>
                <a:close/>
              </a:path>
            </a:pathLst>
          </a:custGeom>
          <a:solidFill>
            <a:srgbClr val="FF8E45">
              <a:alpha val="2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3500" b="1">
                <a:latin typeface="Trebuchet MS"/>
                <a:cs typeface="Trebuchet MS"/>
              </a:rPr>
              <a:t>ADAPTIVE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IOT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ENVIRONMENTAL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&amp;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ATTENDANCE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175" b="1">
                <a:latin typeface="Trebuchet MS"/>
                <a:cs typeface="Trebuchet MS"/>
              </a:rPr>
              <a:t>MONITORING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spc="-20" b="1">
                <a:latin typeface="Trebuchet MS"/>
                <a:cs typeface="Trebuchet MS"/>
              </a:rPr>
              <a:t>WITH </a:t>
            </a:r>
            <a:r>
              <a:rPr dirty="0" sz="3500" b="1">
                <a:latin typeface="Trebuchet MS"/>
                <a:cs typeface="Trebuchet MS"/>
              </a:rPr>
              <a:t>REINFORCEMENT</a:t>
            </a:r>
            <a:r>
              <a:rPr dirty="0" sz="3500" spc="-5" b="1">
                <a:latin typeface="Trebuchet MS"/>
                <a:cs typeface="Trebuchet MS"/>
              </a:rPr>
              <a:t> </a:t>
            </a:r>
            <a:r>
              <a:rPr dirty="0" sz="3500" spc="70" b="1">
                <a:latin typeface="Trebuchet MS"/>
                <a:cs typeface="Trebuchet MS"/>
              </a:rPr>
              <a:t>LEARNING</a:t>
            </a:r>
            <a:r>
              <a:rPr dirty="0" sz="3500" b="1">
                <a:latin typeface="Trebuchet MS"/>
                <a:cs typeface="Trebuchet MS"/>
              </a:rPr>
              <a:t> </a:t>
            </a:r>
            <a:r>
              <a:rPr dirty="0" sz="3500" spc="-10" b="1">
                <a:latin typeface="Trebuchet MS"/>
                <a:cs typeface="Trebuchet MS"/>
              </a:rPr>
              <a:t>MIDDLEWARE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101" y="1552460"/>
            <a:ext cx="16165194" cy="1863725"/>
          </a:xfrm>
          <a:prstGeom prst="rect">
            <a:avLst/>
          </a:prstGeom>
        </p:spPr>
        <p:txBody>
          <a:bodyPr wrap="square" lIns="0" tIns="220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dirty="0" sz="2500" spc="-145">
                <a:latin typeface="Arial Black"/>
                <a:cs typeface="Arial Black"/>
              </a:rPr>
              <a:t>Proposed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50">
                <a:latin typeface="Arial Black"/>
                <a:cs typeface="Arial Black"/>
              </a:rPr>
              <a:t>Creative </a:t>
            </a:r>
            <a:r>
              <a:rPr dirty="0" sz="2500" spc="-10">
                <a:latin typeface="Arial Black"/>
                <a:cs typeface="Arial Black"/>
              </a:rPr>
              <a:t>Solution</a:t>
            </a:r>
            <a:endParaRPr sz="2500">
              <a:latin typeface="Arial Black"/>
              <a:cs typeface="Arial Black"/>
            </a:endParaRPr>
          </a:p>
          <a:p>
            <a:pPr marL="109855">
              <a:lnSpc>
                <a:spcPct val="100000"/>
              </a:lnSpc>
              <a:spcBef>
                <a:spcPts val="1415"/>
              </a:spcBef>
            </a:pPr>
            <a:r>
              <a:rPr dirty="0" sz="2100" b="1">
                <a:latin typeface="Trebuchet MS"/>
                <a:cs typeface="Trebuchet MS"/>
              </a:rPr>
              <a:t>Solution</a:t>
            </a:r>
            <a:r>
              <a:rPr dirty="0" sz="2100" spc="-50" b="1">
                <a:latin typeface="Trebuchet MS"/>
                <a:cs typeface="Trebuchet MS"/>
              </a:rPr>
              <a:t> </a:t>
            </a:r>
            <a:r>
              <a:rPr dirty="0" sz="2100" spc="70" b="1">
                <a:latin typeface="Trebuchet MS"/>
                <a:cs typeface="Trebuchet MS"/>
              </a:rPr>
              <a:t>Summary</a:t>
            </a:r>
            <a:endParaRPr sz="2100">
              <a:latin typeface="Trebuchet MS"/>
              <a:cs typeface="Trebuchet MS"/>
            </a:endParaRPr>
          </a:p>
          <a:p>
            <a:pPr marL="109855" marR="5080">
              <a:lnSpc>
                <a:spcPct val="116900"/>
              </a:lnSpc>
            </a:pPr>
            <a:r>
              <a:rPr dirty="0" sz="2100" spc="75" b="1">
                <a:latin typeface="Trebuchet MS"/>
                <a:cs typeface="Trebuchet MS"/>
              </a:rPr>
              <a:t>An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-30" b="1">
                <a:latin typeface="Trebuchet MS"/>
                <a:cs typeface="Trebuchet MS"/>
              </a:rPr>
              <a:t>IoT-</a:t>
            </a:r>
            <a:r>
              <a:rPr dirty="0" sz="2100" spc="150" b="1">
                <a:latin typeface="Trebuchet MS"/>
                <a:cs typeface="Trebuchet MS"/>
              </a:rPr>
              <a:t>based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Smart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95" b="1">
                <a:latin typeface="Trebuchet MS"/>
                <a:cs typeface="Trebuchet MS"/>
              </a:rPr>
              <a:t>Classroom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monitoring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system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that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collects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environmental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150" b="1">
                <a:latin typeface="Trebuchet MS"/>
                <a:cs typeface="Trebuchet MS"/>
              </a:rPr>
              <a:t>and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attendance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125" b="1">
                <a:latin typeface="Trebuchet MS"/>
                <a:cs typeface="Trebuchet MS"/>
              </a:rPr>
              <a:t>data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150" b="1">
                <a:latin typeface="Trebuchet MS"/>
                <a:cs typeface="Trebuchet MS"/>
              </a:rPr>
              <a:t>and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spc="85" b="1">
                <a:latin typeface="Trebuchet MS"/>
                <a:cs typeface="Trebuchet MS"/>
              </a:rPr>
              <a:t>enables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intelligent </a:t>
            </a:r>
            <a:r>
              <a:rPr dirty="0" sz="2100" spc="100" b="1">
                <a:latin typeface="Trebuchet MS"/>
                <a:cs typeface="Trebuchet MS"/>
              </a:rPr>
              <a:t>adaptive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classroom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spc="130" b="1">
                <a:latin typeface="Trebuchet MS"/>
                <a:cs typeface="Trebuchet MS"/>
              </a:rPr>
              <a:t>management</a:t>
            </a:r>
            <a:r>
              <a:rPr dirty="0" sz="2100" spc="75" b="1">
                <a:latin typeface="Trebuchet MS"/>
                <a:cs typeface="Trebuchet MS"/>
              </a:rPr>
              <a:t> </a:t>
            </a:r>
            <a:r>
              <a:rPr dirty="0" sz="2100" spc="65" b="1">
                <a:latin typeface="Trebuchet MS"/>
                <a:cs typeface="Trebuchet MS"/>
              </a:rPr>
              <a:t>using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Reinforcement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Learning</a:t>
            </a:r>
            <a:r>
              <a:rPr dirty="0" sz="2100" spc="75" b="1">
                <a:latin typeface="Trebuchet MS"/>
                <a:cs typeface="Trebuchet MS"/>
              </a:rPr>
              <a:t> </a:t>
            </a:r>
            <a:r>
              <a:rPr dirty="0" sz="2100" spc="35" b="1">
                <a:latin typeface="Trebuchet MS"/>
                <a:cs typeface="Trebuchet MS"/>
              </a:rPr>
              <a:t>middleware.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1807" y="4190186"/>
            <a:ext cx="95532" cy="9553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638917" y="4000543"/>
            <a:ext cx="6719570" cy="189674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520"/>
              </a:spcBef>
            </a:pPr>
            <a:r>
              <a:rPr dirty="0" sz="2100" spc="110" b="1">
                <a:latin typeface="Trebuchet MS"/>
                <a:cs typeface="Trebuchet MS"/>
              </a:rPr>
              <a:t>Non-</a:t>
            </a:r>
            <a:r>
              <a:rPr dirty="0" sz="2100" b="1">
                <a:latin typeface="Trebuchet MS"/>
                <a:cs typeface="Trebuchet MS"/>
              </a:rPr>
              <a:t>Functional</a:t>
            </a:r>
            <a:r>
              <a:rPr dirty="0" sz="2100" spc="65" b="1">
                <a:latin typeface="Trebuchet MS"/>
                <a:cs typeface="Trebuchet MS"/>
              </a:rPr>
              <a:t> </a:t>
            </a:r>
            <a:r>
              <a:rPr dirty="0" sz="2100" spc="-20" b="1">
                <a:latin typeface="Trebuchet MS"/>
                <a:cs typeface="Trebuchet MS"/>
              </a:rPr>
              <a:t>Focus</a:t>
            </a:r>
            <a:endParaRPr sz="2100">
              <a:latin typeface="Trebuchet MS"/>
              <a:cs typeface="Trebuchet MS"/>
            </a:endParaRPr>
          </a:p>
          <a:p>
            <a:pPr marL="12700" marR="685800">
              <a:lnSpc>
                <a:spcPct val="116900"/>
              </a:lnSpc>
            </a:pPr>
            <a:r>
              <a:rPr dirty="0" sz="2100" b="1">
                <a:latin typeface="Trebuchet MS"/>
                <a:cs typeface="Trebuchet MS"/>
              </a:rPr>
              <a:t>Performance:</a:t>
            </a:r>
            <a:r>
              <a:rPr dirty="0" sz="2100" spc="70" b="1">
                <a:latin typeface="Trebuchet MS"/>
                <a:cs typeface="Trebuchet MS"/>
              </a:rPr>
              <a:t> </a:t>
            </a:r>
            <a:r>
              <a:rPr dirty="0" sz="2100" spc="60" b="1">
                <a:latin typeface="Trebuchet MS"/>
                <a:cs typeface="Trebuchet MS"/>
              </a:rPr>
              <a:t>Real-</a:t>
            </a:r>
            <a:r>
              <a:rPr dirty="0" sz="2100" b="1">
                <a:latin typeface="Trebuchet MS"/>
                <a:cs typeface="Trebuchet MS"/>
              </a:rPr>
              <a:t>time</a:t>
            </a:r>
            <a:r>
              <a:rPr dirty="0" sz="2100" spc="75" b="1">
                <a:latin typeface="Trebuchet MS"/>
                <a:cs typeface="Trebuchet MS"/>
              </a:rPr>
              <a:t> </a:t>
            </a:r>
            <a:r>
              <a:rPr dirty="0" sz="2100" spc="125" b="1">
                <a:latin typeface="Trebuchet MS"/>
                <a:cs typeface="Trebuchet MS"/>
              </a:rPr>
              <a:t>data</a:t>
            </a:r>
            <a:r>
              <a:rPr dirty="0" sz="2100" spc="75" b="1">
                <a:latin typeface="Trebuchet MS"/>
                <a:cs typeface="Trebuchet MS"/>
              </a:rPr>
              <a:t> </a:t>
            </a:r>
            <a:r>
              <a:rPr dirty="0" sz="2100" spc="45" b="1">
                <a:latin typeface="Trebuchet MS"/>
                <a:cs typeface="Trebuchet MS"/>
              </a:rPr>
              <a:t>streaming </a:t>
            </a:r>
            <a:r>
              <a:rPr dirty="0" sz="2100" spc="-10" b="1">
                <a:latin typeface="Trebuchet MS"/>
                <a:cs typeface="Trebuchet MS"/>
              </a:rPr>
              <a:t>Security: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55" b="1">
                <a:latin typeface="Trebuchet MS"/>
                <a:cs typeface="Trebuchet MS"/>
              </a:rPr>
              <a:t>Secure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-150" b="1">
                <a:latin typeface="Trebuchet MS"/>
                <a:cs typeface="Trebuchet MS"/>
              </a:rPr>
              <a:t>REST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API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70" b="1">
                <a:latin typeface="Trebuchet MS"/>
                <a:cs typeface="Trebuchet MS"/>
              </a:rPr>
              <a:t>communication </a:t>
            </a:r>
            <a:r>
              <a:rPr dirty="0" sz="2100" spc="-10" b="1">
                <a:latin typeface="Trebuchet MS"/>
                <a:cs typeface="Trebuchet MS"/>
              </a:rPr>
              <a:t>Usability:</a:t>
            </a:r>
            <a:r>
              <a:rPr dirty="0" sz="2100" spc="-8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User-</a:t>
            </a:r>
            <a:r>
              <a:rPr dirty="0" sz="2100" spc="-10" b="1">
                <a:latin typeface="Trebuchet MS"/>
                <a:cs typeface="Trebuchet MS"/>
              </a:rPr>
              <a:t>friendly</a:t>
            </a:r>
            <a:r>
              <a:rPr dirty="0" sz="2100" spc="-80" b="1">
                <a:latin typeface="Trebuchet MS"/>
                <a:cs typeface="Trebuchet MS"/>
              </a:rPr>
              <a:t> </a:t>
            </a:r>
            <a:r>
              <a:rPr dirty="0" sz="2100" spc="120" b="1">
                <a:latin typeface="Trebuchet MS"/>
                <a:cs typeface="Trebuchet MS"/>
              </a:rPr>
              <a:t>dashboard</a:t>
            </a:r>
            <a:r>
              <a:rPr dirty="0" sz="2100" spc="-75" b="1">
                <a:latin typeface="Trebuchet MS"/>
                <a:cs typeface="Trebuchet MS"/>
              </a:rPr>
              <a:t> </a:t>
            </a:r>
            <a:r>
              <a:rPr dirty="0" sz="2100" spc="-40" b="1">
                <a:latin typeface="Trebuchet MS"/>
                <a:cs typeface="Trebuchet MS"/>
              </a:rPr>
              <a:t>for</a:t>
            </a:r>
            <a:r>
              <a:rPr dirty="0" sz="2100" spc="-80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lecturers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2100" spc="-20" b="1">
                <a:latin typeface="Trebuchet MS"/>
                <a:cs typeface="Trebuchet MS"/>
              </a:rPr>
              <a:t>Reliability: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50" b="1">
                <a:latin typeface="Trebuchet MS"/>
                <a:cs typeface="Trebuchet MS"/>
              </a:rPr>
              <a:t>Continuous</a:t>
            </a:r>
            <a:r>
              <a:rPr dirty="0" sz="2100" spc="3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monitoring</a:t>
            </a:r>
            <a:r>
              <a:rPr dirty="0" sz="2100" spc="35" b="1">
                <a:latin typeface="Trebuchet MS"/>
                <a:cs typeface="Trebuchet MS"/>
              </a:rPr>
              <a:t> </a:t>
            </a:r>
            <a:r>
              <a:rPr dirty="0" sz="2100" spc="65" b="1">
                <a:latin typeface="Trebuchet MS"/>
                <a:cs typeface="Trebuchet MS"/>
              </a:rPr>
              <a:t>using</a:t>
            </a:r>
            <a:r>
              <a:rPr dirty="0" sz="2100" spc="35" b="1">
                <a:latin typeface="Trebuchet MS"/>
                <a:cs typeface="Trebuchet MS"/>
              </a:rPr>
              <a:t> </a:t>
            </a:r>
            <a:r>
              <a:rPr dirty="0" sz="2100" spc="-45" b="1">
                <a:latin typeface="Trebuchet MS"/>
                <a:cs typeface="Trebuchet MS"/>
              </a:rPr>
              <a:t>IoT</a:t>
            </a:r>
            <a:r>
              <a:rPr dirty="0" sz="2100" spc="30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devices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64158" y="6245562"/>
            <a:ext cx="6367145" cy="227076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100" spc="65" b="1">
                <a:latin typeface="Trebuchet MS"/>
                <a:cs typeface="Trebuchet MS"/>
              </a:rPr>
              <a:t>Completed:</a:t>
            </a:r>
            <a:endParaRPr sz="2100">
              <a:latin typeface="Trebuchet MS"/>
              <a:cs typeface="Trebuchet MS"/>
            </a:endParaRPr>
          </a:p>
          <a:p>
            <a:pPr algn="just" marL="86995" marR="3132455">
              <a:lnSpc>
                <a:spcPct val="116900"/>
              </a:lnSpc>
            </a:pPr>
            <a:r>
              <a:rPr dirty="0" sz="2100" spc="-40" b="1">
                <a:latin typeface="Trebuchet MS"/>
                <a:cs typeface="Trebuchet MS"/>
              </a:rPr>
              <a:t>ESP32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sensor</a:t>
            </a:r>
            <a:r>
              <a:rPr dirty="0" sz="2100" spc="1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integration </a:t>
            </a:r>
            <a:r>
              <a:rPr dirty="0" sz="2100" spc="95" b="1">
                <a:latin typeface="Trebuchet MS"/>
                <a:cs typeface="Trebuchet MS"/>
              </a:rPr>
              <a:t>NFC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80" b="1">
                <a:latin typeface="Trebuchet MS"/>
                <a:cs typeface="Trebuchet MS"/>
              </a:rPr>
              <a:t>attendance</a:t>
            </a:r>
            <a:r>
              <a:rPr dirty="0" sz="2100" spc="-2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system </a:t>
            </a:r>
            <a:r>
              <a:rPr dirty="0" sz="2100" spc="120" b="1">
                <a:latin typeface="Trebuchet MS"/>
                <a:cs typeface="Trebuchet MS"/>
              </a:rPr>
              <a:t>Backend</a:t>
            </a:r>
            <a:r>
              <a:rPr dirty="0" sz="2100" spc="-35" b="1">
                <a:latin typeface="Trebuchet MS"/>
                <a:cs typeface="Trebuchet MS"/>
              </a:rPr>
              <a:t> </a:t>
            </a:r>
            <a:r>
              <a:rPr dirty="0" sz="2100" spc="-20" b="1">
                <a:latin typeface="Trebuchet MS"/>
                <a:cs typeface="Trebuchet MS"/>
              </a:rPr>
              <a:t>APIs</a:t>
            </a:r>
            <a:endParaRPr sz="2100">
              <a:latin typeface="Trebuchet MS"/>
              <a:cs typeface="Trebuchet MS"/>
            </a:endParaRPr>
          </a:p>
          <a:p>
            <a:pPr algn="just" marL="86995">
              <a:lnSpc>
                <a:spcPct val="100000"/>
              </a:lnSpc>
              <a:spcBef>
                <a:spcPts val="425"/>
              </a:spcBef>
            </a:pPr>
            <a:r>
              <a:rPr dirty="0" sz="2100" spc="75" b="1">
                <a:latin typeface="Trebuchet MS"/>
                <a:cs typeface="Trebuchet MS"/>
              </a:rPr>
              <a:t>MERN</a:t>
            </a:r>
            <a:r>
              <a:rPr dirty="0" sz="2100" spc="-30" b="1">
                <a:latin typeface="Trebuchet MS"/>
                <a:cs typeface="Trebuchet MS"/>
              </a:rPr>
              <a:t> </a:t>
            </a:r>
            <a:r>
              <a:rPr dirty="0" sz="2100" spc="110" b="1">
                <a:latin typeface="Trebuchet MS"/>
                <a:cs typeface="Trebuchet MS"/>
              </a:rPr>
              <a:t>dashboard</a:t>
            </a:r>
            <a:endParaRPr sz="2100">
              <a:latin typeface="Trebuchet MS"/>
              <a:cs typeface="Trebuchet MS"/>
            </a:endParaRPr>
          </a:p>
          <a:p>
            <a:pPr marL="86995">
              <a:lnSpc>
                <a:spcPct val="100000"/>
              </a:lnSpc>
              <a:spcBef>
                <a:spcPts val="430"/>
              </a:spcBef>
            </a:pPr>
            <a:r>
              <a:rPr dirty="0" sz="2100" b="1">
                <a:latin typeface="Trebuchet MS"/>
                <a:cs typeface="Trebuchet MS"/>
              </a:rPr>
              <a:t>Reinforcement</a:t>
            </a:r>
            <a:r>
              <a:rPr dirty="0" sz="2100" spc="16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Learning</a:t>
            </a:r>
            <a:r>
              <a:rPr dirty="0" sz="2100" spc="165" b="1">
                <a:latin typeface="Trebuchet MS"/>
                <a:cs typeface="Trebuchet MS"/>
              </a:rPr>
              <a:t> </a:t>
            </a:r>
            <a:r>
              <a:rPr dirty="0" sz="2100" spc="70" b="1">
                <a:latin typeface="Trebuchet MS"/>
                <a:cs typeface="Trebuchet MS"/>
              </a:rPr>
              <a:t>middleware</a:t>
            </a:r>
            <a:r>
              <a:rPr dirty="0" sz="2100" spc="160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integration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9361" y="1444185"/>
            <a:ext cx="5319049" cy="33347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305121" y="5238002"/>
            <a:ext cx="4619625" cy="4412615"/>
          </a:xfrm>
          <a:custGeom>
            <a:avLst/>
            <a:gdLst/>
            <a:ahLst/>
            <a:cxnLst/>
            <a:rect l="l" t="t" r="r" b="b"/>
            <a:pathLst>
              <a:path w="4619625" h="4412615">
                <a:moveTo>
                  <a:pt x="4384523" y="4412491"/>
                </a:moveTo>
                <a:lnTo>
                  <a:pt x="238124" y="4412491"/>
                </a:lnTo>
                <a:lnTo>
                  <a:pt x="191452" y="4407874"/>
                </a:lnTo>
                <a:lnTo>
                  <a:pt x="146998" y="4394365"/>
                </a:lnTo>
                <a:lnTo>
                  <a:pt x="106013" y="4372484"/>
                </a:lnTo>
                <a:lnTo>
                  <a:pt x="69745" y="4342746"/>
                </a:lnTo>
                <a:lnTo>
                  <a:pt x="40007" y="4306478"/>
                </a:lnTo>
                <a:lnTo>
                  <a:pt x="18126" y="4265493"/>
                </a:lnTo>
                <a:lnTo>
                  <a:pt x="4617" y="4221039"/>
                </a:lnTo>
                <a:lnTo>
                  <a:pt x="0" y="4174366"/>
                </a:lnTo>
                <a:lnTo>
                  <a:pt x="0" y="238124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4" y="0"/>
                </a:lnTo>
                <a:lnTo>
                  <a:pt x="4384523" y="0"/>
                </a:lnTo>
                <a:lnTo>
                  <a:pt x="4431196" y="4617"/>
                </a:lnTo>
                <a:lnTo>
                  <a:pt x="4475650" y="18126"/>
                </a:lnTo>
                <a:lnTo>
                  <a:pt x="4516635" y="40007"/>
                </a:lnTo>
                <a:lnTo>
                  <a:pt x="4552903" y="69745"/>
                </a:lnTo>
                <a:lnTo>
                  <a:pt x="4582640" y="106013"/>
                </a:lnTo>
                <a:lnTo>
                  <a:pt x="4604521" y="146998"/>
                </a:lnTo>
                <a:lnTo>
                  <a:pt x="4618030" y="191452"/>
                </a:lnTo>
                <a:lnTo>
                  <a:pt x="4619327" y="204564"/>
                </a:lnTo>
                <a:lnTo>
                  <a:pt x="4619327" y="4207927"/>
                </a:lnTo>
                <a:lnTo>
                  <a:pt x="4604521" y="4265493"/>
                </a:lnTo>
                <a:lnTo>
                  <a:pt x="4582640" y="4306478"/>
                </a:lnTo>
                <a:lnTo>
                  <a:pt x="4552903" y="4342746"/>
                </a:lnTo>
                <a:lnTo>
                  <a:pt x="4516635" y="4372484"/>
                </a:lnTo>
                <a:lnTo>
                  <a:pt x="4475650" y="4394365"/>
                </a:lnTo>
                <a:lnTo>
                  <a:pt x="4431196" y="4407874"/>
                </a:lnTo>
                <a:lnTo>
                  <a:pt x="4384523" y="4412491"/>
                </a:lnTo>
                <a:close/>
              </a:path>
            </a:pathLst>
          </a:custGeom>
          <a:solidFill>
            <a:srgbClr val="FAE7BC">
              <a:alpha val="54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1572" y="5238002"/>
            <a:ext cx="5676899" cy="4057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342" y="2635170"/>
            <a:ext cx="100653" cy="10065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92730" y="3717191"/>
            <a:ext cx="100965" cy="1510030"/>
            <a:chOff x="692730" y="3717191"/>
            <a:chExt cx="100965" cy="151003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730" y="3717191"/>
              <a:ext cx="100653" cy="1006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730" y="5126336"/>
              <a:ext cx="100653" cy="10065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78724" y="2068282"/>
            <a:ext cx="9312275" cy="3624579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2200" spc="85" b="1">
                <a:latin typeface="Trebuchet MS"/>
                <a:cs typeface="Trebuchet MS"/>
              </a:rPr>
              <a:t>Example</a:t>
            </a:r>
            <a:r>
              <a:rPr dirty="0" sz="2200" spc="105" b="1">
                <a:latin typeface="Trebuchet MS"/>
                <a:cs typeface="Trebuchet MS"/>
              </a:rPr>
              <a:t> </a:t>
            </a:r>
            <a:r>
              <a:rPr dirty="0" sz="2200" b="1">
                <a:latin typeface="Trebuchet MS"/>
                <a:cs typeface="Trebuchet MS"/>
              </a:rPr>
              <a:t>architecture</a:t>
            </a:r>
            <a:r>
              <a:rPr dirty="0" sz="2200" spc="105" b="1">
                <a:latin typeface="Trebuchet MS"/>
                <a:cs typeface="Trebuchet MS"/>
              </a:rPr>
              <a:t> </a:t>
            </a:r>
            <a:r>
              <a:rPr dirty="0" sz="2200" spc="-10" b="1">
                <a:latin typeface="Trebuchet MS"/>
                <a:cs typeface="Trebuchet MS"/>
              </a:rPr>
              <a:t>flow:</a:t>
            </a:r>
            <a:endParaRPr sz="2200">
              <a:latin typeface="Trebuchet MS"/>
              <a:cs typeface="Trebuchet MS"/>
            </a:endParaRPr>
          </a:p>
          <a:p>
            <a:pPr marL="457200">
              <a:lnSpc>
                <a:spcPct val="100000"/>
              </a:lnSpc>
              <a:spcBef>
                <a:spcPts val="280"/>
              </a:spcBef>
            </a:pPr>
            <a:r>
              <a:rPr dirty="0" sz="2050" spc="55">
                <a:latin typeface="Trebuchet MS"/>
                <a:cs typeface="Trebuchet MS"/>
              </a:rPr>
              <a:t>Sensors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250" spc="60">
                <a:latin typeface="Lucida Sans Unicode"/>
                <a:cs typeface="Lucida Sans Unicode"/>
              </a:rPr>
              <a:t>→</a:t>
            </a:r>
            <a:r>
              <a:rPr dirty="0" sz="2250" spc="-254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Trebuchet MS"/>
                <a:cs typeface="Trebuchet MS"/>
              </a:rPr>
              <a:t>ESP32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250" spc="60">
                <a:latin typeface="Lucida Sans Unicode"/>
                <a:cs typeface="Lucida Sans Unicode"/>
              </a:rPr>
              <a:t>→</a:t>
            </a:r>
            <a:r>
              <a:rPr dirty="0" sz="2250" spc="-254">
                <a:latin typeface="Lucida Sans Unicode"/>
                <a:cs typeface="Lucida Sans Unicode"/>
              </a:rPr>
              <a:t> </a:t>
            </a:r>
            <a:r>
              <a:rPr dirty="0" sz="2050" spc="-20">
                <a:latin typeface="Trebuchet MS"/>
                <a:cs typeface="Trebuchet MS"/>
              </a:rPr>
              <a:t>WiFi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250" spc="60">
                <a:latin typeface="Lucida Sans Unicode"/>
                <a:cs typeface="Lucida Sans Unicode"/>
              </a:rPr>
              <a:t>→</a:t>
            </a:r>
            <a:r>
              <a:rPr dirty="0" sz="2250" spc="-254">
                <a:latin typeface="Lucida Sans Unicode"/>
                <a:cs typeface="Lucida Sans Unicode"/>
              </a:rPr>
              <a:t> </a:t>
            </a:r>
            <a:r>
              <a:rPr dirty="0" sz="2050" spc="170">
                <a:latin typeface="Trebuchet MS"/>
                <a:cs typeface="Trebuchet MS"/>
              </a:rPr>
              <a:t>Backend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50">
                <a:latin typeface="Trebuchet MS"/>
                <a:cs typeface="Trebuchet MS"/>
              </a:rPr>
              <a:t>Server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250" spc="60">
                <a:latin typeface="Lucida Sans Unicode"/>
                <a:cs typeface="Lucida Sans Unicode"/>
              </a:rPr>
              <a:t>→</a:t>
            </a:r>
            <a:r>
              <a:rPr dirty="0" sz="2250" spc="-254">
                <a:latin typeface="Lucida Sans Unicode"/>
                <a:cs typeface="Lucida Sans Unicode"/>
              </a:rPr>
              <a:t> </a:t>
            </a:r>
            <a:r>
              <a:rPr dirty="0" sz="2050" spc="195">
                <a:latin typeface="Trebuchet MS"/>
                <a:cs typeface="Trebuchet MS"/>
              </a:rPr>
              <a:t>Database</a:t>
            </a:r>
            <a:r>
              <a:rPr dirty="0" sz="2050" spc="-40">
                <a:latin typeface="Trebuchet MS"/>
                <a:cs typeface="Trebuchet MS"/>
              </a:rPr>
              <a:t> </a:t>
            </a:r>
            <a:r>
              <a:rPr dirty="0" sz="2250" spc="60">
                <a:latin typeface="Lucida Sans Unicode"/>
                <a:cs typeface="Lucida Sans Unicode"/>
              </a:rPr>
              <a:t>→</a:t>
            </a:r>
            <a:r>
              <a:rPr dirty="0" sz="2250" spc="-254">
                <a:latin typeface="Lucida Sans Unicode"/>
                <a:cs typeface="Lucida Sans Unicode"/>
              </a:rPr>
              <a:t> </a:t>
            </a:r>
            <a:r>
              <a:rPr dirty="0" sz="2050" spc="170">
                <a:latin typeface="Trebuchet MS"/>
                <a:cs typeface="Trebuchet MS"/>
              </a:rPr>
              <a:t>Dashboard</a:t>
            </a:r>
            <a:endParaRPr sz="2050">
              <a:latin typeface="Trebuchet MS"/>
              <a:cs typeface="Trebuchet MS"/>
            </a:endParaRPr>
          </a:p>
          <a:p>
            <a:pPr algn="ctr" marR="88900">
              <a:lnSpc>
                <a:spcPct val="100000"/>
              </a:lnSpc>
              <a:spcBef>
                <a:spcPts val="140"/>
              </a:spcBef>
            </a:pPr>
            <a:r>
              <a:rPr dirty="0" sz="2250" spc="350">
                <a:latin typeface="Lucida Sans Unicode"/>
                <a:cs typeface="Lucida Sans Unicode"/>
              </a:rPr>
              <a:t>↓</a:t>
            </a:r>
            <a:endParaRPr sz="2250">
              <a:latin typeface="Lucida Sans Unicode"/>
              <a:cs typeface="Lucida Sans Unicode"/>
            </a:endParaRPr>
          </a:p>
          <a:p>
            <a:pPr marL="3707765">
              <a:lnSpc>
                <a:spcPct val="100000"/>
              </a:lnSpc>
              <a:spcBef>
                <a:spcPts val="340"/>
              </a:spcBef>
            </a:pPr>
            <a:r>
              <a:rPr dirty="0" sz="2050">
                <a:latin typeface="Trebuchet MS"/>
                <a:cs typeface="Trebuchet MS"/>
              </a:rPr>
              <a:t>RL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130">
                <a:latin typeface="Trebuchet MS"/>
                <a:cs typeface="Trebuchet MS"/>
              </a:rPr>
              <a:t>Middleware</a:t>
            </a:r>
            <a:endParaRPr sz="2050">
              <a:latin typeface="Trebuchet MS"/>
              <a:cs typeface="Trebuchet MS"/>
            </a:endParaRPr>
          </a:p>
          <a:p>
            <a:pPr marL="476250">
              <a:lnSpc>
                <a:spcPct val="100000"/>
              </a:lnSpc>
              <a:spcBef>
                <a:spcPts val="345"/>
              </a:spcBef>
            </a:pPr>
            <a:r>
              <a:rPr dirty="0" sz="2150" spc="95" b="1">
                <a:latin typeface="Trebuchet MS"/>
                <a:cs typeface="Trebuchet MS"/>
              </a:rPr>
              <a:t>Component</a:t>
            </a:r>
            <a:r>
              <a:rPr dirty="0" sz="2150" spc="-25" b="1">
                <a:latin typeface="Trebuchet MS"/>
                <a:cs typeface="Trebuchet MS"/>
              </a:rPr>
              <a:t> </a:t>
            </a:r>
            <a:r>
              <a:rPr dirty="0" sz="2150" spc="120" b="1">
                <a:latin typeface="Trebuchet MS"/>
                <a:cs typeface="Trebuchet MS"/>
              </a:rPr>
              <a:t>A</a:t>
            </a:r>
            <a:r>
              <a:rPr dirty="0" sz="2150" spc="-25" b="1">
                <a:latin typeface="Trebuchet MS"/>
                <a:cs typeface="Trebuchet MS"/>
              </a:rPr>
              <a:t> </a:t>
            </a:r>
            <a:r>
              <a:rPr dirty="0" sz="2150" spc="280" b="1">
                <a:latin typeface="Trebuchet MS"/>
                <a:cs typeface="Trebuchet MS"/>
              </a:rPr>
              <a:t>–</a:t>
            </a:r>
            <a:r>
              <a:rPr dirty="0" sz="2150" spc="-25" b="1">
                <a:latin typeface="Trebuchet MS"/>
                <a:cs typeface="Trebuchet MS"/>
              </a:rPr>
              <a:t> </a:t>
            </a:r>
            <a:r>
              <a:rPr dirty="0" sz="2150" spc="-60" b="1">
                <a:latin typeface="Trebuchet MS"/>
                <a:cs typeface="Trebuchet MS"/>
              </a:rPr>
              <a:t>IoT</a:t>
            </a:r>
            <a:r>
              <a:rPr dirty="0" sz="2150" spc="-2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Sensor</a:t>
            </a:r>
            <a:r>
              <a:rPr dirty="0" sz="2150" spc="-20" b="1">
                <a:latin typeface="Trebuchet MS"/>
                <a:cs typeface="Trebuchet MS"/>
              </a:rPr>
              <a:t> </a:t>
            </a:r>
            <a:r>
              <a:rPr dirty="0" sz="2150" spc="-10" b="1"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  <a:p>
            <a:pPr marL="775335" marR="3958590" indent="8255">
              <a:lnSpc>
                <a:spcPct val="115700"/>
              </a:lnSpc>
              <a:spcBef>
                <a:spcPts val="25"/>
              </a:spcBef>
            </a:pPr>
            <a:r>
              <a:rPr dirty="0" sz="1950">
                <a:latin typeface="Trebuchet MS"/>
                <a:cs typeface="Trebuchet MS"/>
              </a:rPr>
              <a:t>DHT22</a:t>
            </a:r>
            <a:r>
              <a:rPr dirty="0" sz="1950" spc="-5">
                <a:latin typeface="Trebuchet MS"/>
                <a:cs typeface="Trebuchet MS"/>
              </a:rPr>
              <a:t> </a:t>
            </a:r>
            <a:r>
              <a:rPr dirty="0" sz="1950" spc="95">
                <a:latin typeface="Trebuchet MS"/>
                <a:cs typeface="Trebuchet MS"/>
              </a:rPr>
              <a:t>temperature</a:t>
            </a:r>
            <a:r>
              <a:rPr dirty="0" sz="1950" spc="-5">
                <a:latin typeface="Trebuchet MS"/>
                <a:cs typeface="Trebuchet MS"/>
              </a:rPr>
              <a:t> </a:t>
            </a:r>
            <a:r>
              <a:rPr dirty="0" sz="1950" spc="80">
                <a:latin typeface="Trebuchet MS"/>
                <a:cs typeface="Trebuchet MS"/>
              </a:rPr>
              <a:t>&amp;</a:t>
            </a:r>
            <a:r>
              <a:rPr dirty="0" sz="1950">
                <a:latin typeface="Trebuchet MS"/>
                <a:cs typeface="Trebuchet MS"/>
              </a:rPr>
              <a:t> </a:t>
            </a:r>
            <a:r>
              <a:rPr dirty="0" sz="1950" spc="60">
                <a:latin typeface="Trebuchet MS"/>
                <a:cs typeface="Trebuchet MS"/>
              </a:rPr>
              <a:t>humidity</a:t>
            </a:r>
            <a:r>
              <a:rPr dirty="0" sz="1950" spc="-5">
                <a:latin typeface="Trebuchet MS"/>
                <a:cs typeface="Trebuchet MS"/>
              </a:rPr>
              <a:t> </a:t>
            </a:r>
            <a:r>
              <a:rPr dirty="0" sz="1950" spc="55">
                <a:latin typeface="Trebuchet MS"/>
                <a:cs typeface="Trebuchet MS"/>
              </a:rPr>
              <a:t>sensor </a:t>
            </a:r>
            <a:r>
              <a:rPr dirty="0" sz="1950" spc="95">
                <a:latin typeface="Trebuchet MS"/>
                <a:cs typeface="Trebuchet MS"/>
              </a:rPr>
              <a:t>Noise</a:t>
            </a:r>
            <a:r>
              <a:rPr dirty="0" sz="1950" spc="-30">
                <a:latin typeface="Trebuchet MS"/>
                <a:cs typeface="Trebuchet MS"/>
              </a:rPr>
              <a:t> </a:t>
            </a:r>
            <a:r>
              <a:rPr dirty="0" sz="1950" spc="55">
                <a:latin typeface="Trebuchet MS"/>
                <a:cs typeface="Trebuchet MS"/>
              </a:rPr>
              <a:t>sensor</a:t>
            </a:r>
            <a:endParaRPr sz="1950">
              <a:latin typeface="Trebuchet MS"/>
              <a:cs typeface="Trebuchet MS"/>
            </a:endParaRPr>
          </a:p>
          <a:p>
            <a:pPr marL="775335">
              <a:lnSpc>
                <a:spcPct val="100000"/>
              </a:lnSpc>
              <a:spcBef>
                <a:spcPts val="370"/>
              </a:spcBef>
            </a:pPr>
            <a:r>
              <a:rPr dirty="0" sz="1950" spc="195">
                <a:latin typeface="Trebuchet MS"/>
                <a:cs typeface="Trebuchet MS"/>
              </a:rPr>
              <a:t>CO₂</a:t>
            </a:r>
            <a:r>
              <a:rPr dirty="0" sz="1950" spc="-25">
                <a:latin typeface="Trebuchet MS"/>
                <a:cs typeface="Trebuchet MS"/>
              </a:rPr>
              <a:t> </a:t>
            </a:r>
            <a:r>
              <a:rPr dirty="0" sz="1950" spc="-170">
                <a:latin typeface="Trebuchet MS"/>
                <a:cs typeface="Trebuchet MS"/>
              </a:rPr>
              <a:t>/</a:t>
            </a:r>
            <a:r>
              <a:rPr dirty="0" sz="1950" spc="-20">
                <a:latin typeface="Trebuchet MS"/>
                <a:cs typeface="Trebuchet MS"/>
              </a:rPr>
              <a:t> </a:t>
            </a:r>
            <a:r>
              <a:rPr dirty="0" sz="1950">
                <a:latin typeface="Trebuchet MS"/>
                <a:cs typeface="Trebuchet MS"/>
              </a:rPr>
              <a:t>air</a:t>
            </a:r>
            <a:r>
              <a:rPr dirty="0" sz="1950" spc="-20">
                <a:latin typeface="Trebuchet MS"/>
                <a:cs typeface="Trebuchet MS"/>
              </a:rPr>
              <a:t> </a:t>
            </a:r>
            <a:r>
              <a:rPr dirty="0" sz="1950" spc="50">
                <a:latin typeface="Trebuchet MS"/>
                <a:cs typeface="Trebuchet MS"/>
              </a:rPr>
              <a:t>quality</a:t>
            </a:r>
            <a:r>
              <a:rPr dirty="0" sz="1950" spc="-25">
                <a:latin typeface="Trebuchet MS"/>
                <a:cs typeface="Trebuchet MS"/>
              </a:rPr>
              <a:t> </a:t>
            </a:r>
            <a:r>
              <a:rPr dirty="0" sz="1950" spc="55">
                <a:latin typeface="Trebuchet MS"/>
                <a:cs typeface="Trebuchet MS"/>
              </a:rPr>
              <a:t>sensor</a:t>
            </a:r>
            <a:endParaRPr sz="1950">
              <a:latin typeface="Trebuchet MS"/>
              <a:cs typeface="Trebuchet MS"/>
            </a:endParaRPr>
          </a:p>
          <a:p>
            <a:pPr marL="476250">
              <a:lnSpc>
                <a:spcPct val="100000"/>
              </a:lnSpc>
              <a:spcBef>
                <a:spcPts val="365"/>
              </a:spcBef>
            </a:pPr>
            <a:r>
              <a:rPr dirty="0" sz="2150" spc="95" b="1">
                <a:latin typeface="Trebuchet MS"/>
                <a:cs typeface="Trebuchet MS"/>
              </a:rPr>
              <a:t>Component</a:t>
            </a:r>
            <a:r>
              <a:rPr dirty="0" sz="2150" spc="-4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B</a:t>
            </a:r>
            <a:r>
              <a:rPr dirty="0" sz="2150" spc="-50" b="1">
                <a:latin typeface="Trebuchet MS"/>
                <a:cs typeface="Trebuchet MS"/>
              </a:rPr>
              <a:t> </a:t>
            </a:r>
            <a:r>
              <a:rPr dirty="0" sz="2150" spc="280" b="1">
                <a:latin typeface="Trebuchet MS"/>
                <a:cs typeface="Trebuchet MS"/>
              </a:rPr>
              <a:t>–</a:t>
            </a:r>
            <a:r>
              <a:rPr dirty="0" sz="2150" spc="-45" b="1">
                <a:latin typeface="Trebuchet MS"/>
                <a:cs typeface="Trebuchet MS"/>
              </a:rPr>
              <a:t> </a:t>
            </a:r>
            <a:r>
              <a:rPr dirty="0" sz="2150" spc="120" b="1">
                <a:latin typeface="Trebuchet MS"/>
                <a:cs typeface="Trebuchet MS"/>
              </a:rPr>
              <a:t>Edge</a:t>
            </a:r>
            <a:r>
              <a:rPr dirty="0" sz="2150" spc="-45" b="1">
                <a:latin typeface="Trebuchet MS"/>
                <a:cs typeface="Trebuchet MS"/>
              </a:rPr>
              <a:t> </a:t>
            </a:r>
            <a:r>
              <a:rPr dirty="0" sz="2150" spc="75" b="1">
                <a:latin typeface="Trebuchet MS"/>
                <a:cs typeface="Trebuchet MS"/>
              </a:rPr>
              <a:t>Device</a:t>
            </a:r>
            <a:endParaRPr sz="2150">
              <a:latin typeface="Trebuchet MS"/>
              <a:cs typeface="Trebuchet MS"/>
            </a:endParaRPr>
          </a:p>
          <a:p>
            <a:pPr marL="713740">
              <a:lnSpc>
                <a:spcPct val="100000"/>
              </a:lnSpc>
              <a:spcBef>
                <a:spcPts val="395"/>
              </a:spcBef>
            </a:pPr>
            <a:r>
              <a:rPr dirty="0" sz="1950">
                <a:latin typeface="Trebuchet MS"/>
                <a:cs typeface="Trebuchet MS"/>
              </a:rPr>
              <a:t>ESP32</a:t>
            </a:r>
            <a:r>
              <a:rPr dirty="0" sz="1950" spc="95">
                <a:latin typeface="Trebuchet MS"/>
                <a:cs typeface="Trebuchet MS"/>
              </a:rPr>
              <a:t> </a:t>
            </a:r>
            <a:r>
              <a:rPr dirty="0" sz="1950" spc="40">
                <a:latin typeface="Trebuchet MS"/>
                <a:cs typeface="Trebuchet MS"/>
              </a:rPr>
              <a:t>microcontroller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2730" y="6191582"/>
            <a:ext cx="126364" cy="1518285"/>
            <a:chOff x="692730" y="6191582"/>
            <a:chExt cx="126364" cy="151828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2730" y="6191582"/>
              <a:ext cx="100653" cy="10065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894" y="7609114"/>
              <a:ext cx="100653" cy="1006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2672" y="5667928"/>
            <a:ext cx="5280025" cy="320357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455"/>
              </a:spcBef>
            </a:pPr>
            <a:r>
              <a:rPr dirty="0" sz="1950" spc="75">
                <a:latin typeface="Trebuchet MS"/>
                <a:cs typeface="Trebuchet MS"/>
              </a:rPr>
              <a:t>Collects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65">
                <a:latin typeface="Trebuchet MS"/>
                <a:cs typeface="Trebuchet MS"/>
              </a:rPr>
              <a:t>sensor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190">
                <a:latin typeface="Trebuchet MS"/>
                <a:cs typeface="Trebuchet MS"/>
              </a:rPr>
              <a:t>data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235">
                <a:latin typeface="Trebuchet MS"/>
                <a:cs typeface="Trebuchet MS"/>
              </a:rPr>
              <a:t>and</a:t>
            </a:r>
            <a:r>
              <a:rPr dirty="0" sz="1950" spc="-30">
                <a:latin typeface="Trebuchet MS"/>
                <a:cs typeface="Trebuchet MS"/>
              </a:rPr>
              <a:t> </a:t>
            </a:r>
            <a:r>
              <a:rPr dirty="0" sz="1950" spc="110">
                <a:latin typeface="Trebuchet MS"/>
                <a:cs typeface="Trebuchet MS"/>
              </a:rPr>
              <a:t>sends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60">
                <a:latin typeface="Trebuchet MS"/>
                <a:cs typeface="Trebuchet MS"/>
              </a:rPr>
              <a:t>to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server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2150" spc="95" b="1">
                <a:latin typeface="Trebuchet MS"/>
                <a:cs typeface="Trebuchet MS"/>
              </a:rPr>
              <a:t>Component</a:t>
            </a:r>
            <a:r>
              <a:rPr dirty="0" sz="2150" spc="-60" b="1">
                <a:latin typeface="Trebuchet MS"/>
                <a:cs typeface="Trebuchet MS"/>
              </a:rPr>
              <a:t> </a:t>
            </a:r>
            <a:r>
              <a:rPr dirty="0" sz="2150" spc="350" b="1">
                <a:latin typeface="Trebuchet MS"/>
                <a:cs typeface="Trebuchet MS"/>
              </a:rPr>
              <a:t>C</a:t>
            </a:r>
            <a:r>
              <a:rPr dirty="0" sz="2150" spc="-55" b="1">
                <a:latin typeface="Trebuchet MS"/>
                <a:cs typeface="Trebuchet MS"/>
              </a:rPr>
              <a:t> </a:t>
            </a:r>
            <a:r>
              <a:rPr dirty="0" sz="2150" spc="280" b="1">
                <a:latin typeface="Trebuchet MS"/>
                <a:cs typeface="Trebuchet MS"/>
              </a:rPr>
              <a:t>–</a:t>
            </a:r>
            <a:r>
              <a:rPr dirty="0" sz="2150" spc="-55" b="1">
                <a:latin typeface="Trebuchet MS"/>
                <a:cs typeface="Trebuchet MS"/>
              </a:rPr>
              <a:t> </a:t>
            </a:r>
            <a:r>
              <a:rPr dirty="0" sz="2150" spc="105" b="1">
                <a:latin typeface="Trebuchet MS"/>
                <a:cs typeface="Trebuchet MS"/>
              </a:rPr>
              <a:t>Backend</a:t>
            </a:r>
            <a:r>
              <a:rPr dirty="0" sz="2150" spc="-55" b="1">
                <a:latin typeface="Trebuchet MS"/>
                <a:cs typeface="Trebuchet MS"/>
              </a:rPr>
              <a:t> </a:t>
            </a:r>
            <a:r>
              <a:rPr dirty="0" sz="2150" b="1">
                <a:latin typeface="Trebuchet MS"/>
                <a:cs typeface="Trebuchet MS"/>
              </a:rPr>
              <a:t>&amp;</a:t>
            </a:r>
            <a:r>
              <a:rPr dirty="0" sz="2150" spc="-55" b="1">
                <a:latin typeface="Trebuchet MS"/>
                <a:cs typeface="Trebuchet MS"/>
              </a:rPr>
              <a:t> </a:t>
            </a:r>
            <a:r>
              <a:rPr dirty="0" sz="2150" spc="65" b="1">
                <a:latin typeface="Trebuchet MS"/>
                <a:cs typeface="Trebuchet MS"/>
              </a:rPr>
              <a:t>Middleware</a:t>
            </a:r>
            <a:endParaRPr sz="2150">
              <a:latin typeface="Trebuchet MS"/>
              <a:cs typeface="Trebuchet MS"/>
            </a:endParaRPr>
          </a:p>
          <a:p>
            <a:pPr marL="172720">
              <a:lnSpc>
                <a:spcPct val="100000"/>
              </a:lnSpc>
              <a:spcBef>
                <a:spcPts val="395"/>
              </a:spcBef>
            </a:pPr>
            <a:r>
              <a:rPr dirty="0" sz="1950" spc="55">
                <a:latin typeface="Trebuchet MS"/>
                <a:cs typeface="Trebuchet MS"/>
              </a:rPr>
              <a:t>Node.js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55">
                <a:latin typeface="Trebuchet MS"/>
                <a:cs typeface="Trebuchet MS"/>
              </a:rPr>
              <a:t>API</a:t>
            </a:r>
            <a:r>
              <a:rPr dirty="0" sz="1950" spc="-30">
                <a:latin typeface="Trebuchet MS"/>
                <a:cs typeface="Trebuchet MS"/>
              </a:rPr>
              <a:t> </a:t>
            </a:r>
            <a:r>
              <a:rPr dirty="0" sz="1950" spc="-10">
                <a:latin typeface="Trebuchet MS"/>
                <a:cs typeface="Trebuchet MS"/>
              </a:rPr>
              <a:t>server</a:t>
            </a:r>
            <a:endParaRPr sz="1950">
              <a:latin typeface="Trebuchet MS"/>
              <a:cs typeface="Trebuchet MS"/>
            </a:endParaRPr>
          </a:p>
          <a:p>
            <a:pPr marL="172720" marR="623570">
              <a:lnSpc>
                <a:spcPct val="115700"/>
              </a:lnSpc>
            </a:pPr>
            <a:r>
              <a:rPr dirty="0" sz="1950" spc="90">
                <a:latin typeface="Trebuchet MS"/>
                <a:cs typeface="Trebuchet MS"/>
              </a:rPr>
              <a:t>Reinforcement</a:t>
            </a:r>
            <a:r>
              <a:rPr dirty="0" sz="1950" spc="-30">
                <a:latin typeface="Trebuchet MS"/>
                <a:cs typeface="Trebuchet MS"/>
              </a:rPr>
              <a:t> </a:t>
            </a:r>
            <a:r>
              <a:rPr dirty="0" sz="1950" spc="100">
                <a:latin typeface="Trebuchet MS"/>
                <a:cs typeface="Trebuchet MS"/>
              </a:rPr>
              <a:t>Learning</a:t>
            </a:r>
            <a:r>
              <a:rPr dirty="0" sz="1950" spc="-30">
                <a:latin typeface="Trebuchet MS"/>
                <a:cs typeface="Trebuchet MS"/>
              </a:rPr>
              <a:t> </a:t>
            </a:r>
            <a:r>
              <a:rPr dirty="0" sz="1950" spc="110">
                <a:latin typeface="Trebuchet MS"/>
                <a:cs typeface="Trebuchet MS"/>
              </a:rPr>
              <a:t>middleware </a:t>
            </a:r>
            <a:r>
              <a:rPr dirty="0" sz="1950" spc="195">
                <a:latin typeface="Trebuchet MS"/>
                <a:cs typeface="Trebuchet MS"/>
              </a:rPr>
              <a:t>Data</a:t>
            </a:r>
            <a:r>
              <a:rPr dirty="0" sz="1950" spc="-25">
                <a:latin typeface="Trebuchet MS"/>
                <a:cs typeface="Trebuchet MS"/>
              </a:rPr>
              <a:t> </a:t>
            </a:r>
            <a:r>
              <a:rPr dirty="0" sz="1950" spc="110">
                <a:latin typeface="Trebuchet MS"/>
                <a:cs typeface="Trebuchet MS"/>
              </a:rPr>
              <a:t>processing</a:t>
            </a:r>
            <a:r>
              <a:rPr dirty="0" sz="1950" spc="-25">
                <a:latin typeface="Trebuchet MS"/>
                <a:cs typeface="Trebuchet MS"/>
              </a:rPr>
              <a:t> </a:t>
            </a:r>
            <a:r>
              <a:rPr dirty="0" sz="1950" spc="50">
                <a:latin typeface="Trebuchet MS"/>
                <a:cs typeface="Trebuchet MS"/>
              </a:rPr>
              <a:t>services</a:t>
            </a:r>
            <a:endParaRPr sz="19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380"/>
              </a:spcBef>
            </a:pPr>
            <a:r>
              <a:rPr dirty="0" sz="2200" spc="120" b="1">
                <a:latin typeface="Trebuchet MS"/>
                <a:cs typeface="Trebuchet MS"/>
              </a:rPr>
              <a:t>Component</a:t>
            </a:r>
            <a:r>
              <a:rPr dirty="0" sz="2200" spc="-30" b="1">
                <a:latin typeface="Trebuchet MS"/>
                <a:cs typeface="Trebuchet MS"/>
              </a:rPr>
              <a:t> </a:t>
            </a:r>
            <a:r>
              <a:rPr dirty="0" sz="2200" spc="140" b="1">
                <a:latin typeface="Trebuchet MS"/>
                <a:cs typeface="Trebuchet MS"/>
              </a:rPr>
              <a:t>D</a:t>
            </a:r>
            <a:r>
              <a:rPr dirty="0" sz="2200" spc="-25" b="1">
                <a:latin typeface="Trebuchet MS"/>
                <a:cs typeface="Trebuchet MS"/>
              </a:rPr>
              <a:t> </a:t>
            </a:r>
            <a:r>
              <a:rPr dirty="0" sz="2200" spc="300" b="1">
                <a:latin typeface="Trebuchet MS"/>
                <a:cs typeface="Trebuchet MS"/>
              </a:rPr>
              <a:t>–</a:t>
            </a:r>
            <a:r>
              <a:rPr dirty="0" sz="2200" spc="-30" b="1">
                <a:latin typeface="Trebuchet MS"/>
                <a:cs typeface="Trebuchet MS"/>
              </a:rPr>
              <a:t> </a:t>
            </a:r>
            <a:r>
              <a:rPr dirty="0" sz="2200" spc="65" b="1">
                <a:latin typeface="Trebuchet MS"/>
                <a:cs typeface="Trebuchet MS"/>
              </a:rPr>
              <a:t>Application</a:t>
            </a:r>
            <a:r>
              <a:rPr dirty="0" sz="2200" spc="-25" b="1">
                <a:latin typeface="Trebuchet MS"/>
                <a:cs typeface="Trebuchet MS"/>
              </a:rPr>
              <a:t> </a:t>
            </a:r>
            <a:r>
              <a:rPr dirty="0" sz="2200" spc="-10" b="1">
                <a:latin typeface="Trebuchet MS"/>
                <a:cs typeface="Trebuchet MS"/>
              </a:rPr>
              <a:t>Layer</a:t>
            </a:r>
            <a:endParaRPr sz="2200">
              <a:latin typeface="Trebuchet MS"/>
              <a:cs typeface="Trebuchet MS"/>
            </a:endParaRPr>
          </a:p>
          <a:p>
            <a:pPr marL="103505" marR="1581785" indent="5715">
              <a:lnSpc>
                <a:spcPct val="115700"/>
              </a:lnSpc>
              <a:spcBef>
                <a:spcPts val="85"/>
              </a:spcBef>
            </a:pPr>
            <a:r>
              <a:rPr dirty="0" sz="1950" spc="155">
                <a:latin typeface="Trebuchet MS"/>
                <a:cs typeface="Trebuchet MS"/>
              </a:rPr>
              <a:t>MERN</a:t>
            </a:r>
            <a:r>
              <a:rPr dirty="0" sz="1950" spc="-40">
                <a:latin typeface="Trebuchet MS"/>
                <a:cs typeface="Trebuchet MS"/>
              </a:rPr>
              <a:t> </a:t>
            </a:r>
            <a:r>
              <a:rPr dirty="0" sz="1950" spc="80">
                <a:latin typeface="Trebuchet MS"/>
                <a:cs typeface="Trebuchet MS"/>
              </a:rPr>
              <a:t>stack</a:t>
            </a:r>
            <a:r>
              <a:rPr dirty="0" sz="1950" spc="-35">
                <a:latin typeface="Trebuchet MS"/>
                <a:cs typeface="Trebuchet MS"/>
              </a:rPr>
              <a:t> </a:t>
            </a:r>
            <a:r>
              <a:rPr dirty="0" sz="1950" spc="165">
                <a:latin typeface="Trebuchet MS"/>
                <a:cs typeface="Trebuchet MS"/>
              </a:rPr>
              <a:t>dashboard </a:t>
            </a:r>
            <a:r>
              <a:rPr dirty="0" sz="1950" spc="70">
                <a:latin typeface="Trebuchet MS"/>
                <a:cs typeface="Trebuchet MS"/>
              </a:rPr>
              <a:t>Student</a:t>
            </a:r>
            <a:r>
              <a:rPr dirty="0" sz="1950" spc="-10">
                <a:latin typeface="Trebuchet MS"/>
                <a:cs typeface="Trebuchet MS"/>
              </a:rPr>
              <a:t> </a:t>
            </a:r>
            <a:r>
              <a:rPr dirty="0" sz="1950" spc="200">
                <a:latin typeface="Trebuchet MS"/>
                <a:cs typeface="Trebuchet MS"/>
              </a:rPr>
              <a:t>management</a:t>
            </a:r>
            <a:r>
              <a:rPr dirty="0" sz="1950" spc="-10">
                <a:latin typeface="Trebuchet MS"/>
                <a:cs typeface="Trebuchet MS"/>
              </a:rPr>
              <a:t> </a:t>
            </a:r>
            <a:r>
              <a:rPr dirty="0" sz="1950" spc="50">
                <a:latin typeface="Trebuchet MS"/>
                <a:cs typeface="Trebuchet MS"/>
              </a:rPr>
              <a:t>system </a:t>
            </a:r>
            <a:r>
              <a:rPr dirty="0" sz="1950" spc="235">
                <a:latin typeface="Trebuchet MS"/>
                <a:cs typeface="Trebuchet MS"/>
              </a:rPr>
              <a:t>MongoDB</a:t>
            </a:r>
            <a:r>
              <a:rPr dirty="0" sz="1950" spc="-25">
                <a:latin typeface="Trebuchet MS"/>
                <a:cs typeface="Trebuchet MS"/>
              </a:rPr>
              <a:t> </a:t>
            </a:r>
            <a:r>
              <a:rPr dirty="0" sz="1950" spc="180">
                <a:latin typeface="Trebuchet MS"/>
                <a:cs typeface="Trebuchet MS"/>
              </a:rPr>
              <a:t>database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2450" y="3572750"/>
            <a:ext cx="5863590" cy="5323205"/>
          </a:xfrm>
          <a:custGeom>
            <a:avLst/>
            <a:gdLst/>
            <a:ahLst/>
            <a:cxnLst/>
            <a:rect l="l" t="t" r="r" b="b"/>
            <a:pathLst>
              <a:path w="5863590" h="5323205">
                <a:moveTo>
                  <a:pt x="5625194" y="5322745"/>
                </a:moveTo>
                <a:lnTo>
                  <a:pt x="238125" y="5322745"/>
                </a:lnTo>
                <a:lnTo>
                  <a:pt x="191452" y="5318127"/>
                </a:lnTo>
                <a:lnTo>
                  <a:pt x="146998" y="5304619"/>
                </a:lnTo>
                <a:lnTo>
                  <a:pt x="106013" y="5282737"/>
                </a:lnTo>
                <a:lnTo>
                  <a:pt x="69745" y="5253000"/>
                </a:lnTo>
                <a:lnTo>
                  <a:pt x="40007" y="5216732"/>
                </a:lnTo>
                <a:lnTo>
                  <a:pt x="18126" y="5175746"/>
                </a:lnTo>
                <a:lnTo>
                  <a:pt x="4617" y="5131293"/>
                </a:lnTo>
                <a:lnTo>
                  <a:pt x="0" y="5084620"/>
                </a:lnTo>
                <a:lnTo>
                  <a:pt x="0" y="238125"/>
                </a:lnTo>
                <a:lnTo>
                  <a:pt x="4617" y="191452"/>
                </a:lnTo>
                <a:lnTo>
                  <a:pt x="18126" y="146998"/>
                </a:lnTo>
                <a:lnTo>
                  <a:pt x="40007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5625194" y="0"/>
                </a:lnTo>
                <a:lnTo>
                  <a:pt x="5671867" y="4617"/>
                </a:lnTo>
                <a:lnTo>
                  <a:pt x="5716320" y="18126"/>
                </a:lnTo>
                <a:lnTo>
                  <a:pt x="5757306" y="40007"/>
                </a:lnTo>
                <a:lnTo>
                  <a:pt x="5793574" y="69745"/>
                </a:lnTo>
                <a:lnTo>
                  <a:pt x="5823311" y="106013"/>
                </a:lnTo>
                <a:lnTo>
                  <a:pt x="5845192" y="146998"/>
                </a:lnTo>
                <a:lnTo>
                  <a:pt x="5858701" y="191452"/>
                </a:lnTo>
                <a:lnTo>
                  <a:pt x="5863318" y="238125"/>
                </a:lnTo>
                <a:lnTo>
                  <a:pt x="5863318" y="5084620"/>
                </a:lnTo>
                <a:lnTo>
                  <a:pt x="5858701" y="5131293"/>
                </a:lnTo>
                <a:lnTo>
                  <a:pt x="5845192" y="5175746"/>
                </a:lnTo>
                <a:lnTo>
                  <a:pt x="5823311" y="5216732"/>
                </a:lnTo>
                <a:lnTo>
                  <a:pt x="5793574" y="5253000"/>
                </a:lnTo>
                <a:lnTo>
                  <a:pt x="5757306" y="5282737"/>
                </a:lnTo>
                <a:lnTo>
                  <a:pt x="5716320" y="5304619"/>
                </a:lnTo>
                <a:lnTo>
                  <a:pt x="5671867" y="5318127"/>
                </a:lnTo>
                <a:lnTo>
                  <a:pt x="5625194" y="5322745"/>
                </a:lnTo>
                <a:close/>
              </a:path>
            </a:pathLst>
          </a:custGeom>
          <a:solidFill>
            <a:srgbClr val="FFDE58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238274" y="480480"/>
            <a:ext cx="14070965" cy="12636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3500" b="1">
                <a:latin typeface="Trebuchet MS"/>
                <a:cs typeface="Trebuchet MS"/>
              </a:rPr>
              <a:t>ADAPTIVE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IOT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ENVIRONMENTAL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&amp;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ATTENDANCE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175" b="1">
                <a:latin typeface="Trebuchet MS"/>
                <a:cs typeface="Trebuchet MS"/>
              </a:rPr>
              <a:t>MONITORING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spc="-20" b="1">
                <a:latin typeface="Trebuchet MS"/>
                <a:cs typeface="Trebuchet MS"/>
              </a:rPr>
              <a:t>WITH </a:t>
            </a:r>
            <a:r>
              <a:rPr dirty="0" sz="3500" b="1">
                <a:latin typeface="Trebuchet MS"/>
                <a:cs typeface="Trebuchet MS"/>
              </a:rPr>
              <a:t>REINFORCEMENT</a:t>
            </a:r>
            <a:r>
              <a:rPr dirty="0" sz="3500" spc="-5" b="1">
                <a:latin typeface="Trebuchet MS"/>
                <a:cs typeface="Trebuchet MS"/>
              </a:rPr>
              <a:t> </a:t>
            </a:r>
            <a:r>
              <a:rPr dirty="0" sz="3500" spc="70" b="1">
                <a:latin typeface="Trebuchet MS"/>
                <a:cs typeface="Trebuchet MS"/>
              </a:rPr>
              <a:t>LEARNING</a:t>
            </a:r>
            <a:r>
              <a:rPr dirty="0" sz="3500" b="1">
                <a:latin typeface="Trebuchet MS"/>
                <a:cs typeface="Trebuchet MS"/>
              </a:rPr>
              <a:t> </a:t>
            </a:r>
            <a:r>
              <a:rPr dirty="0" sz="3500" spc="-10" b="1">
                <a:latin typeface="Trebuchet MS"/>
                <a:cs typeface="Trebuchet MS"/>
              </a:rPr>
              <a:t>MIDDLEWARE</a:t>
            </a:r>
            <a:endParaRPr sz="35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86097" y="5795994"/>
            <a:ext cx="85725" cy="857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702593" y="5621997"/>
            <a:ext cx="3783329" cy="16922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900" spc="-80">
                <a:latin typeface="Arial Black"/>
                <a:cs typeface="Arial Black"/>
              </a:rPr>
              <a:t>Integration</a:t>
            </a:r>
            <a:r>
              <a:rPr dirty="0" sz="1900" spc="-95">
                <a:latin typeface="Arial Black"/>
                <a:cs typeface="Arial Black"/>
              </a:rPr>
              <a:t> </a:t>
            </a:r>
            <a:r>
              <a:rPr dirty="0" sz="1900" spc="-10">
                <a:latin typeface="Arial Black"/>
                <a:cs typeface="Arial Black"/>
              </a:rPr>
              <a:t>Points</a:t>
            </a:r>
            <a:endParaRPr sz="1900">
              <a:latin typeface="Arial Black"/>
              <a:cs typeface="Arial Black"/>
            </a:endParaRPr>
          </a:p>
          <a:p>
            <a:pPr marL="103505">
              <a:lnSpc>
                <a:spcPct val="100000"/>
              </a:lnSpc>
              <a:spcBef>
                <a:spcPts val="345"/>
              </a:spcBef>
            </a:pPr>
            <a:r>
              <a:rPr dirty="0" sz="1900" spc="-30">
                <a:latin typeface="Tahoma"/>
                <a:cs typeface="Tahoma"/>
              </a:rPr>
              <a:t>REST</a:t>
            </a:r>
            <a:r>
              <a:rPr dirty="0" sz="1900" spc="-114">
                <a:latin typeface="Tahoma"/>
                <a:cs typeface="Tahoma"/>
              </a:rPr>
              <a:t> </a:t>
            </a:r>
            <a:r>
              <a:rPr dirty="0" sz="1900" spc="-20">
                <a:latin typeface="Tahoma"/>
                <a:cs typeface="Tahoma"/>
              </a:rPr>
              <a:t>APIs</a:t>
            </a:r>
            <a:endParaRPr sz="1900">
              <a:latin typeface="Tahoma"/>
              <a:cs typeface="Tahoma"/>
            </a:endParaRPr>
          </a:p>
          <a:p>
            <a:pPr marL="103505">
              <a:lnSpc>
                <a:spcPct val="100000"/>
              </a:lnSpc>
              <a:spcBef>
                <a:spcPts val="345"/>
              </a:spcBef>
            </a:pPr>
            <a:r>
              <a:rPr dirty="0" sz="1900">
                <a:latin typeface="Tahoma"/>
                <a:cs typeface="Tahoma"/>
              </a:rPr>
              <a:t>JSON</a:t>
            </a:r>
            <a:r>
              <a:rPr dirty="0" sz="1900" spc="-120">
                <a:latin typeface="Tahoma"/>
                <a:cs typeface="Tahoma"/>
              </a:rPr>
              <a:t> </a:t>
            </a:r>
            <a:r>
              <a:rPr dirty="0" sz="1900" spc="55">
                <a:latin typeface="Tahoma"/>
                <a:cs typeface="Tahoma"/>
              </a:rPr>
              <a:t>data</a:t>
            </a:r>
            <a:r>
              <a:rPr dirty="0" sz="1900" spc="-114">
                <a:latin typeface="Tahoma"/>
                <a:cs typeface="Tahoma"/>
              </a:rPr>
              <a:t> </a:t>
            </a:r>
            <a:r>
              <a:rPr dirty="0" sz="1900" spc="65">
                <a:latin typeface="Tahoma"/>
                <a:cs typeface="Tahoma"/>
              </a:rPr>
              <a:t>format</a:t>
            </a:r>
            <a:endParaRPr sz="1900">
              <a:latin typeface="Tahoma"/>
              <a:cs typeface="Tahoma"/>
            </a:endParaRPr>
          </a:p>
          <a:p>
            <a:pPr marL="40640" marR="5080">
              <a:lnSpc>
                <a:spcPct val="115100"/>
              </a:lnSpc>
            </a:pPr>
            <a:r>
              <a:rPr dirty="0" sz="1900" spc="-10">
                <a:latin typeface="Tahoma"/>
                <a:cs typeface="Tahoma"/>
              </a:rPr>
              <a:t>Wi-</a:t>
            </a:r>
            <a:r>
              <a:rPr dirty="0" sz="1900">
                <a:latin typeface="Tahoma"/>
                <a:cs typeface="Tahoma"/>
              </a:rPr>
              <a:t>Fi</a:t>
            </a:r>
            <a:r>
              <a:rPr dirty="0" sz="1900" spc="-85">
                <a:latin typeface="Tahoma"/>
                <a:cs typeface="Tahoma"/>
              </a:rPr>
              <a:t> </a:t>
            </a:r>
            <a:r>
              <a:rPr dirty="0" sz="1900" spc="75">
                <a:latin typeface="Tahoma"/>
                <a:cs typeface="Tahoma"/>
              </a:rPr>
              <a:t>communication</a:t>
            </a:r>
            <a:r>
              <a:rPr dirty="0" sz="1900" spc="-85">
                <a:latin typeface="Tahoma"/>
                <a:cs typeface="Tahoma"/>
              </a:rPr>
              <a:t> </a:t>
            </a:r>
            <a:r>
              <a:rPr dirty="0" sz="1900" spc="90">
                <a:latin typeface="Tahoma"/>
                <a:cs typeface="Tahoma"/>
              </a:rPr>
              <a:t>from</a:t>
            </a:r>
            <a:r>
              <a:rPr dirty="0" sz="1900" spc="-8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ESP32 </a:t>
            </a:r>
            <a:r>
              <a:rPr dirty="0" sz="1900" spc="100">
                <a:latin typeface="Tahoma"/>
                <a:cs typeface="Tahoma"/>
              </a:rPr>
              <a:t>MongoDB</a:t>
            </a:r>
            <a:r>
              <a:rPr dirty="0" sz="1900" spc="-90">
                <a:latin typeface="Tahoma"/>
                <a:cs typeface="Tahoma"/>
              </a:rPr>
              <a:t> </a:t>
            </a:r>
            <a:r>
              <a:rPr dirty="0" sz="1900" spc="55">
                <a:latin typeface="Tahoma"/>
                <a:cs typeface="Tahoma"/>
              </a:rPr>
              <a:t>database</a:t>
            </a:r>
            <a:r>
              <a:rPr dirty="0" sz="1900" spc="-85">
                <a:latin typeface="Tahoma"/>
                <a:cs typeface="Tahoma"/>
              </a:rPr>
              <a:t> </a:t>
            </a:r>
            <a:r>
              <a:rPr dirty="0" sz="1900" spc="35">
                <a:latin typeface="Tahoma"/>
                <a:cs typeface="Tahoma"/>
              </a:rPr>
              <a:t>storage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86097" y="7796244"/>
            <a:ext cx="85725" cy="857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702593" y="7622247"/>
            <a:ext cx="4182110" cy="13589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900" spc="-85">
                <a:latin typeface="Arial Black"/>
                <a:cs typeface="Arial Black"/>
              </a:rPr>
              <a:t>Deployment</a:t>
            </a:r>
            <a:r>
              <a:rPr dirty="0" sz="1900" spc="-110">
                <a:latin typeface="Arial Black"/>
                <a:cs typeface="Arial Black"/>
              </a:rPr>
              <a:t> </a:t>
            </a:r>
            <a:r>
              <a:rPr dirty="0" sz="1900" spc="-10">
                <a:latin typeface="Arial Black"/>
                <a:cs typeface="Arial Black"/>
              </a:rPr>
              <a:t>Setup</a:t>
            </a:r>
            <a:endParaRPr sz="1900">
              <a:latin typeface="Arial Black"/>
              <a:cs typeface="Arial Black"/>
            </a:endParaRPr>
          </a:p>
          <a:p>
            <a:pPr marL="40640" marR="234950">
              <a:lnSpc>
                <a:spcPct val="115100"/>
              </a:lnSpc>
            </a:pPr>
            <a:r>
              <a:rPr dirty="0" sz="1900" spc="60">
                <a:latin typeface="Tahoma"/>
                <a:cs typeface="Tahoma"/>
              </a:rPr>
              <a:t>Backend</a:t>
            </a:r>
            <a:r>
              <a:rPr dirty="0" sz="1900" spc="-90">
                <a:latin typeface="Tahoma"/>
                <a:cs typeface="Tahoma"/>
              </a:rPr>
              <a:t> </a:t>
            </a:r>
            <a:r>
              <a:rPr dirty="0" sz="1900" spc="65">
                <a:latin typeface="Tahoma"/>
                <a:cs typeface="Tahoma"/>
              </a:rPr>
              <a:t>deployed</a:t>
            </a:r>
            <a:r>
              <a:rPr dirty="0" sz="1900" spc="-85">
                <a:latin typeface="Tahoma"/>
                <a:cs typeface="Tahoma"/>
              </a:rPr>
              <a:t> </a:t>
            </a:r>
            <a:r>
              <a:rPr dirty="0" sz="1900" spc="95">
                <a:latin typeface="Tahoma"/>
                <a:cs typeface="Tahoma"/>
              </a:rPr>
              <a:t>on</a:t>
            </a:r>
            <a:r>
              <a:rPr dirty="0" sz="1900" spc="-85">
                <a:latin typeface="Tahoma"/>
                <a:cs typeface="Tahoma"/>
              </a:rPr>
              <a:t> </a:t>
            </a:r>
            <a:r>
              <a:rPr dirty="0" sz="1900" spc="40">
                <a:latin typeface="Tahoma"/>
                <a:cs typeface="Tahoma"/>
              </a:rPr>
              <a:t>server/cloud </a:t>
            </a:r>
            <a:r>
              <a:rPr dirty="0" sz="1900">
                <a:latin typeface="Tahoma"/>
                <a:cs typeface="Tahoma"/>
              </a:rPr>
              <a:t>ESP32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 spc="55">
                <a:latin typeface="Tahoma"/>
                <a:cs typeface="Tahoma"/>
              </a:rPr>
              <a:t>connects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via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Wi-</a:t>
            </a:r>
            <a:r>
              <a:rPr dirty="0" sz="1900" spc="-25">
                <a:latin typeface="Tahoma"/>
                <a:cs typeface="Tahoma"/>
              </a:rPr>
              <a:t>Fi</a:t>
            </a:r>
            <a:endParaRPr sz="1900">
              <a:latin typeface="Tahoma"/>
              <a:cs typeface="Tahoma"/>
            </a:endParaRPr>
          </a:p>
          <a:p>
            <a:pPr marL="40640">
              <a:lnSpc>
                <a:spcPct val="100000"/>
              </a:lnSpc>
              <a:spcBef>
                <a:spcPts val="345"/>
              </a:spcBef>
            </a:pPr>
            <a:r>
              <a:rPr dirty="0" sz="1900" spc="75">
                <a:latin typeface="Tahoma"/>
                <a:cs typeface="Tahoma"/>
              </a:rPr>
              <a:t>Dashboard</a:t>
            </a:r>
            <a:r>
              <a:rPr dirty="0" sz="1900" spc="-75">
                <a:latin typeface="Tahoma"/>
                <a:cs typeface="Tahoma"/>
              </a:rPr>
              <a:t> </a:t>
            </a:r>
            <a:r>
              <a:rPr dirty="0" sz="1900" spc="45">
                <a:latin typeface="Tahoma"/>
                <a:cs typeface="Tahoma"/>
              </a:rPr>
              <a:t>accessed</a:t>
            </a:r>
            <a:r>
              <a:rPr dirty="0" sz="1900" spc="-7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via</a:t>
            </a:r>
            <a:r>
              <a:rPr dirty="0" sz="1900" spc="-70">
                <a:latin typeface="Tahoma"/>
                <a:cs typeface="Tahoma"/>
              </a:rPr>
              <a:t> </a:t>
            </a:r>
            <a:r>
              <a:rPr dirty="0" sz="1900" spc="70">
                <a:latin typeface="Tahoma"/>
                <a:cs typeface="Tahoma"/>
              </a:rPr>
              <a:t>web</a:t>
            </a:r>
            <a:r>
              <a:rPr dirty="0" sz="1900" spc="-70">
                <a:latin typeface="Tahoma"/>
                <a:cs typeface="Tahoma"/>
              </a:rPr>
              <a:t> </a:t>
            </a:r>
            <a:r>
              <a:rPr dirty="0" sz="1900" spc="60">
                <a:latin typeface="Tahoma"/>
                <a:cs typeface="Tahoma"/>
              </a:rPr>
              <a:t>browse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813532" y="342887"/>
            <a:ext cx="14070965" cy="12636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 sz="3500" b="1">
                <a:latin typeface="Trebuchet MS"/>
                <a:cs typeface="Trebuchet MS"/>
              </a:rPr>
              <a:t>ADAPTIVE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IOT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ENVIRONMENTAL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&amp;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ATTENDANCE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175" b="1">
                <a:latin typeface="Trebuchet MS"/>
                <a:cs typeface="Trebuchet MS"/>
              </a:rPr>
              <a:t>MONITORING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spc="-20" b="1">
                <a:latin typeface="Trebuchet MS"/>
                <a:cs typeface="Trebuchet MS"/>
              </a:rPr>
              <a:t>WITH </a:t>
            </a:r>
            <a:r>
              <a:rPr dirty="0" sz="3500" b="1">
                <a:latin typeface="Trebuchet MS"/>
                <a:cs typeface="Trebuchet MS"/>
              </a:rPr>
              <a:t>REINFORCEMENT</a:t>
            </a:r>
            <a:r>
              <a:rPr dirty="0" sz="3500" spc="-5" b="1">
                <a:latin typeface="Trebuchet MS"/>
                <a:cs typeface="Trebuchet MS"/>
              </a:rPr>
              <a:t> </a:t>
            </a:r>
            <a:r>
              <a:rPr dirty="0" sz="3500" spc="70" b="1">
                <a:latin typeface="Trebuchet MS"/>
                <a:cs typeface="Trebuchet MS"/>
              </a:rPr>
              <a:t>LEARNING</a:t>
            </a:r>
            <a:r>
              <a:rPr dirty="0" sz="3500" b="1">
                <a:latin typeface="Trebuchet MS"/>
                <a:cs typeface="Trebuchet MS"/>
              </a:rPr>
              <a:t> </a:t>
            </a:r>
            <a:r>
              <a:rPr dirty="0" sz="3500" spc="-10" b="1">
                <a:latin typeface="Trebuchet MS"/>
                <a:cs typeface="Trebuchet MS"/>
              </a:rPr>
              <a:t>MIDDLEWARE</a:t>
            </a:r>
            <a:endParaRPr sz="35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2346836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2737361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3127886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3518411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4299461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5307" y="7033135"/>
            <a:ext cx="104775" cy="1047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23057" y="1771913"/>
            <a:ext cx="9264650" cy="705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5934" marR="6325870" indent="-483870">
              <a:lnSpc>
                <a:spcPct val="113900"/>
              </a:lnSpc>
              <a:spcBef>
                <a:spcPts val="100"/>
              </a:spcBef>
            </a:pPr>
            <a:r>
              <a:rPr dirty="0" sz="2250" spc="-10" b="1">
                <a:latin typeface="Trebuchet MS"/>
                <a:cs typeface="Trebuchet MS"/>
              </a:rPr>
              <a:t>Target</a:t>
            </a:r>
            <a:r>
              <a:rPr dirty="0" sz="2250" spc="-110" b="1">
                <a:latin typeface="Trebuchet MS"/>
                <a:cs typeface="Trebuchet MS"/>
              </a:rPr>
              <a:t> </a:t>
            </a:r>
            <a:r>
              <a:rPr dirty="0" sz="2250" spc="-10" b="1">
                <a:latin typeface="Trebuchet MS"/>
                <a:cs typeface="Trebuchet MS"/>
              </a:rPr>
              <a:t>Users</a:t>
            </a:r>
            <a:r>
              <a:rPr dirty="0" sz="2250" spc="-105" b="1">
                <a:latin typeface="Trebuchet MS"/>
                <a:cs typeface="Trebuchet MS"/>
              </a:rPr>
              <a:t> </a:t>
            </a:r>
            <a:r>
              <a:rPr dirty="0" sz="2250" spc="145" b="1">
                <a:latin typeface="Trebuchet MS"/>
                <a:cs typeface="Trebuchet MS"/>
              </a:rPr>
              <a:t>/</a:t>
            </a:r>
            <a:r>
              <a:rPr dirty="0" sz="2250" spc="-110" b="1">
                <a:latin typeface="Trebuchet MS"/>
                <a:cs typeface="Trebuchet MS"/>
              </a:rPr>
              <a:t> </a:t>
            </a:r>
            <a:r>
              <a:rPr dirty="0" sz="2250" spc="45" b="1">
                <a:latin typeface="Trebuchet MS"/>
                <a:cs typeface="Trebuchet MS"/>
              </a:rPr>
              <a:t>Market </a:t>
            </a:r>
            <a:r>
              <a:rPr dirty="0" sz="2250" spc="-10">
                <a:latin typeface="Trebuchet MS"/>
                <a:cs typeface="Trebuchet MS"/>
              </a:rPr>
              <a:t>Universities </a:t>
            </a:r>
            <a:r>
              <a:rPr dirty="0" sz="2250" spc="75">
                <a:latin typeface="Trebuchet MS"/>
                <a:cs typeface="Trebuchet MS"/>
              </a:rPr>
              <a:t>Schools</a:t>
            </a:r>
            <a:endParaRPr sz="2250">
              <a:latin typeface="Trebuchet MS"/>
              <a:cs typeface="Trebuchet MS"/>
            </a:endParaRPr>
          </a:p>
          <a:p>
            <a:pPr marL="495934" marR="3527425">
              <a:lnSpc>
                <a:spcPct val="113900"/>
              </a:lnSpc>
            </a:pPr>
            <a:r>
              <a:rPr dirty="0" sz="2250" spc="55">
                <a:latin typeface="Trebuchet MS"/>
                <a:cs typeface="Trebuchet MS"/>
              </a:rPr>
              <a:t>Smart</a:t>
            </a:r>
            <a:r>
              <a:rPr dirty="0" sz="2250" spc="-5">
                <a:latin typeface="Trebuchet MS"/>
                <a:cs typeface="Trebuchet MS"/>
              </a:rPr>
              <a:t> </a:t>
            </a:r>
            <a:r>
              <a:rPr dirty="0" sz="2250" spc="195">
                <a:latin typeface="Trebuchet MS"/>
                <a:cs typeface="Trebuchet MS"/>
              </a:rPr>
              <a:t>campus</a:t>
            </a:r>
            <a:r>
              <a:rPr dirty="0" sz="2250" spc="-5">
                <a:latin typeface="Trebuchet MS"/>
                <a:cs typeface="Trebuchet MS"/>
              </a:rPr>
              <a:t> </a:t>
            </a:r>
            <a:r>
              <a:rPr dirty="0" sz="2250">
                <a:latin typeface="Trebuchet MS"/>
                <a:cs typeface="Trebuchet MS"/>
              </a:rPr>
              <a:t>infrastructure</a:t>
            </a:r>
            <a:r>
              <a:rPr dirty="0" sz="2250" spc="-5">
                <a:latin typeface="Trebuchet MS"/>
                <a:cs typeface="Trebuchet MS"/>
              </a:rPr>
              <a:t> </a:t>
            </a:r>
            <a:r>
              <a:rPr dirty="0" sz="2250" spc="55">
                <a:latin typeface="Trebuchet MS"/>
                <a:cs typeface="Trebuchet MS"/>
              </a:rPr>
              <a:t>providers </a:t>
            </a:r>
            <a:r>
              <a:rPr dirty="0" sz="2250" spc="105">
                <a:latin typeface="Trebuchet MS"/>
                <a:cs typeface="Trebuchet MS"/>
              </a:rPr>
              <a:t>Educational</a:t>
            </a:r>
            <a:r>
              <a:rPr dirty="0" sz="2250" spc="-35">
                <a:latin typeface="Trebuchet MS"/>
                <a:cs typeface="Trebuchet MS"/>
              </a:rPr>
              <a:t> </a:t>
            </a:r>
            <a:r>
              <a:rPr dirty="0" sz="2250" spc="135">
                <a:latin typeface="Trebuchet MS"/>
                <a:cs typeface="Trebuchet MS"/>
              </a:rPr>
              <a:t>technology</a:t>
            </a:r>
            <a:r>
              <a:rPr dirty="0" sz="2250" spc="-30">
                <a:latin typeface="Trebuchet MS"/>
                <a:cs typeface="Trebuchet MS"/>
              </a:rPr>
              <a:t> </a:t>
            </a:r>
            <a:r>
              <a:rPr dirty="0" sz="2250" spc="155">
                <a:latin typeface="Trebuchet MS"/>
                <a:cs typeface="Trebuchet MS"/>
              </a:rPr>
              <a:t>companies</a:t>
            </a:r>
            <a:endParaRPr sz="2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250">
              <a:latin typeface="Trebuchet MS"/>
              <a:cs typeface="Trebuchet MS"/>
            </a:endParaRPr>
          </a:p>
          <a:p>
            <a:pPr marL="490220" marR="5888355" indent="5080">
              <a:lnSpc>
                <a:spcPct val="113900"/>
              </a:lnSpc>
            </a:pPr>
            <a:r>
              <a:rPr dirty="0" sz="2250" spc="85" b="1">
                <a:latin typeface="Trebuchet MS"/>
                <a:cs typeface="Trebuchet MS"/>
              </a:rPr>
              <a:t>Value</a:t>
            </a:r>
            <a:r>
              <a:rPr dirty="0" sz="2250" spc="-55" b="1">
                <a:latin typeface="Trebuchet MS"/>
                <a:cs typeface="Trebuchet MS"/>
              </a:rPr>
              <a:t> </a:t>
            </a:r>
            <a:r>
              <a:rPr dirty="0" sz="2250" spc="-10" b="1">
                <a:latin typeface="Trebuchet MS"/>
                <a:cs typeface="Trebuchet MS"/>
              </a:rPr>
              <a:t>Proposition </a:t>
            </a:r>
            <a:r>
              <a:rPr dirty="0" sz="2250" spc="-135" b="1">
                <a:latin typeface="Trebuchet MS"/>
                <a:cs typeface="Trebuchet MS"/>
              </a:rPr>
              <a:t>This</a:t>
            </a:r>
            <a:r>
              <a:rPr dirty="0" sz="2250" spc="30" b="1">
                <a:latin typeface="Trebuchet MS"/>
                <a:cs typeface="Trebuchet MS"/>
              </a:rPr>
              <a:t> </a:t>
            </a:r>
            <a:r>
              <a:rPr dirty="0" sz="2250" b="1">
                <a:latin typeface="Trebuchet MS"/>
                <a:cs typeface="Trebuchet MS"/>
              </a:rPr>
              <a:t>system</a:t>
            </a:r>
            <a:r>
              <a:rPr dirty="0" sz="2250" spc="25" b="1">
                <a:latin typeface="Trebuchet MS"/>
                <a:cs typeface="Trebuchet MS"/>
              </a:rPr>
              <a:t> </a:t>
            </a:r>
            <a:r>
              <a:rPr dirty="0" sz="2250" spc="-10" b="1">
                <a:latin typeface="Trebuchet MS"/>
                <a:cs typeface="Trebuchet MS"/>
              </a:rPr>
              <a:t>provides:</a:t>
            </a:r>
            <a:endParaRPr sz="2250">
              <a:latin typeface="Trebuchet MS"/>
              <a:cs typeface="Trebuchet MS"/>
            </a:endParaRPr>
          </a:p>
          <a:p>
            <a:pPr marL="1115060" marR="5080" indent="11430">
              <a:lnSpc>
                <a:spcPct val="113900"/>
              </a:lnSpc>
            </a:pPr>
            <a:r>
              <a:rPr dirty="0" sz="2250" spc="210">
                <a:latin typeface="Trebuchet MS"/>
                <a:cs typeface="Trebuchet MS"/>
              </a:rPr>
              <a:t>Combined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90">
                <a:latin typeface="Trebuchet MS"/>
                <a:cs typeface="Trebuchet MS"/>
              </a:rPr>
              <a:t>environment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80">
                <a:latin typeface="Trebuchet MS"/>
                <a:cs typeface="Trebuchet MS"/>
              </a:rPr>
              <a:t>monitoring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175">
                <a:latin typeface="Trebuchet MS"/>
                <a:cs typeface="Trebuchet MS"/>
              </a:rPr>
              <a:t>+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165">
                <a:latin typeface="Trebuchet MS"/>
                <a:cs typeface="Trebuchet MS"/>
              </a:rPr>
              <a:t>attendance</a:t>
            </a:r>
            <a:r>
              <a:rPr dirty="0" sz="2250" spc="-40">
                <a:latin typeface="Trebuchet MS"/>
                <a:cs typeface="Trebuchet MS"/>
              </a:rPr>
              <a:t> </a:t>
            </a:r>
            <a:r>
              <a:rPr dirty="0" sz="2250" spc="70">
                <a:latin typeface="Trebuchet MS"/>
                <a:cs typeface="Trebuchet MS"/>
              </a:rPr>
              <a:t>tracking </a:t>
            </a:r>
            <a:r>
              <a:rPr dirty="0" sz="2250" spc="50">
                <a:latin typeface="Trebuchet MS"/>
                <a:cs typeface="Trebuchet MS"/>
              </a:rPr>
              <a:t>Real-</a:t>
            </a:r>
            <a:r>
              <a:rPr dirty="0" sz="2250">
                <a:latin typeface="Trebuchet MS"/>
                <a:cs typeface="Trebuchet MS"/>
              </a:rPr>
              <a:t>time</a:t>
            </a:r>
            <a:r>
              <a:rPr dirty="0" sz="2250" spc="25">
                <a:latin typeface="Trebuchet MS"/>
                <a:cs typeface="Trebuchet MS"/>
              </a:rPr>
              <a:t> </a:t>
            </a:r>
            <a:r>
              <a:rPr dirty="0" sz="2250" spc="95">
                <a:latin typeface="Trebuchet MS"/>
                <a:cs typeface="Trebuchet MS"/>
              </a:rPr>
              <a:t>classroom</a:t>
            </a:r>
            <a:r>
              <a:rPr dirty="0" sz="2250" spc="30">
                <a:latin typeface="Trebuchet MS"/>
                <a:cs typeface="Trebuchet MS"/>
              </a:rPr>
              <a:t> </a:t>
            </a:r>
            <a:r>
              <a:rPr dirty="0" sz="2250" spc="55">
                <a:latin typeface="Trebuchet MS"/>
                <a:cs typeface="Trebuchet MS"/>
              </a:rPr>
              <a:t>analytics</a:t>
            </a:r>
            <a:endParaRPr sz="2250">
              <a:latin typeface="Trebuchet MS"/>
              <a:cs typeface="Trebuchet MS"/>
            </a:endParaRPr>
          </a:p>
          <a:p>
            <a:pPr marL="1115060" marR="2294255">
              <a:lnSpc>
                <a:spcPct val="113900"/>
              </a:lnSpc>
            </a:pPr>
            <a:r>
              <a:rPr dirty="0" sz="2250">
                <a:latin typeface="Trebuchet MS"/>
                <a:cs typeface="Trebuchet MS"/>
              </a:rPr>
              <a:t>AI-</a:t>
            </a:r>
            <a:r>
              <a:rPr dirty="0" sz="2250" spc="204">
                <a:latin typeface="Trebuchet MS"/>
                <a:cs typeface="Trebuchet MS"/>
              </a:rPr>
              <a:t>based</a:t>
            </a:r>
            <a:r>
              <a:rPr dirty="0" sz="2250" spc="-25">
                <a:latin typeface="Trebuchet MS"/>
                <a:cs typeface="Trebuchet MS"/>
              </a:rPr>
              <a:t> </a:t>
            </a:r>
            <a:r>
              <a:rPr dirty="0" sz="2250" spc="155">
                <a:latin typeface="Trebuchet MS"/>
                <a:cs typeface="Trebuchet MS"/>
              </a:rPr>
              <a:t>adaptive</a:t>
            </a:r>
            <a:r>
              <a:rPr dirty="0" sz="2250" spc="-20">
                <a:latin typeface="Trebuchet MS"/>
                <a:cs typeface="Trebuchet MS"/>
              </a:rPr>
              <a:t> </a:t>
            </a:r>
            <a:r>
              <a:rPr dirty="0" sz="2250" spc="95">
                <a:latin typeface="Trebuchet MS"/>
                <a:cs typeface="Trebuchet MS"/>
              </a:rPr>
              <a:t>classroom</a:t>
            </a:r>
            <a:r>
              <a:rPr dirty="0" sz="2250" spc="-20">
                <a:latin typeface="Trebuchet MS"/>
                <a:cs typeface="Trebuchet MS"/>
              </a:rPr>
              <a:t> </a:t>
            </a:r>
            <a:r>
              <a:rPr dirty="0" sz="2250" spc="40">
                <a:latin typeface="Trebuchet MS"/>
                <a:cs typeface="Trebuchet MS"/>
              </a:rPr>
              <a:t>optimization </a:t>
            </a:r>
            <a:r>
              <a:rPr dirty="0" sz="2250" spc="55">
                <a:latin typeface="Trebuchet MS"/>
                <a:cs typeface="Trebuchet MS"/>
              </a:rPr>
              <a:t>Low-</a:t>
            </a:r>
            <a:r>
              <a:rPr dirty="0" sz="2250" spc="80">
                <a:latin typeface="Trebuchet MS"/>
                <a:cs typeface="Trebuchet MS"/>
              </a:rPr>
              <a:t>cost</a:t>
            </a:r>
            <a:r>
              <a:rPr dirty="0" sz="2250" spc="-85">
                <a:latin typeface="Trebuchet MS"/>
                <a:cs typeface="Trebuchet MS"/>
              </a:rPr>
              <a:t> </a:t>
            </a:r>
            <a:r>
              <a:rPr dirty="0" sz="2250" spc="-50">
                <a:latin typeface="Trebuchet MS"/>
                <a:cs typeface="Trebuchet MS"/>
              </a:rPr>
              <a:t>IoT</a:t>
            </a:r>
            <a:r>
              <a:rPr dirty="0" sz="2250" spc="-80">
                <a:latin typeface="Trebuchet MS"/>
                <a:cs typeface="Trebuchet MS"/>
              </a:rPr>
              <a:t> </a:t>
            </a:r>
            <a:r>
              <a:rPr dirty="0" sz="2250" spc="75">
                <a:latin typeface="Trebuchet MS"/>
                <a:cs typeface="Trebuchet MS"/>
              </a:rPr>
              <a:t>implementation</a:t>
            </a:r>
            <a:endParaRPr sz="2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2250">
              <a:latin typeface="Trebuchet MS"/>
              <a:cs typeface="Trebuchet MS"/>
            </a:endParaRPr>
          </a:p>
          <a:p>
            <a:pPr marL="495934">
              <a:lnSpc>
                <a:spcPct val="100000"/>
              </a:lnSpc>
            </a:pPr>
            <a:r>
              <a:rPr dirty="0" sz="2250" spc="50" b="1">
                <a:latin typeface="Trebuchet MS"/>
                <a:cs typeface="Trebuchet MS"/>
              </a:rPr>
              <a:t>Adoption</a:t>
            </a:r>
            <a:r>
              <a:rPr dirty="0" sz="2250" spc="-35" b="1">
                <a:latin typeface="Trebuchet MS"/>
                <a:cs typeface="Trebuchet MS"/>
              </a:rPr>
              <a:t> </a:t>
            </a:r>
            <a:r>
              <a:rPr dirty="0" sz="2250" b="1">
                <a:latin typeface="Trebuchet MS"/>
                <a:cs typeface="Trebuchet MS"/>
              </a:rPr>
              <a:t>Plan</a:t>
            </a:r>
            <a:r>
              <a:rPr dirty="0" sz="2250" spc="-35" b="1">
                <a:latin typeface="Trebuchet MS"/>
                <a:cs typeface="Trebuchet MS"/>
              </a:rPr>
              <a:t> </a:t>
            </a:r>
            <a:r>
              <a:rPr dirty="0" sz="2250" spc="145" b="1">
                <a:latin typeface="Trebuchet MS"/>
                <a:cs typeface="Trebuchet MS"/>
              </a:rPr>
              <a:t>/</a:t>
            </a:r>
            <a:r>
              <a:rPr dirty="0" sz="2250" spc="-35" b="1">
                <a:latin typeface="Trebuchet MS"/>
                <a:cs typeface="Trebuchet MS"/>
              </a:rPr>
              <a:t> </a:t>
            </a:r>
            <a:r>
              <a:rPr dirty="0" sz="2250" b="1">
                <a:latin typeface="Trebuchet MS"/>
                <a:cs typeface="Trebuchet MS"/>
              </a:rPr>
              <a:t>Next</a:t>
            </a:r>
            <a:r>
              <a:rPr dirty="0" sz="2250" spc="-30" b="1">
                <a:latin typeface="Trebuchet MS"/>
                <a:cs typeface="Trebuchet MS"/>
              </a:rPr>
              <a:t> </a:t>
            </a:r>
            <a:r>
              <a:rPr dirty="0" sz="2250" spc="-10" b="1">
                <a:latin typeface="Trebuchet MS"/>
                <a:cs typeface="Trebuchet MS"/>
              </a:rPr>
              <a:t>Steps</a:t>
            </a:r>
            <a:endParaRPr sz="2250">
              <a:latin typeface="Trebuchet MS"/>
              <a:cs typeface="Trebuchet MS"/>
            </a:endParaRPr>
          </a:p>
          <a:p>
            <a:pPr marL="1036319" marR="1990089">
              <a:lnSpc>
                <a:spcPct val="113900"/>
              </a:lnSpc>
            </a:pPr>
            <a:r>
              <a:rPr dirty="0" sz="2250" spc="-45">
                <a:latin typeface="Trebuchet MS"/>
                <a:cs typeface="Trebuchet MS"/>
              </a:rPr>
              <a:t>Pilot</a:t>
            </a:r>
            <a:r>
              <a:rPr dirty="0" sz="2250" spc="-65">
                <a:latin typeface="Trebuchet MS"/>
                <a:cs typeface="Trebuchet MS"/>
              </a:rPr>
              <a:t> </a:t>
            </a:r>
            <a:r>
              <a:rPr dirty="0" sz="2250" spc="130">
                <a:latin typeface="Trebuchet MS"/>
                <a:cs typeface="Trebuchet MS"/>
              </a:rPr>
              <a:t>deployment</a:t>
            </a:r>
            <a:r>
              <a:rPr dirty="0" sz="2250" spc="-60">
                <a:latin typeface="Trebuchet MS"/>
                <a:cs typeface="Trebuchet MS"/>
              </a:rPr>
              <a:t> </a:t>
            </a:r>
            <a:r>
              <a:rPr dirty="0" sz="2250">
                <a:latin typeface="Trebuchet MS"/>
                <a:cs typeface="Trebuchet MS"/>
              </a:rPr>
              <a:t>in</a:t>
            </a:r>
            <a:r>
              <a:rPr dirty="0" sz="2250" spc="-60">
                <a:latin typeface="Trebuchet MS"/>
                <a:cs typeface="Trebuchet MS"/>
              </a:rPr>
              <a:t> </a:t>
            </a:r>
            <a:r>
              <a:rPr dirty="0" sz="2250" spc="95">
                <a:latin typeface="Trebuchet MS"/>
                <a:cs typeface="Trebuchet MS"/>
              </a:rPr>
              <a:t>selected</a:t>
            </a:r>
            <a:r>
              <a:rPr dirty="0" sz="2250" spc="-60">
                <a:latin typeface="Trebuchet MS"/>
                <a:cs typeface="Trebuchet MS"/>
              </a:rPr>
              <a:t> </a:t>
            </a:r>
            <a:r>
              <a:rPr dirty="0" sz="2250" spc="70">
                <a:latin typeface="Trebuchet MS"/>
                <a:cs typeface="Trebuchet MS"/>
              </a:rPr>
              <a:t>classrooms </a:t>
            </a:r>
            <a:r>
              <a:rPr dirty="0" sz="2250" spc="85">
                <a:latin typeface="Trebuchet MS"/>
                <a:cs typeface="Trebuchet MS"/>
              </a:rPr>
              <a:t>Collect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85">
                <a:latin typeface="Trebuchet MS"/>
                <a:cs typeface="Trebuchet MS"/>
              </a:rPr>
              <a:t>environmental</a:t>
            </a:r>
            <a:r>
              <a:rPr dirty="0" sz="2250" spc="-40">
                <a:latin typeface="Trebuchet MS"/>
                <a:cs typeface="Trebuchet MS"/>
              </a:rPr>
              <a:t> </a:t>
            </a:r>
            <a:r>
              <a:rPr dirty="0" sz="2250" spc="250">
                <a:latin typeface="Trebuchet MS"/>
                <a:cs typeface="Trebuchet MS"/>
              </a:rPr>
              <a:t>and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165">
                <a:latin typeface="Trebuchet MS"/>
                <a:cs typeface="Trebuchet MS"/>
              </a:rPr>
              <a:t>attendance</a:t>
            </a:r>
            <a:r>
              <a:rPr dirty="0" sz="2250" spc="-40">
                <a:latin typeface="Trebuchet MS"/>
                <a:cs typeface="Trebuchet MS"/>
              </a:rPr>
              <a:t> </a:t>
            </a:r>
            <a:r>
              <a:rPr dirty="0" sz="2250" spc="180">
                <a:latin typeface="Trebuchet MS"/>
                <a:cs typeface="Trebuchet MS"/>
              </a:rPr>
              <a:t>data</a:t>
            </a:r>
            <a:endParaRPr sz="2250">
              <a:latin typeface="Trebuchet MS"/>
              <a:cs typeface="Trebuchet MS"/>
            </a:endParaRPr>
          </a:p>
          <a:p>
            <a:pPr marL="1036319" marR="1524635">
              <a:lnSpc>
                <a:spcPct val="113900"/>
              </a:lnSpc>
            </a:pPr>
            <a:r>
              <a:rPr dirty="0" sz="2250" spc="95">
                <a:latin typeface="Trebuchet MS"/>
                <a:cs typeface="Trebuchet MS"/>
              </a:rPr>
              <a:t>Implement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85">
                <a:latin typeface="Trebuchet MS"/>
                <a:cs typeface="Trebuchet MS"/>
              </a:rPr>
              <a:t>Reinforcement</a:t>
            </a:r>
            <a:r>
              <a:rPr dirty="0" sz="2250" spc="-40">
                <a:latin typeface="Trebuchet MS"/>
                <a:cs typeface="Trebuchet MS"/>
              </a:rPr>
              <a:t> </a:t>
            </a:r>
            <a:r>
              <a:rPr dirty="0" sz="2250" spc="95">
                <a:latin typeface="Trebuchet MS"/>
                <a:cs typeface="Trebuchet MS"/>
              </a:rPr>
              <a:t>Learning</a:t>
            </a:r>
            <a:r>
              <a:rPr dirty="0" sz="2250" spc="-40">
                <a:latin typeface="Trebuchet MS"/>
                <a:cs typeface="Trebuchet MS"/>
              </a:rPr>
              <a:t> </a:t>
            </a:r>
            <a:r>
              <a:rPr dirty="0" sz="2250" spc="40">
                <a:latin typeface="Trebuchet MS"/>
                <a:cs typeface="Trebuchet MS"/>
              </a:rPr>
              <a:t>optimization </a:t>
            </a:r>
            <a:r>
              <a:rPr dirty="0" sz="2250" spc="155">
                <a:latin typeface="Trebuchet MS"/>
                <a:cs typeface="Trebuchet MS"/>
              </a:rPr>
              <a:t>Expand</a:t>
            </a:r>
            <a:r>
              <a:rPr dirty="0" sz="2250" spc="-50">
                <a:latin typeface="Trebuchet MS"/>
                <a:cs typeface="Trebuchet MS"/>
              </a:rPr>
              <a:t> </a:t>
            </a:r>
            <a:r>
              <a:rPr dirty="0" sz="2250" spc="130">
                <a:latin typeface="Trebuchet MS"/>
                <a:cs typeface="Trebuchet MS"/>
              </a:rPr>
              <a:t>deployment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100">
                <a:latin typeface="Trebuchet MS"/>
                <a:cs typeface="Trebuchet MS"/>
              </a:rPr>
              <a:t>across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195">
                <a:latin typeface="Trebuchet MS"/>
                <a:cs typeface="Trebuchet MS"/>
              </a:rPr>
              <a:t>campus</a:t>
            </a:r>
            <a:r>
              <a:rPr dirty="0" sz="2250" spc="-45">
                <a:latin typeface="Trebuchet MS"/>
                <a:cs typeface="Trebuchet MS"/>
              </a:rPr>
              <a:t> </a:t>
            </a:r>
            <a:r>
              <a:rPr dirty="0" sz="2250" spc="70">
                <a:latin typeface="Trebuchet MS"/>
                <a:cs typeface="Trebuchet MS"/>
              </a:rPr>
              <a:t>classrooms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253" y="1603374"/>
            <a:ext cx="10191749" cy="395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306" y="6286051"/>
            <a:ext cx="7715249" cy="30098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32426" y="2839427"/>
            <a:ext cx="9353548" cy="6572249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189931" y="428688"/>
            <a:ext cx="14070965" cy="558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b="1">
                <a:latin typeface="Trebuchet MS"/>
                <a:cs typeface="Trebuchet MS"/>
              </a:rPr>
              <a:t>ADAPTIVE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IOT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ENVIRONMENTAL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&amp;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b="1">
                <a:latin typeface="Trebuchet MS"/>
                <a:cs typeface="Trebuchet MS"/>
              </a:rPr>
              <a:t>ATTENDANCE</a:t>
            </a:r>
            <a:r>
              <a:rPr dirty="0" sz="3500" spc="-75" b="1">
                <a:latin typeface="Trebuchet MS"/>
                <a:cs typeface="Trebuchet MS"/>
              </a:rPr>
              <a:t> </a:t>
            </a:r>
            <a:r>
              <a:rPr dirty="0" sz="3500" spc="175" b="1">
                <a:latin typeface="Trebuchet MS"/>
                <a:cs typeface="Trebuchet MS"/>
              </a:rPr>
              <a:t>MONITORING</a:t>
            </a:r>
            <a:r>
              <a:rPr dirty="0" sz="3500" spc="-70" b="1">
                <a:latin typeface="Trebuchet MS"/>
                <a:cs typeface="Trebuchet MS"/>
              </a:rPr>
              <a:t> </a:t>
            </a:r>
            <a:r>
              <a:rPr dirty="0" sz="3500" spc="-20" b="1">
                <a:latin typeface="Trebuchet MS"/>
                <a:cs typeface="Trebuchet MS"/>
              </a:rPr>
              <a:t>WITH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9931" y="1047813"/>
            <a:ext cx="87083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b="1">
                <a:latin typeface="Trebuchet MS"/>
                <a:cs typeface="Trebuchet MS"/>
              </a:rPr>
              <a:t>REINFORCEMENT</a:t>
            </a:r>
            <a:r>
              <a:rPr dirty="0" sz="3500" spc="-5" b="1">
                <a:latin typeface="Trebuchet MS"/>
                <a:cs typeface="Trebuchet MS"/>
              </a:rPr>
              <a:t> </a:t>
            </a:r>
            <a:r>
              <a:rPr dirty="0" sz="3500" spc="70" b="1">
                <a:latin typeface="Trebuchet MS"/>
                <a:cs typeface="Trebuchet MS"/>
              </a:rPr>
              <a:t>LEARNING</a:t>
            </a:r>
            <a:r>
              <a:rPr dirty="0" sz="3500" b="1">
                <a:latin typeface="Trebuchet MS"/>
                <a:cs typeface="Trebuchet MS"/>
              </a:rPr>
              <a:t> </a:t>
            </a:r>
            <a:r>
              <a:rPr dirty="0" sz="3500" spc="-10" b="1">
                <a:latin typeface="Trebuchet MS"/>
                <a:cs typeface="Trebuchet MS"/>
              </a:rPr>
              <a:t>MIDDLEWARE</a:t>
            </a:r>
            <a:endParaRPr sz="35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19355" y="1424364"/>
            <a:ext cx="444944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70">
                <a:latin typeface="Tahoma"/>
                <a:cs typeface="Tahoma"/>
              </a:rPr>
              <a:t>Student</a:t>
            </a:r>
            <a:r>
              <a:rPr dirty="0" sz="2550" spc="-120">
                <a:latin typeface="Tahoma"/>
                <a:cs typeface="Tahoma"/>
              </a:rPr>
              <a:t> </a:t>
            </a:r>
            <a:r>
              <a:rPr dirty="0" sz="2550" spc="90">
                <a:latin typeface="Tahoma"/>
                <a:cs typeface="Tahoma"/>
              </a:rPr>
              <a:t>management</a:t>
            </a:r>
            <a:r>
              <a:rPr dirty="0" sz="2550" spc="-114">
                <a:latin typeface="Tahoma"/>
                <a:cs typeface="Tahoma"/>
              </a:rPr>
              <a:t> </a:t>
            </a:r>
            <a:r>
              <a:rPr dirty="0" sz="2550" spc="60">
                <a:latin typeface="Tahoma"/>
                <a:cs typeface="Tahoma"/>
              </a:rPr>
              <a:t>system</a:t>
            </a:r>
            <a:endParaRPr sz="2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8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4948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0148" y="3904824"/>
            <a:ext cx="8077199" cy="535304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16000" y="132648"/>
            <a:ext cx="12102465" cy="10902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3000" b="1">
                <a:latin typeface="Trebuchet MS"/>
                <a:cs typeface="Trebuchet MS"/>
              </a:rPr>
              <a:t>ADAPTIVE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IOT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ENVIRONMENTAL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&amp;</a:t>
            </a:r>
            <a:r>
              <a:rPr dirty="0" sz="3000" spc="-30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ATTENDANCE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spc="155" b="1">
                <a:latin typeface="Trebuchet MS"/>
                <a:cs typeface="Trebuchet MS"/>
              </a:rPr>
              <a:t>MONITORING</a:t>
            </a:r>
            <a:r>
              <a:rPr dirty="0" sz="3000" spc="-35" b="1">
                <a:latin typeface="Trebuchet MS"/>
                <a:cs typeface="Trebuchet MS"/>
              </a:rPr>
              <a:t> </a:t>
            </a:r>
            <a:r>
              <a:rPr dirty="0" sz="3000" spc="-20" b="1">
                <a:latin typeface="Trebuchet MS"/>
                <a:cs typeface="Trebuchet MS"/>
              </a:rPr>
              <a:t>WITH </a:t>
            </a:r>
            <a:r>
              <a:rPr dirty="0" sz="3000" b="1">
                <a:latin typeface="Trebuchet MS"/>
                <a:cs typeface="Trebuchet MS"/>
              </a:rPr>
              <a:t>REINFORCEMENT</a:t>
            </a:r>
            <a:r>
              <a:rPr dirty="0" sz="3000" spc="45" b="1">
                <a:latin typeface="Trebuchet MS"/>
                <a:cs typeface="Trebuchet MS"/>
              </a:rPr>
              <a:t> </a:t>
            </a:r>
            <a:r>
              <a:rPr dirty="0" sz="3000" spc="60" b="1">
                <a:latin typeface="Trebuchet MS"/>
                <a:cs typeface="Trebuchet MS"/>
              </a:rPr>
              <a:t>LEARNING</a:t>
            </a:r>
            <a:r>
              <a:rPr dirty="0" sz="3000" spc="50" b="1">
                <a:latin typeface="Trebuchet MS"/>
                <a:cs typeface="Trebuchet MS"/>
              </a:rPr>
              <a:t> </a:t>
            </a:r>
            <a:r>
              <a:rPr dirty="0" sz="3000" spc="-10" b="1">
                <a:latin typeface="Trebuchet MS"/>
                <a:cs typeface="Trebuchet MS"/>
              </a:rPr>
              <a:t>MIDDLEWARE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2532203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2979877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3427553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3875228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4322902"/>
            <a:ext cx="95250" cy="95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4770577"/>
            <a:ext cx="95250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5218252"/>
            <a:ext cx="95250" cy="952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1499" y="5665927"/>
            <a:ext cx="95250" cy="952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019249" y="1811509"/>
            <a:ext cx="8979535" cy="405447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100" spc="-85">
                <a:latin typeface="Arial Black"/>
                <a:cs typeface="Arial Black"/>
              </a:rPr>
              <a:t>Demo</a:t>
            </a:r>
            <a:r>
              <a:rPr dirty="0" sz="2100" spc="-150">
                <a:latin typeface="Arial Black"/>
                <a:cs typeface="Arial Black"/>
              </a:rPr>
              <a:t> </a:t>
            </a:r>
            <a:r>
              <a:rPr dirty="0" sz="2100" spc="-20">
                <a:latin typeface="Arial Black"/>
                <a:cs typeface="Arial Black"/>
              </a:rPr>
              <a:t>Flow</a:t>
            </a:r>
            <a:endParaRPr sz="2100">
              <a:latin typeface="Arial Black"/>
              <a:cs typeface="Arial Black"/>
            </a:endParaRPr>
          </a:p>
          <a:p>
            <a:pPr marL="471170">
              <a:lnSpc>
                <a:spcPct val="100000"/>
              </a:lnSpc>
              <a:spcBef>
                <a:spcPts val="1005"/>
              </a:spcBef>
            </a:pPr>
            <a:r>
              <a:rPr dirty="0" sz="2100" spc="-150">
                <a:latin typeface="Arial Black"/>
                <a:cs typeface="Arial Black"/>
              </a:rPr>
              <a:t>Step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204">
                <a:latin typeface="Arial Black"/>
                <a:cs typeface="Arial Black"/>
              </a:rPr>
              <a:t>1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>
                <a:latin typeface="Arial Black"/>
                <a:cs typeface="Arial Black"/>
              </a:rPr>
              <a:t>–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145">
                <a:latin typeface="Arial Black"/>
                <a:cs typeface="Arial Black"/>
              </a:rPr>
              <a:t>Sensor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10">
                <a:latin typeface="Arial Black"/>
                <a:cs typeface="Arial Black"/>
              </a:rPr>
              <a:t>Monitoring</a:t>
            </a:r>
            <a:endParaRPr sz="2100">
              <a:latin typeface="Arial Black"/>
              <a:cs typeface="Arial Black"/>
            </a:endParaRPr>
          </a:p>
          <a:p>
            <a:pPr marL="471170" marR="5080">
              <a:lnSpc>
                <a:spcPct val="139900"/>
              </a:lnSpc>
            </a:pPr>
            <a:r>
              <a:rPr dirty="0" sz="2100" spc="70">
                <a:latin typeface="Tahoma"/>
                <a:cs typeface="Tahoma"/>
              </a:rPr>
              <a:t>Display</a:t>
            </a:r>
            <a:r>
              <a:rPr dirty="0" sz="2100" spc="-6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real-</a:t>
            </a:r>
            <a:r>
              <a:rPr dirty="0" sz="2100" spc="95">
                <a:latin typeface="Tahoma"/>
                <a:cs typeface="Tahoma"/>
              </a:rPr>
              <a:t>time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75">
                <a:latin typeface="Tahoma"/>
                <a:cs typeface="Tahoma"/>
              </a:rPr>
              <a:t>temperature,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70">
                <a:latin typeface="Tahoma"/>
                <a:cs typeface="Tahoma"/>
              </a:rPr>
              <a:t>humidity,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noise,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110">
                <a:latin typeface="Tahoma"/>
                <a:cs typeface="Tahoma"/>
              </a:rPr>
              <a:t>and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75">
                <a:latin typeface="Tahoma"/>
                <a:cs typeface="Tahoma"/>
              </a:rPr>
              <a:t>air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70">
                <a:latin typeface="Tahoma"/>
                <a:cs typeface="Tahoma"/>
              </a:rPr>
              <a:t>quality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data</a:t>
            </a:r>
            <a:r>
              <a:rPr dirty="0" sz="2100" spc="-10">
                <a:latin typeface="Arial Black"/>
                <a:cs typeface="Arial Black"/>
              </a:rPr>
              <a:t>. </a:t>
            </a:r>
            <a:r>
              <a:rPr dirty="0" sz="2100" spc="-150">
                <a:latin typeface="Arial Black"/>
                <a:cs typeface="Arial Black"/>
              </a:rPr>
              <a:t>Step</a:t>
            </a:r>
            <a:r>
              <a:rPr dirty="0" sz="2100" spc="-140">
                <a:latin typeface="Arial Black"/>
                <a:cs typeface="Arial Black"/>
              </a:rPr>
              <a:t> </a:t>
            </a:r>
            <a:r>
              <a:rPr dirty="0" sz="2100" spc="-204">
                <a:latin typeface="Arial Black"/>
                <a:cs typeface="Arial Black"/>
              </a:rPr>
              <a:t>2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>
                <a:latin typeface="Arial Black"/>
                <a:cs typeface="Arial Black"/>
              </a:rPr>
              <a:t>–</a:t>
            </a:r>
            <a:r>
              <a:rPr dirty="0" sz="2100" spc="-140">
                <a:latin typeface="Arial Black"/>
                <a:cs typeface="Arial Black"/>
              </a:rPr>
              <a:t> </a:t>
            </a:r>
            <a:r>
              <a:rPr dirty="0" sz="2100" spc="-200">
                <a:latin typeface="Arial Black"/>
                <a:cs typeface="Arial Black"/>
              </a:rPr>
              <a:t>NFC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10">
                <a:latin typeface="Arial Black"/>
                <a:cs typeface="Arial Black"/>
              </a:rPr>
              <a:t>Attendance</a:t>
            </a:r>
            <a:endParaRPr sz="2100">
              <a:latin typeface="Arial Black"/>
              <a:cs typeface="Arial Black"/>
            </a:endParaRPr>
          </a:p>
          <a:p>
            <a:pPr marL="471170">
              <a:lnSpc>
                <a:spcPct val="100000"/>
              </a:lnSpc>
              <a:spcBef>
                <a:spcPts val="1005"/>
              </a:spcBef>
            </a:pPr>
            <a:r>
              <a:rPr dirty="0" sz="2100" spc="75">
                <a:latin typeface="Tahoma"/>
                <a:cs typeface="Tahoma"/>
              </a:rPr>
              <a:t>Student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80">
                <a:latin typeface="Tahoma"/>
                <a:cs typeface="Tahoma"/>
              </a:rPr>
              <a:t>taps</a:t>
            </a:r>
            <a:r>
              <a:rPr dirty="0" sz="2100" spc="-5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RFID/NFC</a:t>
            </a:r>
            <a:r>
              <a:rPr dirty="0" sz="2100" spc="-60">
                <a:latin typeface="Tahoma"/>
                <a:cs typeface="Tahoma"/>
              </a:rPr>
              <a:t> </a:t>
            </a:r>
            <a:r>
              <a:rPr dirty="0" sz="2100" spc="-20">
                <a:latin typeface="Tahoma"/>
                <a:cs typeface="Tahoma"/>
              </a:rPr>
              <a:t>card.</a:t>
            </a:r>
            <a:endParaRPr sz="2100">
              <a:latin typeface="Tahoma"/>
              <a:cs typeface="Tahoma"/>
            </a:endParaRPr>
          </a:p>
          <a:p>
            <a:pPr marL="471170">
              <a:lnSpc>
                <a:spcPct val="100000"/>
              </a:lnSpc>
              <a:spcBef>
                <a:spcPts val="1005"/>
              </a:spcBef>
            </a:pPr>
            <a:r>
              <a:rPr dirty="0" sz="2100" spc="80">
                <a:latin typeface="Tahoma"/>
                <a:cs typeface="Tahoma"/>
              </a:rPr>
              <a:t>Attendance</a:t>
            </a:r>
            <a:r>
              <a:rPr dirty="0" sz="2100" spc="-95">
                <a:latin typeface="Tahoma"/>
                <a:cs typeface="Tahoma"/>
              </a:rPr>
              <a:t> </a:t>
            </a:r>
            <a:r>
              <a:rPr dirty="0" sz="2100" spc="75">
                <a:latin typeface="Tahoma"/>
                <a:cs typeface="Tahoma"/>
              </a:rPr>
              <a:t>automatically</a:t>
            </a:r>
            <a:r>
              <a:rPr dirty="0" sz="2100" spc="-95">
                <a:latin typeface="Tahoma"/>
                <a:cs typeface="Tahoma"/>
              </a:rPr>
              <a:t> </a:t>
            </a:r>
            <a:r>
              <a:rPr dirty="0" sz="2100" spc="95">
                <a:latin typeface="Tahoma"/>
                <a:cs typeface="Tahoma"/>
              </a:rPr>
              <a:t>recorded</a:t>
            </a:r>
            <a:r>
              <a:rPr dirty="0" sz="2100" spc="-95">
                <a:latin typeface="Tahoma"/>
                <a:cs typeface="Tahoma"/>
              </a:rPr>
              <a:t> </a:t>
            </a:r>
            <a:r>
              <a:rPr dirty="0" sz="2100" spc="90">
                <a:latin typeface="Tahoma"/>
                <a:cs typeface="Tahoma"/>
              </a:rPr>
              <a:t>in</a:t>
            </a:r>
            <a:r>
              <a:rPr dirty="0" sz="2100" spc="-90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database.</a:t>
            </a:r>
            <a:endParaRPr sz="2100">
              <a:latin typeface="Tahoma"/>
              <a:cs typeface="Tahoma"/>
            </a:endParaRPr>
          </a:p>
          <a:p>
            <a:pPr marL="471170">
              <a:lnSpc>
                <a:spcPct val="100000"/>
              </a:lnSpc>
              <a:spcBef>
                <a:spcPts val="1005"/>
              </a:spcBef>
            </a:pPr>
            <a:r>
              <a:rPr dirty="0" sz="2100" spc="-150">
                <a:latin typeface="Arial Black"/>
                <a:cs typeface="Arial Black"/>
              </a:rPr>
              <a:t>Step</a:t>
            </a:r>
            <a:r>
              <a:rPr dirty="0" sz="2100" spc="-140">
                <a:latin typeface="Arial Black"/>
                <a:cs typeface="Arial Black"/>
              </a:rPr>
              <a:t> </a:t>
            </a:r>
            <a:r>
              <a:rPr dirty="0" sz="2100" spc="-204">
                <a:latin typeface="Arial Black"/>
                <a:cs typeface="Arial Black"/>
              </a:rPr>
              <a:t>3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>
                <a:latin typeface="Arial Black"/>
                <a:cs typeface="Arial Black"/>
              </a:rPr>
              <a:t>–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90">
                <a:latin typeface="Arial Black"/>
                <a:cs typeface="Arial Black"/>
              </a:rPr>
              <a:t>Dashboard</a:t>
            </a:r>
            <a:r>
              <a:rPr dirty="0" sz="2100" spc="-135">
                <a:latin typeface="Arial Black"/>
                <a:cs typeface="Arial Black"/>
              </a:rPr>
              <a:t> </a:t>
            </a:r>
            <a:r>
              <a:rPr dirty="0" sz="2100" spc="-20">
                <a:latin typeface="Arial Black"/>
                <a:cs typeface="Arial Black"/>
              </a:rPr>
              <a:t>Visualization</a:t>
            </a:r>
            <a:endParaRPr sz="2100">
              <a:latin typeface="Arial Black"/>
              <a:cs typeface="Arial Black"/>
            </a:endParaRPr>
          </a:p>
          <a:p>
            <a:pPr marL="471170" marR="3283585">
              <a:lnSpc>
                <a:spcPct val="139900"/>
              </a:lnSpc>
            </a:pPr>
            <a:r>
              <a:rPr dirty="0" sz="2100" spc="75">
                <a:latin typeface="Tahoma"/>
                <a:cs typeface="Tahoma"/>
              </a:rPr>
              <a:t>Show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real-</a:t>
            </a:r>
            <a:r>
              <a:rPr dirty="0" sz="2100" spc="95">
                <a:latin typeface="Tahoma"/>
                <a:cs typeface="Tahoma"/>
              </a:rPr>
              <a:t>time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 spc="90">
                <a:latin typeface="Tahoma"/>
                <a:cs typeface="Tahoma"/>
              </a:rPr>
              <a:t>environmental</a:t>
            </a:r>
            <a:r>
              <a:rPr dirty="0" sz="2100" spc="-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metrics. </a:t>
            </a:r>
            <a:r>
              <a:rPr dirty="0" sz="2100" spc="70">
                <a:latin typeface="Tahoma"/>
                <a:cs typeface="Tahoma"/>
              </a:rPr>
              <a:t>Display</a:t>
            </a:r>
            <a:r>
              <a:rPr dirty="0" sz="2100" spc="-95">
                <a:latin typeface="Tahoma"/>
                <a:cs typeface="Tahoma"/>
              </a:rPr>
              <a:t> </a:t>
            </a:r>
            <a:r>
              <a:rPr dirty="0" sz="2100" spc="80">
                <a:latin typeface="Tahoma"/>
                <a:cs typeface="Tahoma"/>
              </a:rPr>
              <a:t>attendance</a:t>
            </a:r>
            <a:r>
              <a:rPr dirty="0" sz="2100" spc="-90">
                <a:latin typeface="Tahoma"/>
                <a:cs typeface="Tahoma"/>
              </a:rPr>
              <a:t> </a:t>
            </a:r>
            <a:r>
              <a:rPr dirty="0" sz="2100" spc="90">
                <a:latin typeface="Tahoma"/>
                <a:cs typeface="Tahoma"/>
              </a:rPr>
              <a:t>records</a:t>
            </a:r>
            <a:r>
              <a:rPr dirty="0" sz="2100" spc="-95">
                <a:latin typeface="Tahoma"/>
                <a:cs typeface="Tahoma"/>
              </a:rPr>
              <a:t> </a:t>
            </a:r>
            <a:r>
              <a:rPr dirty="0" sz="2100" spc="110">
                <a:latin typeface="Tahoma"/>
                <a:cs typeface="Tahoma"/>
              </a:rPr>
              <a:t>and</a:t>
            </a:r>
            <a:r>
              <a:rPr dirty="0" sz="2100" spc="-90">
                <a:latin typeface="Tahoma"/>
                <a:cs typeface="Tahoma"/>
              </a:rPr>
              <a:t> </a:t>
            </a:r>
            <a:r>
              <a:rPr dirty="0" sz="2100" spc="35">
                <a:latin typeface="Tahoma"/>
                <a:cs typeface="Tahoma"/>
              </a:rPr>
              <a:t>analytics.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78809" y="9192091"/>
            <a:ext cx="802259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IT22132000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S.S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190">
                <a:latin typeface="Trebuchet MS"/>
                <a:cs typeface="Trebuchet MS"/>
              </a:rPr>
              <a:t>Bamunuarachchi</a:t>
            </a:r>
            <a:r>
              <a:rPr dirty="0" sz="2800" spc="-1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22665" y="0"/>
            <a:ext cx="1010919" cy="1821180"/>
          </a:xfrm>
          <a:custGeom>
            <a:avLst/>
            <a:gdLst/>
            <a:ahLst/>
            <a:cxnLst/>
            <a:rect l="l" t="t" r="r" b="b"/>
            <a:pathLst>
              <a:path w="1010919" h="1821180">
                <a:moveTo>
                  <a:pt x="524918" y="1820811"/>
                </a:moveTo>
                <a:lnTo>
                  <a:pt x="485775" y="1820811"/>
                </a:lnTo>
                <a:lnTo>
                  <a:pt x="437761" y="1818434"/>
                </a:lnTo>
                <a:lnTo>
                  <a:pt x="390562" y="1811390"/>
                </a:lnTo>
                <a:lnTo>
                  <a:pt x="344494" y="1799813"/>
                </a:lnTo>
                <a:lnTo>
                  <a:pt x="299876" y="1783833"/>
                </a:lnTo>
                <a:lnTo>
                  <a:pt x="257027" y="1763583"/>
                </a:lnTo>
                <a:lnTo>
                  <a:pt x="216266" y="1739195"/>
                </a:lnTo>
                <a:lnTo>
                  <a:pt x="177910" y="1710800"/>
                </a:lnTo>
                <a:lnTo>
                  <a:pt x="142279" y="1678531"/>
                </a:lnTo>
                <a:lnTo>
                  <a:pt x="110010" y="1642900"/>
                </a:lnTo>
                <a:lnTo>
                  <a:pt x="81615" y="1604544"/>
                </a:lnTo>
                <a:lnTo>
                  <a:pt x="57227" y="1563783"/>
                </a:lnTo>
                <a:lnTo>
                  <a:pt x="36977" y="1520934"/>
                </a:lnTo>
                <a:lnTo>
                  <a:pt x="20997" y="1476316"/>
                </a:lnTo>
                <a:lnTo>
                  <a:pt x="9420" y="1430248"/>
                </a:lnTo>
                <a:lnTo>
                  <a:pt x="2377" y="1383049"/>
                </a:lnTo>
                <a:lnTo>
                  <a:pt x="0" y="1335036"/>
                </a:lnTo>
                <a:lnTo>
                  <a:pt x="0" y="0"/>
                </a:lnTo>
                <a:lnTo>
                  <a:pt x="1010693" y="0"/>
                </a:lnTo>
                <a:lnTo>
                  <a:pt x="1010693" y="1335036"/>
                </a:lnTo>
                <a:lnTo>
                  <a:pt x="1008316" y="1383049"/>
                </a:lnTo>
                <a:lnTo>
                  <a:pt x="1001273" y="1430248"/>
                </a:lnTo>
                <a:lnTo>
                  <a:pt x="989695" y="1476316"/>
                </a:lnTo>
                <a:lnTo>
                  <a:pt x="973716" y="1520934"/>
                </a:lnTo>
                <a:lnTo>
                  <a:pt x="953466" y="1563783"/>
                </a:lnTo>
                <a:lnTo>
                  <a:pt x="929077" y="1604544"/>
                </a:lnTo>
                <a:lnTo>
                  <a:pt x="900683" y="1642900"/>
                </a:lnTo>
                <a:lnTo>
                  <a:pt x="868413" y="1678531"/>
                </a:lnTo>
                <a:lnTo>
                  <a:pt x="832782" y="1710800"/>
                </a:lnTo>
                <a:lnTo>
                  <a:pt x="794426" y="1739195"/>
                </a:lnTo>
                <a:lnTo>
                  <a:pt x="753665" y="1763583"/>
                </a:lnTo>
                <a:lnTo>
                  <a:pt x="710816" y="1783833"/>
                </a:lnTo>
                <a:lnTo>
                  <a:pt x="666199" y="1799813"/>
                </a:lnTo>
                <a:lnTo>
                  <a:pt x="620131" y="1811390"/>
                </a:lnTo>
                <a:lnTo>
                  <a:pt x="572931" y="1818434"/>
                </a:lnTo>
                <a:lnTo>
                  <a:pt x="524918" y="1820811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85725" y="9753293"/>
            <a:ext cx="18459450" cy="534035"/>
            <a:chOff x="-85725" y="9753293"/>
            <a:chExt cx="18459450" cy="534035"/>
          </a:xfrm>
        </p:grpSpPr>
        <p:sp>
          <p:nvSpPr>
            <p:cNvPr id="4" name="object 4"/>
            <p:cNvSpPr/>
            <p:nvPr/>
          </p:nvSpPr>
          <p:spPr>
            <a:xfrm>
              <a:off x="0" y="9839019"/>
              <a:ext cx="18288000" cy="448309"/>
            </a:xfrm>
            <a:custGeom>
              <a:avLst/>
              <a:gdLst/>
              <a:ahLst/>
              <a:cxnLst/>
              <a:rect l="l" t="t" r="r" b="b"/>
              <a:pathLst>
                <a:path w="18288000" h="448309">
                  <a:moveTo>
                    <a:pt x="18288000" y="447980"/>
                  </a:moveTo>
                  <a:lnTo>
                    <a:pt x="0" y="447980"/>
                  </a:lnTo>
                  <a:lnTo>
                    <a:pt x="0" y="9187"/>
                  </a:lnTo>
                  <a:lnTo>
                    <a:pt x="36763" y="2764"/>
                  </a:lnTo>
                  <a:lnTo>
                    <a:pt x="84690" y="0"/>
                  </a:lnTo>
                  <a:lnTo>
                    <a:pt x="18288000" y="0"/>
                  </a:lnTo>
                  <a:lnTo>
                    <a:pt x="18288000" y="447980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839018"/>
              <a:ext cx="18288000" cy="9525"/>
            </a:xfrm>
            <a:custGeom>
              <a:avLst/>
              <a:gdLst/>
              <a:ahLst/>
              <a:cxnLst/>
              <a:rect l="l" t="t" r="r" b="b"/>
              <a:pathLst>
                <a:path w="18288000" h="9525">
                  <a:moveTo>
                    <a:pt x="0" y="9353"/>
                  </a:moveTo>
                  <a:lnTo>
                    <a:pt x="37716" y="2764"/>
                  </a:lnTo>
                  <a:lnTo>
                    <a:pt x="85637" y="0"/>
                  </a:lnTo>
                  <a:lnTo>
                    <a:pt x="18287999" y="0"/>
                  </a:lnTo>
                </a:path>
              </a:pathLst>
            </a:custGeom>
            <a:ln w="171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7432126" y="3449184"/>
            <a:ext cx="982344" cy="3914140"/>
          </a:xfrm>
          <a:custGeom>
            <a:avLst/>
            <a:gdLst/>
            <a:ahLst/>
            <a:cxnLst/>
            <a:rect l="l" t="t" r="r" b="b"/>
            <a:pathLst>
              <a:path w="982344" h="3914140">
                <a:moveTo>
                  <a:pt x="224816" y="80184"/>
                </a:moveTo>
                <a:lnTo>
                  <a:pt x="855873" y="80184"/>
                </a:lnTo>
                <a:lnTo>
                  <a:pt x="855873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8" y="79871"/>
                </a:lnTo>
                <a:lnTo>
                  <a:pt x="121187" y="79871"/>
                </a:lnTo>
                <a:lnTo>
                  <a:pt x="224816" y="80184"/>
                </a:lnTo>
                <a:close/>
              </a:path>
              <a:path w="982344" h="3914140">
                <a:moveTo>
                  <a:pt x="37646" y="1583241"/>
                </a:moveTo>
                <a:lnTo>
                  <a:pt x="55287" y="1579445"/>
                </a:lnTo>
                <a:lnTo>
                  <a:pt x="69417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6" y="631256"/>
                </a:lnTo>
                <a:lnTo>
                  <a:pt x="85819" y="579304"/>
                </a:lnTo>
                <a:lnTo>
                  <a:pt x="86406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8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7" y="79871"/>
                </a:lnTo>
                <a:lnTo>
                  <a:pt x="8588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1" y="672109"/>
                </a:lnTo>
                <a:lnTo>
                  <a:pt x="8095" y="702303"/>
                </a:lnTo>
                <a:lnTo>
                  <a:pt x="2189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1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982344" h="3914140">
                <a:moveTo>
                  <a:pt x="855873" y="80888"/>
                </a:moveTo>
                <a:lnTo>
                  <a:pt x="981887" y="80888"/>
                </a:lnTo>
                <a:lnTo>
                  <a:pt x="273464" y="80184"/>
                </a:lnTo>
                <a:lnTo>
                  <a:pt x="855873" y="80184"/>
                </a:lnTo>
                <a:lnTo>
                  <a:pt x="855873" y="80888"/>
                </a:lnTo>
                <a:close/>
              </a:path>
              <a:path w="982344" h="3914140">
                <a:moveTo>
                  <a:pt x="846627" y="81090"/>
                </a:moveTo>
                <a:lnTo>
                  <a:pt x="855873" y="81090"/>
                </a:lnTo>
                <a:lnTo>
                  <a:pt x="855873" y="80888"/>
                </a:lnTo>
                <a:lnTo>
                  <a:pt x="794810" y="80888"/>
                </a:lnTo>
                <a:lnTo>
                  <a:pt x="846627" y="81090"/>
                </a:lnTo>
                <a:close/>
              </a:path>
              <a:path w="982344" h="3914140">
                <a:moveTo>
                  <a:pt x="855873" y="3914045"/>
                </a:moveTo>
                <a:lnTo>
                  <a:pt x="855873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89" y="3911342"/>
                </a:lnTo>
                <a:lnTo>
                  <a:pt x="451175" y="3913864"/>
                </a:lnTo>
                <a:lnTo>
                  <a:pt x="808179" y="3913864"/>
                </a:lnTo>
                <a:lnTo>
                  <a:pt x="855873" y="3914045"/>
                </a:lnTo>
                <a:close/>
              </a:path>
              <a:path w="982344" h="3914140">
                <a:moveTo>
                  <a:pt x="222372" y="3832831"/>
                </a:moveTo>
                <a:lnTo>
                  <a:pt x="320227" y="3832831"/>
                </a:lnTo>
                <a:lnTo>
                  <a:pt x="288307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310410"/>
            <a:ext cx="1024890" cy="3916045"/>
          </a:xfrm>
          <a:custGeom>
            <a:avLst/>
            <a:gdLst/>
            <a:ahLst/>
            <a:cxnLst/>
            <a:rect l="l" t="t" r="r" b="b"/>
            <a:pathLst>
              <a:path w="1024890" h="3916045">
                <a:moveTo>
                  <a:pt x="0" y="82284"/>
                </a:moveTo>
                <a:lnTo>
                  <a:pt x="0" y="1179"/>
                </a:lnTo>
                <a:lnTo>
                  <a:pt x="247544" y="642"/>
                </a:lnTo>
                <a:lnTo>
                  <a:pt x="955409" y="0"/>
                </a:lnTo>
                <a:lnTo>
                  <a:pt x="988201" y="1624"/>
                </a:lnTo>
                <a:lnTo>
                  <a:pt x="1006495" y="9727"/>
                </a:lnTo>
                <a:lnTo>
                  <a:pt x="1014456" y="28455"/>
                </a:lnTo>
                <a:lnTo>
                  <a:pt x="1016246" y="61956"/>
                </a:lnTo>
                <a:lnTo>
                  <a:pt x="1016254" y="79871"/>
                </a:lnTo>
                <a:lnTo>
                  <a:pt x="903655" y="79871"/>
                </a:lnTo>
                <a:lnTo>
                  <a:pt x="751378" y="80184"/>
                </a:lnTo>
                <a:lnTo>
                  <a:pt x="230033" y="80888"/>
                </a:lnTo>
                <a:lnTo>
                  <a:pt x="137398" y="81280"/>
                </a:lnTo>
                <a:lnTo>
                  <a:pt x="0" y="82284"/>
                </a:lnTo>
                <a:close/>
              </a:path>
              <a:path w="1024890" h="3916045">
                <a:moveTo>
                  <a:pt x="987196" y="1583241"/>
                </a:moveTo>
                <a:lnTo>
                  <a:pt x="969555" y="1579445"/>
                </a:lnTo>
                <a:lnTo>
                  <a:pt x="955425" y="1567192"/>
                </a:lnTo>
                <a:lnTo>
                  <a:pt x="946030" y="1547988"/>
                </a:lnTo>
                <a:lnTo>
                  <a:pt x="942595" y="1523337"/>
                </a:lnTo>
                <a:lnTo>
                  <a:pt x="942664" y="928570"/>
                </a:lnTo>
                <a:lnTo>
                  <a:pt x="942447" y="879013"/>
                </a:lnTo>
                <a:lnTo>
                  <a:pt x="942174" y="834617"/>
                </a:lnTo>
                <a:lnTo>
                  <a:pt x="941735" y="779904"/>
                </a:lnTo>
                <a:lnTo>
                  <a:pt x="941239" y="732463"/>
                </a:lnTo>
                <a:lnTo>
                  <a:pt x="940574" y="680803"/>
                </a:lnTo>
                <a:lnTo>
                  <a:pt x="939796" y="631256"/>
                </a:lnTo>
                <a:lnTo>
                  <a:pt x="939023" y="579304"/>
                </a:lnTo>
                <a:lnTo>
                  <a:pt x="938436" y="527356"/>
                </a:lnTo>
                <a:lnTo>
                  <a:pt x="937999" y="475410"/>
                </a:lnTo>
                <a:lnTo>
                  <a:pt x="937679" y="423467"/>
                </a:lnTo>
                <a:lnTo>
                  <a:pt x="937440" y="371527"/>
                </a:lnTo>
                <a:lnTo>
                  <a:pt x="936864" y="215715"/>
                </a:lnTo>
                <a:lnTo>
                  <a:pt x="936603" y="163779"/>
                </a:lnTo>
                <a:lnTo>
                  <a:pt x="936250" y="111844"/>
                </a:lnTo>
                <a:lnTo>
                  <a:pt x="903655" y="79871"/>
                </a:lnTo>
                <a:lnTo>
                  <a:pt x="1016254" y="79871"/>
                </a:lnTo>
                <a:lnTo>
                  <a:pt x="1016299" y="163779"/>
                </a:lnTo>
                <a:lnTo>
                  <a:pt x="1016557" y="196132"/>
                </a:lnTo>
                <a:lnTo>
                  <a:pt x="1017859" y="300020"/>
                </a:lnTo>
                <a:lnTo>
                  <a:pt x="1022031" y="611661"/>
                </a:lnTo>
                <a:lnTo>
                  <a:pt x="1016670" y="641891"/>
                </a:lnTo>
                <a:lnTo>
                  <a:pt x="1014831" y="672109"/>
                </a:lnTo>
                <a:lnTo>
                  <a:pt x="1016747" y="702303"/>
                </a:lnTo>
                <a:lnTo>
                  <a:pt x="1022653" y="732463"/>
                </a:lnTo>
                <a:lnTo>
                  <a:pt x="1022754" y="834617"/>
                </a:lnTo>
                <a:lnTo>
                  <a:pt x="1022879" y="978129"/>
                </a:lnTo>
                <a:lnTo>
                  <a:pt x="1022936" y="1038941"/>
                </a:lnTo>
                <a:lnTo>
                  <a:pt x="1023061" y="1141106"/>
                </a:lnTo>
                <a:lnTo>
                  <a:pt x="1023142" y="1192187"/>
                </a:lnTo>
                <a:lnTo>
                  <a:pt x="1023238" y="1243268"/>
                </a:lnTo>
                <a:lnTo>
                  <a:pt x="1023489" y="1345425"/>
                </a:lnTo>
                <a:lnTo>
                  <a:pt x="1023648" y="1396501"/>
                </a:lnTo>
                <a:lnTo>
                  <a:pt x="1024842" y="1440129"/>
                </a:lnTo>
                <a:lnTo>
                  <a:pt x="1024842" y="1548977"/>
                </a:lnTo>
                <a:lnTo>
                  <a:pt x="1017179" y="1565886"/>
                </a:lnTo>
                <a:lnTo>
                  <a:pt x="1004030" y="1578249"/>
                </a:lnTo>
                <a:lnTo>
                  <a:pt x="987196" y="1583241"/>
                </a:lnTo>
                <a:close/>
              </a:path>
              <a:path w="1024890" h="3916045">
                <a:moveTo>
                  <a:pt x="0" y="3915842"/>
                </a:moveTo>
                <a:lnTo>
                  <a:pt x="0" y="3833363"/>
                </a:lnTo>
                <a:lnTo>
                  <a:pt x="710935" y="3832831"/>
                </a:lnTo>
                <a:lnTo>
                  <a:pt x="837339" y="3832831"/>
                </a:lnTo>
                <a:lnTo>
                  <a:pt x="869131" y="3832325"/>
                </a:lnTo>
                <a:lnTo>
                  <a:pt x="888127" y="3833824"/>
                </a:lnTo>
                <a:lnTo>
                  <a:pt x="903251" y="3839976"/>
                </a:lnTo>
                <a:lnTo>
                  <a:pt x="913849" y="3851587"/>
                </a:lnTo>
                <a:lnTo>
                  <a:pt x="919268" y="3869462"/>
                </a:lnTo>
                <a:lnTo>
                  <a:pt x="917063" y="3885166"/>
                </a:lnTo>
                <a:lnTo>
                  <a:pt x="867701" y="3908277"/>
                </a:lnTo>
                <a:lnTo>
                  <a:pt x="767553" y="3911342"/>
                </a:lnTo>
                <a:lnTo>
                  <a:pt x="573667" y="3913864"/>
                </a:lnTo>
                <a:lnTo>
                  <a:pt x="216663" y="3913864"/>
                </a:lnTo>
                <a:lnTo>
                  <a:pt x="0" y="3915842"/>
                </a:lnTo>
                <a:close/>
              </a:path>
              <a:path w="1024890" h="3916045">
                <a:moveTo>
                  <a:pt x="802471" y="3832831"/>
                </a:moveTo>
                <a:lnTo>
                  <a:pt x="704615" y="3832831"/>
                </a:lnTo>
                <a:lnTo>
                  <a:pt x="736535" y="3832631"/>
                </a:lnTo>
                <a:lnTo>
                  <a:pt x="769120" y="3832631"/>
                </a:lnTo>
                <a:lnTo>
                  <a:pt x="802471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8342" y="0"/>
            <a:ext cx="1080770" cy="1819275"/>
          </a:xfrm>
          <a:custGeom>
            <a:avLst/>
            <a:gdLst/>
            <a:ahLst/>
            <a:cxnLst/>
            <a:rect l="l" t="t" r="r" b="b"/>
            <a:pathLst>
              <a:path w="1080770" h="1819275">
                <a:moveTo>
                  <a:pt x="627352" y="1819206"/>
                </a:moveTo>
                <a:lnTo>
                  <a:pt x="453362" y="1819206"/>
                </a:lnTo>
                <a:lnTo>
                  <a:pt x="437762" y="1818433"/>
                </a:lnTo>
                <a:lnTo>
                  <a:pt x="390562" y="1811390"/>
                </a:lnTo>
                <a:lnTo>
                  <a:pt x="344494" y="1799813"/>
                </a:lnTo>
                <a:lnTo>
                  <a:pt x="299876" y="1783833"/>
                </a:lnTo>
                <a:lnTo>
                  <a:pt x="257028" y="1763583"/>
                </a:lnTo>
                <a:lnTo>
                  <a:pt x="216266" y="1739195"/>
                </a:lnTo>
                <a:lnTo>
                  <a:pt x="177911" y="1710800"/>
                </a:lnTo>
                <a:lnTo>
                  <a:pt x="142280" y="1678530"/>
                </a:lnTo>
                <a:lnTo>
                  <a:pt x="110010" y="1642899"/>
                </a:lnTo>
                <a:lnTo>
                  <a:pt x="81615" y="1604544"/>
                </a:lnTo>
                <a:lnTo>
                  <a:pt x="57227" y="1563782"/>
                </a:lnTo>
                <a:lnTo>
                  <a:pt x="36977" y="1520934"/>
                </a:lnTo>
                <a:lnTo>
                  <a:pt x="20997" y="1476316"/>
                </a:lnTo>
                <a:lnTo>
                  <a:pt x="9420" y="1430248"/>
                </a:lnTo>
                <a:lnTo>
                  <a:pt x="2377" y="1383049"/>
                </a:lnTo>
                <a:lnTo>
                  <a:pt x="0" y="1335036"/>
                </a:lnTo>
                <a:lnTo>
                  <a:pt x="0" y="0"/>
                </a:lnTo>
                <a:lnTo>
                  <a:pt x="1080714" y="0"/>
                </a:lnTo>
                <a:lnTo>
                  <a:pt x="1080714" y="1335036"/>
                </a:lnTo>
                <a:lnTo>
                  <a:pt x="1078337" y="1383049"/>
                </a:lnTo>
                <a:lnTo>
                  <a:pt x="1071294" y="1430248"/>
                </a:lnTo>
                <a:lnTo>
                  <a:pt x="1059717" y="1476316"/>
                </a:lnTo>
                <a:lnTo>
                  <a:pt x="1043737" y="1520934"/>
                </a:lnTo>
                <a:lnTo>
                  <a:pt x="1023487" y="1563782"/>
                </a:lnTo>
                <a:lnTo>
                  <a:pt x="999098" y="1604544"/>
                </a:lnTo>
                <a:lnTo>
                  <a:pt x="970704" y="1642899"/>
                </a:lnTo>
                <a:lnTo>
                  <a:pt x="938434" y="1678530"/>
                </a:lnTo>
                <a:lnTo>
                  <a:pt x="902803" y="1710800"/>
                </a:lnTo>
                <a:lnTo>
                  <a:pt x="864448" y="1739195"/>
                </a:lnTo>
                <a:lnTo>
                  <a:pt x="823686" y="1763583"/>
                </a:lnTo>
                <a:lnTo>
                  <a:pt x="780837" y="1783833"/>
                </a:lnTo>
                <a:lnTo>
                  <a:pt x="736220" y="1799813"/>
                </a:lnTo>
                <a:lnTo>
                  <a:pt x="690152" y="1811390"/>
                </a:lnTo>
                <a:lnTo>
                  <a:pt x="642952" y="1818433"/>
                </a:lnTo>
                <a:lnTo>
                  <a:pt x="627352" y="1819206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79602"/>
            <a:ext cx="4190999" cy="8000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6029" y="465150"/>
            <a:ext cx="4152899" cy="50958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06737" y="6472585"/>
            <a:ext cx="14069694" cy="181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54">
                <a:latin typeface="Arial Black"/>
                <a:cs typeface="Arial Black"/>
              </a:rPr>
              <a:t>SDN-</a:t>
            </a:r>
            <a:r>
              <a:rPr dirty="0" sz="4000" spc="-290">
                <a:latin typeface="Arial Black"/>
                <a:cs typeface="Arial Black"/>
              </a:rPr>
              <a:t> </a:t>
            </a:r>
            <a:r>
              <a:rPr dirty="0" sz="4000" spc="-200">
                <a:latin typeface="Arial Black"/>
                <a:cs typeface="Arial Black"/>
              </a:rPr>
              <a:t>enabled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265">
                <a:latin typeface="Arial Black"/>
                <a:cs typeface="Arial Black"/>
              </a:rPr>
              <a:t>classroom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170">
                <a:latin typeface="Arial Black"/>
                <a:cs typeface="Arial Black"/>
              </a:rPr>
              <a:t>network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25">
                <a:latin typeface="Arial Black"/>
                <a:cs typeface="Arial Black"/>
              </a:rPr>
              <a:t>optimizer.</a:t>
            </a:r>
            <a:endParaRPr sz="4000">
              <a:latin typeface="Arial Black"/>
              <a:cs typeface="Arial Black"/>
            </a:endParaRPr>
          </a:p>
          <a:p>
            <a:pPr marL="168910">
              <a:lnSpc>
                <a:spcPct val="100000"/>
              </a:lnSpc>
              <a:spcBef>
                <a:spcPts val="4645"/>
              </a:spcBef>
            </a:pPr>
            <a:r>
              <a:rPr dirty="0" sz="3900" spc="105">
                <a:latin typeface="Tahoma"/>
                <a:cs typeface="Tahoma"/>
              </a:rPr>
              <a:t>Specialization</a:t>
            </a:r>
            <a:r>
              <a:rPr dirty="0" sz="3900" spc="-204">
                <a:latin typeface="Tahoma"/>
                <a:cs typeface="Tahoma"/>
              </a:rPr>
              <a:t> </a:t>
            </a:r>
            <a:r>
              <a:rPr dirty="0" sz="3900" spc="-345">
                <a:latin typeface="Tahoma"/>
                <a:cs typeface="Tahoma"/>
              </a:rPr>
              <a:t>:</a:t>
            </a:r>
            <a:r>
              <a:rPr dirty="0" sz="3900" spc="-200">
                <a:latin typeface="Tahoma"/>
                <a:cs typeface="Tahoma"/>
              </a:rPr>
              <a:t> </a:t>
            </a:r>
            <a:r>
              <a:rPr dirty="0" sz="3900" spc="180">
                <a:latin typeface="Tahoma"/>
                <a:cs typeface="Tahoma"/>
              </a:rPr>
              <a:t>Computer</a:t>
            </a:r>
            <a:r>
              <a:rPr dirty="0" sz="3900" spc="-200">
                <a:latin typeface="Tahoma"/>
                <a:cs typeface="Tahoma"/>
              </a:rPr>
              <a:t> </a:t>
            </a:r>
            <a:r>
              <a:rPr dirty="0" sz="3900" spc="100">
                <a:latin typeface="Tahoma"/>
                <a:cs typeface="Tahoma"/>
              </a:rPr>
              <a:t>Systems</a:t>
            </a:r>
            <a:r>
              <a:rPr dirty="0" sz="3900" spc="-200">
                <a:latin typeface="Tahoma"/>
                <a:cs typeface="Tahoma"/>
              </a:rPr>
              <a:t> </a:t>
            </a:r>
            <a:r>
              <a:rPr dirty="0" sz="3900" spc="180">
                <a:latin typeface="Tahoma"/>
                <a:cs typeface="Tahoma"/>
              </a:rPr>
              <a:t>and</a:t>
            </a:r>
            <a:r>
              <a:rPr dirty="0" sz="3900" spc="-200">
                <a:latin typeface="Tahoma"/>
                <a:cs typeface="Tahoma"/>
              </a:rPr>
              <a:t> </a:t>
            </a:r>
            <a:r>
              <a:rPr dirty="0" sz="3900" spc="160">
                <a:latin typeface="Tahoma"/>
                <a:cs typeface="Tahoma"/>
              </a:rPr>
              <a:t>Network</a:t>
            </a:r>
            <a:r>
              <a:rPr dirty="0" sz="3900" spc="-200">
                <a:latin typeface="Tahoma"/>
                <a:cs typeface="Tahoma"/>
              </a:rPr>
              <a:t> </a:t>
            </a:r>
            <a:r>
              <a:rPr dirty="0" sz="3900" spc="95">
                <a:latin typeface="Tahoma"/>
                <a:cs typeface="Tahoma"/>
              </a:rPr>
              <a:t>Engineering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75916" y="931307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4518" y="2947405"/>
            <a:ext cx="5934074" cy="5286374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6172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2407" y="3071528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2407" y="5414678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2407" y="7367303"/>
            <a:ext cx="104775" cy="1047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57399" y="1939169"/>
            <a:ext cx="9956165" cy="643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35">
                <a:latin typeface="Arial Black"/>
                <a:cs typeface="Arial Black"/>
              </a:rPr>
              <a:t>Bandwidth</a:t>
            </a:r>
            <a:r>
              <a:rPr dirty="0" sz="2700" spc="-180">
                <a:latin typeface="Arial Black"/>
                <a:cs typeface="Arial Black"/>
              </a:rPr>
              <a:t> congestion</a:t>
            </a:r>
            <a:r>
              <a:rPr dirty="0" sz="2700" spc="-175">
                <a:latin typeface="Arial Black"/>
                <a:cs typeface="Arial Black"/>
              </a:rPr>
              <a:t> stalls </a:t>
            </a:r>
            <a:r>
              <a:rPr dirty="0" sz="2700" spc="-100">
                <a:latin typeface="Arial Black"/>
                <a:cs typeface="Arial Black"/>
              </a:rPr>
              <a:t>the</a:t>
            </a:r>
            <a:r>
              <a:rPr dirty="0" sz="2700" spc="-175">
                <a:latin typeface="Arial Black"/>
                <a:cs typeface="Arial Black"/>
              </a:rPr>
              <a:t> </a:t>
            </a:r>
            <a:r>
              <a:rPr dirty="0" sz="2700" spc="-95">
                <a:latin typeface="Arial Black"/>
                <a:cs typeface="Arial Black"/>
              </a:rPr>
              <a:t>modern</a:t>
            </a:r>
            <a:r>
              <a:rPr dirty="0" sz="2700" spc="-175">
                <a:latin typeface="Arial Black"/>
                <a:cs typeface="Arial Black"/>
              </a:rPr>
              <a:t> </a:t>
            </a:r>
            <a:r>
              <a:rPr dirty="0" sz="2700" spc="-130">
                <a:latin typeface="Arial Black"/>
                <a:cs typeface="Arial Black"/>
              </a:rPr>
              <a:t>digital</a:t>
            </a:r>
            <a:r>
              <a:rPr dirty="0" sz="2700" spc="-175">
                <a:latin typeface="Arial Black"/>
                <a:cs typeface="Arial Black"/>
              </a:rPr>
              <a:t> </a:t>
            </a:r>
            <a:r>
              <a:rPr dirty="0" sz="2700" spc="-114">
                <a:latin typeface="Arial Black"/>
                <a:cs typeface="Arial Black"/>
              </a:rPr>
              <a:t>classroom</a:t>
            </a:r>
            <a:endParaRPr sz="2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700">
              <a:latin typeface="Arial Black"/>
              <a:cs typeface="Arial Black"/>
            </a:endParaRPr>
          </a:p>
          <a:p>
            <a:pPr algn="just" marL="415925" marR="2625725">
              <a:lnSpc>
                <a:spcPct val="116500"/>
              </a:lnSpc>
            </a:pPr>
            <a:r>
              <a:rPr dirty="0" sz="2200">
                <a:latin typeface="Arial Black"/>
                <a:cs typeface="Arial Black"/>
              </a:rPr>
              <a:t>Equal</a:t>
            </a:r>
            <a:r>
              <a:rPr dirty="0" sz="2200" spc="254">
                <a:latin typeface="Arial Black"/>
                <a:cs typeface="Arial Black"/>
              </a:rPr>
              <a:t>  </a:t>
            </a:r>
            <a:r>
              <a:rPr dirty="0" sz="2200">
                <a:latin typeface="Arial Black"/>
                <a:cs typeface="Arial Black"/>
              </a:rPr>
              <a:t>Degradation</a:t>
            </a:r>
            <a:r>
              <a:rPr dirty="0" sz="2200">
                <a:latin typeface="Tahoma"/>
                <a:cs typeface="Tahoma"/>
              </a:rPr>
              <a:t>:</a:t>
            </a:r>
            <a:r>
              <a:rPr dirty="0" sz="2200" spc="300">
                <a:latin typeface="Tahoma"/>
                <a:cs typeface="Tahoma"/>
              </a:rPr>
              <a:t>  </a:t>
            </a:r>
            <a:r>
              <a:rPr dirty="0" sz="2200" spc="150">
                <a:latin typeface="Tahoma"/>
                <a:cs typeface="Tahoma"/>
              </a:rPr>
              <a:t>Modern</a:t>
            </a:r>
            <a:r>
              <a:rPr dirty="0" sz="2200" spc="300">
                <a:latin typeface="Tahoma"/>
                <a:cs typeface="Tahoma"/>
              </a:rPr>
              <a:t>  </a:t>
            </a:r>
            <a:r>
              <a:rPr dirty="0" sz="2200" spc="90">
                <a:latin typeface="Tahoma"/>
                <a:cs typeface="Tahoma"/>
              </a:rPr>
              <a:t>education</a:t>
            </a:r>
            <a:r>
              <a:rPr dirty="0" sz="2200" spc="305">
                <a:latin typeface="Tahoma"/>
                <a:cs typeface="Tahoma"/>
              </a:rPr>
              <a:t>  </a:t>
            </a:r>
            <a:r>
              <a:rPr dirty="0" sz="2200" spc="60">
                <a:latin typeface="Tahoma"/>
                <a:cs typeface="Tahoma"/>
              </a:rPr>
              <a:t>relies </a:t>
            </a:r>
            <a:r>
              <a:rPr dirty="0" sz="2200" spc="55">
                <a:latin typeface="Tahoma"/>
                <a:cs typeface="Tahoma"/>
              </a:rPr>
              <a:t>heavily</a:t>
            </a:r>
            <a:r>
              <a:rPr dirty="0" sz="2200" spc="530">
                <a:latin typeface="Tahoma"/>
                <a:cs typeface="Tahoma"/>
              </a:rPr>
              <a:t> </a:t>
            </a:r>
            <a:r>
              <a:rPr dirty="0" sz="2200" spc="135">
                <a:latin typeface="Tahoma"/>
                <a:cs typeface="Tahoma"/>
              </a:rPr>
              <a:t>on</a:t>
            </a:r>
            <a:r>
              <a:rPr dirty="0" sz="2200" spc="530">
                <a:latin typeface="Tahoma"/>
                <a:cs typeface="Tahoma"/>
              </a:rPr>
              <a:t> </a:t>
            </a:r>
            <a:r>
              <a:rPr dirty="0" sz="2200" spc="80">
                <a:latin typeface="Tahoma"/>
                <a:cs typeface="Tahoma"/>
              </a:rPr>
              <a:t>bandwidth-</a:t>
            </a:r>
            <a:r>
              <a:rPr dirty="0" sz="2200" spc="70">
                <a:latin typeface="Tahoma"/>
                <a:cs typeface="Tahoma"/>
              </a:rPr>
              <a:t>intensive</a:t>
            </a:r>
            <a:r>
              <a:rPr dirty="0" sz="2200" spc="535">
                <a:latin typeface="Tahoma"/>
                <a:cs typeface="Tahoma"/>
              </a:rPr>
              <a:t> </a:t>
            </a:r>
            <a:r>
              <a:rPr dirty="0" sz="2200" spc="85">
                <a:latin typeface="Tahoma"/>
                <a:cs typeface="Tahoma"/>
              </a:rPr>
              <a:t>tools</a:t>
            </a:r>
            <a:r>
              <a:rPr dirty="0" sz="2200" spc="5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(LMS,</a:t>
            </a:r>
            <a:r>
              <a:rPr dirty="0" sz="2200" spc="535">
                <a:latin typeface="Tahoma"/>
                <a:cs typeface="Tahoma"/>
              </a:rPr>
              <a:t> </a:t>
            </a:r>
            <a:r>
              <a:rPr dirty="0" sz="2200" spc="65">
                <a:latin typeface="Tahoma"/>
                <a:cs typeface="Tahoma"/>
              </a:rPr>
              <a:t>Zoom, </a:t>
            </a:r>
            <a:r>
              <a:rPr dirty="0" sz="2200" spc="45">
                <a:latin typeface="Tahoma"/>
                <a:cs typeface="Tahoma"/>
              </a:rPr>
              <a:t>GitHub).</a:t>
            </a:r>
            <a:r>
              <a:rPr dirty="0" sz="2200" spc="-20">
                <a:latin typeface="Tahoma"/>
                <a:cs typeface="Tahoma"/>
              </a:rPr>
              <a:t>  </a:t>
            </a:r>
            <a:r>
              <a:rPr dirty="0" sz="2200">
                <a:latin typeface="Tahoma"/>
                <a:cs typeface="Tahoma"/>
              </a:rPr>
              <a:t>Legacy</a:t>
            </a:r>
            <a:r>
              <a:rPr dirty="0" sz="2200" spc="-15">
                <a:latin typeface="Tahoma"/>
                <a:cs typeface="Tahoma"/>
              </a:rPr>
              <a:t>  </a:t>
            </a:r>
            <a:r>
              <a:rPr dirty="0" sz="2200" spc="85">
                <a:latin typeface="Tahoma"/>
                <a:cs typeface="Tahoma"/>
              </a:rPr>
              <a:t>networks</a:t>
            </a:r>
            <a:r>
              <a:rPr dirty="0" sz="2200" spc="-15">
                <a:latin typeface="Tahoma"/>
                <a:cs typeface="Tahoma"/>
              </a:rPr>
              <a:t>  </a:t>
            </a:r>
            <a:r>
              <a:rPr dirty="0" sz="2200" spc="65">
                <a:latin typeface="Tahoma"/>
                <a:cs typeface="Tahoma"/>
              </a:rPr>
              <a:t>treat</a:t>
            </a:r>
            <a:r>
              <a:rPr dirty="0" sz="2200" spc="-20">
                <a:latin typeface="Tahoma"/>
                <a:cs typeface="Tahoma"/>
              </a:rPr>
              <a:t>  </a:t>
            </a:r>
            <a:r>
              <a:rPr dirty="0" sz="2200" spc="60">
                <a:latin typeface="Tahoma"/>
                <a:cs typeface="Tahoma"/>
              </a:rPr>
              <a:t>all</a:t>
            </a:r>
            <a:r>
              <a:rPr dirty="0" sz="2200" spc="-15">
                <a:latin typeface="Tahoma"/>
                <a:cs typeface="Tahoma"/>
              </a:rPr>
              <a:t>  </a:t>
            </a:r>
            <a:r>
              <a:rPr dirty="0" sz="2200" spc="55">
                <a:latin typeface="Tahoma"/>
                <a:cs typeface="Tahoma"/>
              </a:rPr>
              <a:t>traffic</a:t>
            </a:r>
            <a:r>
              <a:rPr dirty="0" sz="2200" spc="-15">
                <a:latin typeface="Tahoma"/>
                <a:cs typeface="Tahoma"/>
              </a:rPr>
              <a:t>  </a:t>
            </a:r>
            <a:r>
              <a:rPr dirty="0" sz="2200" spc="40">
                <a:latin typeface="Tahoma"/>
                <a:cs typeface="Tahoma"/>
              </a:rPr>
              <a:t>equally, </a:t>
            </a:r>
            <a:r>
              <a:rPr dirty="0" sz="2200" spc="65">
                <a:latin typeface="Tahoma"/>
                <a:cs typeface="Tahoma"/>
              </a:rPr>
              <a:t>causing</a:t>
            </a:r>
            <a:r>
              <a:rPr dirty="0" sz="2200" spc="370">
                <a:latin typeface="Tahoma"/>
                <a:cs typeface="Tahoma"/>
              </a:rPr>
              <a:t>  </a:t>
            </a:r>
            <a:r>
              <a:rPr dirty="0" sz="2200" spc="75">
                <a:latin typeface="Tahoma"/>
                <a:cs typeface="Tahoma"/>
              </a:rPr>
              <a:t>learning</a:t>
            </a:r>
            <a:r>
              <a:rPr dirty="0" sz="2200" spc="375">
                <a:latin typeface="Tahoma"/>
                <a:cs typeface="Tahoma"/>
              </a:rPr>
              <a:t>  </a:t>
            </a:r>
            <a:r>
              <a:rPr dirty="0" sz="2200" spc="80">
                <a:latin typeface="Tahoma"/>
                <a:cs typeface="Tahoma"/>
              </a:rPr>
              <a:t>applications</a:t>
            </a:r>
            <a:r>
              <a:rPr dirty="0" sz="2200" spc="375">
                <a:latin typeface="Tahoma"/>
                <a:cs typeface="Tahoma"/>
              </a:rPr>
              <a:t>  </a:t>
            </a:r>
            <a:r>
              <a:rPr dirty="0" sz="2200" spc="90">
                <a:latin typeface="Tahoma"/>
                <a:cs typeface="Tahoma"/>
              </a:rPr>
              <a:t>to</a:t>
            </a:r>
            <a:r>
              <a:rPr dirty="0" sz="2200" spc="370">
                <a:latin typeface="Tahoma"/>
                <a:cs typeface="Tahoma"/>
              </a:rPr>
              <a:t>  </a:t>
            </a:r>
            <a:r>
              <a:rPr dirty="0" sz="2200" spc="75">
                <a:latin typeface="Tahoma"/>
                <a:cs typeface="Tahoma"/>
              </a:rPr>
              <a:t>suffer</a:t>
            </a:r>
            <a:r>
              <a:rPr dirty="0" sz="2200" spc="375">
                <a:latin typeface="Tahoma"/>
                <a:cs typeface="Tahoma"/>
              </a:rPr>
              <a:t>  </a:t>
            </a:r>
            <a:r>
              <a:rPr dirty="0" sz="2200" spc="55">
                <a:latin typeface="Tahoma"/>
                <a:cs typeface="Tahoma"/>
              </a:rPr>
              <a:t>severe </a:t>
            </a:r>
            <a:r>
              <a:rPr dirty="0" sz="2200" spc="85">
                <a:latin typeface="Tahoma"/>
                <a:cs typeface="Tahoma"/>
              </a:rPr>
              <a:t>degradation</a:t>
            </a:r>
            <a:r>
              <a:rPr dirty="0" sz="2200" spc="-80">
                <a:latin typeface="Tahoma"/>
                <a:cs typeface="Tahoma"/>
              </a:rPr>
              <a:t> </a:t>
            </a:r>
            <a:r>
              <a:rPr dirty="0" sz="2200" spc="90">
                <a:latin typeface="Tahoma"/>
                <a:cs typeface="Tahoma"/>
              </a:rPr>
              <a:t>during</a:t>
            </a:r>
            <a:r>
              <a:rPr dirty="0" sz="2200" spc="-80">
                <a:latin typeface="Tahoma"/>
                <a:cs typeface="Tahoma"/>
              </a:rPr>
              <a:t> </a:t>
            </a:r>
            <a:r>
              <a:rPr dirty="0" sz="2200" spc="85">
                <a:latin typeface="Tahoma"/>
                <a:cs typeface="Tahoma"/>
              </a:rPr>
              <a:t>peak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55">
                <a:latin typeface="Tahoma"/>
                <a:cs typeface="Tahoma"/>
              </a:rPr>
              <a:t>congestion.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200">
              <a:latin typeface="Tahoma"/>
              <a:cs typeface="Tahoma"/>
            </a:endParaRPr>
          </a:p>
          <a:p>
            <a:pPr algn="just" marL="415925" marR="2625725">
              <a:lnSpc>
                <a:spcPct val="116500"/>
              </a:lnSpc>
            </a:pPr>
            <a:r>
              <a:rPr dirty="0" sz="2200" spc="-60">
                <a:latin typeface="Arial Black"/>
                <a:cs typeface="Arial Black"/>
              </a:rPr>
              <a:t>The</a:t>
            </a:r>
            <a:r>
              <a:rPr dirty="0" sz="2200" spc="-65">
                <a:latin typeface="Arial Black"/>
                <a:cs typeface="Arial Black"/>
              </a:rPr>
              <a:t> </a:t>
            </a:r>
            <a:r>
              <a:rPr dirty="0" sz="2200" spc="-270">
                <a:latin typeface="Arial Black"/>
                <a:cs typeface="Arial Black"/>
              </a:rPr>
              <a:t>HTTPS</a:t>
            </a:r>
            <a:r>
              <a:rPr dirty="0" sz="2200" spc="85">
                <a:latin typeface="Arial Black"/>
                <a:cs typeface="Arial Black"/>
              </a:rPr>
              <a:t> </a:t>
            </a:r>
            <a:r>
              <a:rPr dirty="0" sz="2200" spc="-50">
                <a:latin typeface="Arial Black"/>
                <a:cs typeface="Arial Black"/>
              </a:rPr>
              <a:t>Blinding</a:t>
            </a:r>
            <a:r>
              <a:rPr dirty="0" sz="2200" spc="15">
                <a:latin typeface="Arial Black"/>
                <a:cs typeface="Arial Black"/>
              </a:rPr>
              <a:t> </a:t>
            </a:r>
            <a:r>
              <a:rPr dirty="0" sz="2200" spc="-55">
                <a:latin typeface="Arial Black"/>
                <a:cs typeface="Arial Black"/>
              </a:rPr>
              <a:t>Problem</a:t>
            </a:r>
            <a:r>
              <a:rPr dirty="0" sz="2200" spc="-55">
                <a:latin typeface="Tahoma"/>
                <a:cs typeface="Tahoma"/>
              </a:rPr>
              <a:t>:</a:t>
            </a:r>
            <a:r>
              <a:rPr dirty="0" sz="2200" spc="55">
                <a:latin typeface="Tahoma"/>
                <a:cs typeface="Tahoma"/>
              </a:rPr>
              <a:t> </a:t>
            </a:r>
            <a:r>
              <a:rPr dirty="0" sz="2200" spc="70">
                <a:latin typeface="Tahoma"/>
                <a:cs typeface="Tahoma"/>
              </a:rPr>
              <a:t>Traditional</a:t>
            </a:r>
            <a:r>
              <a:rPr dirty="0" sz="2200" spc="60">
                <a:latin typeface="Tahoma"/>
                <a:cs typeface="Tahoma"/>
              </a:rPr>
              <a:t> </a:t>
            </a:r>
            <a:r>
              <a:rPr dirty="0" sz="2200" spc="80">
                <a:latin typeface="Tahoma"/>
                <a:cs typeface="Tahoma"/>
              </a:rPr>
              <a:t>network </a:t>
            </a:r>
            <a:r>
              <a:rPr dirty="0" sz="2200" spc="100">
                <a:latin typeface="Tahoma"/>
                <a:cs typeface="Tahoma"/>
              </a:rPr>
              <a:t>management</a:t>
            </a:r>
            <a:r>
              <a:rPr dirty="0" sz="2200" spc="-80">
                <a:latin typeface="Tahoma"/>
                <a:cs typeface="Tahoma"/>
              </a:rPr>
              <a:t> </a:t>
            </a:r>
            <a:r>
              <a:rPr dirty="0" sz="2200" spc="70">
                <a:latin typeface="Tahoma"/>
                <a:cs typeface="Tahoma"/>
              </a:rPr>
              <a:t>relies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135">
                <a:latin typeface="Tahoma"/>
                <a:cs typeface="Tahoma"/>
              </a:rPr>
              <a:t>on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105">
                <a:latin typeface="Tahoma"/>
                <a:cs typeface="Tahoma"/>
              </a:rPr>
              <a:t>Deep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65">
                <a:latin typeface="Tahoma"/>
                <a:cs typeface="Tahoma"/>
              </a:rPr>
              <a:t>Packet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60">
                <a:latin typeface="Tahoma"/>
                <a:cs typeface="Tahoma"/>
              </a:rPr>
              <a:t>Inspection</a:t>
            </a:r>
            <a:r>
              <a:rPr dirty="0" sz="2200" spc="-7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(DPI). </a:t>
            </a:r>
            <a:r>
              <a:rPr dirty="0" sz="2200">
                <a:latin typeface="Tahoma"/>
                <a:cs typeface="Tahoma"/>
              </a:rPr>
              <a:t>HTTPS</a:t>
            </a:r>
            <a:r>
              <a:rPr dirty="0" sz="2200" spc="225">
                <a:latin typeface="Tahoma"/>
                <a:cs typeface="Tahoma"/>
              </a:rPr>
              <a:t>   </a:t>
            </a:r>
            <a:r>
              <a:rPr dirty="0" sz="2200" spc="85">
                <a:latin typeface="Tahoma"/>
                <a:cs typeface="Tahoma"/>
              </a:rPr>
              <a:t>encryption</a:t>
            </a:r>
            <a:r>
              <a:rPr dirty="0" sz="2200" spc="225">
                <a:latin typeface="Tahoma"/>
                <a:cs typeface="Tahoma"/>
              </a:rPr>
              <a:t>   </a:t>
            </a:r>
            <a:r>
              <a:rPr dirty="0" sz="2200" spc="95">
                <a:latin typeface="Tahoma"/>
                <a:cs typeface="Tahoma"/>
              </a:rPr>
              <a:t>makes</a:t>
            </a:r>
            <a:r>
              <a:rPr dirty="0" sz="2200" spc="229">
                <a:latin typeface="Tahoma"/>
                <a:cs typeface="Tahoma"/>
              </a:rPr>
              <a:t>   </a:t>
            </a:r>
            <a:r>
              <a:rPr dirty="0" sz="2200" spc="90">
                <a:latin typeface="Tahoma"/>
                <a:cs typeface="Tahoma"/>
              </a:rPr>
              <a:t>payload</a:t>
            </a:r>
            <a:r>
              <a:rPr dirty="0" sz="2200" spc="225">
                <a:latin typeface="Tahoma"/>
                <a:cs typeface="Tahoma"/>
              </a:rPr>
              <a:t>   </a:t>
            </a:r>
            <a:r>
              <a:rPr dirty="0" sz="2200" spc="75">
                <a:latin typeface="Tahoma"/>
                <a:cs typeface="Tahoma"/>
              </a:rPr>
              <a:t>inspection </a:t>
            </a:r>
            <a:r>
              <a:rPr dirty="0" sz="2200" spc="95">
                <a:latin typeface="Tahoma"/>
                <a:cs typeface="Tahoma"/>
              </a:rPr>
              <a:t>impossible</a:t>
            </a:r>
            <a:r>
              <a:rPr dirty="0" sz="2200" spc="-90">
                <a:latin typeface="Tahoma"/>
                <a:cs typeface="Tahoma"/>
              </a:rPr>
              <a:t> </a:t>
            </a:r>
            <a:r>
              <a:rPr dirty="0" sz="2200" spc="85">
                <a:latin typeface="Tahoma"/>
                <a:cs typeface="Tahoma"/>
              </a:rPr>
              <a:t>without</a:t>
            </a:r>
            <a:r>
              <a:rPr dirty="0" sz="2200" spc="-90">
                <a:latin typeface="Tahoma"/>
                <a:cs typeface="Tahoma"/>
              </a:rPr>
              <a:t> </a:t>
            </a:r>
            <a:r>
              <a:rPr dirty="0" sz="2200" spc="60">
                <a:latin typeface="Tahoma"/>
                <a:cs typeface="Tahoma"/>
              </a:rPr>
              <a:t>violating</a:t>
            </a:r>
            <a:r>
              <a:rPr dirty="0" sz="2200" spc="-90">
                <a:latin typeface="Tahoma"/>
                <a:cs typeface="Tahoma"/>
              </a:rPr>
              <a:t> </a:t>
            </a:r>
            <a:r>
              <a:rPr dirty="0" sz="2200" spc="95">
                <a:latin typeface="Tahoma"/>
                <a:cs typeface="Tahoma"/>
              </a:rPr>
              <a:t>user</a:t>
            </a:r>
            <a:r>
              <a:rPr dirty="0" sz="2200" spc="-9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privacy.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200">
              <a:latin typeface="Tahoma"/>
              <a:cs typeface="Tahoma"/>
            </a:endParaRPr>
          </a:p>
          <a:p>
            <a:pPr algn="just" marL="415925" marR="2625725">
              <a:lnSpc>
                <a:spcPct val="116500"/>
              </a:lnSpc>
            </a:pPr>
            <a:r>
              <a:rPr dirty="0" sz="2200">
                <a:latin typeface="Arial Black"/>
                <a:cs typeface="Arial Black"/>
              </a:rPr>
              <a:t>The</a:t>
            </a:r>
            <a:r>
              <a:rPr dirty="0" sz="2200" spc="465">
                <a:latin typeface="Arial Black"/>
                <a:cs typeface="Arial Black"/>
              </a:rPr>
              <a:t> </a:t>
            </a:r>
            <a:r>
              <a:rPr dirty="0" sz="2200">
                <a:latin typeface="Arial Black"/>
                <a:cs typeface="Arial Black"/>
              </a:rPr>
              <a:t>Gap</a:t>
            </a:r>
            <a:r>
              <a:rPr dirty="0" sz="2200">
                <a:latin typeface="Tahoma"/>
                <a:cs typeface="Tahoma"/>
              </a:rPr>
              <a:t>:</a:t>
            </a:r>
            <a:r>
              <a:rPr dirty="0" sz="2200" spc="515">
                <a:latin typeface="Tahoma"/>
                <a:cs typeface="Tahoma"/>
              </a:rPr>
              <a:t> </a:t>
            </a:r>
            <a:r>
              <a:rPr dirty="0" sz="2200" spc="75">
                <a:latin typeface="Tahoma"/>
                <a:cs typeface="Tahoma"/>
              </a:rPr>
              <a:t>A</a:t>
            </a:r>
            <a:r>
              <a:rPr dirty="0" sz="2200" spc="509">
                <a:latin typeface="Tahoma"/>
                <a:cs typeface="Tahoma"/>
              </a:rPr>
              <a:t> </a:t>
            </a:r>
            <a:r>
              <a:rPr dirty="0" sz="2200" spc="55">
                <a:latin typeface="Tahoma"/>
                <a:cs typeface="Tahoma"/>
              </a:rPr>
              <a:t>lack</a:t>
            </a:r>
            <a:r>
              <a:rPr dirty="0" sz="2200" spc="509">
                <a:latin typeface="Tahoma"/>
                <a:cs typeface="Tahoma"/>
              </a:rPr>
              <a:t> </a:t>
            </a:r>
            <a:r>
              <a:rPr dirty="0" sz="2200" spc="90">
                <a:latin typeface="Tahoma"/>
                <a:cs typeface="Tahoma"/>
              </a:rPr>
              <a:t>of</a:t>
            </a:r>
            <a:r>
              <a:rPr dirty="0" sz="2200" spc="509">
                <a:latin typeface="Tahoma"/>
                <a:cs typeface="Tahoma"/>
              </a:rPr>
              <a:t> </a:t>
            </a:r>
            <a:r>
              <a:rPr dirty="0" sz="2200" spc="45">
                <a:latin typeface="Tahoma"/>
                <a:cs typeface="Tahoma"/>
              </a:rPr>
              <a:t>intelligent,</a:t>
            </a:r>
            <a:r>
              <a:rPr dirty="0" sz="2200" spc="509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privacy-</a:t>
            </a:r>
            <a:r>
              <a:rPr dirty="0" sz="2200" spc="65">
                <a:latin typeface="Tahoma"/>
                <a:cs typeface="Tahoma"/>
              </a:rPr>
              <a:t>preserving </a:t>
            </a:r>
            <a:r>
              <a:rPr dirty="0" sz="2200" spc="90">
                <a:latin typeface="Tahoma"/>
                <a:cs typeface="Tahoma"/>
              </a:rPr>
              <a:t>network</a:t>
            </a:r>
            <a:r>
              <a:rPr dirty="0" sz="2200" spc="470">
                <a:latin typeface="Tahoma"/>
                <a:cs typeface="Tahoma"/>
              </a:rPr>
              <a:t>  </a:t>
            </a:r>
            <a:r>
              <a:rPr dirty="0" sz="2200" spc="90">
                <a:latin typeface="Tahoma"/>
                <a:cs typeface="Tahoma"/>
              </a:rPr>
              <a:t>optimization</a:t>
            </a:r>
            <a:r>
              <a:rPr dirty="0" sz="2200" spc="475">
                <a:latin typeface="Tahoma"/>
                <a:cs typeface="Tahoma"/>
              </a:rPr>
              <a:t>  </a:t>
            </a:r>
            <a:r>
              <a:rPr dirty="0" sz="2200" spc="55">
                <a:latin typeface="Tahoma"/>
                <a:cs typeface="Tahoma"/>
              </a:rPr>
              <a:t>specifically</a:t>
            </a:r>
            <a:r>
              <a:rPr dirty="0" sz="2200" spc="475">
                <a:latin typeface="Tahoma"/>
                <a:cs typeface="Tahoma"/>
              </a:rPr>
              <a:t>  </a:t>
            </a:r>
            <a:r>
              <a:rPr dirty="0" sz="2200" spc="85">
                <a:latin typeface="Tahoma"/>
                <a:cs typeface="Tahoma"/>
              </a:rPr>
              <a:t>designed</a:t>
            </a:r>
            <a:r>
              <a:rPr dirty="0" sz="2200" spc="470">
                <a:latin typeface="Tahoma"/>
                <a:cs typeface="Tahoma"/>
              </a:rPr>
              <a:t>  </a:t>
            </a:r>
            <a:r>
              <a:rPr dirty="0" sz="2200" spc="75">
                <a:latin typeface="Tahoma"/>
                <a:cs typeface="Tahoma"/>
              </a:rPr>
              <a:t>for </a:t>
            </a:r>
            <a:r>
              <a:rPr dirty="0" sz="2200" spc="70">
                <a:latin typeface="Tahoma"/>
                <a:cs typeface="Tahoma"/>
              </a:rPr>
              <a:t>resource-</a:t>
            </a:r>
            <a:r>
              <a:rPr dirty="0" sz="2200" spc="90">
                <a:latin typeface="Tahoma"/>
                <a:cs typeface="Tahoma"/>
              </a:rPr>
              <a:t>constrained</a:t>
            </a:r>
            <a:r>
              <a:rPr dirty="0" sz="2200" spc="-85">
                <a:latin typeface="Tahoma"/>
                <a:cs typeface="Tahoma"/>
              </a:rPr>
              <a:t> </a:t>
            </a:r>
            <a:r>
              <a:rPr dirty="0" sz="2200" spc="85">
                <a:latin typeface="Tahoma"/>
                <a:cs typeface="Tahoma"/>
              </a:rPr>
              <a:t>educational</a:t>
            </a:r>
            <a:r>
              <a:rPr dirty="0" sz="2200" spc="-80">
                <a:latin typeface="Tahoma"/>
                <a:cs typeface="Tahoma"/>
              </a:rPr>
              <a:t> </a:t>
            </a:r>
            <a:r>
              <a:rPr dirty="0" sz="2200" spc="70">
                <a:latin typeface="Tahoma"/>
                <a:cs typeface="Tahoma"/>
              </a:rPr>
              <a:t>environments.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4474" y="2669555"/>
            <a:ext cx="7410449" cy="5448299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3357" y="2593771"/>
            <a:ext cx="114300" cy="1142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966081" y="2416289"/>
            <a:ext cx="7427595" cy="4292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50" spc="-160">
                <a:latin typeface="Arial Black"/>
                <a:cs typeface="Arial Black"/>
              </a:rPr>
              <a:t>Research</a:t>
            </a:r>
            <a:r>
              <a:rPr dirty="0" sz="2650" spc="285">
                <a:latin typeface="Arial Black"/>
                <a:cs typeface="Arial Black"/>
              </a:rPr>
              <a:t> </a:t>
            </a:r>
            <a:r>
              <a:rPr dirty="0" sz="2650" spc="-114">
                <a:latin typeface="Arial Black"/>
                <a:cs typeface="Arial Black"/>
              </a:rPr>
              <a:t>Objective:</a:t>
            </a:r>
            <a:r>
              <a:rPr dirty="0" sz="2650" spc="280">
                <a:latin typeface="Arial Black"/>
                <a:cs typeface="Arial Black"/>
              </a:rPr>
              <a:t> </a:t>
            </a:r>
            <a:r>
              <a:rPr dirty="0" sz="2650">
                <a:latin typeface="Tahoma"/>
                <a:cs typeface="Tahoma"/>
              </a:rPr>
              <a:t>To</a:t>
            </a:r>
            <a:r>
              <a:rPr dirty="0" sz="2650" spc="335">
                <a:latin typeface="Tahoma"/>
                <a:cs typeface="Tahoma"/>
              </a:rPr>
              <a:t> </a:t>
            </a:r>
            <a:r>
              <a:rPr dirty="0" sz="2650" spc="75">
                <a:latin typeface="Tahoma"/>
                <a:cs typeface="Tahoma"/>
              </a:rPr>
              <a:t>design</a:t>
            </a:r>
            <a:r>
              <a:rPr dirty="0" sz="2650" spc="335">
                <a:latin typeface="Tahoma"/>
                <a:cs typeface="Tahoma"/>
              </a:rPr>
              <a:t> </a:t>
            </a:r>
            <a:r>
              <a:rPr dirty="0" sz="2650" spc="120">
                <a:latin typeface="Tahoma"/>
                <a:cs typeface="Tahoma"/>
              </a:rPr>
              <a:t>and</a:t>
            </a:r>
            <a:r>
              <a:rPr dirty="0" sz="2650" spc="335">
                <a:latin typeface="Tahoma"/>
                <a:cs typeface="Tahoma"/>
              </a:rPr>
              <a:t> </a:t>
            </a:r>
            <a:r>
              <a:rPr dirty="0" sz="2650" spc="55">
                <a:latin typeface="Tahoma"/>
                <a:cs typeface="Tahoma"/>
              </a:rPr>
              <a:t>evaluate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66081" y="2883014"/>
            <a:ext cx="4376420" cy="4292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8680" algn="l"/>
                <a:tab pos="3071495" algn="l"/>
              </a:tabLst>
            </a:pPr>
            <a:r>
              <a:rPr dirty="0" sz="2650" spc="85">
                <a:latin typeface="Tahoma"/>
                <a:cs typeface="Tahoma"/>
              </a:rPr>
              <a:t>an</a:t>
            </a:r>
            <a:r>
              <a:rPr dirty="0" sz="2650">
                <a:latin typeface="Tahoma"/>
                <a:cs typeface="Tahoma"/>
              </a:rPr>
              <a:t>	SDN-</a:t>
            </a:r>
            <a:r>
              <a:rPr dirty="0" sz="2650" spc="80">
                <a:latin typeface="Tahoma"/>
                <a:cs typeface="Tahoma"/>
              </a:rPr>
              <a:t>based</a:t>
            </a:r>
            <a:r>
              <a:rPr dirty="0" sz="2650">
                <a:latin typeface="Tahoma"/>
                <a:cs typeface="Tahoma"/>
              </a:rPr>
              <a:t>	</a:t>
            </a:r>
            <a:r>
              <a:rPr dirty="0" sz="2650" spc="80">
                <a:latin typeface="Tahoma"/>
                <a:cs typeface="Tahoma"/>
              </a:rPr>
              <a:t>network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9600" y="2819768"/>
            <a:ext cx="1760220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0029">
              <a:lnSpc>
                <a:spcPct val="115599"/>
              </a:lnSpc>
              <a:spcBef>
                <a:spcPts val="100"/>
              </a:spcBef>
            </a:pPr>
            <a:r>
              <a:rPr dirty="0" sz="2650" spc="90">
                <a:latin typeface="Tahoma"/>
                <a:cs typeface="Tahoma"/>
              </a:rPr>
              <a:t>optimizer </a:t>
            </a:r>
            <a:r>
              <a:rPr dirty="0" sz="2650" spc="75">
                <a:latin typeface="Tahoma"/>
                <a:cs typeface="Tahoma"/>
              </a:rPr>
              <a:t>priority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42658" y="2819768"/>
            <a:ext cx="1050925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4335">
              <a:lnSpc>
                <a:spcPct val="115599"/>
              </a:lnSpc>
              <a:spcBef>
                <a:spcPts val="100"/>
              </a:spcBef>
            </a:pPr>
            <a:r>
              <a:rPr dirty="0" sz="2650" spc="55">
                <a:latin typeface="Tahoma"/>
                <a:cs typeface="Tahoma"/>
              </a:rPr>
              <a:t>that </a:t>
            </a:r>
            <a:r>
              <a:rPr dirty="0" sz="2650" spc="85">
                <a:latin typeface="Tahoma"/>
                <a:cs typeface="Tahoma"/>
              </a:rPr>
              <a:t>during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66081" y="3286493"/>
            <a:ext cx="1790064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650" spc="70">
                <a:latin typeface="Tahoma"/>
                <a:cs typeface="Tahoma"/>
              </a:rPr>
              <a:t>guarantees congestion </a:t>
            </a:r>
            <a:r>
              <a:rPr dirty="0" sz="2650" spc="-10">
                <a:latin typeface="Tahoma"/>
                <a:cs typeface="Tahoma"/>
              </a:rPr>
              <a:t>privacy.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91803" y="3349739"/>
            <a:ext cx="1511935" cy="4292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50" spc="75">
                <a:latin typeface="Tahoma"/>
                <a:cs typeface="Tahoma"/>
              </a:rPr>
              <a:t>academic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3628" y="3816463"/>
            <a:ext cx="5370195" cy="4292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53845" algn="l"/>
                <a:tab pos="4151629" algn="l"/>
              </a:tabLst>
            </a:pPr>
            <a:r>
              <a:rPr dirty="0" sz="2650" spc="80">
                <a:latin typeface="Tahoma"/>
                <a:cs typeface="Tahoma"/>
              </a:rPr>
              <a:t>without</a:t>
            </a:r>
            <a:r>
              <a:rPr dirty="0" sz="2650">
                <a:latin typeface="Tahoma"/>
                <a:cs typeface="Tahoma"/>
              </a:rPr>
              <a:t>	</a:t>
            </a:r>
            <a:r>
              <a:rPr dirty="0" sz="2650" spc="100">
                <a:latin typeface="Tahoma"/>
                <a:cs typeface="Tahoma"/>
              </a:rPr>
              <a:t>compromising</a:t>
            </a:r>
            <a:r>
              <a:rPr dirty="0" sz="2650">
                <a:latin typeface="Tahoma"/>
                <a:cs typeface="Tahoma"/>
              </a:rPr>
              <a:t>	</a:t>
            </a:r>
            <a:r>
              <a:rPr dirty="0" sz="2650" spc="80">
                <a:latin typeface="Tahoma"/>
                <a:cs typeface="Tahoma"/>
              </a:rPr>
              <a:t>student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3357" y="5394121"/>
            <a:ext cx="114300" cy="1142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966081" y="5153393"/>
            <a:ext cx="7427595" cy="329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650">
                <a:latin typeface="Arial Black"/>
                <a:cs typeface="Arial Black"/>
              </a:rPr>
              <a:t>Proposed</a:t>
            </a:r>
            <a:r>
              <a:rPr dirty="0" sz="2650" spc="185">
                <a:latin typeface="Arial Black"/>
                <a:cs typeface="Arial Black"/>
              </a:rPr>
              <a:t>  </a:t>
            </a:r>
            <a:r>
              <a:rPr dirty="0" sz="2650">
                <a:latin typeface="Arial Black"/>
                <a:cs typeface="Arial Black"/>
              </a:rPr>
              <a:t>Solution:</a:t>
            </a:r>
            <a:r>
              <a:rPr dirty="0" sz="2650" spc="200">
                <a:latin typeface="Arial Black"/>
                <a:cs typeface="Arial Black"/>
              </a:rPr>
              <a:t>  </a:t>
            </a:r>
            <a:r>
              <a:rPr dirty="0" sz="2650" spc="110">
                <a:latin typeface="Tahoma"/>
                <a:cs typeface="Tahoma"/>
              </a:rPr>
              <a:t>An</a:t>
            </a:r>
            <a:r>
              <a:rPr dirty="0" sz="2650" spc="250">
                <a:latin typeface="Tahoma"/>
                <a:cs typeface="Tahoma"/>
              </a:rPr>
              <a:t>  </a:t>
            </a:r>
            <a:r>
              <a:rPr dirty="0" sz="2650" spc="70">
                <a:latin typeface="Tahoma"/>
                <a:cs typeface="Tahoma"/>
              </a:rPr>
              <a:t>application-</a:t>
            </a:r>
            <a:r>
              <a:rPr dirty="0" sz="2650" spc="75">
                <a:latin typeface="Tahoma"/>
                <a:cs typeface="Tahoma"/>
              </a:rPr>
              <a:t>aware </a:t>
            </a:r>
            <a:r>
              <a:rPr dirty="0" sz="2650" spc="45">
                <a:latin typeface="Tahoma"/>
                <a:cs typeface="Tahoma"/>
              </a:rPr>
              <a:t>Software-</a:t>
            </a:r>
            <a:r>
              <a:rPr dirty="0" sz="2650" spc="95">
                <a:latin typeface="Tahoma"/>
                <a:cs typeface="Tahoma"/>
              </a:rPr>
              <a:t>Defined</a:t>
            </a:r>
            <a:r>
              <a:rPr dirty="0" sz="2650" spc="285">
                <a:latin typeface="Tahoma"/>
                <a:cs typeface="Tahoma"/>
              </a:rPr>
              <a:t> </a:t>
            </a:r>
            <a:r>
              <a:rPr dirty="0" sz="2650" spc="90">
                <a:latin typeface="Tahoma"/>
                <a:cs typeface="Tahoma"/>
              </a:rPr>
              <a:t>Networking</a:t>
            </a:r>
            <a:r>
              <a:rPr dirty="0" sz="2650" spc="300">
                <a:latin typeface="Tahoma"/>
                <a:cs typeface="Tahoma"/>
              </a:rPr>
              <a:t> </a:t>
            </a:r>
            <a:r>
              <a:rPr dirty="0" sz="2650">
                <a:latin typeface="Tahoma"/>
                <a:cs typeface="Tahoma"/>
              </a:rPr>
              <a:t>(SDN)</a:t>
            </a:r>
            <a:r>
              <a:rPr dirty="0" sz="2650" spc="295">
                <a:latin typeface="Tahoma"/>
                <a:cs typeface="Tahoma"/>
              </a:rPr>
              <a:t> </a:t>
            </a:r>
            <a:r>
              <a:rPr dirty="0" sz="2650" spc="85">
                <a:latin typeface="Tahoma"/>
                <a:cs typeface="Tahoma"/>
              </a:rPr>
              <a:t>controller </a:t>
            </a:r>
            <a:r>
              <a:rPr dirty="0" sz="2650" spc="114">
                <a:latin typeface="Tahoma"/>
                <a:cs typeface="Tahoma"/>
              </a:rPr>
              <a:t>equipped</a:t>
            </a:r>
            <a:r>
              <a:rPr dirty="0" sz="2650" spc="180">
                <a:latin typeface="Tahoma"/>
                <a:cs typeface="Tahoma"/>
              </a:rPr>
              <a:t>  </a:t>
            </a:r>
            <a:r>
              <a:rPr dirty="0" sz="2650" spc="80">
                <a:latin typeface="Tahoma"/>
                <a:cs typeface="Tahoma"/>
              </a:rPr>
              <a:t>with</a:t>
            </a:r>
            <a:r>
              <a:rPr dirty="0" sz="2650" spc="180">
                <a:latin typeface="Tahoma"/>
                <a:cs typeface="Tahoma"/>
              </a:rPr>
              <a:t>  </a:t>
            </a:r>
            <a:r>
              <a:rPr dirty="0" sz="2650" spc="80">
                <a:latin typeface="Tahoma"/>
                <a:cs typeface="Tahoma"/>
              </a:rPr>
              <a:t>a</a:t>
            </a:r>
            <a:r>
              <a:rPr dirty="0" sz="2650" spc="180">
                <a:latin typeface="Tahoma"/>
                <a:cs typeface="Tahoma"/>
              </a:rPr>
              <a:t>  </a:t>
            </a:r>
            <a:r>
              <a:rPr dirty="0" sz="2650" spc="105">
                <a:latin typeface="Tahoma"/>
                <a:cs typeface="Tahoma"/>
              </a:rPr>
              <a:t>machine</a:t>
            </a:r>
            <a:r>
              <a:rPr dirty="0" sz="2650" spc="180">
                <a:latin typeface="Tahoma"/>
                <a:cs typeface="Tahoma"/>
              </a:rPr>
              <a:t>  </a:t>
            </a:r>
            <a:r>
              <a:rPr dirty="0" sz="2650" spc="80">
                <a:latin typeface="Tahoma"/>
                <a:cs typeface="Tahoma"/>
              </a:rPr>
              <a:t>learning</a:t>
            </a:r>
            <a:r>
              <a:rPr dirty="0" sz="2650" spc="180">
                <a:latin typeface="Tahoma"/>
                <a:cs typeface="Tahoma"/>
              </a:rPr>
              <a:t>  </a:t>
            </a:r>
            <a:r>
              <a:rPr dirty="0" sz="2650" spc="45">
                <a:latin typeface="Tahoma"/>
                <a:cs typeface="Tahoma"/>
              </a:rPr>
              <a:t>engine. </a:t>
            </a:r>
            <a:r>
              <a:rPr dirty="0" sz="2650">
                <a:latin typeface="Tahoma"/>
                <a:cs typeface="Tahoma"/>
              </a:rPr>
              <a:t>Instead</a:t>
            </a:r>
            <a:r>
              <a:rPr dirty="0" sz="2650" spc="315">
                <a:latin typeface="Tahoma"/>
                <a:cs typeface="Tahoma"/>
              </a:rPr>
              <a:t>  </a:t>
            </a:r>
            <a:r>
              <a:rPr dirty="0" sz="2650" spc="105">
                <a:latin typeface="Tahoma"/>
                <a:cs typeface="Tahoma"/>
              </a:rPr>
              <a:t>of</a:t>
            </a:r>
            <a:r>
              <a:rPr dirty="0" sz="2650" spc="315">
                <a:latin typeface="Tahoma"/>
                <a:cs typeface="Tahoma"/>
              </a:rPr>
              <a:t>  </a:t>
            </a:r>
            <a:r>
              <a:rPr dirty="0" sz="2650" spc="90">
                <a:latin typeface="Tahoma"/>
                <a:cs typeface="Tahoma"/>
              </a:rPr>
              <a:t>binary</a:t>
            </a:r>
            <a:r>
              <a:rPr dirty="0" sz="2650" spc="315">
                <a:latin typeface="Tahoma"/>
                <a:cs typeface="Tahoma"/>
              </a:rPr>
              <a:t>  </a:t>
            </a:r>
            <a:r>
              <a:rPr dirty="0" sz="2650" spc="70">
                <a:latin typeface="Tahoma"/>
                <a:cs typeface="Tahoma"/>
              </a:rPr>
              <a:t>allow/block</a:t>
            </a:r>
            <a:r>
              <a:rPr dirty="0" sz="2650" spc="315">
                <a:latin typeface="Tahoma"/>
                <a:cs typeface="Tahoma"/>
              </a:rPr>
              <a:t>  </a:t>
            </a:r>
            <a:r>
              <a:rPr dirty="0" sz="2650">
                <a:latin typeface="Tahoma"/>
                <a:cs typeface="Tahoma"/>
              </a:rPr>
              <a:t>filtering,</a:t>
            </a:r>
            <a:r>
              <a:rPr dirty="0" sz="2650" spc="315">
                <a:latin typeface="Tahoma"/>
                <a:cs typeface="Tahoma"/>
              </a:rPr>
              <a:t>  </a:t>
            </a:r>
            <a:r>
              <a:rPr dirty="0" sz="2650" spc="60">
                <a:latin typeface="Tahoma"/>
                <a:cs typeface="Tahoma"/>
              </a:rPr>
              <a:t>the </a:t>
            </a:r>
            <a:r>
              <a:rPr dirty="0" sz="2650" spc="75">
                <a:latin typeface="Tahoma"/>
                <a:cs typeface="Tahoma"/>
              </a:rPr>
              <a:t>system</a:t>
            </a:r>
            <a:r>
              <a:rPr dirty="0" sz="2650" spc="35">
                <a:latin typeface="Tahoma"/>
                <a:cs typeface="Tahoma"/>
              </a:rPr>
              <a:t> </a:t>
            </a:r>
            <a:r>
              <a:rPr dirty="0" sz="2650" spc="75">
                <a:latin typeface="Tahoma"/>
                <a:cs typeface="Tahoma"/>
              </a:rPr>
              <a:t>dynamically</a:t>
            </a:r>
            <a:r>
              <a:rPr dirty="0" sz="2650" spc="35">
                <a:latin typeface="Tahoma"/>
                <a:cs typeface="Tahoma"/>
              </a:rPr>
              <a:t> </a:t>
            </a:r>
            <a:r>
              <a:rPr dirty="0" sz="2650" spc="85">
                <a:latin typeface="Tahoma"/>
                <a:cs typeface="Tahoma"/>
              </a:rPr>
              <a:t>enforces</a:t>
            </a:r>
            <a:r>
              <a:rPr dirty="0" sz="2650" spc="35">
                <a:latin typeface="Tahoma"/>
                <a:cs typeface="Tahoma"/>
              </a:rPr>
              <a:t> </a:t>
            </a:r>
            <a:r>
              <a:rPr dirty="0" sz="2650" spc="75">
                <a:latin typeface="Tahoma"/>
                <a:cs typeface="Tahoma"/>
              </a:rPr>
              <a:t>Quality</a:t>
            </a:r>
            <a:r>
              <a:rPr dirty="0" sz="2650" spc="40">
                <a:latin typeface="Tahoma"/>
                <a:cs typeface="Tahoma"/>
              </a:rPr>
              <a:t> </a:t>
            </a:r>
            <a:r>
              <a:rPr dirty="0" sz="2650" spc="105">
                <a:latin typeface="Tahoma"/>
                <a:cs typeface="Tahoma"/>
              </a:rPr>
              <a:t>of</a:t>
            </a:r>
            <a:r>
              <a:rPr dirty="0" sz="2650" spc="35">
                <a:latin typeface="Tahoma"/>
                <a:cs typeface="Tahoma"/>
              </a:rPr>
              <a:t> Service </a:t>
            </a:r>
            <a:r>
              <a:rPr dirty="0" sz="2650">
                <a:latin typeface="Tahoma"/>
                <a:cs typeface="Tahoma"/>
              </a:rPr>
              <a:t>(QoS)</a:t>
            </a:r>
            <a:r>
              <a:rPr dirty="0" sz="2650" spc="560">
                <a:latin typeface="Tahoma"/>
                <a:cs typeface="Tahoma"/>
              </a:rPr>
              <a:t> </a:t>
            </a:r>
            <a:r>
              <a:rPr dirty="0" sz="2650" spc="80">
                <a:latin typeface="Tahoma"/>
                <a:cs typeface="Tahoma"/>
              </a:rPr>
              <a:t>policies</a:t>
            </a:r>
            <a:r>
              <a:rPr dirty="0" sz="2650" spc="570">
                <a:latin typeface="Tahoma"/>
                <a:cs typeface="Tahoma"/>
              </a:rPr>
              <a:t> </a:t>
            </a:r>
            <a:r>
              <a:rPr dirty="0" sz="2650" spc="95">
                <a:latin typeface="Tahoma"/>
                <a:cs typeface="Tahoma"/>
              </a:rPr>
              <a:t>to</a:t>
            </a:r>
            <a:r>
              <a:rPr dirty="0" sz="2650" spc="570">
                <a:latin typeface="Tahoma"/>
                <a:cs typeface="Tahoma"/>
              </a:rPr>
              <a:t> </a:t>
            </a:r>
            <a:r>
              <a:rPr dirty="0" sz="2650" spc="85">
                <a:latin typeface="Tahoma"/>
                <a:cs typeface="Tahoma"/>
              </a:rPr>
              <a:t>prioritize</a:t>
            </a:r>
            <a:r>
              <a:rPr dirty="0" sz="2650" spc="575">
                <a:latin typeface="Tahoma"/>
                <a:cs typeface="Tahoma"/>
              </a:rPr>
              <a:t> </a:t>
            </a:r>
            <a:r>
              <a:rPr dirty="0" sz="2650" spc="90">
                <a:latin typeface="Tahoma"/>
                <a:cs typeface="Tahoma"/>
              </a:rPr>
              <a:t>educational</a:t>
            </a:r>
            <a:r>
              <a:rPr dirty="0" sz="2650" spc="570">
                <a:latin typeface="Tahoma"/>
                <a:cs typeface="Tahoma"/>
              </a:rPr>
              <a:t> </a:t>
            </a:r>
            <a:r>
              <a:rPr dirty="0" sz="2650" spc="50">
                <a:latin typeface="Tahoma"/>
                <a:cs typeface="Tahoma"/>
              </a:rPr>
              <a:t>traffic </a:t>
            </a:r>
            <a:r>
              <a:rPr dirty="0" sz="2650" spc="120">
                <a:latin typeface="Tahoma"/>
                <a:cs typeface="Tahoma"/>
              </a:rPr>
              <a:t>and</a:t>
            </a:r>
            <a:r>
              <a:rPr dirty="0" sz="2650" spc="-130">
                <a:latin typeface="Tahoma"/>
                <a:cs typeface="Tahoma"/>
              </a:rPr>
              <a:t> </a:t>
            </a:r>
            <a:r>
              <a:rPr dirty="0" sz="2650" spc="100">
                <a:latin typeface="Tahoma"/>
                <a:cs typeface="Tahoma"/>
              </a:rPr>
              <a:t>shape</a:t>
            </a:r>
            <a:r>
              <a:rPr dirty="0" sz="2650" spc="-125">
                <a:latin typeface="Tahoma"/>
                <a:cs typeface="Tahoma"/>
              </a:rPr>
              <a:t> </a:t>
            </a:r>
            <a:r>
              <a:rPr dirty="0" sz="2650" spc="75">
                <a:latin typeface="Tahoma"/>
                <a:cs typeface="Tahoma"/>
              </a:rPr>
              <a:t>non-</a:t>
            </a:r>
            <a:r>
              <a:rPr dirty="0" sz="2650" spc="85">
                <a:latin typeface="Tahoma"/>
                <a:cs typeface="Tahoma"/>
              </a:rPr>
              <a:t>academic</a:t>
            </a:r>
            <a:r>
              <a:rPr dirty="0" sz="2650" spc="-125">
                <a:latin typeface="Tahoma"/>
                <a:cs typeface="Tahoma"/>
              </a:rPr>
              <a:t> </a:t>
            </a:r>
            <a:r>
              <a:rPr dirty="0" sz="2650" spc="105">
                <a:latin typeface="Tahoma"/>
                <a:cs typeface="Tahoma"/>
              </a:rPr>
              <a:t>bandwidth</a:t>
            </a:r>
            <a:r>
              <a:rPr dirty="0" sz="2650" spc="-125">
                <a:latin typeface="Tahoma"/>
                <a:cs typeface="Tahoma"/>
              </a:rPr>
              <a:t> </a:t>
            </a:r>
            <a:r>
              <a:rPr dirty="0" sz="2650" spc="-10">
                <a:latin typeface="Tahoma"/>
                <a:cs typeface="Tahoma"/>
              </a:rPr>
              <a:t>usage.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8909" y="1740348"/>
            <a:ext cx="14316272" cy="3848099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7189" y="5969988"/>
            <a:ext cx="95250" cy="952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408269" y="5772484"/>
            <a:ext cx="596328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  <a:tabLst>
                <a:tab pos="1678305" algn="l"/>
                <a:tab pos="2783205" algn="l"/>
                <a:tab pos="4073525" algn="l"/>
                <a:tab pos="5781040" algn="l"/>
              </a:tabLst>
            </a:pPr>
            <a:r>
              <a:rPr dirty="0" sz="2100" spc="-130">
                <a:latin typeface="Arial Black"/>
                <a:cs typeface="Arial Black"/>
              </a:rPr>
              <a:t>Privacy-</a:t>
            </a:r>
            <a:r>
              <a:rPr dirty="0" sz="2100" spc="-120">
                <a:latin typeface="Arial Black"/>
                <a:cs typeface="Arial Black"/>
              </a:rPr>
              <a:t>Preserving</a:t>
            </a:r>
            <a:r>
              <a:rPr dirty="0" sz="2100" spc="30">
                <a:latin typeface="Arial Black"/>
                <a:cs typeface="Arial Black"/>
              </a:rPr>
              <a:t> </a:t>
            </a:r>
            <a:r>
              <a:rPr dirty="0" sz="2100" spc="-130">
                <a:latin typeface="Arial Black"/>
                <a:cs typeface="Arial Black"/>
              </a:rPr>
              <a:t>Classification:</a:t>
            </a:r>
            <a:r>
              <a:rPr dirty="0" sz="2100" spc="35">
                <a:latin typeface="Arial Black"/>
                <a:cs typeface="Arial Black"/>
              </a:rPr>
              <a:t> </a:t>
            </a:r>
            <a:r>
              <a:rPr dirty="0" sz="2100">
                <a:latin typeface="Tahoma"/>
                <a:cs typeface="Tahoma"/>
              </a:rPr>
              <a:t>The</a:t>
            </a:r>
            <a:r>
              <a:rPr dirty="0" sz="2100" spc="7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system </a:t>
            </a:r>
            <a:r>
              <a:rPr dirty="0" sz="2100" spc="55">
                <a:latin typeface="Tahoma"/>
                <a:cs typeface="Tahoma"/>
              </a:rPr>
              <a:t>completely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55">
                <a:latin typeface="Tahoma"/>
                <a:cs typeface="Tahoma"/>
              </a:rPr>
              <a:t>avoids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60">
                <a:latin typeface="Tahoma"/>
                <a:cs typeface="Tahoma"/>
              </a:rPr>
              <a:t>payload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45">
                <a:latin typeface="Tahoma"/>
                <a:cs typeface="Tahoma"/>
              </a:rPr>
              <a:t>decryption.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-105">
                <a:latin typeface="Tahoma"/>
                <a:cs typeface="Tahoma"/>
              </a:rPr>
              <a:t>It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08269" y="6566983"/>
            <a:ext cx="59632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45">
                <a:latin typeface="Tahoma"/>
                <a:cs typeface="Tahoma"/>
              </a:rPr>
              <a:t>classifies</a:t>
            </a:r>
            <a:r>
              <a:rPr dirty="0" sz="2100" spc="145">
                <a:latin typeface="Tahoma"/>
                <a:cs typeface="Tahoma"/>
              </a:rPr>
              <a:t>  </a:t>
            </a:r>
            <a:r>
              <a:rPr dirty="0" sz="2100" spc="45">
                <a:latin typeface="Tahoma"/>
                <a:cs typeface="Tahoma"/>
              </a:rPr>
              <a:t>traffic</a:t>
            </a:r>
            <a:r>
              <a:rPr dirty="0" sz="2100" spc="145">
                <a:latin typeface="Tahoma"/>
                <a:cs typeface="Tahoma"/>
              </a:rPr>
              <a:t>  </a:t>
            </a:r>
            <a:r>
              <a:rPr dirty="0" sz="2100" spc="80">
                <a:latin typeface="Tahoma"/>
                <a:cs typeface="Tahoma"/>
              </a:rPr>
              <a:t>based</a:t>
            </a:r>
            <a:r>
              <a:rPr dirty="0" sz="2100" spc="150">
                <a:latin typeface="Tahoma"/>
                <a:cs typeface="Tahoma"/>
              </a:rPr>
              <a:t>  </a:t>
            </a:r>
            <a:r>
              <a:rPr dirty="0" sz="2100" spc="55">
                <a:latin typeface="Tahoma"/>
                <a:cs typeface="Tahoma"/>
              </a:rPr>
              <a:t>entirely</a:t>
            </a:r>
            <a:r>
              <a:rPr dirty="0" sz="2100" spc="145">
                <a:latin typeface="Tahoma"/>
                <a:cs typeface="Tahoma"/>
              </a:rPr>
              <a:t>  </a:t>
            </a:r>
            <a:r>
              <a:rPr dirty="0" sz="2100" spc="110">
                <a:latin typeface="Tahoma"/>
                <a:cs typeface="Tahoma"/>
              </a:rPr>
              <a:t>on</a:t>
            </a:r>
            <a:r>
              <a:rPr dirty="0" sz="2100" spc="150">
                <a:latin typeface="Tahoma"/>
                <a:cs typeface="Tahoma"/>
              </a:rPr>
              <a:t>  </a:t>
            </a:r>
            <a:r>
              <a:rPr dirty="0" sz="2100" spc="50">
                <a:latin typeface="Tahoma"/>
                <a:cs typeface="Tahoma"/>
              </a:rPr>
              <a:t>plaintext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8269" y="6886909"/>
            <a:ext cx="5963285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75">
                <a:latin typeface="Tahoma"/>
                <a:cs typeface="Tahoma"/>
              </a:rPr>
              <a:t>metadata</a:t>
            </a:r>
            <a:r>
              <a:rPr dirty="0" sz="2100" spc="210">
                <a:latin typeface="Tahoma"/>
                <a:cs typeface="Tahoma"/>
              </a:rPr>
              <a:t>   </a:t>
            </a:r>
            <a:r>
              <a:rPr dirty="0" sz="2100">
                <a:latin typeface="Tahoma"/>
                <a:cs typeface="Tahoma"/>
              </a:rPr>
              <a:t>(DNS</a:t>
            </a:r>
            <a:r>
              <a:rPr dirty="0" sz="2100" spc="210">
                <a:latin typeface="Tahoma"/>
                <a:cs typeface="Tahoma"/>
              </a:rPr>
              <a:t>   </a:t>
            </a:r>
            <a:r>
              <a:rPr dirty="0" sz="2100" spc="70">
                <a:latin typeface="Tahoma"/>
                <a:cs typeface="Tahoma"/>
              </a:rPr>
              <a:t>query</a:t>
            </a:r>
            <a:r>
              <a:rPr dirty="0" sz="2100" spc="215">
                <a:latin typeface="Tahoma"/>
                <a:cs typeface="Tahoma"/>
              </a:rPr>
              <a:t>   </a:t>
            </a:r>
            <a:r>
              <a:rPr dirty="0" sz="2100" spc="50">
                <a:latin typeface="Tahoma"/>
                <a:cs typeface="Tahoma"/>
              </a:rPr>
              <a:t>names,</a:t>
            </a:r>
            <a:r>
              <a:rPr dirty="0" sz="2100" spc="210">
                <a:latin typeface="Tahoma"/>
                <a:cs typeface="Tahoma"/>
              </a:rPr>
              <a:t>   </a:t>
            </a:r>
            <a:r>
              <a:rPr dirty="0" sz="2100">
                <a:latin typeface="Tahoma"/>
                <a:cs typeface="Tahoma"/>
              </a:rPr>
              <a:t>TLS</a:t>
            </a:r>
            <a:r>
              <a:rPr dirty="0" sz="2100" spc="215">
                <a:latin typeface="Tahoma"/>
                <a:cs typeface="Tahoma"/>
              </a:rPr>
              <a:t>   </a:t>
            </a:r>
            <a:r>
              <a:rPr dirty="0" sz="2100" spc="-25">
                <a:latin typeface="Tahoma"/>
                <a:cs typeface="Tahoma"/>
              </a:rPr>
              <a:t>SNI </a:t>
            </a:r>
            <a:r>
              <a:rPr dirty="0" sz="2100" spc="55">
                <a:latin typeface="Tahoma"/>
                <a:cs typeface="Tahoma"/>
              </a:rPr>
              <a:t>hostnames)</a:t>
            </a:r>
            <a:r>
              <a:rPr dirty="0" sz="2100" spc="40">
                <a:latin typeface="Tahoma"/>
                <a:cs typeface="Tahoma"/>
              </a:rPr>
              <a:t> </a:t>
            </a:r>
            <a:r>
              <a:rPr dirty="0" sz="2100" spc="90">
                <a:latin typeface="Tahoma"/>
                <a:cs typeface="Tahoma"/>
              </a:rPr>
              <a:t>and</a:t>
            </a:r>
            <a:r>
              <a:rPr dirty="0" sz="2100" spc="4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statistical</a:t>
            </a:r>
            <a:r>
              <a:rPr dirty="0" sz="2100" spc="45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flow</a:t>
            </a:r>
            <a:r>
              <a:rPr dirty="0" sz="2100" spc="45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features</a:t>
            </a:r>
            <a:r>
              <a:rPr dirty="0" sz="2100" spc="40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(packet </a:t>
            </a:r>
            <a:r>
              <a:rPr dirty="0" sz="2100">
                <a:latin typeface="Tahoma"/>
                <a:cs typeface="Tahoma"/>
              </a:rPr>
              <a:t>sizes,</a:t>
            </a:r>
            <a:r>
              <a:rPr dirty="0" sz="2100" spc="4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inter-</a:t>
            </a:r>
            <a:r>
              <a:rPr dirty="0" sz="2100" spc="55">
                <a:latin typeface="Tahoma"/>
                <a:cs typeface="Tahoma"/>
              </a:rPr>
              <a:t>arrival</a:t>
            </a:r>
            <a:r>
              <a:rPr dirty="0" sz="2100" spc="4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times,</a:t>
            </a:r>
            <a:r>
              <a:rPr dirty="0" sz="2100" spc="45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byte</a:t>
            </a:r>
            <a:r>
              <a:rPr dirty="0" sz="2100" spc="40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ratios).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4395" y="5969988"/>
            <a:ext cx="95250" cy="952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215476" y="5772484"/>
            <a:ext cx="7640320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125">
                <a:latin typeface="Arial Black"/>
                <a:cs typeface="Arial Black"/>
              </a:rPr>
              <a:t>Early-</a:t>
            </a:r>
            <a:r>
              <a:rPr dirty="0" sz="2100">
                <a:latin typeface="Arial Black"/>
                <a:cs typeface="Arial Black"/>
              </a:rPr>
              <a:t>Decision</a:t>
            </a:r>
            <a:r>
              <a:rPr dirty="0" sz="2100" spc="50">
                <a:latin typeface="Arial Black"/>
                <a:cs typeface="Arial Black"/>
              </a:rPr>
              <a:t>  </a:t>
            </a:r>
            <a:r>
              <a:rPr dirty="0" sz="2100">
                <a:latin typeface="Arial Black"/>
                <a:cs typeface="Arial Black"/>
              </a:rPr>
              <a:t>Enforcement:</a:t>
            </a:r>
            <a:r>
              <a:rPr dirty="0" sz="2100" spc="55">
                <a:latin typeface="Arial Black"/>
                <a:cs typeface="Arial Black"/>
              </a:rPr>
              <a:t>  </a:t>
            </a:r>
            <a:r>
              <a:rPr dirty="0" sz="2100">
                <a:latin typeface="Tahoma"/>
                <a:cs typeface="Tahoma"/>
              </a:rPr>
              <a:t>The</a:t>
            </a:r>
            <a:r>
              <a:rPr dirty="0" sz="2100" spc="100">
                <a:latin typeface="Tahoma"/>
                <a:cs typeface="Tahoma"/>
              </a:rPr>
              <a:t>  </a:t>
            </a:r>
            <a:r>
              <a:rPr dirty="0" sz="2100" spc="70">
                <a:latin typeface="Tahoma"/>
                <a:cs typeface="Tahoma"/>
              </a:rPr>
              <a:t>controller</a:t>
            </a:r>
            <a:r>
              <a:rPr dirty="0" sz="2100" spc="100">
                <a:latin typeface="Tahoma"/>
                <a:cs typeface="Tahoma"/>
              </a:rPr>
              <a:t>  </a:t>
            </a:r>
            <a:r>
              <a:rPr dirty="0" sz="2100" spc="85">
                <a:latin typeface="Tahoma"/>
                <a:cs typeface="Tahoma"/>
              </a:rPr>
              <a:t>does</a:t>
            </a:r>
            <a:r>
              <a:rPr dirty="0" sz="2100" spc="100">
                <a:latin typeface="Tahoma"/>
                <a:cs typeface="Tahoma"/>
              </a:rPr>
              <a:t>  </a:t>
            </a:r>
            <a:r>
              <a:rPr dirty="0" sz="2100" spc="60">
                <a:latin typeface="Tahoma"/>
                <a:cs typeface="Tahoma"/>
              </a:rPr>
              <a:t>not </a:t>
            </a:r>
            <a:r>
              <a:rPr dirty="0" sz="2100" spc="95">
                <a:latin typeface="Tahoma"/>
                <a:cs typeface="Tahoma"/>
              </a:rPr>
              <a:t>monitor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the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entire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session.</a:t>
            </a:r>
            <a:r>
              <a:rPr dirty="0" sz="2100" spc="12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It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heavily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70">
                <a:latin typeface="Tahoma"/>
                <a:cs typeface="Tahoma"/>
              </a:rPr>
              <a:t>observes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only</a:t>
            </a:r>
            <a:r>
              <a:rPr dirty="0" sz="2100" spc="125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the</a:t>
            </a:r>
            <a:r>
              <a:rPr dirty="0" sz="2100" spc="120">
                <a:latin typeface="Tahoma"/>
                <a:cs typeface="Tahoma"/>
              </a:rPr>
              <a:t> </a:t>
            </a:r>
            <a:r>
              <a:rPr dirty="0" sz="2100" spc="40">
                <a:latin typeface="Tahoma"/>
                <a:cs typeface="Tahoma"/>
              </a:rPr>
              <a:t>first </a:t>
            </a:r>
            <a:r>
              <a:rPr dirty="0" sz="2100">
                <a:latin typeface="Tahoma"/>
                <a:cs typeface="Tahoma"/>
              </a:rPr>
              <a:t>12</a:t>
            </a:r>
            <a:r>
              <a:rPr dirty="0" sz="2100" spc="-80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packets</a:t>
            </a:r>
            <a:r>
              <a:rPr dirty="0" sz="2100" spc="-80">
                <a:latin typeface="Tahoma"/>
                <a:cs typeface="Tahoma"/>
              </a:rPr>
              <a:t> </a:t>
            </a:r>
            <a:r>
              <a:rPr dirty="0" sz="2100" spc="105">
                <a:latin typeface="Tahoma"/>
                <a:cs typeface="Tahoma"/>
              </a:rPr>
              <a:t>or</a:t>
            </a:r>
            <a:r>
              <a:rPr dirty="0" sz="2100" spc="-75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a</a:t>
            </a:r>
            <a:r>
              <a:rPr dirty="0" sz="2100" spc="-80">
                <a:latin typeface="Tahoma"/>
                <a:cs typeface="Tahoma"/>
              </a:rPr>
              <a:t> </a:t>
            </a:r>
            <a:r>
              <a:rPr dirty="0" sz="2100" spc="-35">
                <a:latin typeface="Tahoma"/>
                <a:cs typeface="Tahoma"/>
              </a:rPr>
              <a:t>2.5-</a:t>
            </a:r>
            <a:r>
              <a:rPr dirty="0" sz="2100" spc="75">
                <a:latin typeface="Tahoma"/>
                <a:cs typeface="Tahoma"/>
              </a:rPr>
              <a:t>second</a:t>
            </a:r>
            <a:r>
              <a:rPr dirty="0" sz="2100" spc="-80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window.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308" y="7079650"/>
            <a:ext cx="104775" cy="10477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668806" y="6938458"/>
            <a:ext cx="718693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2124710" algn="l"/>
                <a:tab pos="3342004" algn="l"/>
                <a:tab pos="4995545" algn="l"/>
                <a:tab pos="6073775" algn="l"/>
              </a:tabLst>
            </a:pPr>
            <a:r>
              <a:rPr dirty="0" sz="2100" spc="10">
                <a:latin typeface="Tahoma"/>
                <a:cs typeface="Tahoma"/>
              </a:rPr>
              <a:t>A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-10">
                <a:latin typeface="Tahoma"/>
                <a:cs typeface="Tahoma"/>
              </a:rPr>
              <a:t>lightweight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-10">
                <a:latin typeface="Tahoma"/>
                <a:cs typeface="Tahoma"/>
              </a:rPr>
              <a:t>Logistic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45">
                <a:latin typeface="Tahoma"/>
                <a:cs typeface="Tahoma"/>
              </a:rPr>
              <a:t>Regression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95">
                <a:latin typeface="Tahoma"/>
                <a:cs typeface="Tahoma"/>
              </a:rPr>
              <a:t>model</a:t>
            </a:r>
            <a:r>
              <a:rPr dirty="0" sz="2100">
                <a:latin typeface="Tahoma"/>
                <a:cs typeface="Tahoma"/>
              </a:rPr>
              <a:t>	</a:t>
            </a:r>
            <a:r>
              <a:rPr dirty="0" sz="2100" spc="45">
                <a:latin typeface="Tahoma"/>
                <a:cs typeface="Tahoma"/>
              </a:rPr>
              <a:t>executes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68806" y="7258384"/>
            <a:ext cx="718693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65">
                <a:latin typeface="Tahoma"/>
                <a:cs typeface="Tahoma"/>
              </a:rPr>
              <a:t>extremely</a:t>
            </a:r>
            <a:r>
              <a:rPr dirty="0" sz="2100" spc="26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fast</a:t>
            </a:r>
            <a:r>
              <a:rPr dirty="0" sz="2100" spc="270">
                <a:latin typeface="Tahoma"/>
                <a:cs typeface="Tahoma"/>
              </a:rPr>
              <a:t> </a:t>
            </a:r>
            <a:r>
              <a:rPr dirty="0" sz="2100" spc="65">
                <a:latin typeface="Tahoma"/>
                <a:cs typeface="Tahoma"/>
              </a:rPr>
              <a:t>inference</a:t>
            </a:r>
            <a:r>
              <a:rPr dirty="0" sz="2100" spc="27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(&lt;1ms</a:t>
            </a:r>
            <a:r>
              <a:rPr dirty="0" sz="2100" spc="27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latency)</a:t>
            </a:r>
            <a:r>
              <a:rPr dirty="0" sz="2100" spc="265">
                <a:latin typeface="Tahoma"/>
                <a:cs typeface="Tahoma"/>
              </a:rPr>
              <a:t> </a:t>
            </a:r>
            <a:r>
              <a:rPr dirty="0" sz="2100" spc="80">
                <a:latin typeface="Tahoma"/>
                <a:cs typeface="Tahoma"/>
              </a:rPr>
              <a:t>based</a:t>
            </a:r>
            <a:r>
              <a:rPr dirty="0" sz="2100" spc="270">
                <a:latin typeface="Tahoma"/>
                <a:cs typeface="Tahoma"/>
              </a:rPr>
              <a:t> </a:t>
            </a:r>
            <a:r>
              <a:rPr dirty="0" sz="2100" spc="110">
                <a:latin typeface="Tahoma"/>
                <a:cs typeface="Tahoma"/>
              </a:rPr>
              <a:t>on</a:t>
            </a:r>
            <a:r>
              <a:rPr dirty="0" sz="2100" spc="270">
                <a:latin typeface="Tahoma"/>
                <a:cs typeface="Tahoma"/>
              </a:rPr>
              <a:t> </a:t>
            </a:r>
            <a:r>
              <a:rPr dirty="0" sz="2100" spc="55">
                <a:latin typeface="Tahoma"/>
                <a:cs typeface="Tahoma"/>
              </a:rPr>
              <a:t>these </a:t>
            </a:r>
            <a:r>
              <a:rPr dirty="0" sz="2100" spc="50">
                <a:latin typeface="Tahoma"/>
                <a:cs typeface="Tahoma"/>
              </a:rPr>
              <a:t>early</a:t>
            </a:r>
            <a:r>
              <a:rPr dirty="0" sz="2100" spc="-100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statistics.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7308" y="8194075"/>
            <a:ext cx="104775" cy="10477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9668806" y="8001334"/>
            <a:ext cx="718693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80">
                <a:latin typeface="Tahoma"/>
                <a:cs typeface="Tahoma"/>
              </a:rPr>
              <a:t>Once</a:t>
            </a:r>
            <a:r>
              <a:rPr dirty="0" sz="2100" spc="50">
                <a:latin typeface="Tahoma"/>
                <a:cs typeface="Tahoma"/>
              </a:rPr>
              <a:t>  </a:t>
            </a:r>
            <a:r>
              <a:rPr dirty="0" sz="2100">
                <a:latin typeface="Tahoma"/>
                <a:cs typeface="Tahoma"/>
              </a:rPr>
              <a:t>classified,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70">
                <a:latin typeface="Tahoma"/>
                <a:cs typeface="Tahoma"/>
              </a:rPr>
              <a:t>rules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70">
                <a:latin typeface="Tahoma"/>
                <a:cs typeface="Tahoma"/>
              </a:rPr>
              <a:t>are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90">
                <a:latin typeface="Tahoma"/>
                <a:cs typeface="Tahoma"/>
              </a:rPr>
              <a:t>pushed</a:t>
            </a:r>
            <a:r>
              <a:rPr dirty="0" sz="2100" spc="50">
                <a:latin typeface="Tahoma"/>
                <a:cs typeface="Tahoma"/>
              </a:rPr>
              <a:t>  </a:t>
            </a:r>
            <a:r>
              <a:rPr dirty="0" sz="2100" spc="75">
                <a:latin typeface="Tahoma"/>
                <a:cs typeface="Tahoma"/>
              </a:rPr>
              <a:t>to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65">
                <a:latin typeface="Tahoma"/>
                <a:cs typeface="Tahoma"/>
              </a:rPr>
              <a:t>the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65">
                <a:latin typeface="Tahoma"/>
                <a:cs typeface="Tahoma"/>
              </a:rPr>
              <a:t>data</a:t>
            </a:r>
            <a:r>
              <a:rPr dirty="0" sz="2100" spc="55">
                <a:latin typeface="Tahoma"/>
                <a:cs typeface="Tahoma"/>
              </a:rPr>
              <a:t>  </a:t>
            </a:r>
            <a:r>
              <a:rPr dirty="0" sz="2100" spc="-10">
                <a:latin typeface="Tahoma"/>
                <a:cs typeface="Tahoma"/>
              </a:rPr>
              <a:t>plane, </a:t>
            </a:r>
            <a:r>
              <a:rPr dirty="0" sz="2100" spc="75">
                <a:latin typeface="Tahoma"/>
                <a:cs typeface="Tahoma"/>
              </a:rPr>
              <a:t>minimising</a:t>
            </a:r>
            <a:r>
              <a:rPr dirty="0" sz="2100" spc="-90">
                <a:latin typeface="Tahoma"/>
                <a:cs typeface="Tahoma"/>
              </a:rPr>
              <a:t> </a:t>
            </a:r>
            <a:r>
              <a:rPr dirty="0" sz="2100" spc="50">
                <a:latin typeface="Tahoma"/>
                <a:cs typeface="Tahoma"/>
              </a:rPr>
              <a:t>control-</a:t>
            </a:r>
            <a:r>
              <a:rPr dirty="0" sz="2100" spc="75">
                <a:latin typeface="Tahoma"/>
                <a:cs typeface="Tahoma"/>
              </a:rPr>
              <a:t>plane</a:t>
            </a:r>
            <a:r>
              <a:rPr dirty="0" sz="2100" spc="-85">
                <a:latin typeface="Tahoma"/>
                <a:cs typeface="Tahoma"/>
              </a:rPr>
              <a:t> </a:t>
            </a:r>
            <a:r>
              <a:rPr dirty="0" sz="2100" spc="45">
                <a:latin typeface="Tahoma"/>
                <a:cs typeface="Tahoma"/>
              </a:rPr>
              <a:t>overhead.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6023" y="2573266"/>
            <a:ext cx="7696199" cy="5638799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7342" y="3085010"/>
            <a:ext cx="86865" cy="868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7342" y="4513461"/>
            <a:ext cx="86865" cy="868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7342" y="5584799"/>
            <a:ext cx="86865" cy="868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7342" y="7013249"/>
            <a:ext cx="86865" cy="8686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175906" y="1947996"/>
            <a:ext cx="7115175" cy="6326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20">
                <a:latin typeface="Arial Black"/>
                <a:cs typeface="Arial Black"/>
              </a:rPr>
              <a:t>Building</a:t>
            </a:r>
            <a:r>
              <a:rPr dirty="0" sz="2500" spc="-145">
                <a:latin typeface="Arial Black"/>
                <a:cs typeface="Arial Black"/>
              </a:rPr>
              <a:t> </a:t>
            </a:r>
            <a:r>
              <a:rPr dirty="0" sz="2500" spc="-100">
                <a:latin typeface="Arial Black"/>
                <a:cs typeface="Arial Black"/>
              </a:rPr>
              <a:t>the</a:t>
            </a:r>
            <a:r>
              <a:rPr dirty="0" sz="2500" spc="-145">
                <a:latin typeface="Arial Black"/>
                <a:cs typeface="Arial Black"/>
              </a:rPr>
              <a:t> </a:t>
            </a:r>
            <a:r>
              <a:rPr dirty="0" sz="2500" spc="-90">
                <a:latin typeface="Arial Black"/>
                <a:cs typeface="Arial Black"/>
              </a:rPr>
              <a:t>foundational</a:t>
            </a:r>
            <a:r>
              <a:rPr dirty="0" sz="2500" spc="-145">
                <a:latin typeface="Arial Black"/>
                <a:cs typeface="Arial Black"/>
              </a:rPr>
              <a:t> </a:t>
            </a:r>
            <a:r>
              <a:rPr dirty="0" sz="2500" spc="-215">
                <a:latin typeface="Arial Black"/>
                <a:cs typeface="Arial Black"/>
              </a:rPr>
              <a:t>SDN</a:t>
            </a:r>
            <a:r>
              <a:rPr dirty="0" sz="2500" spc="-145">
                <a:latin typeface="Arial Black"/>
                <a:cs typeface="Arial Black"/>
              </a:rPr>
              <a:t> </a:t>
            </a:r>
            <a:r>
              <a:rPr dirty="0" sz="2500" spc="-30">
                <a:latin typeface="Arial Black"/>
                <a:cs typeface="Arial Black"/>
              </a:rPr>
              <a:t>architecture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500">
              <a:latin typeface="Arial Black"/>
              <a:cs typeface="Arial Black"/>
            </a:endParaRPr>
          </a:p>
          <a:p>
            <a:pPr algn="just" marL="355600" marR="5080">
              <a:lnSpc>
                <a:spcPct val="117200"/>
              </a:lnSpc>
            </a:pPr>
            <a:r>
              <a:rPr dirty="0" sz="2000">
                <a:latin typeface="Arial Black"/>
                <a:cs typeface="Arial Black"/>
              </a:rPr>
              <a:t>Data</a:t>
            </a:r>
            <a:r>
              <a:rPr dirty="0" sz="2000" spc="355">
                <a:latin typeface="Arial Black"/>
                <a:cs typeface="Arial Black"/>
              </a:rPr>
              <a:t> </a:t>
            </a:r>
            <a:r>
              <a:rPr dirty="0" sz="2000">
                <a:latin typeface="Arial Black"/>
                <a:cs typeface="Arial Black"/>
              </a:rPr>
              <a:t>Plane:</a:t>
            </a:r>
            <a:r>
              <a:rPr dirty="0" sz="2000" spc="355">
                <a:latin typeface="Arial Black"/>
                <a:cs typeface="Arial Black"/>
              </a:rPr>
              <a:t> </a:t>
            </a:r>
            <a:r>
              <a:rPr dirty="0" sz="2000" spc="70">
                <a:latin typeface="Tahoma"/>
                <a:cs typeface="Tahoma"/>
              </a:rPr>
              <a:t>A</a:t>
            </a:r>
            <a:r>
              <a:rPr dirty="0" sz="2000" spc="409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Mininet-</a:t>
            </a:r>
            <a:r>
              <a:rPr dirty="0" sz="2000" spc="90">
                <a:latin typeface="Tahoma"/>
                <a:cs typeface="Tahoma"/>
              </a:rPr>
              <a:t>based</a:t>
            </a:r>
            <a:r>
              <a:rPr dirty="0" sz="2000" spc="40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OpenFlow</a:t>
            </a:r>
            <a:r>
              <a:rPr dirty="0" sz="2000" spc="4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1.3</a:t>
            </a:r>
            <a:r>
              <a:rPr dirty="0" sz="2000" spc="40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network </a:t>
            </a:r>
            <a:r>
              <a:rPr dirty="0" sz="2000" spc="50">
                <a:latin typeface="Tahoma"/>
                <a:cs typeface="Tahoma"/>
              </a:rPr>
              <a:t>utilizing</a:t>
            </a:r>
            <a:r>
              <a:rPr dirty="0" sz="2000" spc="280">
                <a:latin typeface="Tahoma"/>
                <a:cs typeface="Tahoma"/>
              </a:rPr>
              <a:t> </a:t>
            </a:r>
            <a:r>
              <a:rPr dirty="0" sz="2000" spc="114">
                <a:latin typeface="Tahoma"/>
                <a:cs typeface="Tahoma"/>
              </a:rPr>
              <a:t>Open</a:t>
            </a:r>
            <a:r>
              <a:rPr dirty="0" sz="2000" spc="2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vSwitch</a:t>
            </a:r>
            <a:r>
              <a:rPr dirty="0" sz="2000" spc="2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(OVS)</a:t>
            </a:r>
            <a:r>
              <a:rPr dirty="0" sz="2000" spc="28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for</a:t>
            </a:r>
            <a:r>
              <a:rPr dirty="0" sz="2000" spc="28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hardware-</a:t>
            </a:r>
            <a:r>
              <a:rPr dirty="0" sz="2000" spc="50">
                <a:latin typeface="Tahoma"/>
                <a:cs typeface="Tahoma"/>
              </a:rPr>
              <a:t>level</a:t>
            </a:r>
            <a:r>
              <a:rPr dirty="0" sz="2000" spc="28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packet </a:t>
            </a:r>
            <a:r>
              <a:rPr dirty="0" sz="2000" spc="50">
                <a:latin typeface="Tahoma"/>
                <a:cs typeface="Tahoma"/>
              </a:rPr>
              <a:t>forwarding.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000">
              <a:latin typeface="Tahoma"/>
              <a:cs typeface="Tahoma"/>
            </a:endParaRPr>
          </a:p>
          <a:p>
            <a:pPr algn="just" marL="355600" marR="5080">
              <a:lnSpc>
                <a:spcPct val="117200"/>
              </a:lnSpc>
              <a:spcBef>
                <a:spcPts val="5"/>
              </a:spcBef>
            </a:pPr>
            <a:r>
              <a:rPr dirty="0" sz="2000" spc="-20">
                <a:latin typeface="Arial Black"/>
                <a:cs typeface="Arial Black"/>
              </a:rPr>
              <a:t>Control</a:t>
            </a:r>
            <a:r>
              <a:rPr dirty="0" sz="2000" spc="185">
                <a:latin typeface="Arial Black"/>
                <a:cs typeface="Arial Black"/>
              </a:rPr>
              <a:t> </a:t>
            </a:r>
            <a:r>
              <a:rPr dirty="0" sz="2000" spc="-40">
                <a:latin typeface="Arial Black"/>
                <a:cs typeface="Arial Black"/>
              </a:rPr>
              <a:t>Plane:</a:t>
            </a:r>
            <a:r>
              <a:rPr dirty="0" sz="2000" spc="190">
                <a:latin typeface="Arial Black"/>
                <a:cs typeface="Arial Black"/>
              </a:rPr>
              <a:t> </a:t>
            </a:r>
            <a:r>
              <a:rPr dirty="0" sz="2000" spc="50">
                <a:latin typeface="Tahoma"/>
                <a:cs typeface="Tahoma"/>
              </a:rPr>
              <a:t>The</a:t>
            </a:r>
            <a:r>
              <a:rPr dirty="0" sz="2000" spc="229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Ryu</a:t>
            </a:r>
            <a:r>
              <a:rPr dirty="0" sz="2000" spc="23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SDN</a:t>
            </a:r>
            <a:r>
              <a:rPr dirty="0" sz="2000" spc="22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controller</a:t>
            </a:r>
            <a:r>
              <a:rPr dirty="0" sz="2000" spc="23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managing</a:t>
            </a:r>
            <a:r>
              <a:rPr dirty="0" sz="2000" spc="229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the </a:t>
            </a:r>
            <a:r>
              <a:rPr dirty="0" sz="2000" spc="80">
                <a:latin typeface="Tahoma"/>
                <a:cs typeface="Tahoma"/>
              </a:rPr>
              <a:t>network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state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105">
                <a:latin typeface="Tahoma"/>
                <a:cs typeface="Tahoma"/>
              </a:rPr>
              <a:t>and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executing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routing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logic.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000">
              <a:latin typeface="Tahoma"/>
              <a:cs typeface="Tahoma"/>
            </a:endParaRPr>
          </a:p>
          <a:p>
            <a:pPr algn="just" marL="355600" marR="5080">
              <a:lnSpc>
                <a:spcPct val="117200"/>
              </a:lnSpc>
            </a:pPr>
            <a:r>
              <a:rPr dirty="0" sz="2000" spc="-60">
                <a:latin typeface="Arial Black"/>
                <a:cs typeface="Arial Black"/>
              </a:rPr>
              <a:t>Intelligence:</a:t>
            </a:r>
            <a:r>
              <a:rPr dirty="0" sz="2000" spc="409">
                <a:latin typeface="Arial Black"/>
                <a:cs typeface="Arial Black"/>
              </a:rPr>
              <a:t> </a:t>
            </a:r>
            <a:r>
              <a:rPr dirty="0" sz="2000" spc="90">
                <a:latin typeface="Tahoma"/>
                <a:cs typeface="Tahoma"/>
              </a:rPr>
              <a:t>An</a:t>
            </a:r>
            <a:r>
              <a:rPr dirty="0" sz="2000" spc="45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integrated</a:t>
            </a:r>
            <a:r>
              <a:rPr dirty="0" sz="2000" spc="459">
                <a:latin typeface="Tahoma"/>
                <a:cs typeface="Tahoma"/>
              </a:rPr>
              <a:t> </a:t>
            </a:r>
            <a:r>
              <a:rPr dirty="0" sz="2000" spc="160">
                <a:latin typeface="Tahoma"/>
                <a:cs typeface="Tahoma"/>
              </a:rPr>
              <a:t>ML</a:t>
            </a:r>
            <a:r>
              <a:rPr dirty="0" sz="2000" spc="459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classification</a:t>
            </a:r>
            <a:r>
              <a:rPr dirty="0" sz="2000" spc="459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pipeline </a:t>
            </a:r>
            <a:r>
              <a:rPr dirty="0" sz="2000">
                <a:latin typeface="Tahoma"/>
                <a:cs typeface="Tahoma"/>
              </a:rPr>
              <a:t>(scikit-</a:t>
            </a:r>
            <a:r>
              <a:rPr dirty="0" sz="2000" spc="45">
                <a:latin typeface="Tahoma"/>
                <a:cs typeface="Tahoma"/>
              </a:rPr>
              <a:t>learn/joblib)</a:t>
            </a:r>
            <a:r>
              <a:rPr dirty="0" sz="2000" spc="200">
                <a:latin typeface="Tahoma"/>
                <a:cs typeface="Tahoma"/>
              </a:rPr>
              <a:t>   </a:t>
            </a:r>
            <a:r>
              <a:rPr dirty="0" sz="2000" spc="85">
                <a:latin typeface="Tahoma"/>
                <a:cs typeface="Tahoma"/>
              </a:rPr>
              <a:t>running</a:t>
            </a:r>
            <a:r>
              <a:rPr dirty="0" sz="2000" spc="204">
                <a:latin typeface="Tahoma"/>
                <a:cs typeface="Tahoma"/>
              </a:rPr>
              <a:t>   </a:t>
            </a:r>
            <a:r>
              <a:rPr dirty="0" sz="2000" spc="45">
                <a:latin typeface="Tahoma"/>
                <a:cs typeface="Tahoma"/>
              </a:rPr>
              <a:t>logistic</a:t>
            </a:r>
            <a:r>
              <a:rPr dirty="0" sz="2000" spc="204">
                <a:latin typeface="Tahoma"/>
                <a:cs typeface="Tahoma"/>
              </a:rPr>
              <a:t>   </a:t>
            </a:r>
            <a:r>
              <a:rPr dirty="0" sz="2000" spc="75">
                <a:latin typeface="Tahoma"/>
                <a:cs typeface="Tahoma"/>
              </a:rPr>
              <a:t>regression</a:t>
            </a:r>
            <a:r>
              <a:rPr dirty="0" sz="2000" spc="200">
                <a:latin typeface="Tahoma"/>
                <a:cs typeface="Tahoma"/>
              </a:rPr>
              <a:t>   </a:t>
            </a:r>
            <a:r>
              <a:rPr dirty="0" sz="2000" spc="50">
                <a:latin typeface="Tahoma"/>
                <a:cs typeface="Tahoma"/>
              </a:rPr>
              <a:t>to </a:t>
            </a:r>
            <a:r>
              <a:rPr dirty="0" sz="2000" spc="60">
                <a:latin typeface="Tahoma"/>
                <a:cs typeface="Tahoma"/>
              </a:rPr>
              <a:t>evaluate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flow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statistics.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000">
              <a:latin typeface="Tahoma"/>
              <a:cs typeface="Tahoma"/>
            </a:endParaRPr>
          </a:p>
          <a:p>
            <a:pPr algn="just" marL="355600" marR="5080">
              <a:lnSpc>
                <a:spcPct val="117200"/>
              </a:lnSpc>
            </a:pPr>
            <a:r>
              <a:rPr dirty="0" sz="2000" spc="-90">
                <a:latin typeface="Arial Black"/>
                <a:cs typeface="Arial Black"/>
              </a:rPr>
              <a:t>External</a:t>
            </a:r>
            <a:r>
              <a:rPr dirty="0" sz="2000" spc="65">
                <a:latin typeface="Arial Black"/>
                <a:cs typeface="Arial Black"/>
              </a:rPr>
              <a:t> </a:t>
            </a:r>
            <a:r>
              <a:rPr dirty="0" sz="2000" spc="-60">
                <a:latin typeface="Arial Black"/>
                <a:cs typeface="Arial Black"/>
              </a:rPr>
              <a:t>Integration:</a:t>
            </a:r>
            <a:r>
              <a:rPr dirty="0" sz="2000" spc="70">
                <a:latin typeface="Arial Black"/>
                <a:cs typeface="Arial Black"/>
              </a:rPr>
              <a:t> </a:t>
            </a:r>
            <a:r>
              <a:rPr dirty="0" sz="2000" spc="50">
                <a:latin typeface="Tahoma"/>
                <a:cs typeface="Tahoma"/>
              </a:rPr>
              <a:t>The</a:t>
            </a:r>
            <a:r>
              <a:rPr dirty="0" sz="2000" spc="11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architecture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features</a:t>
            </a:r>
            <a:r>
              <a:rPr dirty="0" sz="2000" spc="11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logical </a:t>
            </a:r>
            <a:r>
              <a:rPr dirty="0" sz="2000" spc="70">
                <a:latin typeface="Tahoma"/>
                <a:cs typeface="Tahoma"/>
              </a:rPr>
              <a:t>data</a:t>
            </a:r>
            <a:r>
              <a:rPr dirty="0" sz="2000" spc="30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interfaces</a:t>
            </a:r>
            <a:r>
              <a:rPr dirty="0" sz="2000" spc="30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designed</a:t>
            </a:r>
            <a:r>
              <a:rPr dirty="0" sz="2000" spc="30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to</a:t>
            </a:r>
            <a:r>
              <a:rPr dirty="0" sz="2000" spc="30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accept</a:t>
            </a:r>
            <a:r>
              <a:rPr dirty="0" sz="2000" spc="30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external</a:t>
            </a:r>
            <a:r>
              <a:rPr dirty="0" sz="2000" spc="300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classroom </a:t>
            </a:r>
            <a:r>
              <a:rPr dirty="0" sz="2000" spc="65">
                <a:latin typeface="Tahoma"/>
                <a:cs typeface="Tahoma"/>
              </a:rPr>
              <a:t>context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(e.g.,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Edge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AI/IoT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sensor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signals)</a:t>
            </a:r>
            <a:r>
              <a:rPr dirty="0" sz="2000" spc="250">
                <a:latin typeface="Tahoma"/>
                <a:cs typeface="Tahoma"/>
              </a:rPr>
              <a:t> </a:t>
            </a:r>
            <a:r>
              <a:rPr dirty="0" sz="2000" spc="105">
                <a:latin typeface="Tahoma"/>
                <a:cs typeface="Tahoma"/>
              </a:rPr>
              <a:t>and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instantly </a:t>
            </a:r>
            <a:r>
              <a:rPr dirty="0" sz="2000" spc="65">
                <a:latin typeface="Tahoma"/>
                <a:cs typeface="Tahoma"/>
              </a:rPr>
              <a:t>convert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105">
                <a:latin typeface="Tahoma"/>
                <a:cs typeface="Tahoma"/>
              </a:rPr>
              <a:t>them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into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dynamic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OpenFlow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policies.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7680" y="3682313"/>
            <a:ext cx="6305548" cy="3543300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2433" y="3925912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2433" y="5688037"/>
            <a:ext cx="85725" cy="8572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737332" y="1947996"/>
            <a:ext cx="14994255" cy="624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100"/>
              </a:spcBef>
            </a:pPr>
            <a:r>
              <a:rPr dirty="0" sz="2500" spc="-155">
                <a:latin typeface="Arial Black"/>
                <a:cs typeface="Arial Black"/>
              </a:rPr>
              <a:t>Enforcing </a:t>
            </a:r>
            <a:r>
              <a:rPr dirty="0" sz="2500" spc="-90">
                <a:latin typeface="Arial Black"/>
                <a:cs typeface="Arial Black"/>
              </a:rPr>
              <a:t>Quality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75">
                <a:latin typeface="Arial Black"/>
                <a:cs typeface="Arial Black"/>
              </a:rPr>
              <a:t>of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204">
                <a:latin typeface="Arial Black"/>
                <a:cs typeface="Arial Black"/>
              </a:rPr>
              <a:t>Service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80">
                <a:latin typeface="Arial Black"/>
                <a:cs typeface="Arial Black"/>
              </a:rPr>
              <a:t>through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90">
                <a:latin typeface="Arial Black"/>
                <a:cs typeface="Arial Black"/>
              </a:rPr>
              <a:t>prioritisation,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65">
                <a:latin typeface="Arial Black"/>
                <a:cs typeface="Arial Black"/>
              </a:rPr>
              <a:t>not</a:t>
            </a:r>
            <a:r>
              <a:rPr dirty="0" sz="2500" spc="-150">
                <a:latin typeface="Arial Black"/>
                <a:cs typeface="Arial Black"/>
              </a:rPr>
              <a:t> </a:t>
            </a:r>
            <a:r>
              <a:rPr dirty="0" sz="2500" spc="-10">
                <a:latin typeface="Arial Black"/>
                <a:cs typeface="Arial Black"/>
              </a:rPr>
              <a:t>blocking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500">
              <a:latin typeface="Arial Black"/>
              <a:cs typeface="Arial Black"/>
            </a:endParaRPr>
          </a:p>
          <a:p>
            <a:pPr marL="92710">
              <a:lnSpc>
                <a:spcPct val="100000"/>
              </a:lnSpc>
            </a:pPr>
            <a:r>
              <a:rPr dirty="0" sz="2000" spc="50">
                <a:latin typeface="Tahoma"/>
                <a:cs typeface="Tahoma"/>
              </a:rPr>
              <a:t>Rather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than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deploying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static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web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filter,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controller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implements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granular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QoS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differentiation: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2000">
              <a:latin typeface="Tahoma"/>
              <a:cs typeface="Tahoma"/>
            </a:endParaRPr>
          </a:p>
          <a:p>
            <a:pPr algn="just" marL="836294" marR="8244840">
              <a:lnSpc>
                <a:spcPct val="115599"/>
              </a:lnSpc>
            </a:pPr>
            <a:r>
              <a:rPr dirty="0" sz="2000" spc="-114">
                <a:latin typeface="Arial Black"/>
                <a:cs typeface="Arial Black"/>
              </a:rPr>
              <a:t>Academic</a:t>
            </a:r>
            <a:r>
              <a:rPr dirty="0" sz="2000" spc="10">
                <a:latin typeface="Arial Black"/>
                <a:cs typeface="Arial Black"/>
              </a:rPr>
              <a:t> </a:t>
            </a:r>
            <a:r>
              <a:rPr dirty="0" sz="2000" spc="-60">
                <a:latin typeface="Arial Black"/>
                <a:cs typeface="Arial Black"/>
              </a:rPr>
              <a:t>Traffic</a:t>
            </a:r>
            <a:r>
              <a:rPr dirty="0" sz="2000" spc="15">
                <a:latin typeface="Arial Black"/>
                <a:cs typeface="Arial Black"/>
              </a:rPr>
              <a:t> </a:t>
            </a:r>
            <a:r>
              <a:rPr dirty="0" sz="2000" spc="-10">
                <a:latin typeface="Arial Black"/>
                <a:cs typeface="Arial Black"/>
              </a:rPr>
              <a:t>(High</a:t>
            </a:r>
            <a:r>
              <a:rPr dirty="0" sz="2000" spc="15">
                <a:latin typeface="Arial Black"/>
                <a:cs typeface="Arial Black"/>
              </a:rPr>
              <a:t> </a:t>
            </a:r>
            <a:r>
              <a:rPr dirty="0" sz="2000" spc="-30">
                <a:latin typeface="Arial Black"/>
                <a:cs typeface="Arial Black"/>
              </a:rPr>
              <a:t>Priority):</a:t>
            </a:r>
            <a:r>
              <a:rPr dirty="0" sz="2000" spc="15">
                <a:latin typeface="Arial Black"/>
                <a:cs typeface="Arial Black"/>
              </a:rPr>
              <a:t> </a:t>
            </a:r>
            <a:r>
              <a:rPr dirty="0" sz="2000" spc="100">
                <a:latin typeface="Tahoma"/>
                <a:cs typeface="Tahoma"/>
              </a:rPr>
              <a:t>Marked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with </a:t>
            </a:r>
            <a:r>
              <a:rPr dirty="0" sz="2000" spc="50">
                <a:latin typeface="Tahoma"/>
                <a:cs typeface="Tahoma"/>
              </a:rPr>
              <a:t>DSCP</a:t>
            </a:r>
            <a:r>
              <a:rPr dirty="0" sz="2000" spc="260">
                <a:latin typeface="Tahoma"/>
                <a:cs typeface="Tahoma"/>
              </a:rPr>
              <a:t>   </a:t>
            </a:r>
            <a:r>
              <a:rPr dirty="0" sz="2000" spc="50">
                <a:latin typeface="Tahoma"/>
                <a:cs typeface="Tahoma"/>
              </a:rPr>
              <a:t>46</a:t>
            </a:r>
            <a:r>
              <a:rPr dirty="0" sz="2000" spc="265">
                <a:latin typeface="Tahoma"/>
                <a:cs typeface="Tahoma"/>
              </a:rPr>
              <a:t>   </a:t>
            </a:r>
            <a:r>
              <a:rPr dirty="0" sz="2000">
                <a:latin typeface="Tahoma"/>
                <a:cs typeface="Tahoma"/>
              </a:rPr>
              <a:t>(Expedited</a:t>
            </a:r>
            <a:r>
              <a:rPr dirty="0" sz="2000" spc="265">
                <a:latin typeface="Tahoma"/>
                <a:cs typeface="Tahoma"/>
              </a:rPr>
              <a:t>   </a:t>
            </a:r>
            <a:r>
              <a:rPr dirty="0" sz="2000">
                <a:latin typeface="Tahoma"/>
                <a:cs typeface="Tahoma"/>
              </a:rPr>
              <a:t>Forwarding).</a:t>
            </a:r>
            <a:r>
              <a:rPr dirty="0" sz="2000" spc="265">
                <a:latin typeface="Tahoma"/>
                <a:cs typeface="Tahoma"/>
              </a:rPr>
              <a:t>   </a:t>
            </a:r>
            <a:r>
              <a:rPr dirty="0" sz="2000" spc="65">
                <a:latin typeface="Tahoma"/>
                <a:cs typeface="Tahoma"/>
              </a:rPr>
              <a:t>Granted </a:t>
            </a:r>
            <a:r>
              <a:rPr dirty="0" sz="2000" spc="60">
                <a:latin typeface="Tahoma"/>
                <a:cs typeface="Tahoma"/>
              </a:rPr>
              <a:t>unrestricted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forwarding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full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network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speed</a:t>
            </a:r>
            <a:r>
              <a:rPr dirty="0" sz="2000" spc="22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to </a:t>
            </a:r>
            <a:r>
              <a:rPr dirty="0" sz="2000" spc="75">
                <a:latin typeface="Tahoma"/>
                <a:cs typeface="Tahoma"/>
              </a:rPr>
              <a:t>ensure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zero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latency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for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learning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tools.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algn="just" marL="836294" marR="8244840">
              <a:lnSpc>
                <a:spcPct val="115599"/>
              </a:lnSpc>
            </a:pPr>
            <a:r>
              <a:rPr dirty="0" sz="2000" spc="-65">
                <a:latin typeface="Arial Black"/>
                <a:cs typeface="Arial Black"/>
              </a:rPr>
              <a:t>Non-</a:t>
            </a:r>
            <a:r>
              <a:rPr dirty="0" sz="2000" spc="-155">
                <a:latin typeface="Arial Black"/>
                <a:cs typeface="Arial Black"/>
              </a:rPr>
              <a:t>Academic</a:t>
            </a:r>
            <a:r>
              <a:rPr dirty="0" sz="2000" spc="20">
                <a:latin typeface="Arial Black"/>
                <a:cs typeface="Arial Black"/>
              </a:rPr>
              <a:t> </a:t>
            </a:r>
            <a:r>
              <a:rPr dirty="0" sz="2000" spc="-100">
                <a:latin typeface="Arial Black"/>
                <a:cs typeface="Arial Black"/>
              </a:rPr>
              <a:t>Traffic</a:t>
            </a:r>
            <a:r>
              <a:rPr dirty="0" sz="2000" spc="20">
                <a:latin typeface="Arial Black"/>
                <a:cs typeface="Arial Black"/>
              </a:rPr>
              <a:t> </a:t>
            </a:r>
            <a:r>
              <a:rPr dirty="0" sz="2000" spc="-80">
                <a:latin typeface="Arial Black"/>
                <a:cs typeface="Arial Black"/>
              </a:rPr>
              <a:t>(Throttled):</a:t>
            </a:r>
            <a:r>
              <a:rPr dirty="0" sz="2000" spc="20">
                <a:latin typeface="Arial Black"/>
                <a:cs typeface="Arial Black"/>
              </a:rPr>
              <a:t> </a:t>
            </a:r>
            <a:r>
              <a:rPr dirty="0" sz="2000" spc="100">
                <a:latin typeface="Tahoma"/>
                <a:cs typeface="Tahoma"/>
              </a:rPr>
              <a:t>Marked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with </a:t>
            </a:r>
            <a:r>
              <a:rPr dirty="0" sz="2000" spc="50">
                <a:latin typeface="Tahoma"/>
                <a:cs typeface="Tahoma"/>
              </a:rPr>
              <a:t>DSCP</a:t>
            </a:r>
            <a:r>
              <a:rPr dirty="0" sz="2000" spc="185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0</a:t>
            </a:r>
            <a:r>
              <a:rPr dirty="0" sz="2000" spc="19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(Best</a:t>
            </a:r>
            <a:r>
              <a:rPr dirty="0" sz="2000" spc="19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Effort).</a:t>
            </a:r>
            <a:r>
              <a:rPr dirty="0" sz="2000" spc="190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Attached</a:t>
            </a:r>
            <a:r>
              <a:rPr dirty="0" sz="2000" spc="18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190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OpenFlow </a:t>
            </a:r>
            <a:r>
              <a:rPr dirty="0" sz="2000" spc="75">
                <a:latin typeface="Tahoma"/>
                <a:cs typeface="Tahoma"/>
              </a:rPr>
              <a:t>meters</a:t>
            </a:r>
            <a:r>
              <a:rPr dirty="0" sz="2000" spc="60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that</a:t>
            </a:r>
            <a:r>
              <a:rPr dirty="0" sz="2000" spc="6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strictly</a:t>
            </a:r>
            <a:r>
              <a:rPr dirty="0" sz="2000" spc="6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rate-</a:t>
            </a:r>
            <a:r>
              <a:rPr dirty="0" sz="2000" spc="60">
                <a:latin typeface="Tahoma"/>
                <a:cs typeface="Tahoma"/>
              </a:rPr>
              <a:t>limit</a:t>
            </a:r>
            <a:r>
              <a:rPr dirty="0" sz="2000" spc="60">
                <a:latin typeface="Tahoma"/>
                <a:cs typeface="Tahoma"/>
              </a:rPr>
              <a:t>  the</a:t>
            </a:r>
            <a:r>
              <a:rPr dirty="0" sz="2000" spc="65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flow</a:t>
            </a:r>
            <a:r>
              <a:rPr dirty="0" sz="2000" spc="6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60">
                <a:latin typeface="Tahoma"/>
                <a:cs typeface="Tahoma"/>
              </a:rPr>
              <a:t>  </a:t>
            </a:r>
            <a:r>
              <a:rPr dirty="0" sz="2000" spc="25">
                <a:latin typeface="Tahoma"/>
                <a:cs typeface="Tahoma"/>
              </a:rPr>
              <a:t>100 </a:t>
            </a:r>
            <a:r>
              <a:rPr dirty="0" sz="2000" spc="40">
                <a:latin typeface="Tahoma"/>
                <a:cs typeface="Tahoma"/>
              </a:rPr>
              <a:t>Kbps.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5599"/>
              </a:lnSpc>
            </a:pPr>
            <a:r>
              <a:rPr dirty="0" sz="2000">
                <a:latin typeface="Tahoma"/>
                <a:cs typeface="Tahoma"/>
              </a:rPr>
              <a:t>This</a:t>
            </a:r>
            <a:r>
              <a:rPr dirty="0" sz="2000" spc="2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strategy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effectively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chokes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distracting</a:t>
            </a:r>
            <a:r>
              <a:rPr dirty="0" sz="2000" spc="2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traffic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preserve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critical</a:t>
            </a:r>
            <a:r>
              <a:rPr dirty="0" sz="2000" spc="26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bandwidth,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providing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105">
                <a:latin typeface="Tahoma"/>
                <a:cs typeface="Tahoma"/>
              </a:rPr>
              <a:t>more</a:t>
            </a:r>
            <a:r>
              <a:rPr dirty="0" sz="2000" spc="2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realistic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27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manageable </a:t>
            </a:r>
            <a:r>
              <a:rPr dirty="0" sz="2000" spc="65">
                <a:latin typeface="Tahoma"/>
                <a:cs typeface="Tahoma"/>
              </a:rPr>
              <a:t>network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environment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than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binary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blocking.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3281" y="5417556"/>
            <a:ext cx="8467724" cy="476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93281" y="2919234"/>
            <a:ext cx="8467724" cy="23240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93281" y="6083004"/>
            <a:ext cx="8464694" cy="18478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93281" y="8118923"/>
            <a:ext cx="8467724" cy="600074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751" y="3299244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751" y="4708944"/>
            <a:ext cx="85725" cy="857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7751" y="6118644"/>
            <a:ext cx="85725" cy="857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23357" y="1947393"/>
            <a:ext cx="14098905" cy="576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20">
                <a:latin typeface="Arial Black"/>
                <a:cs typeface="Arial Black"/>
              </a:rPr>
              <a:t>Verifying</a:t>
            </a:r>
            <a:r>
              <a:rPr dirty="0" sz="2300" spc="-130">
                <a:latin typeface="Arial Black"/>
                <a:cs typeface="Arial Black"/>
              </a:rPr>
              <a:t> dynamic </a:t>
            </a:r>
            <a:r>
              <a:rPr dirty="0" sz="2300" spc="-120">
                <a:latin typeface="Arial Black"/>
                <a:cs typeface="Arial Black"/>
              </a:rPr>
              <a:t>enforcement</a:t>
            </a:r>
            <a:r>
              <a:rPr dirty="0" sz="2300" spc="-130">
                <a:latin typeface="Arial Black"/>
                <a:cs typeface="Arial Black"/>
              </a:rPr>
              <a:t> </a:t>
            </a:r>
            <a:r>
              <a:rPr dirty="0" sz="2300" spc="-100">
                <a:latin typeface="Arial Black"/>
                <a:cs typeface="Arial Black"/>
              </a:rPr>
              <a:t>at</a:t>
            </a:r>
            <a:r>
              <a:rPr dirty="0" sz="2300" spc="-130">
                <a:latin typeface="Arial Black"/>
                <a:cs typeface="Arial Black"/>
              </a:rPr>
              <a:t> </a:t>
            </a:r>
            <a:r>
              <a:rPr dirty="0" sz="2300" spc="-95">
                <a:latin typeface="Arial Black"/>
                <a:cs typeface="Arial Black"/>
              </a:rPr>
              <a:t>the</a:t>
            </a:r>
            <a:r>
              <a:rPr dirty="0" sz="2300" spc="-130">
                <a:latin typeface="Arial Black"/>
                <a:cs typeface="Arial Black"/>
              </a:rPr>
              <a:t> </a:t>
            </a:r>
            <a:r>
              <a:rPr dirty="0" sz="2300" spc="-80">
                <a:latin typeface="Arial Black"/>
                <a:cs typeface="Arial Black"/>
              </a:rPr>
              <a:t>terminal</a:t>
            </a:r>
            <a:r>
              <a:rPr dirty="0" sz="2300" spc="-130">
                <a:latin typeface="Arial Black"/>
                <a:cs typeface="Arial Black"/>
              </a:rPr>
              <a:t> </a:t>
            </a:r>
            <a:r>
              <a:rPr dirty="0" sz="2300" spc="-10">
                <a:latin typeface="Arial Black"/>
                <a:cs typeface="Arial Black"/>
              </a:rPr>
              <a:t>level</a:t>
            </a: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integrated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demonstrates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stable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execution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objective-</a:t>
            </a:r>
            <a:r>
              <a:rPr dirty="0" sz="2000" spc="55">
                <a:latin typeface="Tahoma"/>
                <a:cs typeface="Tahoma"/>
              </a:rPr>
              <a:t>aligned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results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in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live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control-</a:t>
            </a:r>
            <a:r>
              <a:rPr dirty="0" sz="2000" spc="70">
                <a:latin typeface="Tahoma"/>
                <a:cs typeface="Tahoma"/>
              </a:rPr>
              <a:t>plane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environment: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ahoma"/>
              <a:cs typeface="Tahoma"/>
            </a:endParaRPr>
          </a:p>
          <a:p>
            <a:pPr algn="just" marL="285115" marR="7198995">
              <a:lnSpc>
                <a:spcPct val="115599"/>
              </a:lnSpc>
            </a:pPr>
            <a:r>
              <a:rPr dirty="0" sz="2000" spc="-130">
                <a:latin typeface="Arial Black"/>
                <a:cs typeface="Arial Black"/>
              </a:rPr>
              <a:t>Real-</a:t>
            </a:r>
            <a:r>
              <a:rPr dirty="0" sz="2000">
                <a:latin typeface="Arial Black"/>
                <a:cs typeface="Arial Black"/>
              </a:rPr>
              <a:t>time</a:t>
            </a:r>
            <a:r>
              <a:rPr dirty="0" sz="2000" spc="370">
                <a:latin typeface="Arial Black"/>
                <a:cs typeface="Arial Black"/>
              </a:rPr>
              <a:t> </a:t>
            </a:r>
            <a:r>
              <a:rPr dirty="0" sz="2000">
                <a:latin typeface="Arial Black"/>
                <a:cs typeface="Arial Black"/>
              </a:rPr>
              <a:t>Feature</a:t>
            </a:r>
            <a:r>
              <a:rPr dirty="0" sz="2000" spc="370">
                <a:latin typeface="Arial Black"/>
                <a:cs typeface="Arial Black"/>
              </a:rPr>
              <a:t> </a:t>
            </a:r>
            <a:r>
              <a:rPr dirty="0" sz="2000" spc="-50">
                <a:latin typeface="Arial Black"/>
                <a:cs typeface="Arial Black"/>
              </a:rPr>
              <a:t>Extraction:</a:t>
            </a:r>
            <a:r>
              <a:rPr dirty="0" sz="2000" spc="370">
                <a:latin typeface="Arial Black"/>
                <a:cs typeface="Arial Black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42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system</a:t>
            </a:r>
            <a:r>
              <a:rPr dirty="0" sz="2000" spc="415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reliably </a:t>
            </a:r>
            <a:r>
              <a:rPr dirty="0" sz="2000" spc="50">
                <a:latin typeface="Tahoma"/>
                <a:cs typeface="Tahoma"/>
              </a:rPr>
              <a:t>isolates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12-packet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observation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window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extracts </a:t>
            </a:r>
            <a:r>
              <a:rPr dirty="0" sz="2000">
                <a:latin typeface="Tahoma"/>
                <a:cs typeface="Tahoma"/>
              </a:rPr>
              <a:t>statistical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features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per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flow.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algn="just" marL="285115" marR="7198995">
              <a:lnSpc>
                <a:spcPct val="115599"/>
              </a:lnSpc>
            </a:pPr>
            <a:r>
              <a:rPr dirty="0" sz="2000">
                <a:latin typeface="Arial Black"/>
                <a:cs typeface="Arial Black"/>
              </a:rPr>
              <a:t>Live</a:t>
            </a:r>
            <a:r>
              <a:rPr dirty="0" sz="2000" spc="265">
                <a:latin typeface="Arial Black"/>
                <a:cs typeface="Arial Black"/>
              </a:rPr>
              <a:t>  </a:t>
            </a:r>
            <a:r>
              <a:rPr dirty="0" sz="2000">
                <a:latin typeface="Arial Black"/>
                <a:cs typeface="Arial Black"/>
              </a:rPr>
              <a:t>ML</a:t>
            </a:r>
            <a:r>
              <a:rPr dirty="0" sz="2000" spc="270">
                <a:latin typeface="Arial Black"/>
                <a:cs typeface="Arial Black"/>
              </a:rPr>
              <a:t>  </a:t>
            </a:r>
            <a:r>
              <a:rPr dirty="0" sz="2000" spc="-10">
                <a:latin typeface="Arial Black"/>
                <a:cs typeface="Arial Black"/>
              </a:rPr>
              <a:t>Classification:</a:t>
            </a:r>
            <a:r>
              <a:rPr dirty="0" sz="2000" spc="270">
                <a:latin typeface="Arial Black"/>
                <a:cs typeface="Arial Black"/>
              </a:rPr>
              <a:t>  </a:t>
            </a:r>
            <a:r>
              <a:rPr dirty="0" sz="2000" spc="60">
                <a:latin typeface="Tahoma"/>
                <a:cs typeface="Tahoma"/>
              </a:rPr>
              <a:t>Terminal</a:t>
            </a:r>
            <a:r>
              <a:rPr dirty="0" sz="2000" spc="31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logs</a:t>
            </a:r>
            <a:r>
              <a:rPr dirty="0" sz="2000" spc="315">
                <a:latin typeface="Tahoma"/>
                <a:cs typeface="Tahoma"/>
              </a:rPr>
              <a:t>  </a:t>
            </a:r>
            <a:r>
              <a:rPr dirty="0" sz="2000" spc="35">
                <a:latin typeface="Tahoma"/>
                <a:cs typeface="Tahoma"/>
              </a:rPr>
              <a:t>validate </a:t>
            </a:r>
            <a:r>
              <a:rPr dirty="0" sz="2000" spc="65">
                <a:latin typeface="Tahoma"/>
                <a:cs typeface="Tahoma"/>
              </a:rPr>
              <a:t>instantaneous</a:t>
            </a:r>
            <a:r>
              <a:rPr dirty="0" sz="2000" spc="210">
                <a:latin typeface="Tahoma"/>
                <a:cs typeface="Tahoma"/>
              </a:rPr>
              <a:t>  </a:t>
            </a:r>
            <a:r>
              <a:rPr dirty="0" sz="2000" spc="45">
                <a:latin typeface="Tahoma"/>
                <a:cs typeface="Tahoma"/>
              </a:rPr>
              <a:t>classification</a:t>
            </a:r>
            <a:r>
              <a:rPr dirty="0" sz="2000" spc="215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decisions</a:t>
            </a:r>
            <a:r>
              <a:rPr dirty="0" sz="2000" spc="21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(academic</a:t>
            </a:r>
            <a:r>
              <a:rPr dirty="0" sz="2000" spc="215">
                <a:latin typeface="Tahoma"/>
                <a:cs typeface="Tahoma"/>
              </a:rPr>
              <a:t>  </a:t>
            </a:r>
            <a:r>
              <a:rPr dirty="0" sz="2000" spc="-25">
                <a:latin typeface="Tahoma"/>
                <a:cs typeface="Tahoma"/>
              </a:rPr>
              <a:t>vs. </a:t>
            </a:r>
            <a:r>
              <a:rPr dirty="0" sz="2000" spc="55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academic)</a:t>
            </a:r>
            <a:r>
              <a:rPr dirty="0" sz="2000" spc="55">
                <a:latin typeface="Tahoma"/>
                <a:cs typeface="Tahoma"/>
              </a:rPr>
              <a:t> using</a:t>
            </a:r>
            <a:r>
              <a:rPr dirty="0" sz="2000" spc="60">
                <a:latin typeface="Tahoma"/>
                <a:cs typeface="Tahoma"/>
              </a:rPr>
              <a:t> the </a:t>
            </a:r>
            <a:r>
              <a:rPr dirty="0" sz="2000">
                <a:latin typeface="Tahoma"/>
                <a:cs typeface="Tahoma"/>
              </a:rPr>
              <a:t>pre-</a:t>
            </a:r>
            <a:r>
              <a:rPr dirty="0" sz="2000" spc="65">
                <a:latin typeface="Tahoma"/>
                <a:cs typeface="Tahoma"/>
              </a:rPr>
              <a:t>trained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.joblib</a:t>
            </a:r>
            <a:r>
              <a:rPr dirty="0" sz="2000" spc="60">
                <a:latin typeface="Tahoma"/>
                <a:cs typeface="Tahoma"/>
              </a:rPr>
              <a:t> model.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algn="just" marL="285115" marR="7198995">
              <a:lnSpc>
                <a:spcPct val="115599"/>
              </a:lnSpc>
              <a:spcBef>
                <a:spcPts val="5"/>
              </a:spcBef>
            </a:pPr>
            <a:r>
              <a:rPr dirty="0" sz="2000">
                <a:latin typeface="Arial Black"/>
                <a:cs typeface="Arial Black"/>
              </a:rPr>
              <a:t>Dynamic</a:t>
            </a:r>
            <a:r>
              <a:rPr dirty="0" sz="2000" spc="-80">
                <a:latin typeface="Arial Black"/>
                <a:cs typeface="Arial Black"/>
              </a:rPr>
              <a:t>  </a:t>
            </a:r>
            <a:r>
              <a:rPr dirty="0" sz="2000">
                <a:latin typeface="Arial Black"/>
                <a:cs typeface="Arial Black"/>
              </a:rPr>
              <a:t>Rule</a:t>
            </a:r>
            <a:r>
              <a:rPr dirty="0" sz="2000" spc="-80">
                <a:latin typeface="Arial Black"/>
                <a:cs typeface="Arial Black"/>
              </a:rPr>
              <a:t>  </a:t>
            </a:r>
            <a:r>
              <a:rPr dirty="0" sz="2000">
                <a:latin typeface="Arial Black"/>
                <a:cs typeface="Arial Black"/>
              </a:rPr>
              <a:t>Installation:</a:t>
            </a:r>
            <a:r>
              <a:rPr dirty="0" sz="2000" spc="-80">
                <a:latin typeface="Arial Black"/>
                <a:cs typeface="Arial Black"/>
              </a:rPr>
              <a:t>  </a:t>
            </a:r>
            <a:r>
              <a:rPr dirty="0" sz="2000" spc="75">
                <a:latin typeface="Tahoma"/>
                <a:cs typeface="Tahoma"/>
              </a:rPr>
              <a:t>OpenFlow</a:t>
            </a:r>
            <a:r>
              <a:rPr dirty="0" sz="2000" spc="-40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flow</a:t>
            </a:r>
            <a:r>
              <a:rPr dirty="0" sz="2000" spc="-40">
                <a:latin typeface="Tahoma"/>
                <a:cs typeface="Tahoma"/>
              </a:rPr>
              <a:t>  </a:t>
            </a:r>
            <a:r>
              <a:rPr dirty="0" sz="2000" spc="-10">
                <a:latin typeface="Tahoma"/>
                <a:cs typeface="Tahoma"/>
              </a:rPr>
              <a:t>rules, </a:t>
            </a:r>
            <a:r>
              <a:rPr dirty="0" sz="2000" spc="60">
                <a:latin typeface="Tahoma"/>
                <a:cs typeface="Tahoma"/>
              </a:rPr>
              <a:t>including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specific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DSCP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marking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meter</a:t>
            </a:r>
            <a:r>
              <a:rPr dirty="0" sz="2000" spc="24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execution, </a:t>
            </a:r>
            <a:r>
              <a:rPr dirty="0" sz="2000" spc="60">
                <a:latin typeface="Tahoma"/>
                <a:cs typeface="Tahoma"/>
              </a:rPr>
              <a:t>are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successfully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installed</a:t>
            </a:r>
            <a:r>
              <a:rPr dirty="0" sz="2000" spc="10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in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OVS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switch,</a:t>
            </a:r>
            <a:r>
              <a:rPr dirty="0" sz="2000" spc="10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proving</a:t>
            </a:r>
            <a:r>
              <a:rPr dirty="0" sz="2000" spc="100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the </a:t>
            </a:r>
            <a:r>
              <a:rPr dirty="0" sz="2000" spc="65">
                <a:latin typeface="Tahoma"/>
                <a:cs typeface="Tahoma"/>
              </a:rPr>
              <a:t>bridge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between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 spc="140">
                <a:latin typeface="Tahoma"/>
                <a:cs typeface="Tahoma"/>
              </a:rPr>
              <a:t>ML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decision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29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data-</a:t>
            </a:r>
            <a:r>
              <a:rPr dirty="0" sz="2000" spc="50">
                <a:latin typeface="Tahoma"/>
                <a:cs typeface="Tahoma"/>
              </a:rPr>
              <a:t>plane enforcement.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1608" y="1933454"/>
            <a:ext cx="128371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65">
                <a:latin typeface="Arial Black"/>
                <a:cs typeface="Arial Black"/>
              </a:rPr>
              <a:t>SDN-</a:t>
            </a:r>
            <a:r>
              <a:rPr dirty="0" sz="2400" spc="-110">
                <a:latin typeface="Arial Black"/>
                <a:cs typeface="Arial Black"/>
              </a:rPr>
              <a:t>optimized</a:t>
            </a:r>
            <a:r>
              <a:rPr dirty="0" sz="2400" spc="-135">
                <a:latin typeface="Arial Black"/>
                <a:cs typeface="Arial Black"/>
              </a:rPr>
              <a:t> </a:t>
            </a:r>
            <a:r>
              <a:rPr dirty="0" sz="2400" spc="-85">
                <a:latin typeface="Arial Black"/>
                <a:cs typeface="Arial Black"/>
              </a:rPr>
              <a:t>routing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35">
                <a:latin typeface="Arial Black"/>
                <a:cs typeface="Arial Black"/>
              </a:rPr>
              <a:t>drastically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20">
                <a:latin typeface="Arial Black"/>
                <a:cs typeface="Arial Black"/>
              </a:rPr>
              <a:t>improves</a:t>
            </a:r>
            <a:r>
              <a:rPr dirty="0" sz="2400" spc="-135">
                <a:latin typeface="Arial Black"/>
                <a:cs typeface="Arial Black"/>
              </a:rPr>
              <a:t> </a:t>
            </a:r>
            <a:r>
              <a:rPr dirty="0" sz="2400" spc="-190">
                <a:latin typeface="Arial Black"/>
                <a:cs typeface="Arial Black"/>
              </a:rPr>
              <a:t>academic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75">
                <a:latin typeface="Arial Black"/>
                <a:cs typeface="Arial Black"/>
              </a:rPr>
              <a:t>throughput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75">
                <a:latin typeface="Arial Black"/>
                <a:cs typeface="Arial Black"/>
              </a:rPr>
              <a:t>under</a:t>
            </a:r>
            <a:r>
              <a:rPr dirty="0" sz="2400" spc="-135">
                <a:latin typeface="Arial Black"/>
                <a:cs typeface="Arial Black"/>
              </a:rPr>
              <a:t> </a:t>
            </a:r>
            <a:r>
              <a:rPr dirty="0" sz="2400" spc="-75">
                <a:latin typeface="Arial Black"/>
                <a:cs typeface="Arial Black"/>
              </a:rPr>
              <a:t>congestion.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495"/>
            <a:ext cx="4190999" cy="800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8" name="object 8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63091" y="151174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9386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SDN</a:t>
            </a:r>
            <a:r>
              <a:rPr dirty="0" spc="-270"/>
              <a:t> </a:t>
            </a:r>
            <a:r>
              <a:rPr dirty="0" spc="-260"/>
              <a:t>–</a:t>
            </a:r>
            <a:r>
              <a:rPr dirty="0" spc="-265"/>
              <a:t> </a:t>
            </a:r>
            <a:r>
              <a:rPr dirty="0" spc="185"/>
              <a:t>Enabled</a:t>
            </a:r>
            <a:r>
              <a:rPr dirty="0" spc="-270"/>
              <a:t> </a:t>
            </a:r>
            <a:r>
              <a:rPr dirty="0" spc="210"/>
              <a:t>classroom</a:t>
            </a:r>
            <a:r>
              <a:rPr dirty="0" spc="-265"/>
              <a:t> </a:t>
            </a:r>
            <a:r>
              <a:rPr dirty="0" spc="195"/>
              <a:t>network</a:t>
            </a:r>
            <a:r>
              <a:rPr dirty="0" spc="-265"/>
              <a:t> </a:t>
            </a:r>
            <a:r>
              <a:rPr dirty="0" spc="200"/>
              <a:t>optimizer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4808" y="3249715"/>
            <a:ext cx="85725" cy="857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4808" y="4306990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4808" y="6009639"/>
            <a:ext cx="85725" cy="857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4808" y="7066915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4808" y="8124189"/>
            <a:ext cx="85725" cy="8572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081608" y="1947996"/>
            <a:ext cx="14801215" cy="671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10">
                <a:latin typeface="Arial Black"/>
                <a:cs typeface="Arial Black"/>
              </a:rPr>
              <a:t>Deployment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65">
                <a:latin typeface="Arial Black"/>
                <a:cs typeface="Arial Black"/>
              </a:rPr>
              <a:t>Extension</a:t>
            </a:r>
            <a:r>
              <a:rPr dirty="0" sz="2500" spc="-150">
                <a:latin typeface="Arial Black"/>
                <a:cs typeface="Arial Black"/>
              </a:rPr>
              <a:t> </a:t>
            </a:r>
            <a:r>
              <a:rPr dirty="0" sz="2500" spc="-360">
                <a:latin typeface="Arial Black"/>
                <a:cs typeface="Arial Black"/>
              </a:rPr>
              <a:t>&amp;</a:t>
            </a:r>
            <a:r>
              <a:rPr dirty="0" sz="2500" spc="-155">
                <a:latin typeface="Arial Black"/>
                <a:cs typeface="Arial Black"/>
              </a:rPr>
              <a:t> </a:t>
            </a:r>
            <a:r>
              <a:rPr dirty="0" sz="2500" spc="-160">
                <a:latin typeface="Arial Black"/>
                <a:cs typeface="Arial Black"/>
              </a:rPr>
              <a:t>Scalability</a:t>
            </a:r>
            <a:r>
              <a:rPr dirty="0" sz="2500" spc="-150">
                <a:latin typeface="Arial Black"/>
                <a:cs typeface="Arial Black"/>
              </a:rPr>
              <a:t> </a:t>
            </a:r>
            <a:r>
              <a:rPr dirty="0" sz="2500" spc="-10">
                <a:latin typeface="Arial Black"/>
                <a:cs typeface="Arial Black"/>
              </a:rPr>
              <a:t>Validation</a:t>
            </a: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50"/>
              </a:spcBef>
            </a:pPr>
            <a:r>
              <a:rPr dirty="0" sz="2000" spc="-80">
                <a:latin typeface="Arial Black"/>
                <a:cs typeface="Arial Black"/>
              </a:rPr>
              <a:t>Current</a:t>
            </a:r>
            <a:r>
              <a:rPr dirty="0" sz="2000" spc="-105">
                <a:latin typeface="Arial Black"/>
                <a:cs typeface="Arial Black"/>
              </a:rPr>
              <a:t> </a:t>
            </a:r>
            <a:r>
              <a:rPr dirty="0" sz="2000" spc="-165">
                <a:latin typeface="Arial Black"/>
                <a:cs typeface="Arial Black"/>
              </a:rPr>
              <a:t>System</a:t>
            </a:r>
            <a:r>
              <a:rPr dirty="0" sz="2000" spc="-105">
                <a:latin typeface="Arial Black"/>
                <a:cs typeface="Arial Black"/>
              </a:rPr>
              <a:t> </a:t>
            </a:r>
            <a:r>
              <a:rPr dirty="0" sz="2000" spc="-10">
                <a:latin typeface="Arial Black"/>
                <a:cs typeface="Arial Black"/>
              </a:rPr>
              <a:t>Status:</a:t>
            </a:r>
            <a:endParaRPr sz="2000">
              <a:latin typeface="Arial Black"/>
              <a:cs typeface="Arial Black"/>
            </a:endParaRPr>
          </a:p>
          <a:p>
            <a:pPr marL="443865" marR="5080">
              <a:lnSpc>
                <a:spcPct val="115599"/>
              </a:lnSpc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SDN</a:t>
            </a:r>
            <a:r>
              <a:rPr dirty="0" sz="2000" spc="55">
                <a:latin typeface="PMingLiU-ExtB"/>
                <a:cs typeface="PMingLiU-ExtB"/>
              </a:rPr>
              <a:t>-</a:t>
            </a:r>
            <a:r>
              <a:rPr dirty="0" sz="2000" spc="75">
                <a:latin typeface="Tahoma"/>
                <a:cs typeface="Tahoma"/>
              </a:rPr>
              <a:t>enabled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classroom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network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optimizer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has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been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fully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implemented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tested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controlled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SDN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-20">
                <a:latin typeface="Tahoma"/>
                <a:cs typeface="Tahoma"/>
              </a:rPr>
              <a:t>test </a:t>
            </a:r>
            <a:r>
              <a:rPr dirty="0" sz="2000" spc="55">
                <a:latin typeface="Tahoma"/>
                <a:cs typeface="Tahoma"/>
              </a:rPr>
              <a:t>environment.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marL="443865" marR="5080">
              <a:lnSpc>
                <a:spcPct val="115599"/>
              </a:lnSpc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90">
                <a:latin typeface="Tahoma"/>
                <a:cs typeface="Tahoma"/>
              </a:rPr>
              <a:t>main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objectives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of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this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 spc="90">
                <a:latin typeface="Tahoma"/>
                <a:cs typeface="Tahoma"/>
              </a:rPr>
              <a:t>component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have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been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achieved,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including</a:t>
            </a:r>
            <a:r>
              <a:rPr dirty="0" sz="2000" spc="-3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privacy</a:t>
            </a:r>
            <a:r>
              <a:rPr dirty="0" sz="2000">
                <a:latin typeface="PMingLiU-ExtB"/>
                <a:cs typeface="PMingLiU-ExtB"/>
              </a:rPr>
              <a:t>-</a:t>
            </a:r>
            <a:r>
              <a:rPr dirty="0" sz="2000" spc="55">
                <a:latin typeface="Tahoma"/>
                <a:cs typeface="Tahoma"/>
              </a:rPr>
              <a:t>preserving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traffic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 spc="-20">
                <a:latin typeface="Tahoma"/>
                <a:cs typeface="Tahoma"/>
              </a:rPr>
              <a:t>early </a:t>
            </a:r>
            <a:r>
              <a:rPr dirty="0" sz="2000" spc="65">
                <a:latin typeface="Tahoma"/>
                <a:cs typeface="Tahoma"/>
              </a:rPr>
              <a:t>decision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enforcement,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QoS</a:t>
            </a:r>
            <a:r>
              <a:rPr dirty="0" sz="2000" spc="55">
                <a:latin typeface="PMingLiU-ExtB"/>
                <a:cs typeface="PMingLiU-ExtB"/>
              </a:rPr>
              <a:t>-</a:t>
            </a:r>
            <a:r>
              <a:rPr dirty="0" sz="2000" spc="75">
                <a:latin typeface="Tahoma"/>
                <a:cs typeface="Tahoma"/>
              </a:rPr>
              <a:t>based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prioritization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of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academic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traffic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during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congestion.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000" spc="-105">
                <a:latin typeface="Arial Black"/>
                <a:cs typeface="Arial Black"/>
              </a:rPr>
              <a:t>Planned</a:t>
            </a:r>
            <a:r>
              <a:rPr dirty="0" sz="2000" spc="-130">
                <a:latin typeface="Arial Black"/>
                <a:cs typeface="Arial Black"/>
              </a:rPr>
              <a:t> </a:t>
            </a:r>
            <a:r>
              <a:rPr dirty="0" sz="2000" spc="-55">
                <a:latin typeface="Arial Black"/>
                <a:cs typeface="Arial Black"/>
              </a:rPr>
              <a:t>Extensions:</a:t>
            </a:r>
            <a:endParaRPr sz="2000">
              <a:latin typeface="Arial Black"/>
              <a:cs typeface="Arial Black"/>
            </a:endParaRPr>
          </a:p>
          <a:p>
            <a:pPr marL="443865" marR="5080">
              <a:lnSpc>
                <a:spcPct val="115599"/>
              </a:lnSpc>
            </a:pPr>
            <a:r>
              <a:rPr dirty="0" sz="2000" spc="55">
                <a:latin typeface="Tahoma"/>
                <a:cs typeface="Tahoma"/>
              </a:rPr>
              <a:t>As</a:t>
            </a:r>
            <a:r>
              <a:rPr dirty="0" sz="2000" spc="49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a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next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step,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same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SDN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control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logic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can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be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deployed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physical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OpenFlow</a:t>
            </a:r>
            <a:r>
              <a:rPr dirty="0" sz="2000" spc="65">
                <a:latin typeface="PMingLiU-ExtB"/>
                <a:cs typeface="PMingLiU-ExtB"/>
              </a:rPr>
              <a:t>-</a:t>
            </a:r>
            <a:r>
              <a:rPr dirty="0" sz="2000" spc="60">
                <a:latin typeface="Tahoma"/>
                <a:cs typeface="Tahoma"/>
              </a:rPr>
              <a:t>capable</a:t>
            </a:r>
            <a:r>
              <a:rPr dirty="0" sz="2000" spc="-65">
                <a:latin typeface="Tahoma"/>
                <a:cs typeface="Tahoma"/>
              </a:rPr>
              <a:t>  </a:t>
            </a:r>
            <a:r>
              <a:rPr dirty="0" sz="2000" spc="50">
                <a:latin typeface="Tahoma"/>
                <a:cs typeface="Tahoma"/>
              </a:rPr>
              <a:t>switches</a:t>
            </a:r>
            <a:r>
              <a:rPr dirty="0" sz="2000" spc="-6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49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evaluate </a:t>
            </a:r>
            <a:r>
              <a:rPr dirty="0" sz="2000" spc="65">
                <a:latin typeface="Tahoma"/>
                <a:cs typeface="Tahoma"/>
              </a:rPr>
              <a:t>hardware</a:t>
            </a:r>
            <a:r>
              <a:rPr dirty="0" sz="2000" spc="65">
                <a:latin typeface="PMingLiU-ExtB"/>
                <a:cs typeface="PMingLiU-ExtB"/>
              </a:rPr>
              <a:t>-</a:t>
            </a:r>
            <a:r>
              <a:rPr dirty="0" sz="2000">
                <a:latin typeface="Tahoma"/>
                <a:cs typeface="Tahoma"/>
              </a:rPr>
              <a:t>level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performance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under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larger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105">
                <a:latin typeface="Tahoma"/>
                <a:cs typeface="Tahoma"/>
              </a:rPr>
              <a:t>more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realistic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network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loads.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marL="443865" marR="5080">
              <a:lnSpc>
                <a:spcPct val="115599"/>
              </a:lnSpc>
            </a:pPr>
            <a:r>
              <a:rPr dirty="0" sz="2000" spc="60">
                <a:latin typeface="Tahoma"/>
                <a:cs typeface="Tahoma"/>
              </a:rPr>
              <a:t>Longer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classroom</a:t>
            </a:r>
            <a:r>
              <a:rPr dirty="0" sz="2000" spc="70">
                <a:latin typeface="PMingLiU-ExtB"/>
                <a:cs typeface="PMingLiU-ExtB"/>
              </a:rPr>
              <a:t>-</a:t>
            </a:r>
            <a:r>
              <a:rPr dirty="0" sz="2000">
                <a:latin typeface="Tahoma"/>
                <a:cs typeface="Tahoma"/>
              </a:rPr>
              <a:t>style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trials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can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be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carried</a:t>
            </a:r>
            <a:r>
              <a:rPr dirty="0" sz="2000" spc="120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out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observe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sustained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network</a:t>
            </a:r>
            <a:r>
              <a:rPr dirty="0" sz="2000" spc="12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behavior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during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real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student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usage</a:t>
            </a:r>
            <a:r>
              <a:rPr dirty="0" sz="2000" spc="114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over </a:t>
            </a:r>
            <a:r>
              <a:rPr dirty="0" sz="2000" spc="70">
                <a:latin typeface="Tahoma"/>
                <a:cs typeface="Tahoma"/>
              </a:rPr>
              <a:t>extended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periods.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000">
              <a:latin typeface="Tahoma"/>
              <a:cs typeface="Tahoma"/>
            </a:endParaRPr>
          </a:p>
          <a:p>
            <a:pPr marL="443865" marR="5080">
              <a:lnSpc>
                <a:spcPct val="115599"/>
              </a:lnSpc>
              <a:spcBef>
                <a:spcPts val="5"/>
              </a:spcBef>
            </a:pPr>
            <a:r>
              <a:rPr dirty="0" sz="2000">
                <a:latin typeface="Tahoma"/>
                <a:cs typeface="Tahoma"/>
              </a:rPr>
              <a:t>Traffic  </a:t>
            </a:r>
            <a:r>
              <a:rPr dirty="0" sz="2000" spc="50">
                <a:latin typeface="Tahoma"/>
                <a:cs typeface="Tahoma"/>
              </a:rPr>
              <a:t>labeling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 spc="80">
                <a:latin typeface="Tahoma"/>
                <a:cs typeface="Tahoma"/>
              </a:rPr>
              <a:t>mechanisms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55">
                <a:latin typeface="Tahoma"/>
                <a:cs typeface="Tahoma"/>
              </a:rPr>
              <a:t>can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85">
                <a:latin typeface="Tahoma"/>
                <a:cs typeface="Tahoma"/>
              </a:rPr>
              <a:t>be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further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refined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 spc="70">
                <a:latin typeface="Tahoma"/>
                <a:cs typeface="Tahoma"/>
              </a:rPr>
              <a:t>to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handle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 spc="75">
                <a:latin typeface="Tahoma"/>
                <a:cs typeface="Tahoma"/>
              </a:rPr>
              <a:t>shared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100">
                <a:latin typeface="Tahoma"/>
                <a:cs typeface="Tahoma"/>
              </a:rPr>
              <a:t>CDN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 spc="90">
                <a:latin typeface="Tahoma"/>
                <a:cs typeface="Tahoma"/>
              </a:rPr>
              <a:t>and</a:t>
            </a:r>
            <a:r>
              <a:rPr dirty="0" sz="2000">
                <a:latin typeface="Tahoma"/>
                <a:cs typeface="Tahoma"/>
              </a:rPr>
              <a:t>  </a:t>
            </a:r>
            <a:r>
              <a:rPr dirty="0" sz="2000" spc="65">
                <a:latin typeface="Tahoma"/>
                <a:cs typeface="Tahoma"/>
              </a:rPr>
              <a:t>cloud</a:t>
            </a:r>
            <a:r>
              <a:rPr dirty="0" sz="2000" spc="65">
                <a:latin typeface="PMingLiU-ExtB"/>
                <a:cs typeface="PMingLiU-ExtB"/>
              </a:rPr>
              <a:t>-</a:t>
            </a:r>
            <a:r>
              <a:rPr dirty="0" sz="2000" spc="75">
                <a:latin typeface="Tahoma"/>
                <a:cs typeface="Tahoma"/>
              </a:rPr>
              <a:t>hosted</a:t>
            </a:r>
            <a:r>
              <a:rPr dirty="0" sz="2000" spc="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services,  </a:t>
            </a:r>
            <a:r>
              <a:rPr dirty="0" sz="2000" spc="60">
                <a:latin typeface="Tahoma"/>
                <a:cs typeface="Tahoma"/>
              </a:rPr>
              <a:t>improving </a:t>
            </a:r>
            <a:r>
              <a:rPr dirty="0" sz="2000" spc="45">
                <a:latin typeface="Tahoma"/>
                <a:cs typeface="Tahoma"/>
              </a:rPr>
              <a:t>classification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robustness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in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80">
                <a:latin typeface="Tahoma"/>
                <a:cs typeface="Tahoma"/>
              </a:rPr>
              <a:t>complex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real</a:t>
            </a:r>
            <a:r>
              <a:rPr dirty="0" sz="2000">
                <a:latin typeface="PMingLiU-ExtB"/>
                <a:cs typeface="PMingLiU-ExtB"/>
              </a:rPr>
              <a:t>-</a:t>
            </a:r>
            <a:r>
              <a:rPr dirty="0" sz="2000" spc="80">
                <a:latin typeface="Tahoma"/>
                <a:cs typeface="Tahoma"/>
              </a:rPr>
              <a:t>world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scenarios.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78809" y="9192091"/>
            <a:ext cx="9113520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IT22078278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V.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G.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-125">
                <a:latin typeface="Trebuchet MS"/>
                <a:cs typeface="Trebuchet MS"/>
              </a:rPr>
              <a:t>H.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Karunathilake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7256" y="1058410"/>
            <a:ext cx="3562349" cy="3562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9961" y="413371"/>
            <a:ext cx="163337" cy="16134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51803" y="0"/>
            <a:ext cx="2818765" cy="2914015"/>
            <a:chOff x="2351803" y="0"/>
            <a:chExt cx="2818765" cy="291401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5335" y="624966"/>
              <a:ext cx="124782" cy="1230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1803" y="0"/>
              <a:ext cx="2660285" cy="291397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0788" y="612927"/>
            <a:ext cx="170332" cy="1707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78418" y="6721674"/>
            <a:ext cx="2085974" cy="20859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15598" y="5506649"/>
            <a:ext cx="11809730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3600" spc="-35" b="1">
                <a:latin typeface="Trebuchet MS"/>
                <a:cs typeface="Trebuchet MS"/>
              </a:rPr>
              <a:t>DECENTRALIZED</a:t>
            </a:r>
            <a:r>
              <a:rPr dirty="0" sz="3600" spc="-195" b="1">
                <a:latin typeface="Trebuchet MS"/>
                <a:cs typeface="Trebuchet MS"/>
              </a:rPr>
              <a:t> </a:t>
            </a:r>
            <a:r>
              <a:rPr dirty="0" sz="3600" b="1">
                <a:latin typeface="Trebuchet MS"/>
                <a:cs typeface="Trebuchet MS"/>
              </a:rPr>
              <a:t>ZERO</a:t>
            </a:r>
            <a:r>
              <a:rPr dirty="0" sz="3600" spc="-130" b="1">
                <a:latin typeface="Trebuchet MS"/>
                <a:cs typeface="Trebuchet MS"/>
              </a:rPr>
              <a:t> </a:t>
            </a:r>
            <a:r>
              <a:rPr dirty="0" sz="3600" spc="-340" b="1">
                <a:latin typeface="Trebuchet MS"/>
                <a:cs typeface="Trebuchet MS"/>
              </a:rPr>
              <a:t>TRUST</a:t>
            </a:r>
            <a:r>
              <a:rPr dirty="0" sz="3600" spc="-80" b="1">
                <a:latin typeface="Trebuchet MS"/>
                <a:cs typeface="Trebuchet MS"/>
              </a:rPr>
              <a:t> </a:t>
            </a:r>
            <a:r>
              <a:rPr dirty="0" sz="3600" spc="-25" b="1">
                <a:latin typeface="Trebuchet MS"/>
                <a:cs typeface="Trebuchet MS"/>
              </a:rPr>
              <a:t>NETWORK</a:t>
            </a:r>
            <a:r>
              <a:rPr dirty="0" sz="3600" spc="-130" b="1">
                <a:latin typeface="Trebuchet MS"/>
                <a:cs typeface="Trebuchet MS"/>
              </a:rPr>
              <a:t> </a:t>
            </a:r>
            <a:r>
              <a:rPr dirty="0" sz="3600" spc="204" b="1">
                <a:latin typeface="Trebuchet MS"/>
                <a:cs typeface="Trebuchet MS"/>
              </a:rPr>
              <a:t>ACCESS</a:t>
            </a:r>
            <a:r>
              <a:rPr dirty="0" sz="3600" spc="-135" b="1">
                <a:latin typeface="Trebuchet MS"/>
                <a:cs typeface="Trebuchet MS"/>
              </a:rPr>
              <a:t> </a:t>
            </a:r>
            <a:r>
              <a:rPr dirty="0" sz="3600" spc="-150" b="1">
                <a:latin typeface="Trebuchet MS"/>
                <a:cs typeface="Trebuchet MS"/>
              </a:rPr>
              <a:t>WITH</a:t>
            </a:r>
            <a:r>
              <a:rPr dirty="0" sz="3600" spc="-120" b="1">
                <a:latin typeface="Trebuchet MS"/>
                <a:cs typeface="Trebuchet MS"/>
              </a:rPr>
              <a:t> </a:t>
            </a:r>
            <a:r>
              <a:rPr dirty="0" sz="3600" spc="114" b="1">
                <a:latin typeface="Trebuchet MS"/>
                <a:cs typeface="Trebuchet MS"/>
              </a:rPr>
              <a:t>AI </a:t>
            </a:r>
            <a:r>
              <a:rPr dirty="0" sz="3600" spc="-10" b="1">
                <a:latin typeface="Trebuchet MS"/>
                <a:cs typeface="Trebuchet MS"/>
              </a:rPr>
              <a:t>SECURITY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5598" y="7392713"/>
            <a:ext cx="8778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65">
                <a:latin typeface="Trebuchet MS"/>
                <a:cs typeface="Trebuchet MS"/>
              </a:rPr>
              <a:t>Specialzation: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175">
                <a:latin typeface="Trebuchet MS"/>
                <a:cs typeface="Trebuchet MS"/>
              </a:rPr>
              <a:t>Computer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Systems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275">
                <a:latin typeface="Trebuchet MS"/>
                <a:cs typeface="Trebuchet MS"/>
              </a:rPr>
              <a:t>and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85">
                <a:latin typeface="Trebuchet MS"/>
                <a:cs typeface="Trebuchet MS"/>
              </a:rPr>
              <a:t>Network</a:t>
            </a:r>
            <a:r>
              <a:rPr dirty="0" sz="2400" spc="-35">
                <a:latin typeface="Trebuchet MS"/>
                <a:cs typeface="Trebuchet MS"/>
              </a:rPr>
              <a:t> </a:t>
            </a:r>
            <a:r>
              <a:rPr dirty="0" sz="2400" spc="105">
                <a:latin typeface="Trebuchet MS"/>
                <a:cs typeface="Trebuchet MS"/>
              </a:rPr>
              <a:t>Engineering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8809" y="9235471"/>
            <a:ext cx="69970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3" name="object 3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927499"/>
            <a:ext cx="4119017" cy="768095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711687" y="7607"/>
            <a:ext cx="12864465" cy="1892300"/>
          </a:xfrm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pc="165"/>
              <a:t>Decentralized</a:t>
            </a:r>
            <a:r>
              <a:rPr dirty="0" spc="-260"/>
              <a:t> </a:t>
            </a:r>
            <a:r>
              <a:rPr dirty="0" spc="190"/>
              <a:t>Zero</a:t>
            </a:r>
            <a:r>
              <a:rPr dirty="0" spc="-260"/>
              <a:t> </a:t>
            </a:r>
            <a:r>
              <a:rPr dirty="0" spc="114"/>
              <a:t>Trust</a:t>
            </a:r>
            <a:r>
              <a:rPr dirty="0" spc="-260"/>
              <a:t> </a:t>
            </a:r>
            <a:r>
              <a:rPr dirty="0" spc="215"/>
              <a:t>Network</a:t>
            </a:r>
            <a:r>
              <a:rPr dirty="0" spc="-260"/>
              <a:t> </a:t>
            </a:r>
            <a:r>
              <a:rPr dirty="0" spc="110"/>
              <a:t>Access</a:t>
            </a:r>
          </a:p>
          <a:p>
            <a:pPr algn="ctr">
              <a:lnSpc>
                <a:spcPct val="100000"/>
              </a:lnSpc>
              <a:spcBef>
                <a:spcPts val="990"/>
              </a:spcBef>
              <a:tabLst>
                <a:tab pos="840740" algn="l"/>
                <a:tab pos="6492240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160">
                <a:uFill>
                  <a:solidFill>
                    <a:srgbClr val="000000"/>
                  </a:solidFill>
                </a:uFill>
              </a:rPr>
              <a:t>with</a:t>
            </a:r>
            <a:r>
              <a:rPr dirty="0" u="sng" spc="-27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85">
                <a:uFill>
                  <a:solidFill>
                    <a:srgbClr val="000000"/>
                  </a:solidFill>
                </a:uFill>
              </a:rPr>
              <a:t>AI</a:t>
            </a:r>
            <a:r>
              <a:rPr dirty="0" u="sng" spc="-27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100">
                <a:uFill>
                  <a:solidFill>
                    <a:srgbClr val="000000"/>
                  </a:solidFill>
                </a:uFill>
              </a:rPr>
              <a:t>Security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3382" y="2800104"/>
            <a:ext cx="133349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08224" y="2530706"/>
            <a:ext cx="13903960" cy="642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spc="110">
                <a:latin typeface="Tahoma"/>
                <a:cs typeface="Tahoma"/>
              </a:rPr>
              <a:t>Knowledge</a:t>
            </a:r>
            <a:r>
              <a:rPr dirty="0" sz="3000" spc="455">
                <a:latin typeface="Tahoma"/>
                <a:cs typeface="Tahoma"/>
              </a:rPr>
              <a:t>  </a:t>
            </a:r>
            <a:r>
              <a:rPr dirty="0" sz="3000" spc="155">
                <a:latin typeface="Tahoma"/>
                <a:cs typeface="Tahoma"/>
              </a:rPr>
              <a:t>Gap</a:t>
            </a:r>
            <a:r>
              <a:rPr dirty="0" sz="3000" spc="459">
                <a:latin typeface="Tahoma"/>
                <a:cs typeface="Tahoma"/>
              </a:rPr>
              <a:t>  </a:t>
            </a:r>
            <a:r>
              <a:rPr dirty="0" sz="3000" spc="175">
                <a:latin typeface="Tahoma"/>
                <a:cs typeface="Tahoma"/>
              </a:rPr>
              <a:t>or</a:t>
            </a:r>
            <a:r>
              <a:rPr dirty="0" sz="3000" spc="455">
                <a:latin typeface="Tahoma"/>
                <a:cs typeface="Tahoma"/>
              </a:rPr>
              <a:t>  </a:t>
            </a:r>
            <a:r>
              <a:rPr dirty="0" sz="3000" spc="155">
                <a:latin typeface="Tahoma"/>
                <a:cs typeface="Tahoma"/>
              </a:rPr>
              <a:t>Problem</a:t>
            </a:r>
            <a:r>
              <a:rPr dirty="0" sz="3000" spc="459">
                <a:latin typeface="Tahoma"/>
                <a:cs typeface="Tahoma"/>
              </a:rPr>
              <a:t>  </a:t>
            </a:r>
            <a:r>
              <a:rPr dirty="0" sz="3000" spc="70">
                <a:latin typeface="Tahoma"/>
                <a:cs typeface="Tahoma"/>
              </a:rPr>
              <a:t>Definition:</a:t>
            </a:r>
            <a:r>
              <a:rPr dirty="0" sz="3000" spc="455">
                <a:latin typeface="Tahoma"/>
                <a:cs typeface="Tahoma"/>
              </a:rPr>
              <a:t>  </a:t>
            </a:r>
            <a:r>
              <a:rPr dirty="0" sz="3000" spc="105">
                <a:latin typeface="Tahoma"/>
                <a:cs typeface="Tahoma"/>
              </a:rPr>
              <a:t>Centralized</a:t>
            </a:r>
            <a:r>
              <a:rPr dirty="0" sz="3000" spc="459">
                <a:latin typeface="Tahoma"/>
                <a:cs typeface="Tahoma"/>
              </a:rPr>
              <a:t>  </a:t>
            </a:r>
            <a:r>
              <a:rPr dirty="0" sz="3000" spc="105">
                <a:latin typeface="Tahoma"/>
                <a:cs typeface="Tahoma"/>
              </a:rPr>
              <a:t>authentication</a:t>
            </a:r>
            <a:r>
              <a:rPr dirty="0" sz="3000" spc="455">
                <a:latin typeface="Tahoma"/>
                <a:cs typeface="Tahoma"/>
              </a:rPr>
              <a:t>  </a:t>
            </a:r>
            <a:r>
              <a:rPr dirty="0" sz="3000" spc="90">
                <a:latin typeface="Tahoma"/>
                <a:cs typeface="Tahoma"/>
              </a:rPr>
              <a:t>in </a:t>
            </a:r>
            <a:r>
              <a:rPr dirty="0" sz="3000" spc="110">
                <a:latin typeface="Tahoma"/>
                <a:cs typeface="Tahoma"/>
              </a:rPr>
              <a:t>educational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>
                <a:latin typeface="Tahoma"/>
                <a:cs typeface="Tahoma"/>
              </a:rPr>
              <a:t>IoT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105">
                <a:latin typeface="Tahoma"/>
                <a:cs typeface="Tahoma"/>
              </a:rPr>
              <a:t>vulnerable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130">
                <a:latin typeface="Tahoma"/>
                <a:cs typeface="Tahoma"/>
              </a:rPr>
              <a:t>to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85">
                <a:latin typeface="Tahoma"/>
                <a:cs typeface="Tahoma"/>
              </a:rPr>
              <a:t>single-</a:t>
            </a:r>
            <a:r>
              <a:rPr dirty="0" sz="3000" spc="90">
                <a:latin typeface="Tahoma"/>
                <a:cs typeface="Tahoma"/>
              </a:rPr>
              <a:t>point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105">
                <a:latin typeface="Tahoma"/>
                <a:cs typeface="Tahoma"/>
              </a:rPr>
              <a:t>failures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145">
                <a:latin typeface="Tahoma"/>
                <a:cs typeface="Tahoma"/>
              </a:rPr>
              <a:t>and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50">
                <a:latin typeface="Tahoma"/>
                <a:cs typeface="Tahoma"/>
              </a:rPr>
              <a:t>cyberattacks;</a:t>
            </a:r>
            <a:r>
              <a:rPr dirty="0" sz="3000" spc="-70">
                <a:latin typeface="Tahoma"/>
                <a:cs typeface="Tahoma"/>
              </a:rPr>
              <a:t>  </a:t>
            </a:r>
            <a:r>
              <a:rPr dirty="0" sz="3000" spc="-25">
                <a:latin typeface="Tahoma"/>
                <a:cs typeface="Tahoma"/>
              </a:rPr>
              <a:t>80% </a:t>
            </a:r>
            <a:r>
              <a:rPr dirty="0" sz="3000" spc="90">
                <a:latin typeface="Tahoma"/>
                <a:cs typeface="Tahoma"/>
              </a:rPr>
              <a:t>cloud-</a:t>
            </a:r>
            <a:r>
              <a:rPr dirty="0" sz="3000" spc="100">
                <a:latin typeface="Tahoma"/>
                <a:cs typeface="Tahoma"/>
              </a:rPr>
              <a:t>dependent,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 spc="90">
                <a:latin typeface="Tahoma"/>
                <a:cs typeface="Tahoma"/>
              </a:rPr>
              <a:t>increasing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 spc="80">
                <a:latin typeface="Tahoma"/>
                <a:cs typeface="Tahoma"/>
              </a:rPr>
              <a:t>latency</a:t>
            </a:r>
            <a:r>
              <a:rPr dirty="0" sz="3000" spc="600">
                <a:latin typeface="Tahoma"/>
                <a:cs typeface="Tahoma"/>
              </a:rPr>
              <a:t> </a:t>
            </a:r>
            <a:r>
              <a:rPr dirty="0" sz="3000" spc="90">
                <a:latin typeface="Tahoma"/>
                <a:cs typeface="Tahoma"/>
              </a:rPr>
              <a:t>by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50%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 spc="145">
                <a:latin typeface="Tahoma"/>
                <a:cs typeface="Tahoma"/>
              </a:rPr>
              <a:t>and</a:t>
            </a:r>
            <a:r>
              <a:rPr dirty="0" sz="3000" spc="600">
                <a:latin typeface="Tahoma"/>
                <a:cs typeface="Tahoma"/>
              </a:rPr>
              <a:t> </a:t>
            </a:r>
            <a:r>
              <a:rPr dirty="0" sz="3000" spc="80">
                <a:latin typeface="Tahoma"/>
                <a:cs typeface="Tahoma"/>
              </a:rPr>
              <a:t>privacy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 spc="95">
                <a:latin typeface="Tahoma"/>
                <a:cs typeface="Tahoma"/>
              </a:rPr>
              <a:t>risks</a:t>
            </a:r>
            <a:r>
              <a:rPr dirty="0" sz="3000" spc="595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for</a:t>
            </a:r>
            <a:r>
              <a:rPr dirty="0" sz="3000" spc="600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student </a:t>
            </a:r>
            <a:r>
              <a:rPr dirty="0" sz="3000" spc="55">
                <a:latin typeface="Tahoma"/>
                <a:cs typeface="Tahoma"/>
              </a:rPr>
              <a:t>data.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3000">
              <a:latin typeface="Tahoma"/>
              <a:cs typeface="Tahoma"/>
            </a:endParaRPr>
          </a:p>
          <a:p>
            <a:pPr algn="just" marL="12700" marR="5080">
              <a:lnSpc>
                <a:spcPct val="116700"/>
              </a:lnSpc>
            </a:pPr>
            <a:r>
              <a:rPr dirty="0" sz="3000" spc="114">
                <a:latin typeface="Tahoma"/>
                <a:cs typeface="Tahoma"/>
              </a:rPr>
              <a:t>Shortcomings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125">
                <a:latin typeface="Tahoma"/>
                <a:cs typeface="Tahoma"/>
              </a:rPr>
              <a:t>of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Existing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Systems: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Traditional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systems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75">
                <a:latin typeface="Tahoma"/>
                <a:cs typeface="Tahoma"/>
              </a:rPr>
              <a:t>lack</a:t>
            </a:r>
            <a:r>
              <a:rPr dirty="0" sz="3000" spc="315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offline</a:t>
            </a:r>
            <a:r>
              <a:rPr dirty="0" sz="3000" spc="320">
                <a:latin typeface="Tahoma"/>
                <a:cs typeface="Tahoma"/>
              </a:rPr>
              <a:t> </a:t>
            </a:r>
            <a:r>
              <a:rPr dirty="0" sz="3000" spc="85">
                <a:latin typeface="Tahoma"/>
                <a:cs typeface="Tahoma"/>
              </a:rPr>
              <a:t>resilience </a:t>
            </a:r>
            <a:r>
              <a:rPr dirty="0" sz="3000" spc="145">
                <a:latin typeface="Tahoma"/>
                <a:cs typeface="Tahoma"/>
              </a:rPr>
              <a:t>and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35">
                <a:latin typeface="Tahoma"/>
                <a:cs typeface="Tahoma"/>
              </a:rPr>
              <a:t>tamper-</a:t>
            </a:r>
            <a:r>
              <a:rPr dirty="0" sz="3000" spc="120">
                <a:latin typeface="Tahoma"/>
                <a:cs typeface="Tahoma"/>
              </a:rPr>
              <a:t>proof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>
                <a:latin typeface="Tahoma"/>
                <a:cs typeface="Tahoma"/>
              </a:rPr>
              <a:t>auth;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30">
                <a:latin typeface="Tahoma"/>
                <a:cs typeface="Tahoma"/>
              </a:rPr>
              <a:t>unable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30">
                <a:latin typeface="Tahoma"/>
                <a:cs typeface="Tahoma"/>
              </a:rPr>
              <a:t>to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30">
                <a:latin typeface="Tahoma"/>
                <a:cs typeface="Tahoma"/>
              </a:rPr>
              <a:t>handle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25">
                <a:latin typeface="Tahoma"/>
                <a:cs typeface="Tahoma"/>
              </a:rPr>
              <a:t>dynamic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105">
                <a:latin typeface="Tahoma"/>
                <a:cs typeface="Tahoma"/>
              </a:rPr>
              <a:t>threats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75">
                <a:latin typeface="Tahoma"/>
                <a:cs typeface="Tahoma"/>
              </a:rPr>
              <a:t>like</a:t>
            </a:r>
            <a:r>
              <a:rPr dirty="0" sz="3000" spc="225">
                <a:latin typeface="Tahoma"/>
                <a:cs typeface="Tahoma"/>
              </a:rPr>
              <a:t>  </a:t>
            </a:r>
            <a:r>
              <a:rPr dirty="0" sz="3000" spc="90">
                <a:latin typeface="Tahoma"/>
                <a:cs typeface="Tahoma"/>
              </a:rPr>
              <a:t>DDoS </a:t>
            </a:r>
            <a:r>
              <a:rPr dirty="0" sz="3000" spc="-10">
                <a:latin typeface="Tahoma"/>
                <a:cs typeface="Tahoma"/>
              </a:rPr>
              <a:t>effectively.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000">
              <a:latin typeface="Tahoma"/>
              <a:cs typeface="Tahoma"/>
            </a:endParaRPr>
          </a:p>
          <a:p>
            <a:pPr algn="just" marL="12700" marR="5080">
              <a:lnSpc>
                <a:spcPct val="116700"/>
              </a:lnSpc>
            </a:pPr>
            <a:r>
              <a:rPr dirty="0" sz="3000" spc="175">
                <a:latin typeface="Tahoma"/>
                <a:cs typeface="Tahoma"/>
              </a:rPr>
              <a:t>Our</a:t>
            </a:r>
            <a:r>
              <a:rPr dirty="0" sz="3000" spc="690">
                <a:latin typeface="Tahoma"/>
                <a:cs typeface="Tahoma"/>
              </a:rPr>
              <a:t> </a:t>
            </a:r>
            <a:r>
              <a:rPr dirty="0" sz="3000" spc="65">
                <a:latin typeface="Tahoma"/>
                <a:cs typeface="Tahoma"/>
              </a:rPr>
              <a:t>Solution: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Integrates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customized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Hyperledger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90">
                <a:latin typeface="Tahoma"/>
                <a:cs typeface="Tahoma"/>
              </a:rPr>
              <a:t>Fabric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for</a:t>
            </a:r>
            <a:r>
              <a:rPr dirty="0" sz="3000" spc="695">
                <a:latin typeface="Tahoma"/>
                <a:cs typeface="Tahoma"/>
              </a:rPr>
              <a:t> </a:t>
            </a:r>
            <a:r>
              <a:rPr dirty="0" sz="3000" spc="80">
                <a:latin typeface="Tahoma"/>
                <a:cs typeface="Tahoma"/>
              </a:rPr>
              <a:t>decentralized, </a:t>
            </a:r>
            <a:r>
              <a:rPr dirty="0" sz="3000" spc="135">
                <a:latin typeface="Tahoma"/>
                <a:cs typeface="Tahoma"/>
              </a:rPr>
              <a:t>tamper-</a:t>
            </a:r>
            <a:r>
              <a:rPr dirty="0" sz="3000" spc="120">
                <a:latin typeface="Tahoma"/>
                <a:cs typeface="Tahoma"/>
              </a:rPr>
              <a:t>proof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90">
                <a:latin typeface="Tahoma"/>
                <a:cs typeface="Tahoma"/>
              </a:rPr>
              <a:t>authentication,</a:t>
            </a:r>
            <a:r>
              <a:rPr dirty="0" sz="3000" spc="185">
                <a:latin typeface="Tahoma"/>
                <a:cs typeface="Tahoma"/>
              </a:rPr>
              <a:t> </a:t>
            </a:r>
            <a:r>
              <a:rPr dirty="0" sz="3000" spc="65">
                <a:latin typeface="Tahoma"/>
                <a:cs typeface="Tahoma"/>
              </a:rPr>
              <a:t>Ryu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SDN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for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125">
                <a:latin typeface="Tahoma"/>
                <a:cs typeface="Tahoma"/>
              </a:rPr>
              <a:t>dynamic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85">
                <a:latin typeface="Tahoma"/>
                <a:cs typeface="Tahoma"/>
              </a:rPr>
              <a:t>access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policies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95">
                <a:latin typeface="Tahoma"/>
                <a:cs typeface="Tahoma"/>
              </a:rPr>
              <a:t>with</a:t>
            </a:r>
            <a:r>
              <a:rPr dirty="0" sz="3000" spc="190">
                <a:latin typeface="Tahoma"/>
                <a:cs typeface="Tahoma"/>
              </a:rPr>
              <a:t> </a:t>
            </a:r>
            <a:r>
              <a:rPr dirty="0" sz="3000" spc="-25">
                <a:latin typeface="Tahoma"/>
                <a:cs typeface="Tahoma"/>
              </a:rPr>
              <a:t>30% </a:t>
            </a:r>
            <a:r>
              <a:rPr dirty="0" sz="3000" spc="80">
                <a:latin typeface="Tahoma"/>
                <a:cs typeface="Tahoma"/>
              </a:rPr>
              <a:t>latency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95">
                <a:latin typeface="Tahoma"/>
                <a:cs typeface="Tahoma"/>
              </a:rPr>
              <a:t>reduction,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145">
                <a:latin typeface="Tahoma"/>
                <a:cs typeface="Tahoma"/>
              </a:rPr>
              <a:t>and</a:t>
            </a:r>
            <a:r>
              <a:rPr dirty="0" sz="3000" spc="310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Xgboost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125">
                <a:latin typeface="Tahoma"/>
                <a:cs typeface="Tahoma"/>
              </a:rPr>
              <a:t>algorithm</a:t>
            </a:r>
            <a:r>
              <a:rPr dirty="0" sz="3000" spc="310">
                <a:latin typeface="Tahoma"/>
                <a:cs typeface="Tahoma"/>
              </a:rPr>
              <a:t> </a:t>
            </a:r>
            <a:r>
              <a:rPr dirty="0" sz="3000" spc="130">
                <a:latin typeface="Tahoma"/>
                <a:cs typeface="Tahoma"/>
              </a:rPr>
              <a:t>for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-85">
                <a:latin typeface="Tahoma"/>
                <a:cs typeface="Tahoma"/>
              </a:rPr>
              <a:t>&gt;95%</a:t>
            </a:r>
            <a:r>
              <a:rPr dirty="0" sz="3000" spc="310">
                <a:latin typeface="Tahoma"/>
                <a:cs typeface="Tahoma"/>
              </a:rPr>
              <a:t> </a:t>
            </a:r>
            <a:r>
              <a:rPr dirty="0" sz="3000" spc="85">
                <a:latin typeface="Tahoma"/>
                <a:cs typeface="Tahoma"/>
              </a:rPr>
              <a:t>accuracy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in</a:t>
            </a:r>
            <a:r>
              <a:rPr dirty="0" sz="3000" spc="3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AI</a:t>
            </a:r>
            <a:r>
              <a:rPr dirty="0" sz="3000" spc="305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anomaly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3382" y="5467104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3382" y="7600704"/>
            <a:ext cx="133349" cy="1333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208224" y="9004848"/>
            <a:ext cx="1809750" cy="485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80">
                <a:latin typeface="Tahoma"/>
                <a:cs typeface="Tahoma"/>
              </a:rPr>
              <a:t>detection.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8809" y="9235471"/>
            <a:ext cx="69970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709975" y="351039"/>
            <a:ext cx="12864465" cy="8331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65"/>
              <a:t>Decentralized</a:t>
            </a:r>
            <a:r>
              <a:rPr dirty="0" spc="-260"/>
              <a:t> </a:t>
            </a:r>
            <a:r>
              <a:rPr dirty="0" spc="190"/>
              <a:t>Zero</a:t>
            </a:r>
            <a:r>
              <a:rPr dirty="0" spc="-260"/>
              <a:t> </a:t>
            </a:r>
            <a:r>
              <a:rPr dirty="0" spc="114"/>
              <a:t>Trust</a:t>
            </a:r>
            <a:r>
              <a:rPr dirty="0" spc="-260"/>
              <a:t> </a:t>
            </a:r>
            <a:r>
              <a:rPr dirty="0" spc="215"/>
              <a:t>Network</a:t>
            </a:r>
            <a:r>
              <a:rPr dirty="0" spc="-260"/>
              <a:t> </a:t>
            </a:r>
            <a:r>
              <a:rPr dirty="0" spc="110"/>
              <a:t>Access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24614" y="1284489"/>
            <a:ext cx="4835525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300" spc="160">
                <a:latin typeface="Tahoma"/>
                <a:cs typeface="Tahoma"/>
              </a:rPr>
              <a:t>with</a:t>
            </a:r>
            <a:r>
              <a:rPr dirty="0" sz="5300" spc="-275">
                <a:latin typeface="Tahoma"/>
                <a:cs typeface="Tahoma"/>
              </a:rPr>
              <a:t> </a:t>
            </a:r>
            <a:r>
              <a:rPr dirty="0" sz="5300" spc="-185">
                <a:latin typeface="Tahoma"/>
                <a:cs typeface="Tahoma"/>
              </a:rPr>
              <a:t>AI</a:t>
            </a:r>
            <a:r>
              <a:rPr dirty="0" sz="5300" spc="-270">
                <a:latin typeface="Tahoma"/>
                <a:cs typeface="Tahoma"/>
              </a:rPr>
              <a:t> </a:t>
            </a:r>
            <a:r>
              <a:rPr dirty="0" sz="5300" spc="100">
                <a:latin typeface="Tahoma"/>
                <a:cs typeface="Tahoma"/>
              </a:rPr>
              <a:t>Security</a:t>
            </a:r>
            <a:endParaRPr sz="53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2096854"/>
            <a:ext cx="106107" cy="10610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61171" y="1938180"/>
            <a:ext cx="14509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latin typeface="Arial Black"/>
                <a:cs typeface="Arial Black"/>
              </a:rPr>
              <a:t>Domains</a:t>
            </a:r>
            <a:r>
              <a:rPr dirty="0" sz="2400" spc="-120"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5168" y="2521283"/>
            <a:ext cx="106107" cy="1061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3370143"/>
            <a:ext cx="106107" cy="1061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168" y="4219002"/>
            <a:ext cx="106107" cy="10610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5887850"/>
            <a:ext cx="104775" cy="1047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6726049"/>
            <a:ext cx="104775" cy="1047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8558" y="7564249"/>
            <a:ext cx="104775" cy="1047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61171" y="2304342"/>
            <a:ext cx="15521305" cy="591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23660">
              <a:lnSpc>
                <a:spcPct val="115999"/>
              </a:lnSpc>
              <a:spcBef>
                <a:spcPts val="100"/>
              </a:spcBef>
            </a:pPr>
            <a:r>
              <a:rPr dirty="0" sz="2400" spc="45">
                <a:latin typeface="Tahoma"/>
                <a:cs typeface="Tahoma"/>
              </a:rPr>
              <a:t>Cybersecurity: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Implements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Zero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Trust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120">
                <a:latin typeface="Tahoma"/>
                <a:cs typeface="Tahoma"/>
              </a:rPr>
              <a:t>model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continuous </a:t>
            </a:r>
            <a:r>
              <a:rPr dirty="0" sz="2400" spc="55">
                <a:latin typeface="Tahoma"/>
                <a:cs typeface="Tahoma"/>
              </a:rPr>
              <a:t>device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verification,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ensuring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no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implicit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trust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in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network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35">
                <a:latin typeface="Tahoma"/>
                <a:cs typeface="Tahoma"/>
              </a:rPr>
              <a:t>entities. </a:t>
            </a:r>
            <a:r>
              <a:rPr dirty="0" sz="2400" spc="95">
                <a:latin typeface="Tahoma"/>
                <a:cs typeface="Tahoma"/>
              </a:rPr>
              <a:t>Network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Security: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Focuses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135">
                <a:latin typeface="Tahoma"/>
                <a:cs typeface="Tahoma"/>
              </a:rPr>
              <a:t>on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real-</a:t>
            </a:r>
            <a:r>
              <a:rPr dirty="0" sz="2400" spc="95">
                <a:latin typeface="Tahoma"/>
                <a:cs typeface="Tahoma"/>
              </a:rPr>
              <a:t>time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anomaly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detection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and </a:t>
            </a:r>
            <a:r>
              <a:rPr dirty="0" sz="2400" spc="75">
                <a:latin typeface="Tahoma"/>
                <a:cs typeface="Tahoma"/>
              </a:rPr>
              <a:t>threat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mitigation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to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secure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IoT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traffic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flows.</a:t>
            </a:r>
            <a:endParaRPr sz="2400">
              <a:latin typeface="Tahoma"/>
              <a:cs typeface="Tahoma"/>
            </a:endParaRPr>
          </a:p>
          <a:p>
            <a:pPr marL="12700" marR="6300470">
              <a:lnSpc>
                <a:spcPct val="115999"/>
              </a:lnSpc>
            </a:pPr>
            <a:r>
              <a:rPr dirty="0" sz="2400" spc="75">
                <a:latin typeface="Tahoma"/>
                <a:cs typeface="Tahoma"/>
              </a:rPr>
              <a:t>Blockchain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Applications: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Leverages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distributed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ledger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technology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robust,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decentralized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device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management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in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IoT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ecosystems.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Tahoma"/>
              <a:cs typeface="Tahoma"/>
            </a:endParaRPr>
          </a:p>
          <a:p>
            <a:pPr marL="4258945">
              <a:lnSpc>
                <a:spcPct val="100000"/>
              </a:lnSpc>
            </a:pPr>
            <a:r>
              <a:rPr dirty="0" sz="2400" spc="-204">
                <a:latin typeface="Arial Black"/>
                <a:cs typeface="Arial Black"/>
              </a:rPr>
              <a:t>Specific</a:t>
            </a:r>
            <a:r>
              <a:rPr dirty="0" sz="2400" spc="-145">
                <a:latin typeface="Arial Black"/>
                <a:cs typeface="Arial Black"/>
              </a:rPr>
              <a:t> </a:t>
            </a:r>
            <a:r>
              <a:rPr dirty="0" sz="2400" spc="-95">
                <a:latin typeface="Arial Black"/>
                <a:cs typeface="Arial Black"/>
              </a:rPr>
              <a:t>Technologies:</a:t>
            </a:r>
            <a:endParaRPr sz="2400">
              <a:latin typeface="Arial Black"/>
              <a:cs typeface="Arial Black"/>
            </a:endParaRPr>
          </a:p>
          <a:p>
            <a:pPr marL="4777105" marR="5080">
              <a:lnSpc>
                <a:spcPct val="114599"/>
              </a:lnSpc>
            </a:pPr>
            <a:r>
              <a:rPr dirty="0" sz="2400" spc="80">
                <a:latin typeface="Tahoma"/>
                <a:cs typeface="Tahoma"/>
              </a:rPr>
              <a:t>Hyperledger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Fabric: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Edge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deployment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with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&lt;1GB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125">
                <a:latin typeface="Tahoma"/>
                <a:cs typeface="Tahoma"/>
              </a:rPr>
              <a:t>RAM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usage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and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5">
                <a:latin typeface="Tahoma"/>
                <a:cs typeface="Tahoma"/>
              </a:rPr>
              <a:t>95%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faster </a:t>
            </a:r>
            <a:r>
              <a:rPr dirty="0" sz="2400" spc="70">
                <a:latin typeface="Tahoma"/>
                <a:cs typeface="Tahoma"/>
              </a:rPr>
              <a:t>transactions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than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Ethereum.</a:t>
            </a:r>
            <a:endParaRPr sz="2400">
              <a:latin typeface="Tahoma"/>
              <a:cs typeface="Tahoma"/>
            </a:endParaRPr>
          </a:p>
          <a:p>
            <a:pPr marL="4777105" marR="325120">
              <a:lnSpc>
                <a:spcPct val="114599"/>
              </a:lnSpc>
            </a:pPr>
            <a:r>
              <a:rPr dirty="0" sz="2400">
                <a:latin typeface="Tahoma"/>
                <a:cs typeface="Tahoma"/>
              </a:rPr>
              <a:t>Ryu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SDN: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Employs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OpenFlow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1.3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with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IDS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capabilities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intelligent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40">
                <a:latin typeface="Tahoma"/>
                <a:cs typeface="Tahoma"/>
              </a:rPr>
              <a:t>traffic </a:t>
            </a:r>
            <a:r>
              <a:rPr dirty="0" sz="2400" spc="65">
                <a:latin typeface="Tahoma"/>
                <a:cs typeface="Tahoma"/>
              </a:rPr>
              <a:t>management.</a:t>
            </a:r>
            <a:endParaRPr sz="2400">
              <a:latin typeface="Tahoma"/>
              <a:cs typeface="Tahoma"/>
            </a:endParaRPr>
          </a:p>
          <a:p>
            <a:pPr marL="4777105" marR="836930">
              <a:lnSpc>
                <a:spcPct val="114599"/>
              </a:lnSpc>
            </a:pPr>
            <a:r>
              <a:rPr dirty="0" sz="2400">
                <a:latin typeface="Tahoma"/>
                <a:cs typeface="Tahoma"/>
              </a:rPr>
              <a:t>Xgboost: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Leverages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LiteRT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(2025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update)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for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micro-</a:t>
            </a:r>
            <a:r>
              <a:rPr dirty="0" sz="2400" spc="75">
                <a:latin typeface="Tahoma"/>
                <a:cs typeface="Tahoma"/>
              </a:rPr>
              <a:t>edge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110">
                <a:latin typeface="Tahoma"/>
                <a:cs typeface="Tahoma"/>
              </a:rPr>
              <a:t>AI,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trained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on </a:t>
            </a:r>
            <a:r>
              <a:rPr dirty="0" sz="2400">
                <a:latin typeface="Tahoma"/>
                <a:cs typeface="Tahoma"/>
              </a:rPr>
              <a:t>CICIDS2017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dataset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with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custom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neural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networks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77097" y="9159805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30099" y="118320"/>
            <a:ext cx="12864465" cy="1892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027170" marR="5080" indent="-4015104">
              <a:lnSpc>
                <a:spcPct val="115599"/>
              </a:lnSpc>
              <a:spcBef>
                <a:spcPts val="95"/>
              </a:spcBef>
            </a:pPr>
            <a:r>
              <a:rPr dirty="0" spc="165"/>
              <a:t>Decentralized</a:t>
            </a:r>
            <a:r>
              <a:rPr dirty="0" spc="-260"/>
              <a:t> </a:t>
            </a:r>
            <a:r>
              <a:rPr dirty="0" spc="190"/>
              <a:t>Zero</a:t>
            </a:r>
            <a:r>
              <a:rPr dirty="0" spc="-260"/>
              <a:t> </a:t>
            </a:r>
            <a:r>
              <a:rPr dirty="0" spc="114"/>
              <a:t>Trust</a:t>
            </a:r>
            <a:r>
              <a:rPr dirty="0" spc="-260"/>
              <a:t> </a:t>
            </a:r>
            <a:r>
              <a:rPr dirty="0" spc="215"/>
              <a:t>Network</a:t>
            </a:r>
            <a:r>
              <a:rPr dirty="0" spc="-260"/>
              <a:t> </a:t>
            </a:r>
            <a:r>
              <a:rPr dirty="0" spc="110"/>
              <a:t>Access </a:t>
            </a:r>
            <a:r>
              <a:rPr dirty="0" spc="160"/>
              <a:t>with</a:t>
            </a:r>
            <a:r>
              <a:rPr dirty="0" spc="-275"/>
              <a:t> </a:t>
            </a:r>
            <a:r>
              <a:rPr dirty="0" spc="-185"/>
              <a:t>AI</a:t>
            </a:r>
            <a:r>
              <a:rPr dirty="0" spc="-270"/>
              <a:t> </a:t>
            </a:r>
            <a:r>
              <a:rPr dirty="0" spc="100"/>
              <a:t>Security</a:t>
            </a:r>
          </a:p>
        </p:txBody>
      </p:sp>
      <p:sp>
        <p:nvSpPr>
          <p:cNvPr id="11" name="object 11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2985104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3842354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0246" y="4699604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246" y="5985478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6842728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7271353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7699978"/>
            <a:ext cx="104775" cy="104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079896" y="1969803"/>
            <a:ext cx="15069185" cy="5966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60">
                <a:latin typeface="Arial Black"/>
                <a:cs typeface="Arial Black"/>
              </a:rPr>
              <a:t>Progress</a:t>
            </a:r>
            <a:r>
              <a:rPr dirty="0" sz="2400" spc="-140">
                <a:latin typeface="Arial Black"/>
                <a:cs typeface="Arial Black"/>
              </a:rPr>
              <a:t> </a:t>
            </a:r>
            <a:r>
              <a:rPr dirty="0" sz="2400" spc="-125">
                <a:latin typeface="Arial Black"/>
                <a:cs typeface="Arial Black"/>
              </a:rPr>
              <a:t>Milestones: </a:t>
            </a:r>
            <a:r>
              <a:rPr dirty="0" sz="2400" spc="-155">
                <a:latin typeface="Arial Black"/>
                <a:cs typeface="Arial Black"/>
              </a:rPr>
              <a:t>MAC-</a:t>
            </a:r>
            <a:r>
              <a:rPr dirty="0" sz="2400" spc="-190">
                <a:latin typeface="Arial Black"/>
                <a:cs typeface="Arial Black"/>
              </a:rPr>
              <a:t>Based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60">
                <a:latin typeface="Arial Black"/>
                <a:cs typeface="Arial Black"/>
              </a:rPr>
              <a:t>Blockchain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Authentication</a:t>
            </a:r>
            <a:endParaRPr sz="2400">
              <a:latin typeface="Arial Black"/>
              <a:cs typeface="Arial Black"/>
            </a:endParaRPr>
          </a:p>
          <a:p>
            <a:pPr marL="534670" marR="28575">
              <a:lnSpc>
                <a:spcPct val="117200"/>
              </a:lnSpc>
              <a:spcBef>
                <a:spcPts val="3375"/>
              </a:spcBef>
            </a:pPr>
            <a:r>
              <a:rPr dirty="0" sz="2400" spc="85">
                <a:latin typeface="Tahoma"/>
                <a:cs typeface="Tahoma"/>
              </a:rPr>
              <a:t>Blockchain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Backend: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functional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Python/Flask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ledger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with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SHA-</a:t>
            </a:r>
            <a:r>
              <a:rPr dirty="0" sz="2400" spc="60">
                <a:latin typeface="Tahoma"/>
                <a:cs typeface="Tahoma"/>
              </a:rPr>
              <a:t>256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block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linking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to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maintain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"Single </a:t>
            </a:r>
            <a:r>
              <a:rPr dirty="0" sz="2400" spc="80">
                <a:latin typeface="Tahoma"/>
                <a:cs typeface="Tahoma"/>
              </a:rPr>
              <a:t>Source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of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Truth"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for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device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status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(active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revoked).</a:t>
            </a:r>
            <a:endParaRPr sz="2400">
              <a:latin typeface="Tahoma"/>
              <a:cs typeface="Tahoma"/>
            </a:endParaRPr>
          </a:p>
          <a:p>
            <a:pPr marL="534670" marR="5080">
              <a:lnSpc>
                <a:spcPct val="117200"/>
              </a:lnSpc>
            </a:pPr>
            <a:r>
              <a:rPr dirty="0" sz="2400" spc="105">
                <a:latin typeface="Tahoma"/>
                <a:cs typeface="Tahoma"/>
              </a:rPr>
              <a:t>Network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Orchestration: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Successfully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established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Table-</a:t>
            </a:r>
            <a:r>
              <a:rPr dirty="0" sz="2400" spc="130">
                <a:latin typeface="Tahoma"/>
                <a:cs typeface="Tahoma"/>
              </a:rPr>
              <a:t>Miss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flow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rule,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ensuring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all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120">
                <a:latin typeface="Tahoma"/>
                <a:cs typeface="Tahoma"/>
              </a:rPr>
              <a:t>unknown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traffic </a:t>
            </a:r>
            <a:r>
              <a:rPr dirty="0" sz="2400" spc="100">
                <a:latin typeface="Tahoma"/>
                <a:cs typeface="Tahoma"/>
              </a:rPr>
              <a:t>in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Smart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Classroom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is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redirected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to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controller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for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scrutiny.</a:t>
            </a:r>
            <a:endParaRPr sz="2400">
              <a:latin typeface="Tahoma"/>
              <a:cs typeface="Tahoma"/>
            </a:endParaRPr>
          </a:p>
          <a:p>
            <a:pPr marL="534670" marR="50800">
              <a:lnSpc>
                <a:spcPct val="117200"/>
              </a:lnSpc>
            </a:pPr>
            <a:r>
              <a:rPr dirty="0" sz="2400" spc="90">
                <a:latin typeface="Tahoma"/>
                <a:cs typeface="Tahoma"/>
              </a:rPr>
              <a:t>Dynamic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Rule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Injection: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Verified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that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OFPFlowMod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messages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are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only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triggered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for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devices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verified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by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blockchain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ledger.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400">
              <a:latin typeface="Tahoma"/>
              <a:cs typeface="Tahoma"/>
            </a:endParaRPr>
          </a:p>
          <a:p>
            <a:pPr marL="534670">
              <a:lnSpc>
                <a:spcPct val="100000"/>
              </a:lnSpc>
            </a:pPr>
            <a:r>
              <a:rPr dirty="0" sz="2400" spc="85">
                <a:latin typeface="Tahoma"/>
                <a:cs typeface="Tahoma"/>
              </a:rPr>
              <a:t>Implementation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Environment: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2400">
              <a:latin typeface="Tahoma"/>
              <a:cs typeface="Tahoma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dirty="0" sz="2400" spc="110">
                <a:latin typeface="Tahoma"/>
                <a:cs typeface="Tahoma"/>
              </a:rPr>
              <a:t>SDN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Controller: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Ryu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(OpenFlow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v1.3).</a:t>
            </a:r>
            <a:endParaRPr sz="2400">
              <a:latin typeface="Tahoma"/>
              <a:cs typeface="Tahoma"/>
            </a:endParaRPr>
          </a:p>
          <a:p>
            <a:pPr marL="534670">
              <a:lnSpc>
                <a:spcPct val="100000"/>
              </a:lnSpc>
              <a:spcBef>
                <a:spcPts val="495"/>
              </a:spcBef>
            </a:pPr>
            <a:r>
              <a:rPr dirty="0" sz="2400">
                <a:latin typeface="Tahoma"/>
                <a:cs typeface="Tahoma"/>
              </a:rPr>
              <a:t>Switching: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130">
                <a:latin typeface="Tahoma"/>
                <a:cs typeface="Tahoma"/>
              </a:rPr>
              <a:t>Open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vSwitch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65">
                <a:latin typeface="Tahoma"/>
                <a:cs typeface="Tahoma"/>
              </a:rPr>
              <a:t>(OVS)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running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145">
                <a:latin typeface="Tahoma"/>
                <a:cs typeface="Tahoma"/>
              </a:rPr>
              <a:t>on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Linux-</a:t>
            </a:r>
            <a:r>
              <a:rPr dirty="0" sz="2400" spc="100">
                <a:latin typeface="Tahoma"/>
                <a:cs typeface="Tahoma"/>
              </a:rPr>
              <a:t>based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edge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gateway.</a:t>
            </a:r>
            <a:endParaRPr sz="2400">
              <a:latin typeface="Tahoma"/>
              <a:cs typeface="Tahoma"/>
            </a:endParaRPr>
          </a:p>
          <a:p>
            <a:pPr marL="534670">
              <a:lnSpc>
                <a:spcPct val="100000"/>
              </a:lnSpc>
              <a:spcBef>
                <a:spcPts val="495"/>
              </a:spcBef>
            </a:pPr>
            <a:r>
              <a:rPr dirty="0" sz="2400">
                <a:latin typeface="Tahoma"/>
                <a:cs typeface="Tahoma"/>
              </a:rPr>
              <a:t>Ledger: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Localized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Blockchain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130">
                <a:latin typeface="Tahoma"/>
                <a:cs typeface="Tahoma"/>
              </a:rPr>
              <a:t>node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for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low-</a:t>
            </a:r>
            <a:r>
              <a:rPr dirty="0" sz="2400" spc="60">
                <a:latin typeface="Tahoma"/>
                <a:cs typeface="Tahoma"/>
              </a:rPr>
              <a:t>latency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identity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verification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45">
                <a:latin typeface="Tahoma"/>
                <a:cs typeface="Tahoma"/>
              </a:rPr>
              <a:t>(&lt;2ms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query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time).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26422" y="9007464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17229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69" h="1933575">
                <a:moveTo>
                  <a:pt x="627351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79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8" y="1496965"/>
                </a:lnTo>
                <a:lnTo>
                  <a:pt x="1071295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9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7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3" y="1932350"/>
                </a:lnTo>
                <a:lnTo>
                  <a:pt x="627351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9685830"/>
            <a:ext cx="18288000" cy="601345"/>
            <a:chOff x="0" y="9685830"/>
            <a:chExt cx="18288000" cy="601345"/>
          </a:xfrm>
        </p:grpSpPr>
        <p:sp>
          <p:nvSpPr>
            <p:cNvPr id="4" name="object 4"/>
            <p:cNvSpPr/>
            <p:nvPr/>
          </p:nvSpPr>
          <p:spPr>
            <a:xfrm>
              <a:off x="0" y="9857280"/>
              <a:ext cx="18288000" cy="429895"/>
            </a:xfrm>
            <a:custGeom>
              <a:avLst/>
              <a:gdLst/>
              <a:ahLst/>
              <a:cxnLst/>
              <a:rect l="l" t="t" r="r" b="b"/>
              <a:pathLst>
                <a:path w="18288000" h="429895">
                  <a:moveTo>
                    <a:pt x="0" y="429719"/>
                  </a:moveTo>
                  <a:lnTo>
                    <a:pt x="18288000" y="42971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429719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685830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7261309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1026691" y="82301"/>
                </a:moveTo>
                <a:lnTo>
                  <a:pt x="1026691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6691" y="82301"/>
                </a:lnTo>
                <a:close/>
              </a:path>
              <a:path w="1026794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4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3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6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7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6794" h="3916045">
                <a:moveTo>
                  <a:pt x="1026691" y="3915863"/>
                </a:moveTo>
                <a:lnTo>
                  <a:pt x="1026691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6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80" y="3913864"/>
                </a:lnTo>
                <a:lnTo>
                  <a:pt x="1026691" y="3915863"/>
                </a:lnTo>
                <a:close/>
              </a:path>
              <a:path w="1026794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056723"/>
            <a:ext cx="1026794" cy="3916045"/>
          </a:xfrm>
          <a:custGeom>
            <a:avLst/>
            <a:gdLst/>
            <a:ahLst/>
            <a:cxnLst/>
            <a:rect l="l" t="t" r="r" b="b"/>
            <a:pathLst>
              <a:path w="1026794" h="3916045">
                <a:moveTo>
                  <a:pt x="0" y="82300"/>
                </a:moveTo>
                <a:lnTo>
                  <a:pt x="0" y="1179"/>
                </a:lnTo>
                <a:lnTo>
                  <a:pt x="249256" y="642"/>
                </a:lnTo>
                <a:lnTo>
                  <a:pt x="957121" y="0"/>
                </a:lnTo>
                <a:lnTo>
                  <a:pt x="989913" y="1624"/>
                </a:lnTo>
                <a:lnTo>
                  <a:pt x="1008207" y="9727"/>
                </a:lnTo>
                <a:lnTo>
                  <a:pt x="1016168" y="28455"/>
                </a:lnTo>
                <a:lnTo>
                  <a:pt x="1017958" y="61956"/>
                </a:lnTo>
                <a:lnTo>
                  <a:pt x="1017966" y="79871"/>
                </a:lnTo>
                <a:lnTo>
                  <a:pt x="905367" y="79871"/>
                </a:lnTo>
                <a:lnTo>
                  <a:pt x="753090" y="80184"/>
                </a:lnTo>
                <a:lnTo>
                  <a:pt x="231745" y="80888"/>
                </a:lnTo>
                <a:lnTo>
                  <a:pt x="139110" y="81280"/>
                </a:lnTo>
                <a:lnTo>
                  <a:pt x="0" y="82300"/>
                </a:lnTo>
                <a:close/>
              </a:path>
              <a:path w="1026794" h="3916045">
                <a:moveTo>
                  <a:pt x="988908" y="1583241"/>
                </a:moveTo>
                <a:lnTo>
                  <a:pt x="971267" y="1579445"/>
                </a:lnTo>
                <a:lnTo>
                  <a:pt x="957137" y="1567192"/>
                </a:lnTo>
                <a:lnTo>
                  <a:pt x="947742" y="1547988"/>
                </a:lnTo>
                <a:lnTo>
                  <a:pt x="944307" y="1523337"/>
                </a:lnTo>
                <a:lnTo>
                  <a:pt x="944376" y="928570"/>
                </a:lnTo>
                <a:lnTo>
                  <a:pt x="944159" y="879013"/>
                </a:lnTo>
                <a:lnTo>
                  <a:pt x="943885" y="834617"/>
                </a:lnTo>
                <a:lnTo>
                  <a:pt x="943447" y="779904"/>
                </a:lnTo>
                <a:lnTo>
                  <a:pt x="942951" y="732463"/>
                </a:lnTo>
                <a:lnTo>
                  <a:pt x="942286" y="680803"/>
                </a:lnTo>
                <a:lnTo>
                  <a:pt x="941508" y="631256"/>
                </a:lnTo>
                <a:lnTo>
                  <a:pt x="940735" y="579304"/>
                </a:lnTo>
                <a:lnTo>
                  <a:pt x="940148" y="527356"/>
                </a:lnTo>
                <a:lnTo>
                  <a:pt x="939711" y="475410"/>
                </a:lnTo>
                <a:lnTo>
                  <a:pt x="939391" y="423467"/>
                </a:lnTo>
                <a:lnTo>
                  <a:pt x="939152" y="371527"/>
                </a:lnTo>
                <a:lnTo>
                  <a:pt x="938576" y="215715"/>
                </a:lnTo>
                <a:lnTo>
                  <a:pt x="938315" y="163779"/>
                </a:lnTo>
                <a:lnTo>
                  <a:pt x="937962" y="111844"/>
                </a:lnTo>
                <a:lnTo>
                  <a:pt x="905367" y="79871"/>
                </a:lnTo>
                <a:lnTo>
                  <a:pt x="1017966" y="79871"/>
                </a:lnTo>
                <a:lnTo>
                  <a:pt x="1018011" y="163779"/>
                </a:lnTo>
                <a:lnTo>
                  <a:pt x="1018269" y="196132"/>
                </a:lnTo>
                <a:lnTo>
                  <a:pt x="1019570" y="300020"/>
                </a:lnTo>
                <a:lnTo>
                  <a:pt x="1023743" y="611661"/>
                </a:lnTo>
                <a:lnTo>
                  <a:pt x="1018382" y="641891"/>
                </a:lnTo>
                <a:lnTo>
                  <a:pt x="1016543" y="672109"/>
                </a:lnTo>
                <a:lnTo>
                  <a:pt x="1018459" y="702303"/>
                </a:lnTo>
                <a:lnTo>
                  <a:pt x="1024365" y="732463"/>
                </a:lnTo>
                <a:lnTo>
                  <a:pt x="1024466" y="834617"/>
                </a:lnTo>
                <a:lnTo>
                  <a:pt x="1024591" y="978129"/>
                </a:lnTo>
                <a:lnTo>
                  <a:pt x="1024648" y="1038941"/>
                </a:lnTo>
                <a:lnTo>
                  <a:pt x="1024773" y="1141106"/>
                </a:lnTo>
                <a:lnTo>
                  <a:pt x="1024854" y="1192187"/>
                </a:lnTo>
                <a:lnTo>
                  <a:pt x="1024950" y="1243268"/>
                </a:lnTo>
                <a:lnTo>
                  <a:pt x="1025201" y="1345425"/>
                </a:lnTo>
                <a:lnTo>
                  <a:pt x="1025360" y="1396501"/>
                </a:lnTo>
                <a:lnTo>
                  <a:pt x="1026554" y="1440128"/>
                </a:lnTo>
                <a:lnTo>
                  <a:pt x="1026554" y="1548977"/>
                </a:lnTo>
                <a:lnTo>
                  <a:pt x="1018891" y="1565886"/>
                </a:lnTo>
                <a:lnTo>
                  <a:pt x="1005742" y="1578249"/>
                </a:lnTo>
                <a:lnTo>
                  <a:pt x="988908" y="1583241"/>
                </a:lnTo>
                <a:close/>
              </a:path>
              <a:path w="1026794" h="3916045">
                <a:moveTo>
                  <a:pt x="0" y="3915861"/>
                </a:moveTo>
                <a:lnTo>
                  <a:pt x="0" y="3833363"/>
                </a:lnTo>
                <a:lnTo>
                  <a:pt x="712647" y="3832831"/>
                </a:lnTo>
                <a:lnTo>
                  <a:pt x="839051" y="3832831"/>
                </a:lnTo>
                <a:lnTo>
                  <a:pt x="870843" y="3832325"/>
                </a:lnTo>
                <a:lnTo>
                  <a:pt x="889839" y="3833824"/>
                </a:lnTo>
                <a:lnTo>
                  <a:pt x="904962" y="3839976"/>
                </a:lnTo>
                <a:lnTo>
                  <a:pt x="915561" y="3851587"/>
                </a:lnTo>
                <a:lnTo>
                  <a:pt x="920980" y="3869462"/>
                </a:lnTo>
                <a:lnTo>
                  <a:pt x="918775" y="3885166"/>
                </a:lnTo>
                <a:lnTo>
                  <a:pt x="869412" y="3908277"/>
                </a:lnTo>
                <a:lnTo>
                  <a:pt x="769265" y="3911342"/>
                </a:lnTo>
                <a:lnTo>
                  <a:pt x="575379" y="3913864"/>
                </a:lnTo>
                <a:lnTo>
                  <a:pt x="218375" y="3913864"/>
                </a:lnTo>
                <a:lnTo>
                  <a:pt x="0" y="3915861"/>
                </a:lnTo>
                <a:close/>
              </a:path>
              <a:path w="1026794" h="3916045">
                <a:moveTo>
                  <a:pt x="804183" y="3832831"/>
                </a:moveTo>
                <a:lnTo>
                  <a:pt x="706327" y="3832831"/>
                </a:lnTo>
                <a:lnTo>
                  <a:pt x="738247" y="3832631"/>
                </a:lnTo>
                <a:lnTo>
                  <a:pt x="770832" y="3832631"/>
                </a:lnTo>
                <a:lnTo>
                  <a:pt x="804183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6630" y="1"/>
            <a:ext cx="1080770" cy="1933575"/>
          </a:xfrm>
          <a:custGeom>
            <a:avLst/>
            <a:gdLst/>
            <a:ahLst/>
            <a:cxnLst/>
            <a:rect l="l" t="t" r="r" b="b"/>
            <a:pathLst>
              <a:path w="1080770" h="1933575">
                <a:moveTo>
                  <a:pt x="627350" y="1933123"/>
                </a:moveTo>
                <a:lnTo>
                  <a:pt x="453364" y="1933123"/>
                </a:lnTo>
                <a:lnTo>
                  <a:pt x="437762" y="1932350"/>
                </a:lnTo>
                <a:lnTo>
                  <a:pt x="390562" y="1925307"/>
                </a:lnTo>
                <a:lnTo>
                  <a:pt x="344494" y="1913729"/>
                </a:lnTo>
                <a:lnTo>
                  <a:pt x="299876" y="1897750"/>
                </a:lnTo>
                <a:lnTo>
                  <a:pt x="257028" y="1877500"/>
                </a:lnTo>
                <a:lnTo>
                  <a:pt x="216266" y="1853111"/>
                </a:lnTo>
                <a:lnTo>
                  <a:pt x="177911" y="1824716"/>
                </a:lnTo>
                <a:lnTo>
                  <a:pt x="142280" y="1792447"/>
                </a:lnTo>
                <a:lnTo>
                  <a:pt x="110010" y="1756816"/>
                </a:lnTo>
                <a:lnTo>
                  <a:pt x="81615" y="1718460"/>
                </a:lnTo>
                <a:lnTo>
                  <a:pt x="57227" y="1677699"/>
                </a:lnTo>
                <a:lnTo>
                  <a:pt x="36977" y="1634850"/>
                </a:lnTo>
                <a:lnTo>
                  <a:pt x="20997" y="1590233"/>
                </a:lnTo>
                <a:lnTo>
                  <a:pt x="9420" y="1544165"/>
                </a:lnTo>
                <a:lnTo>
                  <a:pt x="2377" y="1496965"/>
                </a:lnTo>
                <a:lnTo>
                  <a:pt x="0" y="1448952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48952"/>
                </a:lnTo>
                <a:lnTo>
                  <a:pt x="1078337" y="1496965"/>
                </a:lnTo>
                <a:lnTo>
                  <a:pt x="1071294" y="1544165"/>
                </a:lnTo>
                <a:lnTo>
                  <a:pt x="1059717" y="1590233"/>
                </a:lnTo>
                <a:lnTo>
                  <a:pt x="1043737" y="1634850"/>
                </a:lnTo>
                <a:lnTo>
                  <a:pt x="1023487" y="1677699"/>
                </a:lnTo>
                <a:lnTo>
                  <a:pt x="999098" y="1718460"/>
                </a:lnTo>
                <a:lnTo>
                  <a:pt x="970704" y="1756816"/>
                </a:lnTo>
                <a:lnTo>
                  <a:pt x="938434" y="1792447"/>
                </a:lnTo>
                <a:lnTo>
                  <a:pt x="902803" y="1824716"/>
                </a:lnTo>
                <a:lnTo>
                  <a:pt x="864448" y="1853111"/>
                </a:lnTo>
                <a:lnTo>
                  <a:pt x="823686" y="1877500"/>
                </a:lnTo>
                <a:lnTo>
                  <a:pt x="780837" y="1897750"/>
                </a:lnTo>
                <a:lnTo>
                  <a:pt x="736220" y="1913729"/>
                </a:lnTo>
                <a:lnTo>
                  <a:pt x="690152" y="1925307"/>
                </a:lnTo>
                <a:lnTo>
                  <a:pt x="642952" y="1932350"/>
                </a:lnTo>
                <a:lnTo>
                  <a:pt x="627350" y="1933123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895212"/>
            <a:ext cx="4117334" cy="768095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830099" y="118320"/>
            <a:ext cx="12864465" cy="1892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027170" marR="5080" indent="-4015104">
              <a:lnSpc>
                <a:spcPct val="115599"/>
              </a:lnSpc>
              <a:spcBef>
                <a:spcPts val="95"/>
              </a:spcBef>
            </a:pPr>
            <a:r>
              <a:rPr dirty="0" spc="165"/>
              <a:t>Decentralized</a:t>
            </a:r>
            <a:r>
              <a:rPr dirty="0" spc="-260"/>
              <a:t> </a:t>
            </a:r>
            <a:r>
              <a:rPr dirty="0" spc="190"/>
              <a:t>Zero</a:t>
            </a:r>
            <a:r>
              <a:rPr dirty="0" spc="-260"/>
              <a:t> </a:t>
            </a:r>
            <a:r>
              <a:rPr dirty="0" spc="114"/>
              <a:t>Trust</a:t>
            </a:r>
            <a:r>
              <a:rPr dirty="0" spc="-260"/>
              <a:t> </a:t>
            </a:r>
            <a:r>
              <a:rPr dirty="0" spc="215"/>
              <a:t>Network</a:t>
            </a:r>
            <a:r>
              <a:rPr dirty="0" spc="-260"/>
              <a:t> </a:t>
            </a:r>
            <a:r>
              <a:rPr dirty="0" spc="110"/>
              <a:t>Access </a:t>
            </a:r>
            <a:r>
              <a:rPr dirty="0" spc="160"/>
              <a:t>with</a:t>
            </a:r>
            <a:r>
              <a:rPr dirty="0" spc="-275"/>
              <a:t> </a:t>
            </a:r>
            <a:r>
              <a:rPr dirty="0" spc="-185"/>
              <a:t>AI</a:t>
            </a:r>
            <a:r>
              <a:rPr dirty="0" spc="-270"/>
              <a:t> </a:t>
            </a:r>
            <a:r>
              <a:rPr dirty="0" spc="100"/>
              <a:t>Security</a:t>
            </a:r>
          </a:p>
        </p:txBody>
      </p:sp>
      <p:sp>
        <p:nvSpPr>
          <p:cNvPr id="11" name="object 11"/>
          <p:cNvSpPr/>
          <p:nvPr/>
        </p:nvSpPr>
        <p:spPr>
          <a:xfrm>
            <a:off x="5720433" y="1343277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246" y="3413729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0246" y="4699604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246" y="5556854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0246" y="6842728"/>
            <a:ext cx="104775" cy="1047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079896" y="2398428"/>
            <a:ext cx="15097125" cy="5537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95">
                <a:latin typeface="Arial Black"/>
                <a:cs typeface="Arial Black"/>
              </a:rPr>
              <a:t>Implementation: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25">
                <a:latin typeface="Arial Black"/>
                <a:cs typeface="Arial Black"/>
              </a:rPr>
              <a:t>Bridging </a:t>
            </a:r>
            <a:r>
              <a:rPr dirty="0" sz="2400" spc="-160">
                <a:latin typeface="Arial Black"/>
                <a:cs typeface="Arial Black"/>
              </a:rPr>
              <a:t>Blockchain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80">
                <a:latin typeface="Arial Black"/>
                <a:cs typeface="Arial Black"/>
              </a:rPr>
              <a:t>with</a:t>
            </a:r>
            <a:r>
              <a:rPr dirty="0" sz="2400" spc="-125">
                <a:latin typeface="Arial Black"/>
                <a:cs typeface="Arial Black"/>
              </a:rPr>
              <a:t> </a:t>
            </a:r>
            <a:r>
              <a:rPr dirty="0" sz="2400" spc="-190">
                <a:latin typeface="Arial Black"/>
                <a:cs typeface="Arial Black"/>
              </a:rPr>
              <a:t>SDN</a:t>
            </a:r>
            <a:r>
              <a:rPr dirty="0" sz="2400" spc="-130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Enforcement</a:t>
            </a:r>
            <a:endParaRPr sz="2400">
              <a:latin typeface="Arial Black"/>
              <a:cs typeface="Arial Black"/>
            </a:endParaRPr>
          </a:p>
          <a:p>
            <a:pPr marL="534670" marR="584200">
              <a:lnSpc>
                <a:spcPct val="117200"/>
              </a:lnSpc>
              <a:spcBef>
                <a:spcPts val="3375"/>
              </a:spcBef>
            </a:pPr>
            <a:r>
              <a:rPr dirty="0" sz="2400">
                <a:latin typeface="Tahoma"/>
                <a:cs typeface="Tahoma"/>
              </a:rPr>
              <a:t>Ryu-</a:t>
            </a:r>
            <a:r>
              <a:rPr dirty="0" sz="2400" spc="85">
                <a:latin typeface="Tahoma"/>
                <a:cs typeface="Tahoma"/>
              </a:rPr>
              <a:t>Blockchain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Middleware: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Developed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custom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Ryu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application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that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intercepts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OpenFlow </a:t>
            </a:r>
            <a:r>
              <a:rPr dirty="0" sz="2400">
                <a:latin typeface="Tahoma"/>
                <a:cs typeface="Tahoma"/>
              </a:rPr>
              <a:t>Packet-</a:t>
            </a:r>
            <a:r>
              <a:rPr dirty="0" sz="2400" spc="-30">
                <a:latin typeface="Tahoma"/>
                <a:cs typeface="Tahoma"/>
              </a:rPr>
              <a:t>In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event.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It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extracts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eth.src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(MAC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address)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and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performs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real-</a:t>
            </a:r>
            <a:r>
              <a:rPr dirty="0" sz="2400" spc="100">
                <a:latin typeface="Tahoma"/>
                <a:cs typeface="Tahoma"/>
              </a:rPr>
              <a:t>time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REST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API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call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to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the </a:t>
            </a:r>
            <a:r>
              <a:rPr dirty="0" sz="2400" spc="85">
                <a:latin typeface="Tahoma"/>
                <a:cs typeface="Tahoma"/>
              </a:rPr>
              <a:t>Blockchain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/check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endpoint.</a:t>
            </a:r>
            <a:endParaRPr sz="2400">
              <a:latin typeface="Tahoma"/>
              <a:cs typeface="Tahoma"/>
            </a:endParaRPr>
          </a:p>
          <a:p>
            <a:pPr marL="534670" marR="860425">
              <a:lnSpc>
                <a:spcPct val="117200"/>
              </a:lnSpc>
            </a:pPr>
            <a:r>
              <a:rPr dirty="0" sz="2400" spc="95">
                <a:latin typeface="Tahoma"/>
                <a:cs typeface="Tahoma"/>
              </a:rPr>
              <a:t>Zero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Trust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Enforcement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Logic: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*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Implicit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Deny: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0">
                <a:latin typeface="Tahoma"/>
                <a:cs typeface="Tahoma"/>
              </a:rPr>
              <a:t>If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API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returns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authorized: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False,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controller </a:t>
            </a:r>
            <a:r>
              <a:rPr dirty="0" sz="2400" spc="85">
                <a:latin typeface="Tahoma"/>
                <a:cs typeface="Tahoma"/>
              </a:rPr>
              <a:t>ignores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packet,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45">
                <a:latin typeface="Tahoma"/>
                <a:cs typeface="Tahoma"/>
              </a:rPr>
              <a:t>effectively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dropping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it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at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switch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level.</a:t>
            </a:r>
            <a:endParaRPr sz="2400">
              <a:latin typeface="Tahoma"/>
              <a:cs typeface="Tahoma"/>
            </a:endParaRPr>
          </a:p>
          <a:p>
            <a:pPr marL="534670" marR="5080">
              <a:lnSpc>
                <a:spcPct val="117200"/>
              </a:lnSpc>
            </a:pPr>
            <a:r>
              <a:rPr dirty="0" sz="2400" spc="95">
                <a:latin typeface="Tahoma"/>
                <a:cs typeface="Tahoma"/>
              </a:rPr>
              <a:t>Conditional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Trust: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Only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145">
                <a:latin typeface="Tahoma"/>
                <a:cs typeface="Tahoma"/>
              </a:rPr>
              <a:t>upon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True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response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130">
                <a:latin typeface="Tahoma"/>
                <a:cs typeface="Tahoma"/>
              </a:rPr>
              <a:t>from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ledger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does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controller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calculate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output </a:t>
            </a:r>
            <a:r>
              <a:rPr dirty="0" sz="2400" spc="110">
                <a:latin typeface="Tahoma"/>
                <a:cs typeface="Tahoma"/>
              </a:rPr>
              <a:t>port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and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0">
                <a:latin typeface="Tahoma"/>
                <a:cs typeface="Tahoma"/>
              </a:rPr>
              <a:t>install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flow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40">
                <a:latin typeface="Tahoma"/>
                <a:cs typeface="Tahoma"/>
              </a:rPr>
              <a:t>entry.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ahoma"/>
              <a:cs typeface="Tahoma"/>
            </a:endParaRPr>
          </a:p>
          <a:p>
            <a:pPr marL="534670" marR="125730">
              <a:lnSpc>
                <a:spcPct val="117200"/>
              </a:lnSpc>
            </a:pPr>
            <a:r>
              <a:rPr dirty="0" sz="2400" spc="65">
                <a:latin typeface="Tahoma"/>
                <a:cs typeface="Tahoma"/>
              </a:rPr>
              <a:t>Flow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Persistence: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Authorized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flows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are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installed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with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105">
                <a:latin typeface="Tahoma"/>
                <a:cs typeface="Tahoma"/>
              </a:rPr>
              <a:t>an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idle_timeout=60.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100">
                <a:latin typeface="Tahoma"/>
                <a:cs typeface="Tahoma"/>
              </a:rPr>
              <a:t>ensures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that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0">
                <a:latin typeface="Tahoma"/>
                <a:cs typeface="Tahoma"/>
              </a:rPr>
              <a:t>if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device </a:t>
            </a:r>
            <a:r>
              <a:rPr dirty="0" sz="2400" spc="95">
                <a:latin typeface="Tahoma"/>
                <a:cs typeface="Tahoma"/>
              </a:rPr>
              <a:t>stops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communicating,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its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permission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is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revoked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130">
                <a:latin typeface="Tahoma"/>
                <a:cs typeface="Tahoma"/>
              </a:rPr>
              <a:t>from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the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60">
                <a:latin typeface="Tahoma"/>
                <a:cs typeface="Tahoma"/>
              </a:rPr>
              <a:t>switch's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fast-</a:t>
            </a:r>
            <a:r>
              <a:rPr dirty="0" sz="2400" spc="100">
                <a:latin typeface="Tahoma"/>
                <a:cs typeface="Tahoma"/>
              </a:rPr>
              <a:t>path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memory,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requiring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75">
                <a:latin typeface="Tahoma"/>
                <a:cs typeface="Tahoma"/>
              </a:rPr>
              <a:t>a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re-</a:t>
            </a:r>
            <a:r>
              <a:rPr dirty="0" sz="2400" spc="85">
                <a:latin typeface="Tahoma"/>
                <a:cs typeface="Tahoma"/>
              </a:rPr>
              <a:t>authentication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check.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6422" y="9007464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66482" y="0"/>
            <a:ext cx="1080770" cy="2162175"/>
          </a:xfrm>
          <a:custGeom>
            <a:avLst/>
            <a:gdLst/>
            <a:ahLst/>
            <a:cxnLst/>
            <a:rect l="l" t="t" r="r" b="b"/>
            <a:pathLst>
              <a:path w="1080769" h="2162175">
                <a:moveTo>
                  <a:pt x="627354" y="2161714"/>
                </a:moveTo>
                <a:lnTo>
                  <a:pt x="453360" y="2161714"/>
                </a:lnTo>
                <a:lnTo>
                  <a:pt x="437762" y="2160942"/>
                </a:lnTo>
                <a:lnTo>
                  <a:pt x="390562" y="2153899"/>
                </a:lnTo>
                <a:lnTo>
                  <a:pt x="344494" y="2142321"/>
                </a:lnTo>
                <a:lnTo>
                  <a:pt x="299876" y="2126341"/>
                </a:lnTo>
                <a:lnTo>
                  <a:pt x="257028" y="2106091"/>
                </a:lnTo>
                <a:lnTo>
                  <a:pt x="216266" y="2081703"/>
                </a:lnTo>
                <a:lnTo>
                  <a:pt x="177911" y="2053308"/>
                </a:lnTo>
                <a:lnTo>
                  <a:pt x="142279" y="2021039"/>
                </a:lnTo>
                <a:lnTo>
                  <a:pt x="110010" y="1985408"/>
                </a:lnTo>
                <a:lnTo>
                  <a:pt x="81615" y="1947052"/>
                </a:lnTo>
                <a:lnTo>
                  <a:pt x="57227" y="1906291"/>
                </a:lnTo>
                <a:lnTo>
                  <a:pt x="36977" y="1863442"/>
                </a:lnTo>
                <a:lnTo>
                  <a:pt x="20997" y="1818824"/>
                </a:lnTo>
                <a:lnTo>
                  <a:pt x="9420" y="1772757"/>
                </a:lnTo>
                <a:lnTo>
                  <a:pt x="2377" y="1725557"/>
                </a:lnTo>
                <a:lnTo>
                  <a:pt x="0" y="1677544"/>
                </a:lnTo>
                <a:lnTo>
                  <a:pt x="0" y="0"/>
                </a:lnTo>
                <a:lnTo>
                  <a:pt x="1080714" y="0"/>
                </a:lnTo>
                <a:lnTo>
                  <a:pt x="1080714" y="1677544"/>
                </a:lnTo>
                <a:lnTo>
                  <a:pt x="1078338" y="1725557"/>
                </a:lnTo>
                <a:lnTo>
                  <a:pt x="1071295" y="1772757"/>
                </a:lnTo>
                <a:lnTo>
                  <a:pt x="1059717" y="1818824"/>
                </a:lnTo>
                <a:lnTo>
                  <a:pt x="1043737" y="1863442"/>
                </a:lnTo>
                <a:lnTo>
                  <a:pt x="1023487" y="1906291"/>
                </a:lnTo>
                <a:lnTo>
                  <a:pt x="999099" y="1947052"/>
                </a:lnTo>
                <a:lnTo>
                  <a:pt x="970704" y="1985408"/>
                </a:lnTo>
                <a:lnTo>
                  <a:pt x="938434" y="2021039"/>
                </a:lnTo>
                <a:lnTo>
                  <a:pt x="902803" y="2053308"/>
                </a:lnTo>
                <a:lnTo>
                  <a:pt x="864447" y="2081703"/>
                </a:lnTo>
                <a:lnTo>
                  <a:pt x="823686" y="2106091"/>
                </a:lnTo>
                <a:lnTo>
                  <a:pt x="780837" y="2126341"/>
                </a:lnTo>
                <a:lnTo>
                  <a:pt x="736220" y="2142321"/>
                </a:lnTo>
                <a:lnTo>
                  <a:pt x="690152" y="2153899"/>
                </a:lnTo>
                <a:lnTo>
                  <a:pt x="642953" y="2160942"/>
                </a:lnTo>
                <a:lnTo>
                  <a:pt x="627354" y="2161714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85725" y="9914422"/>
            <a:ext cx="18459450" cy="372745"/>
            <a:chOff x="-85725" y="9914422"/>
            <a:chExt cx="18459450" cy="372745"/>
          </a:xfrm>
        </p:grpSpPr>
        <p:sp>
          <p:nvSpPr>
            <p:cNvPr id="4" name="object 4"/>
            <p:cNvSpPr/>
            <p:nvPr/>
          </p:nvSpPr>
          <p:spPr>
            <a:xfrm>
              <a:off x="0" y="10000147"/>
              <a:ext cx="18288000" cy="287020"/>
            </a:xfrm>
            <a:custGeom>
              <a:avLst/>
              <a:gdLst/>
              <a:ahLst/>
              <a:cxnLst/>
              <a:rect l="l" t="t" r="r" b="b"/>
              <a:pathLst>
                <a:path w="18288000" h="287020">
                  <a:moveTo>
                    <a:pt x="18288000" y="286852"/>
                  </a:moveTo>
                  <a:lnTo>
                    <a:pt x="0" y="286852"/>
                  </a:lnTo>
                  <a:lnTo>
                    <a:pt x="0" y="70311"/>
                  </a:lnTo>
                  <a:lnTo>
                    <a:pt x="48418" y="41770"/>
                  </a:lnTo>
                  <a:lnTo>
                    <a:pt x="90548" y="23958"/>
                  </a:lnTo>
                  <a:lnTo>
                    <a:pt x="134919" y="10853"/>
                  </a:lnTo>
                  <a:lnTo>
                    <a:pt x="181221" y="2764"/>
                  </a:lnTo>
                  <a:lnTo>
                    <a:pt x="229148" y="0"/>
                  </a:lnTo>
                  <a:lnTo>
                    <a:pt x="18288000" y="0"/>
                  </a:lnTo>
                  <a:lnTo>
                    <a:pt x="18288000" y="286852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10000147"/>
              <a:ext cx="18288000" cy="71120"/>
            </a:xfrm>
            <a:custGeom>
              <a:avLst/>
              <a:gdLst/>
              <a:ahLst/>
              <a:cxnLst/>
              <a:rect l="l" t="t" r="r" b="b"/>
              <a:pathLst>
                <a:path w="18288000" h="71120">
                  <a:moveTo>
                    <a:pt x="0" y="71000"/>
                  </a:moveTo>
                  <a:lnTo>
                    <a:pt x="49386" y="41765"/>
                  </a:lnTo>
                  <a:lnTo>
                    <a:pt x="91511" y="23955"/>
                  </a:lnTo>
                  <a:lnTo>
                    <a:pt x="135877" y="10852"/>
                  </a:lnTo>
                  <a:lnTo>
                    <a:pt x="182174" y="2764"/>
                  </a:lnTo>
                  <a:lnTo>
                    <a:pt x="230095" y="0"/>
                  </a:lnTo>
                  <a:lnTo>
                    <a:pt x="18287999" y="0"/>
                  </a:lnTo>
                </a:path>
              </a:pathLst>
            </a:custGeom>
            <a:ln w="171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835884" y="0"/>
            <a:ext cx="1080770" cy="2162175"/>
          </a:xfrm>
          <a:custGeom>
            <a:avLst/>
            <a:gdLst/>
            <a:ahLst/>
            <a:cxnLst/>
            <a:rect l="l" t="t" r="r" b="b"/>
            <a:pathLst>
              <a:path w="1080770" h="2162175">
                <a:moveTo>
                  <a:pt x="627354" y="2161714"/>
                </a:moveTo>
                <a:lnTo>
                  <a:pt x="453360" y="2161714"/>
                </a:lnTo>
                <a:lnTo>
                  <a:pt x="437762" y="2160942"/>
                </a:lnTo>
                <a:lnTo>
                  <a:pt x="390562" y="2153899"/>
                </a:lnTo>
                <a:lnTo>
                  <a:pt x="344494" y="2142321"/>
                </a:lnTo>
                <a:lnTo>
                  <a:pt x="299876" y="2126341"/>
                </a:lnTo>
                <a:lnTo>
                  <a:pt x="257028" y="2106091"/>
                </a:lnTo>
                <a:lnTo>
                  <a:pt x="216266" y="2081703"/>
                </a:lnTo>
                <a:lnTo>
                  <a:pt x="177911" y="2053308"/>
                </a:lnTo>
                <a:lnTo>
                  <a:pt x="142280" y="2021039"/>
                </a:lnTo>
                <a:lnTo>
                  <a:pt x="110010" y="1985408"/>
                </a:lnTo>
                <a:lnTo>
                  <a:pt x="81615" y="1947052"/>
                </a:lnTo>
                <a:lnTo>
                  <a:pt x="57227" y="1906291"/>
                </a:lnTo>
                <a:lnTo>
                  <a:pt x="36977" y="1863442"/>
                </a:lnTo>
                <a:lnTo>
                  <a:pt x="20997" y="1818824"/>
                </a:lnTo>
                <a:lnTo>
                  <a:pt x="9420" y="1772757"/>
                </a:lnTo>
                <a:lnTo>
                  <a:pt x="2377" y="1725557"/>
                </a:lnTo>
                <a:lnTo>
                  <a:pt x="0" y="1677544"/>
                </a:lnTo>
                <a:lnTo>
                  <a:pt x="0" y="0"/>
                </a:lnTo>
                <a:lnTo>
                  <a:pt x="1080714" y="0"/>
                </a:lnTo>
                <a:lnTo>
                  <a:pt x="1080714" y="1677544"/>
                </a:lnTo>
                <a:lnTo>
                  <a:pt x="1078337" y="1725557"/>
                </a:lnTo>
                <a:lnTo>
                  <a:pt x="1071294" y="1772757"/>
                </a:lnTo>
                <a:lnTo>
                  <a:pt x="1059717" y="1818824"/>
                </a:lnTo>
                <a:lnTo>
                  <a:pt x="1043737" y="1863442"/>
                </a:lnTo>
                <a:lnTo>
                  <a:pt x="1023487" y="1906291"/>
                </a:lnTo>
                <a:lnTo>
                  <a:pt x="999098" y="1947052"/>
                </a:lnTo>
                <a:lnTo>
                  <a:pt x="970703" y="1985408"/>
                </a:lnTo>
                <a:lnTo>
                  <a:pt x="938434" y="2021039"/>
                </a:lnTo>
                <a:lnTo>
                  <a:pt x="902803" y="2053308"/>
                </a:lnTo>
                <a:lnTo>
                  <a:pt x="864448" y="2081703"/>
                </a:lnTo>
                <a:lnTo>
                  <a:pt x="823686" y="2106091"/>
                </a:lnTo>
                <a:lnTo>
                  <a:pt x="780837" y="2126341"/>
                </a:lnTo>
                <a:lnTo>
                  <a:pt x="736220" y="2142321"/>
                </a:lnTo>
                <a:lnTo>
                  <a:pt x="690152" y="2153899"/>
                </a:lnTo>
                <a:lnTo>
                  <a:pt x="642952" y="2160942"/>
                </a:lnTo>
                <a:lnTo>
                  <a:pt x="627354" y="2161714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541" y="9123803"/>
            <a:ext cx="4119016" cy="76809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059229" y="453825"/>
            <a:ext cx="12864465" cy="1892300"/>
          </a:xfrm>
          <a:prstGeom prst="rect"/>
        </p:spPr>
        <p:txBody>
          <a:bodyPr wrap="square" lIns="0" tIns="138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pc="165"/>
              <a:t>Decentralized</a:t>
            </a:r>
            <a:r>
              <a:rPr dirty="0" spc="-260"/>
              <a:t> </a:t>
            </a:r>
            <a:r>
              <a:rPr dirty="0" spc="190"/>
              <a:t>Zero</a:t>
            </a:r>
            <a:r>
              <a:rPr dirty="0" spc="-260"/>
              <a:t> </a:t>
            </a:r>
            <a:r>
              <a:rPr dirty="0" spc="114"/>
              <a:t>Trust</a:t>
            </a:r>
            <a:r>
              <a:rPr dirty="0" spc="-260"/>
              <a:t> </a:t>
            </a:r>
            <a:r>
              <a:rPr dirty="0" spc="215"/>
              <a:t>Network</a:t>
            </a:r>
            <a:r>
              <a:rPr dirty="0" spc="-260"/>
              <a:t> </a:t>
            </a:r>
            <a:r>
              <a:rPr dirty="0" spc="110"/>
              <a:t>Access</a:t>
            </a:r>
          </a:p>
          <a:p>
            <a:pPr algn="ctr" marR="687070">
              <a:lnSpc>
                <a:spcPct val="100000"/>
              </a:lnSpc>
              <a:spcBef>
                <a:spcPts val="990"/>
              </a:spcBef>
              <a:tabLst>
                <a:tab pos="118808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pc="160">
                <a:uFill>
                  <a:solidFill>
                    <a:srgbClr val="000000"/>
                  </a:solidFill>
                </a:uFill>
              </a:rPr>
              <a:t>with</a:t>
            </a:r>
            <a:r>
              <a:rPr dirty="0" u="sng" spc="-27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-185">
                <a:uFill>
                  <a:solidFill>
                    <a:srgbClr val="000000"/>
                  </a:solidFill>
                </a:uFill>
              </a:rPr>
              <a:t>AI</a:t>
            </a:r>
            <a:r>
              <a:rPr dirty="0" u="sng" spc="-27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100">
                <a:uFill>
                  <a:solidFill>
                    <a:srgbClr val="000000"/>
                  </a:solidFill>
                </a:uFill>
              </a:rPr>
              <a:t>Security</a:t>
            </a:r>
            <a:r>
              <a:rPr dirty="0" u="sng" spc="1325"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205" y="3049493"/>
            <a:ext cx="7837668" cy="544309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414655" marR="407034">
              <a:lnSpc>
                <a:spcPct val="117400"/>
              </a:lnSpc>
              <a:spcBef>
                <a:spcPts val="90"/>
              </a:spcBef>
            </a:pPr>
            <a:r>
              <a:rPr dirty="0">
                <a:latin typeface="Arial Black"/>
                <a:cs typeface="Arial Black"/>
              </a:rPr>
              <a:t>-</a:t>
            </a:r>
            <a:r>
              <a:rPr dirty="0" spc="-175">
                <a:latin typeface="Arial Black"/>
                <a:cs typeface="Arial Black"/>
              </a:rPr>
              <a:t> </a:t>
            </a:r>
            <a:r>
              <a:rPr dirty="0" spc="-185">
                <a:latin typeface="Arial Black"/>
                <a:cs typeface="Arial Black"/>
              </a:rPr>
              <a:t>System</a:t>
            </a:r>
            <a:r>
              <a:rPr dirty="0" spc="-175">
                <a:latin typeface="Arial Black"/>
                <a:cs typeface="Arial Black"/>
              </a:rPr>
              <a:t> </a:t>
            </a:r>
            <a:r>
              <a:rPr dirty="0" spc="-130">
                <a:latin typeface="Arial Black"/>
                <a:cs typeface="Arial Black"/>
              </a:rPr>
              <a:t>Overview:</a:t>
            </a:r>
            <a:r>
              <a:rPr dirty="0" spc="-170">
                <a:latin typeface="Arial Black"/>
                <a:cs typeface="Arial Black"/>
              </a:rPr>
              <a:t> </a:t>
            </a:r>
            <a:r>
              <a:rPr dirty="0" spc="120"/>
              <a:t>Personal</a:t>
            </a:r>
            <a:r>
              <a:rPr dirty="0" spc="-120"/>
              <a:t> </a:t>
            </a:r>
            <a:r>
              <a:rPr dirty="0" spc="95"/>
              <a:t>laptop/edge</a:t>
            </a:r>
            <a:r>
              <a:rPr dirty="0" spc="-114"/>
              <a:t> </a:t>
            </a:r>
            <a:r>
              <a:rPr dirty="0" spc="80"/>
              <a:t>device</a:t>
            </a:r>
            <a:r>
              <a:rPr dirty="0" spc="-114"/>
              <a:t> </a:t>
            </a:r>
            <a:r>
              <a:rPr dirty="0" spc="110"/>
              <a:t>hosts </a:t>
            </a:r>
            <a:r>
              <a:rPr dirty="0" spc="85"/>
              <a:t>Fabric</a:t>
            </a:r>
            <a:r>
              <a:rPr dirty="0" spc="-100"/>
              <a:t> </a:t>
            </a:r>
            <a:r>
              <a:rPr dirty="0" spc="75"/>
              <a:t>(cryptographic</a:t>
            </a:r>
            <a:r>
              <a:rPr dirty="0" spc="-95"/>
              <a:t> </a:t>
            </a:r>
            <a:r>
              <a:rPr dirty="0"/>
              <a:t>auth),</a:t>
            </a:r>
            <a:r>
              <a:rPr dirty="0" spc="-95"/>
              <a:t> </a:t>
            </a:r>
            <a:r>
              <a:rPr dirty="0" spc="70"/>
              <a:t>Ryu</a:t>
            </a:r>
            <a:r>
              <a:rPr dirty="0" spc="-100"/>
              <a:t> </a:t>
            </a:r>
            <a:r>
              <a:rPr dirty="0" spc="45"/>
              <a:t>(policy</a:t>
            </a:r>
            <a:r>
              <a:rPr dirty="0" spc="-95"/>
              <a:t> </a:t>
            </a:r>
            <a:r>
              <a:rPr dirty="0" spc="65"/>
              <a:t>enforcement), </a:t>
            </a:r>
            <a:r>
              <a:rPr dirty="0" spc="95"/>
              <a:t>TensorFlow</a:t>
            </a:r>
            <a:r>
              <a:rPr dirty="0" spc="-90"/>
              <a:t> </a:t>
            </a:r>
            <a:r>
              <a:rPr dirty="0" spc="75"/>
              <a:t>Lite</a:t>
            </a:r>
            <a:r>
              <a:rPr dirty="0" spc="-85"/>
              <a:t> </a:t>
            </a:r>
            <a:r>
              <a:rPr dirty="0"/>
              <a:t>(flow</a:t>
            </a:r>
            <a:r>
              <a:rPr dirty="0" spc="-85"/>
              <a:t> </a:t>
            </a:r>
            <a:r>
              <a:rPr dirty="0" spc="70"/>
              <a:t>monitoring);</a:t>
            </a:r>
            <a:r>
              <a:rPr dirty="0" spc="-85"/>
              <a:t> </a:t>
            </a:r>
            <a:r>
              <a:rPr dirty="0" spc="100"/>
              <a:t>offline</a:t>
            </a:r>
            <a:r>
              <a:rPr dirty="0" spc="-90"/>
              <a:t> </a:t>
            </a:r>
            <a:r>
              <a:rPr dirty="0" spc="85"/>
              <a:t>logs</a:t>
            </a:r>
            <a:r>
              <a:rPr dirty="0" spc="-85"/>
              <a:t> </a:t>
            </a:r>
            <a:r>
              <a:rPr dirty="0" spc="-10"/>
              <a:t>sync.</a:t>
            </a:r>
          </a:p>
          <a:p>
            <a:pPr>
              <a:lnSpc>
                <a:spcPct val="100000"/>
              </a:lnSpc>
              <a:spcBef>
                <a:spcPts val="545"/>
              </a:spcBef>
            </a:pPr>
          </a:p>
          <a:p>
            <a:pPr algn="ctr" marL="12700" marR="5080" indent="-635">
              <a:lnSpc>
                <a:spcPct val="117400"/>
              </a:lnSpc>
            </a:pPr>
            <a:r>
              <a:rPr dirty="0">
                <a:latin typeface="Arial Black"/>
                <a:cs typeface="Arial Black"/>
              </a:rPr>
              <a:t>-</a:t>
            </a:r>
            <a:r>
              <a:rPr dirty="0" spc="-165">
                <a:latin typeface="Arial Black"/>
                <a:cs typeface="Arial Black"/>
              </a:rPr>
              <a:t> Real-</a:t>
            </a:r>
            <a:r>
              <a:rPr dirty="0" spc="-60">
                <a:latin typeface="Arial Black"/>
                <a:cs typeface="Arial Black"/>
              </a:rPr>
              <a:t>World</a:t>
            </a:r>
            <a:r>
              <a:rPr dirty="0" spc="-170">
                <a:latin typeface="Arial Black"/>
                <a:cs typeface="Arial Black"/>
              </a:rPr>
              <a:t> </a:t>
            </a:r>
            <a:r>
              <a:rPr dirty="0" spc="-175">
                <a:latin typeface="Arial Black"/>
                <a:cs typeface="Arial Black"/>
              </a:rPr>
              <a:t>Scenario:</a:t>
            </a:r>
            <a:r>
              <a:rPr dirty="0" spc="-165">
                <a:latin typeface="Arial Black"/>
                <a:cs typeface="Arial Black"/>
              </a:rPr>
              <a:t> </a:t>
            </a:r>
            <a:r>
              <a:rPr dirty="0" spc="140"/>
              <a:t>Dashboard</a:t>
            </a:r>
            <a:r>
              <a:rPr dirty="0" spc="-110"/>
              <a:t> </a:t>
            </a:r>
            <a:r>
              <a:rPr dirty="0" spc="55"/>
              <a:t>activation;</a:t>
            </a:r>
            <a:r>
              <a:rPr dirty="0" spc="-110"/>
              <a:t> </a:t>
            </a:r>
            <a:r>
              <a:rPr dirty="0" spc="70"/>
              <a:t>devices </a:t>
            </a:r>
            <a:r>
              <a:rPr dirty="0" spc="85"/>
              <a:t>register/authenticate</a:t>
            </a:r>
            <a:r>
              <a:rPr dirty="0" spc="-125"/>
              <a:t> </a:t>
            </a:r>
            <a:r>
              <a:rPr dirty="0" spc="60"/>
              <a:t>via</a:t>
            </a:r>
            <a:r>
              <a:rPr dirty="0" spc="-125"/>
              <a:t> </a:t>
            </a:r>
            <a:r>
              <a:rPr dirty="0" spc="80"/>
              <a:t>blockchain;</a:t>
            </a:r>
            <a:r>
              <a:rPr dirty="0" spc="-120"/>
              <a:t> </a:t>
            </a:r>
            <a:r>
              <a:rPr dirty="0" spc="135"/>
              <a:t>SDN</a:t>
            </a:r>
            <a:r>
              <a:rPr dirty="0" spc="-125"/>
              <a:t> </a:t>
            </a:r>
            <a:r>
              <a:rPr dirty="0" spc="105"/>
              <a:t>prioritizes</a:t>
            </a:r>
            <a:r>
              <a:rPr dirty="0" spc="-125"/>
              <a:t> </a:t>
            </a:r>
            <a:r>
              <a:rPr dirty="0" spc="85"/>
              <a:t>apps/ </a:t>
            </a:r>
            <a:r>
              <a:rPr dirty="0" spc="105"/>
              <a:t>blocks</a:t>
            </a:r>
            <a:r>
              <a:rPr dirty="0" spc="-120"/>
              <a:t> </a:t>
            </a:r>
            <a:r>
              <a:rPr dirty="0" spc="55"/>
              <a:t>threats;</a:t>
            </a:r>
            <a:r>
              <a:rPr dirty="0" spc="-114"/>
              <a:t> </a:t>
            </a:r>
            <a:r>
              <a:rPr dirty="0" spc="-90"/>
              <a:t>AI</a:t>
            </a:r>
            <a:r>
              <a:rPr dirty="0" spc="-114"/>
              <a:t> </a:t>
            </a:r>
            <a:r>
              <a:rPr dirty="0" spc="90"/>
              <a:t>alerts</a:t>
            </a:r>
            <a:r>
              <a:rPr dirty="0" spc="-114"/>
              <a:t> </a:t>
            </a:r>
            <a:r>
              <a:rPr dirty="0" spc="180"/>
              <a:t>on</a:t>
            </a:r>
            <a:r>
              <a:rPr dirty="0" spc="-114"/>
              <a:t> </a:t>
            </a:r>
            <a:r>
              <a:rPr dirty="0" spc="140"/>
              <a:t>anomalies—</a:t>
            </a:r>
            <a:r>
              <a:rPr dirty="0" spc="105"/>
              <a:t>secure</a:t>
            </a:r>
            <a:r>
              <a:rPr dirty="0" spc="-120"/>
              <a:t> </a:t>
            </a:r>
            <a:r>
              <a:rPr dirty="0" spc="130"/>
              <a:t>monitoring</a:t>
            </a:r>
            <a:r>
              <a:rPr dirty="0" spc="-114"/>
              <a:t> </a:t>
            </a:r>
            <a:r>
              <a:rPr dirty="0" spc="100"/>
              <a:t>in </a:t>
            </a:r>
            <a:r>
              <a:rPr dirty="0" spc="65"/>
              <a:t>low-</a:t>
            </a:r>
            <a:r>
              <a:rPr dirty="0" spc="110"/>
              <a:t>budget</a:t>
            </a:r>
            <a:r>
              <a:rPr dirty="0" spc="-110"/>
              <a:t> </a:t>
            </a:r>
            <a:r>
              <a:rPr dirty="0" spc="95"/>
              <a:t>classrooms.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26351" y="9388396"/>
            <a:ext cx="6997065" cy="5340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>
                <a:latin typeface="Trebuchet MS"/>
                <a:cs typeface="Trebuchet MS"/>
              </a:rPr>
              <a:t>IT22365132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90">
                <a:latin typeface="Trebuchet MS"/>
                <a:cs typeface="Trebuchet MS"/>
              </a:rPr>
              <a:t>C.B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265">
                <a:latin typeface="Trebuchet MS"/>
                <a:cs typeface="Trebuchet MS"/>
              </a:rPr>
              <a:t>Gunasena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 spc="405">
                <a:latin typeface="Trebuchet MS"/>
                <a:cs typeface="Trebuchet MS"/>
              </a:rPr>
              <a:t>|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25-26J-</a:t>
            </a:r>
            <a:r>
              <a:rPr dirty="0" sz="2800" spc="55">
                <a:latin typeface="Trebuchet MS"/>
                <a:cs typeface="Trebuchet MS"/>
              </a:rPr>
              <a:t>024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22841" y="1010284"/>
            <a:ext cx="964247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75" b="1">
                <a:latin typeface="Trebuchet MS"/>
                <a:cs typeface="Trebuchet MS"/>
              </a:rPr>
              <a:t>COMMERCIALIZATION</a:t>
            </a:r>
            <a:endParaRPr sz="7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3337929"/>
            <a:ext cx="123825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20345" y="3090019"/>
            <a:ext cx="12019280" cy="4883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5720" marR="38100">
              <a:lnSpc>
                <a:spcPct val="118100"/>
              </a:lnSpc>
              <a:spcBef>
                <a:spcPts val="90"/>
              </a:spcBef>
            </a:pPr>
            <a:r>
              <a:rPr dirty="0" sz="2700" spc="60" b="1">
                <a:latin typeface="Trebuchet MS"/>
                <a:cs typeface="Trebuchet MS"/>
              </a:rPr>
              <a:t>Investment/Cost</a:t>
            </a:r>
            <a:r>
              <a:rPr dirty="0" sz="2700" spc="20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&amp;</a:t>
            </a:r>
            <a:r>
              <a:rPr dirty="0" sz="2700" spc="20" b="1">
                <a:latin typeface="Trebuchet MS"/>
                <a:cs typeface="Trebuchet MS"/>
              </a:rPr>
              <a:t> </a:t>
            </a:r>
            <a:r>
              <a:rPr dirty="0" sz="2700" spc="60" b="1">
                <a:latin typeface="Trebuchet MS"/>
                <a:cs typeface="Trebuchet MS"/>
              </a:rPr>
              <a:t>Recovery:</a:t>
            </a:r>
            <a:r>
              <a:rPr dirty="0" sz="2700" spc="15" b="1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~LKR</a:t>
            </a:r>
            <a:r>
              <a:rPr dirty="0" sz="2700" spc="1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70,000</a:t>
            </a:r>
            <a:r>
              <a:rPr dirty="0" sz="2700" spc="1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total</a:t>
            </a:r>
            <a:r>
              <a:rPr dirty="0" sz="2700" spc="20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(labor:</a:t>
            </a:r>
            <a:r>
              <a:rPr dirty="0" sz="2700" spc="10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4</a:t>
            </a:r>
            <a:r>
              <a:rPr dirty="0" sz="2700" spc="1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students'</a:t>
            </a:r>
            <a:r>
              <a:rPr dirty="0" sz="2700" spc="15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effort; </a:t>
            </a:r>
            <a:r>
              <a:rPr dirty="0" sz="2700" spc="55">
                <a:latin typeface="Trebuchet MS"/>
                <a:cs typeface="Trebuchet MS"/>
              </a:rPr>
              <a:t>material: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LKR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50,000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for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hardware).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85">
                <a:latin typeface="Trebuchet MS"/>
                <a:cs typeface="Trebuchet MS"/>
              </a:rPr>
              <a:t>Recover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50">
                <a:latin typeface="Trebuchet MS"/>
                <a:cs typeface="Trebuchet MS"/>
              </a:rPr>
              <a:t>via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LKR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50">
                <a:latin typeface="Trebuchet MS"/>
                <a:cs typeface="Trebuchet MS"/>
              </a:rPr>
              <a:t>10,000/year subscriptions,</a:t>
            </a:r>
            <a:r>
              <a:rPr dirty="0" sz="2700" spc="-50">
                <a:latin typeface="Trebuchet MS"/>
                <a:cs typeface="Trebuchet MS"/>
              </a:rPr>
              <a:t> </a:t>
            </a:r>
            <a:r>
              <a:rPr dirty="0" sz="2700" spc="160">
                <a:latin typeface="Trebuchet MS"/>
                <a:cs typeface="Trebuchet MS"/>
              </a:rPr>
              <a:t>ROI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in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2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130">
                <a:latin typeface="Trebuchet MS"/>
                <a:cs typeface="Trebuchet MS"/>
              </a:rPr>
              <a:t>years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from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50</a:t>
            </a:r>
            <a:r>
              <a:rPr dirty="0" sz="2700" spc="-45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adoptions.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700">
              <a:latin typeface="Trebuchet MS"/>
              <a:cs typeface="Trebuchet MS"/>
            </a:endParaRPr>
          </a:p>
          <a:p>
            <a:pPr algn="ctr" marL="12065" marR="5080">
              <a:lnSpc>
                <a:spcPct val="118100"/>
              </a:lnSpc>
              <a:spcBef>
                <a:spcPts val="5"/>
              </a:spcBef>
            </a:pPr>
            <a:r>
              <a:rPr dirty="0" sz="2700" b="1">
                <a:latin typeface="Trebuchet MS"/>
                <a:cs typeface="Trebuchet MS"/>
              </a:rPr>
              <a:t>Target</a:t>
            </a:r>
            <a:r>
              <a:rPr dirty="0" sz="2700" spc="-45" b="1">
                <a:latin typeface="Trebuchet MS"/>
                <a:cs typeface="Trebuchet MS"/>
              </a:rPr>
              <a:t> </a:t>
            </a:r>
            <a:r>
              <a:rPr dirty="0" sz="2700" spc="100" b="1">
                <a:latin typeface="Trebuchet MS"/>
                <a:cs typeface="Trebuchet MS"/>
              </a:rPr>
              <a:t>Market/Customer</a:t>
            </a:r>
            <a:r>
              <a:rPr dirty="0" sz="2700" spc="-45" b="1">
                <a:latin typeface="Trebuchet MS"/>
                <a:cs typeface="Trebuchet MS"/>
              </a:rPr>
              <a:t> </a:t>
            </a:r>
            <a:r>
              <a:rPr dirty="0" sz="2700" spc="-75" b="1">
                <a:latin typeface="Trebuchet MS"/>
                <a:cs typeface="Trebuchet MS"/>
              </a:rPr>
              <a:t>Profile:</a:t>
            </a:r>
            <a:r>
              <a:rPr dirty="0" sz="2700" spc="-50" b="1">
                <a:latin typeface="Trebuchet MS"/>
                <a:cs typeface="Trebuchet MS"/>
              </a:rPr>
              <a:t> </a:t>
            </a:r>
            <a:r>
              <a:rPr dirty="0" sz="2700" spc="204">
                <a:latin typeface="Trebuchet MS"/>
                <a:cs typeface="Trebuchet MS"/>
              </a:rPr>
              <a:t>Developing</a:t>
            </a:r>
            <a:r>
              <a:rPr dirty="0" sz="2700" spc="-55">
                <a:latin typeface="Trebuchet MS"/>
                <a:cs typeface="Trebuchet MS"/>
              </a:rPr>
              <a:t> </a:t>
            </a:r>
            <a:r>
              <a:rPr dirty="0" sz="2700" spc="220">
                <a:latin typeface="Trebuchet MS"/>
                <a:cs typeface="Trebuchet MS"/>
              </a:rPr>
              <a:t>edtech</a:t>
            </a:r>
            <a:r>
              <a:rPr dirty="0" sz="2700" spc="-55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market</a:t>
            </a:r>
            <a:r>
              <a:rPr dirty="0" sz="2700" spc="-55">
                <a:latin typeface="Trebuchet MS"/>
                <a:cs typeface="Trebuchet MS"/>
              </a:rPr>
              <a:t> </a:t>
            </a:r>
            <a:r>
              <a:rPr dirty="0" sz="2700" spc="114">
                <a:latin typeface="Trebuchet MS"/>
                <a:cs typeface="Trebuchet MS"/>
              </a:rPr>
              <a:t>(USD</a:t>
            </a:r>
            <a:r>
              <a:rPr dirty="0" sz="2700" spc="-55">
                <a:latin typeface="Trebuchet MS"/>
                <a:cs typeface="Trebuchet MS"/>
              </a:rPr>
              <a:t> </a:t>
            </a:r>
            <a:r>
              <a:rPr dirty="0" sz="2700" spc="70">
                <a:latin typeface="Trebuchet MS"/>
                <a:cs typeface="Trebuchet MS"/>
              </a:rPr>
              <a:t>94B</a:t>
            </a:r>
            <a:r>
              <a:rPr dirty="0" sz="2700" spc="-50">
                <a:latin typeface="Trebuchet MS"/>
                <a:cs typeface="Trebuchet MS"/>
              </a:rPr>
              <a:t> </a:t>
            </a:r>
            <a:r>
              <a:rPr dirty="0" sz="2700" spc="-25">
                <a:latin typeface="Trebuchet MS"/>
                <a:cs typeface="Trebuchet MS"/>
              </a:rPr>
              <a:t>in </a:t>
            </a:r>
            <a:r>
              <a:rPr dirty="0" sz="2700">
                <a:latin typeface="Trebuchet MS"/>
                <a:cs typeface="Trebuchet MS"/>
              </a:rPr>
              <a:t>2025,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200">
                <a:latin typeface="Trebuchet MS"/>
                <a:cs typeface="Trebuchet MS"/>
              </a:rPr>
              <a:t>growing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to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75">
                <a:latin typeface="Trebuchet MS"/>
                <a:cs typeface="Trebuchet MS"/>
              </a:rPr>
              <a:t>186B</a:t>
            </a:r>
            <a:r>
              <a:rPr dirty="0" sz="2700" spc="-5">
                <a:latin typeface="Trebuchet MS"/>
                <a:cs typeface="Trebuchet MS"/>
              </a:rPr>
              <a:t> </a:t>
            </a:r>
            <a:r>
              <a:rPr dirty="0" sz="2700" spc="235">
                <a:latin typeface="Trebuchet MS"/>
                <a:cs typeface="Trebuchet MS"/>
              </a:rPr>
              <a:t>by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2035);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80">
                <a:latin typeface="Trebuchet MS"/>
                <a:cs typeface="Trebuchet MS"/>
              </a:rPr>
              <a:t>customers:</a:t>
            </a:r>
            <a:r>
              <a:rPr dirty="0" sz="2700" spc="-10">
                <a:latin typeface="Trebuchet MS"/>
                <a:cs typeface="Trebuchet MS"/>
              </a:rPr>
              <a:t> </a:t>
            </a:r>
            <a:r>
              <a:rPr dirty="0" sz="2700" spc="155">
                <a:latin typeface="Trebuchet MS"/>
                <a:cs typeface="Trebuchet MS"/>
              </a:rPr>
              <a:t>Budget-</a:t>
            </a:r>
            <a:r>
              <a:rPr dirty="0" sz="2700" spc="160">
                <a:latin typeface="Trebuchet MS"/>
                <a:cs typeface="Trebuchet MS"/>
              </a:rPr>
              <a:t>conscious</a:t>
            </a:r>
            <a:r>
              <a:rPr dirty="0" sz="2700" spc="-5">
                <a:latin typeface="Trebuchet MS"/>
                <a:cs typeface="Trebuchet MS"/>
              </a:rPr>
              <a:t> </a:t>
            </a:r>
            <a:r>
              <a:rPr dirty="0" sz="2700" spc="65">
                <a:latin typeface="Trebuchet MS"/>
                <a:cs typeface="Trebuchet MS"/>
              </a:rPr>
              <a:t>schools/ </a:t>
            </a:r>
            <a:r>
              <a:rPr dirty="0" sz="2700" spc="75">
                <a:latin typeface="Trebuchet MS"/>
                <a:cs typeface="Trebuchet MS"/>
              </a:rPr>
              <a:t>administrators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235">
                <a:latin typeface="Trebuchet MS"/>
                <a:cs typeface="Trebuchet MS"/>
              </a:rPr>
              <a:t>needing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45">
                <a:latin typeface="Trebuchet MS"/>
                <a:cs typeface="Trebuchet MS"/>
              </a:rPr>
              <a:t>secure</a:t>
            </a:r>
            <a:r>
              <a:rPr dirty="0" sz="2700" spc="-35">
                <a:latin typeface="Trebuchet MS"/>
                <a:cs typeface="Trebuchet MS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IoT.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700">
              <a:latin typeface="Trebuchet MS"/>
              <a:cs typeface="Trebuchet MS"/>
            </a:endParaRPr>
          </a:p>
          <a:p>
            <a:pPr algn="ctr" marL="222885" marR="215265">
              <a:lnSpc>
                <a:spcPct val="118100"/>
              </a:lnSpc>
            </a:pPr>
            <a:r>
              <a:rPr dirty="0" sz="2700" spc="125" b="1">
                <a:latin typeface="Trebuchet MS"/>
                <a:cs typeface="Trebuchet MS"/>
              </a:rPr>
              <a:t>Value</a:t>
            </a:r>
            <a:r>
              <a:rPr dirty="0" sz="2700" spc="-30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Proposition/IPR:</a:t>
            </a:r>
            <a:r>
              <a:rPr dirty="0" sz="2700" spc="-40" b="1">
                <a:latin typeface="Trebuchet MS"/>
                <a:cs typeface="Trebuchet MS"/>
              </a:rPr>
              <a:t> </a:t>
            </a:r>
            <a:r>
              <a:rPr dirty="0" sz="2700" spc="135">
                <a:latin typeface="Trebuchet MS"/>
                <a:cs typeface="Trebuchet MS"/>
              </a:rPr>
              <a:t>Affordable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125">
                <a:latin typeface="Trebuchet MS"/>
                <a:cs typeface="Trebuchet MS"/>
              </a:rPr>
              <a:t>privacy-</a:t>
            </a:r>
            <a:r>
              <a:rPr dirty="0" sz="2700" spc="185">
                <a:latin typeface="Trebuchet MS"/>
                <a:cs typeface="Trebuchet MS"/>
              </a:rPr>
              <a:t>focused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85">
                <a:latin typeface="Trebuchet MS"/>
                <a:cs typeface="Trebuchet MS"/>
              </a:rPr>
              <a:t>monitoring;</a:t>
            </a:r>
            <a:r>
              <a:rPr dirty="0" sz="2700" spc="-40">
                <a:latin typeface="Trebuchet MS"/>
                <a:cs typeface="Trebuchet MS"/>
              </a:rPr>
              <a:t> </a:t>
            </a:r>
            <a:r>
              <a:rPr dirty="0" sz="2700" spc="204">
                <a:latin typeface="Trebuchet MS"/>
                <a:cs typeface="Trebuchet MS"/>
              </a:rPr>
              <a:t>open-</a:t>
            </a:r>
            <a:r>
              <a:rPr dirty="0" sz="2700" spc="155">
                <a:latin typeface="Trebuchet MS"/>
                <a:cs typeface="Trebuchet MS"/>
              </a:rPr>
              <a:t>source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200">
                <a:latin typeface="Trebuchet MS"/>
                <a:cs typeface="Trebuchet MS"/>
              </a:rPr>
              <a:t>core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with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95">
                <a:latin typeface="Trebuchet MS"/>
                <a:cs typeface="Trebuchet MS"/>
              </a:rPr>
              <a:t>proprietary</a:t>
            </a:r>
            <a:r>
              <a:rPr dirty="0" sz="2700" spc="-20">
                <a:latin typeface="Trebuchet MS"/>
                <a:cs typeface="Trebuchet MS"/>
              </a:rPr>
              <a:t> </a:t>
            </a:r>
            <a:r>
              <a:rPr dirty="0" sz="2700" spc="100">
                <a:latin typeface="Trebuchet MS"/>
                <a:cs typeface="Trebuchet MS"/>
              </a:rPr>
              <a:t>modules.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5281029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8913" y="7224129"/>
            <a:ext cx="123825" cy="1238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9" name="object 9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87292" y="1834174"/>
            <a:ext cx="6913245" cy="1274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00" spc="475" b="1">
                <a:latin typeface="Trebuchet MS"/>
                <a:cs typeface="Trebuchet MS"/>
              </a:rPr>
              <a:t>CONCLUSION</a:t>
            </a:r>
            <a:endParaRPr sz="82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697" y="4028382"/>
            <a:ext cx="133349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85902" y="3751516"/>
            <a:ext cx="13689965" cy="3825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3100" spc="70">
                <a:latin typeface="Tahoma"/>
                <a:cs typeface="Tahoma"/>
              </a:rPr>
              <a:t>We</a:t>
            </a:r>
            <a:r>
              <a:rPr dirty="0" sz="3100" spc="-125">
                <a:latin typeface="Tahoma"/>
                <a:cs typeface="Tahoma"/>
              </a:rPr>
              <a:t> </a:t>
            </a:r>
            <a:r>
              <a:rPr dirty="0" sz="3100" spc="135">
                <a:latin typeface="Tahoma"/>
                <a:cs typeface="Tahoma"/>
              </a:rPr>
              <a:t>propose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95">
                <a:latin typeface="Tahoma"/>
                <a:cs typeface="Tahoma"/>
              </a:rPr>
              <a:t>a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95">
                <a:latin typeface="Tahoma"/>
                <a:cs typeface="Tahoma"/>
              </a:rPr>
              <a:t>Smart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125">
                <a:latin typeface="Tahoma"/>
                <a:cs typeface="Tahoma"/>
              </a:rPr>
              <a:t>Classroom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-90">
                <a:latin typeface="Tahoma"/>
                <a:cs typeface="Tahoma"/>
              </a:rPr>
              <a:t>IoT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120">
                <a:latin typeface="Tahoma"/>
                <a:cs typeface="Tahoma"/>
              </a:rPr>
              <a:t>Network</a:t>
            </a:r>
            <a:r>
              <a:rPr dirty="0" sz="3100" spc="-125">
                <a:latin typeface="Tahoma"/>
                <a:cs typeface="Tahoma"/>
              </a:rPr>
              <a:t> </a:t>
            </a:r>
            <a:r>
              <a:rPr dirty="0" sz="3100" spc="90">
                <a:latin typeface="Tahoma"/>
                <a:cs typeface="Tahoma"/>
              </a:rPr>
              <a:t>that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114">
                <a:latin typeface="Tahoma"/>
                <a:cs typeface="Tahoma"/>
              </a:rPr>
              <a:t>ensures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>
                <a:latin typeface="Tahoma"/>
                <a:cs typeface="Tahoma"/>
              </a:rPr>
              <a:t>privacy,</a:t>
            </a:r>
            <a:r>
              <a:rPr dirty="0" sz="3100" spc="-120">
                <a:latin typeface="Tahoma"/>
                <a:cs typeface="Tahoma"/>
              </a:rPr>
              <a:t> </a:t>
            </a:r>
            <a:r>
              <a:rPr dirty="0" sz="3100" spc="40">
                <a:latin typeface="Tahoma"/>
                <a:cs typeface="Tahoma"/>
              </a:rPr>
              <a:t>security, </a:t>
            </a:r>
            <a:r>
              <a:rPr dirty="0" sz="3100" spc="140">
                <a:latin typeface="Tahoma"/>
                <a:cs typeface="Tahoma"/>
              </a:rPr>
              <a:t>and</a:t>
            </a:r>
            <a:r>
              <a:rPr dirty="0" sz="3100" spc="-155">
                <a:latin typeface="Tahoma"/>
                <a:cs typeface="Tahoma"/>
              </a:rPr>
              <a:t> </a:t>
            </a:r>
            <a:r>
              <a:rPr dirty="0" sz="3100" spc="60">
                <a:latin typeface="Tahoma"/>
                <a:cs typeface="Tahoma"/>
              </a:rPr>
              <a:t>adaptability.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3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100" spc="50">
                <a:latin typeface="Tahoma"/>
                <a:cs typeface="Tahoma"/>
              </a:rPr>
              <a:t>The</a:t>
            </a:r>
            <a:r>
              <a:rPr dirty="0" sz="3100" spc="-135">
                <a:latin typeface="Tahoma"/>
                <a:cs typeface="Tahoma"/>
              </a:rPr>
              <a:t> </a:t>
            </a:r>
            <a:r>
              <a:rPr dirty="0" sz="3100" spc="90">
                <a:latin typeface="Tahoma"/>
                <a:cs typeface="Tahoma"/>
              </a:rPr>
              <a:t>system</a:t>
            </a:r>
            <a:r>
              <a:rPr dirty="0" sz="3100" spc="-130">
                <a:latin typeface="Tahoma"/>
                <a:cs typeface="Tahoma"/>
              </a:rPr>
              <a:t> </a:t>
            </a:r>
            <a:r>
              <a:rPr dirty="0" sz="3100" spc="95">
                <a:latin typeface="Tahoma"/>
                <a:cs typeface="Tahoma"/>
              </a:rPr>
              <a:t>focuses</a:t>
            </a:r>
            <a:r>
              <a:rPr dirty="0" sz="3100" spc="-135">
                <a:latin typeface="Tahoma"/>
                <a:cs typeface="Tahoma"/>
              </a:rPr>
              <a:t> </a:t>
            </a:r>
            <a:r>
              <a:rPr dirty="0" sz="3100" spc="165">
                <a:latin typeface="Tahoma"/>
                <a:cs typeface="Tahoma"/>
              </a:rPr>
              <a:t>on</a:t>
            </a:r>
            <a:r>
              <a:rPr dirty="0" sz="3100" spc="-130">
                <a:latin typeface="Tahoma"/>
                <a:cs typeface="Tahoma"/>
              </a:rPr>
              <a:t> </a:t>
            </a:r>
            <a:r>
              <a:rPr dirty="0" sz="3100" spc="135">
                <a:latin typeface="Tahoma"/>
                <a:cs typeface="Tahoma"/>
              </a:rPr>
              <a:t>both</a:t>
            </a:r>
            <a:r>
              <a:rPr dirty="0" sz="3100" spc="-135">
                <a:latin typeface="Tahoma"/>
                <a:cs typeface="Tahoma"/>
              </a:rPr>
              <a:t> </a:t>
            </a:r>
            <a:r>
              <a:rPr dirty="0" sz="3100" spc="105">
                <a:latin typeface="Tahoma"/>
                <a:cs typeface="Tahoma"/>
              </a:rPr>
              <a:t>academic</a:t>
            </a:r>
            <a:r>
              <a:rPr dirty="0" sz="3100" spc="-130">
                <a:latin typeface="Tahoma"/>
                <a:cs typeface="Tahoma"/>
              </a:rPr>
              <a:t> </a:t>
            </a:r>
            <a:r>
              <a:rPr dirty="0" sz="3100" spc="130">
                <a:latin typeface="Tahoma"/>
                <a:cs typeface="Tahoma"/>
              </a:rPr>
              <a:t>support</a:t>
            </a:r>
            <a:r>
              <a:rPr dirty="0" sz="3100" spc="-135">
                <a:latin typeface="Tahoma"/>
                <a:cs typeface="Tahoma"/>
              </a:rPr>
              <a:t> </a:t>
            </a:r>
            <a:r>
              <a:rPr dirty="0" sz="3100" spc="140">
                <a:latin typeface="Tahoma"/>
                <a:cs typeface="Tahoma"/>
              </a:rPr>
              <a:t>and</a:t>
            </a:r>
            <a:r>
              <a:rPr dirty="0" sz="3100" spc="-130">
                <a:latin typeface="Tahoma"/>
                <a:cs typeface="Tahoma"/>
              </a:rPr>
              <a:t> </a:t>
            </a:r>
            <a:r>
              <a:rPr dirty="0" sz="3100" spc="110">
                <a:latin typeface="Tahoma"/>
                <a:cs typeface="Tahoma"/>
              </a:rPr>
              <a:t>student</a:t>
            </a:r>
            <a:r>
              <a:rPr dirty="0" sz="3100" spc="-135">
                <a:latin typeface="Tahoma"/>
                <a:cs typeface="Tahoma"/>
              </a:rPr>
              <a:t> </a:t>
            </a:r>
            <a:r>
              <a:rPr dirty="0" sz="3100">
                <a:latin typeface="Tahoma"/>
                <a:cs typeface="Tahoma"/>
              </a:rPr>
              <a:t>well-</a:t>
            </a:r>
            <a:r>
              <a:rPr dirty="0" sz="3100" spc="45">
                <a:latin typeface="Tahoma"/>
                <a:cs typeface="Tahoma"/>
              </a:rPr>
              <a:t>being.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3100">
              <a:latin typeface="Tahoma"/>
              <a:cs typeface="Tahoma"/>
            </a:endParaRPr>
          </a:p>
          <a:p>
            <a:pPr marL="12700" marR="581025">
              <a:lnSpc>
                <a:spcPct val="114900"/>
              </a:lnSpc>
            </a:pPr>
            <a:r>
              <a:rPr dirty="0" sz="3100" spc="175">
                <a:latin typeface="Tahoma"/>
                <a:cs typeface="Tahoma"/>
              </a:rPr>
              <a:t>Our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114">
                <a:latin typeface="Tahoma"/>
                <a:cs typeface="Tahoma"/>
              </a:rPr>
              <a:t>solution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75">
                <a:latin typeface="Tahoma"/>
                <a:cs typeface="Tahoma"/>
              </a:rPr>
              <a:t>is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60">
                <a:latin typeface="Tahoma"/>
                <a:cs typeface="Tahoma"/>
              </a:rPr>
              <a:t>innovative,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80">
                <a:latin typeface="Tahoma"/>
                <a:cs typeface="Tahoma"/>
              </a:rPr>
              <a:t>affordable,</a:t>
            </a:r>
            <a:r>
              <a:rPr dirty="0" sz="3100" spc="-140">
                <a:latin typeface="Tahoma"/>
                <a:cs typeface="Tahoma"/>
              </a:rPr>
              <a:t> </a:t>
            </a:r>
            <a:r>
              <a:rPr dirty="0" sz="3100" spc="140">
                <a:latin typeface="Tahoma"/>
                <a:cs typeface="Tahoma"/>
              </a:rPr>
              <a:t>and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80">
                <a:latin typeface="Tahoma"/>
                <a:cs typeface="Tahoma"/>
              </a:rPr>
              <a:t>practical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120">
                <a:latin typeface="Tahoma"/>
                <a:cs typeface="Tahoma"/>
              </a:rPr>
              <a:t>for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85">
                <a:latin typeface="Tahoma"/>
                <a:cs typeface="Tahoma"/>
              </a:rPr>
              <a:t>resource-</a:t>
            </a:r>
            <a:r>
              <a:rPr dirty="0" sz="3100" spc="100">
                <a:latin typeface="Tahoma"/>
                <a:cs typeface="Tahoma"/>
              </a:rPr>
              <a:t>limited </a:t>
            </a:r>
            <a:r>
              <a:rPr dirty="0" sz="3100" spc="105">
                <a:latin typeface="Tahoma"/>
                <a:cs typeface="Tahoma"/>
              </a:rPr>
              <a:t>educational</a:t>
            </a:r>
            <a:r>
              <a:rPr dirty="0" sz="3100" spc="-145">
                <a:latin typeface="Tahoma"/>
                <a:cs typeface="Tahoma"/>
              </a:rPr>
              <a:t> </a:t>
            </a:r>
            <a:r>
              <a:rPr dirty="0" sz="3100" spc="90">
                <a:latin typeface="Tahoma"/>
                <a:cs typeface="Tahoma"/>
              </a:rPr>
              <a:t>environments.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697" y="5657157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697" y="6743007"/>
            <a:ext cx="133349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01431" y="4235640"/>
            <a:ext cx="8285480" cy="18370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850" spc="-114" b="1">
                <a:latin typeface="Trebuchet MS"/>
                <a:cs typeface="Trebuchet MS"/>
              </a:rPr>
              <a:t>THANK</a:t>
            </a:r>
            <a:r>
              <a:rPr dirty="0" sz="11850" spc="-775" b="1">
                <a:latin typeface="Trebuchet MS"/>
                <a:cs typeface="Trebuchet MS"/>
              </a:rPr>
              <a:t> </a:t>
            </a:r>
            <a:r>
              <a:rPr dirty="0" sz="11850" spc="190" b="1">
                <a:latin typeface="Trebuchet MS"/>
                <a:cs typeface="Trebuchet MS"/>
              </a:rPr>
              <a:t>YOU</a:t>
            </a:r>
            <a:endParaRPr sz="118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18940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69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8" y="1529252"/>
                </a:lnTo>
                <a:lnTo>
                  <a:pt x="1071295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3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7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3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9718118"/>
            <a:ext cx="18288000" cy="568960"/>
            <a:chOff x="0" y="9718118"/>
            <a:chExt cx="18288000" cy="568960"/>
          </a:xfrm>
        </p:grpSpPr>
        <p:sp>
          <p:nvSpPr>
            <p:cNvPr id="5" name="object 5"/>
            <p:cNvSpPr/>
            <p:nvPr/>
          </p:nvSpPr>
          <p:spPr>
            <a:xfrm>
              <a:off x="0" y="9889568"/>
              <a:ext cx="18288000" cy="397510"/>
            </a:xfrm>
            <a:custGeom>
              <a:avLst/>
              <a:gdLst/>
              <a:ahLst/>
              <a:cxnLst/>
              <a:rect l="l" t="t" r="r" b="b"/>
              <a:pathLst>
                <a:path w="18288000" h="397509">
                  <a:moveTo>
                    <a:pt x="0" y="397431"/>
                  </a:moveTo>
                  <a:lnTo>
                    <a:pt x="18288000" y="397431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397431"/>
                  </a:lnTo>
                  <a:close/>
                </a:path>
              </a:pathLst>
            </a:custGeom>
            <a:solidFill>
              <a:srgbClr val="FAE7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718118"/>
              <a:ext cx="18288000" cy="171450"/>
            </a:xfrm>
            <a:custGeom>
              <a:avLst/>
              <a:gdLst/>
              <a:ahLst/>
              <a:cxnLst/>
              <a:rect l="l" t="t" r="r" b="b"/>
              <a:pathLst>
                <a:path w="18288000" h="171450">
                  <a:moveTo>
                    <a:pt x="0" y="0"/>
                  </a:moveTo>
                  <a:lnTo>
                    <a:pt x="18287999" y="0"/>
                  </a:lnTo>
                  <a:lnTo>
                    <a:pt x="18287999" y="171449"/>
                  </a:lnTo>
                  <a:lnTo>
                    <a:pt x="0" y="171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7263019" y="3089010"/>
            <a:ext cx="1025525" cy="3916045"/>
          </a:xfrm>
          <a:custGeom>
            <a:avLst/>
            <a:gdLst/>
            <a:ahLst/>
            <a:cxnLst/>
            <a:rect l="l" t="t" r="r" b="b"/>
            <a:pathLst>
              <a:path w="1025525" h="3916045">
                <a:moveTo>
                  <a:pt x="1024979" y="82285"/>
                </a:moveTo>
                <a:lnTo>
                  <a:pt x="1024979" y="1179"/>
                </a:lnTo>
                <a:lnTo>
                  <a:pt x="777298" y="642"/>
                </a:lnTo>
                <a:lnTo>
                  <a:pt x="69433" y="0"/>
                </a:lnTo>
                <a:lnTo>
                  <a:pt x="36641" y="1624"/>
                </a:lnTo>
                <a:lnTo>
                  <a:pt x="18347" y="9727"/>
                </a:lnTo>
                <a:lnTo>
                  <a:pt x="10387" y="28455"/>
                </a:lnTo>
                <a:lnTo>
                  <a:pt x="8596" y="61956"/>
                </a:lnTo>
                <a:lnTo>
                  <a:pt x="8589" y="79871"/>
                </a:lnTo>
                <a:lnTo>
                  <a:pt x="121188" y="79871"/>
                </a:lnTo>
                <a:lnTo>
                  <a:pt x="273465" y="80184"/>
                </a:lnTo>
                <a:lnTo>
                  <a:pt x="794810" y="80888"/>
                </a:lnTo>
                <a:lnTo>
                  <a:pt x="887445" y="81280"/>
                </a:lnTo>
                <a:lnTo>
                  <a:pt x="1024979" y="82285"/>
                </a:lnTo>
                <a:close/>
              </a:path>
              <a:path w="1025525" h="3916045">
                <a:moveTo>
                  <a:pt x="37646" y="1583241"/>
                </a:moveTo>
                <a:lnTo>
                  <a:pt x="55287" y="1579445"/>
                </a:lnTo>
                <a:lnTo>
                  <a:pt x="69418" y="1567192"/>
                </a:lnTo>
                <a:lnTo>
                  <a:pt x="78812" y="1547988"/>
                </a:lnTo>
                <a:lnTo>
                  <a:pt x="82247" y="1523337"/>
                </a:lnTo>
                <a:lnTo>
                  <a:pt x="82178" y="928570"/>
                </a:lnTo>
                <a:lnTo>
                  <a:pt x="82395" y="879013"/>
                </a:lnTo>
                <a:lnTo>
                  <a:pt x="82669" y="834617"/>
                </a:lnTo>
                <a:lnTo>
                  <a:pt x="83107" y="779904"/>
                </a:lnTo>
                <a:lnTo>
                  <a:pt x="83603" y="732463"/>
                </a:lnTo>
                <a:lnTo>
                  <a:pt x="84268" y="680803"/>
                </a:lnTo>
                <a:lnTo>
                  <a:pt x="85047" y="631256"/>
                </a:lnTo>
                <a:lnTo>
                  <a:pt x="85819" y="579304"/>
                </a:lnTo>
                <a:lnTo>
                  <a:pt x="86407" y="527356"/>
                </a:lnTo>
                <a:lnTo>
                  <a:pt x="86843" y="475410"/>
                </a:lnTo>
                <a:lnTo>
                  <a:pt x="87163" y="423467"/>
                </a:lnTo>
                <a:lnTo>
                  <a:pt x="87402" y="371527"/>
                </a:lnTo>
                <a:lnTo>
                  <a:pt x="87979" y="215715"/>
                </a:lnTo>
                <a:lnTo>
                  <a:pt x="88239" y="163779"/>
                </a:lnTo>
                <a:lnTo>
                  <a:pt x="88592" y="111844"/>
                </a:lnTo>
                <a:lnTo>
                  <a:pt x="121188" y="79871"/>
                </a:lnTo>
                <a:lnTo>
                  <a:pt x="8589" y="79871"/>
                </a:lnTo>
                <a:lnTo>
                  <a:pt x="8543" y="163779"/>
                </a:lnTo>
                <a:lnTo>
                  <a:pt x="8285" y="196132"/>
                </a:lnTo>
                <a:lnTo>
                  <a:pt x="6984" y="300020"/>
                </a:lnTo>
                <a:lnTo>
                  <a:pt x="2811" y="611661"/>
                </a:lnTo>
                <a:lnTo>
                  <a:pt x="8173" y="641891"/>
                </a:lnTo>
                <a:lnTo>
                  <a:pt x="10012" y="672109"/>
                </a:lnTo>
                <a:lnTo>
                  <a:pt x="8095" y="702303"/>
                </a:lnTo>
                <a:lnTo>
                  <a:pt x="2190" y="732463"/>
                </a:lnTo>
                <a:lnTo>
                  <a:pt x="2089" y="834617"/>
                </a:lnTo>
                <a:lnTo>
                  <a:pt x="1963" y="978129"/>
                </a:lnTo>
                <a:lnTo>
                  <a:pt x="1906" y="1038941"/>
                </a:lnTo>
                <a:lnTo>
                  <a:pt x="1781" y="1141106"/>
                </a:lnTo>
                <a:lnTo>
                  <a:pt x="1700" y="1192187"/>
                </a:lnTo>
                <a:lnTo>
                  <a:pt x="1604" y="1243268"/>
                </a:lnTo>
                <a:lnTo>
                  <a:pt x="1354" y="1345425"/>
                </a:lnTo>
                <a:lnTo>
                  <a:pt x="1194" y="1396501"/>
                </a:lnTo>
                <a:lnTo>
                  <a:pt x="0" y="1440145"/>
                </a:lnTo>
                <a:lnTo>
                  <a:pt x="0" y="1548975"/>
                </a:lnTo>
                <a:lnTo>
                  <a:pt x="7664" y="1565886"/>
                </a:lnTo>
                <a:lnTo>
                  <a:pt x="20812" y="1578249"/>
                </a:lnTo>
                <a:lnTo>
                  <a:pt x="37646" y="1583241"/>
                </a:lnTo>
                <a:close/>
              </a:path>
              <a:path w="1025525" h="3916045">
                <a:moveTo>
                  <a:pt x="1024979" y="3915843"/>
                </a:moveTo>
                <a:lnTo>
                  <a:pt x="1024979" y="3833363"/>
                </a:lnTo>
                <a:lnTo>
                  <a:pt x="313907" y="3832831"/>
                </a:lnTo>
                <a:lnTo>
                  <a:pt x="187504" y="3832831"/>
                </a:lnTo>
                <a:lnTo>
                  <a:pt x="155711" y="3832325"/>
                </a:lnTo>
                <a:lnTo>
                  <a:pt x="136715" y="3833824"/>
                </a:lnTo>
                <a:lnTo>
                  <a:pt x="121592" y="3839976"/>
                </a:lnTo>
                <a:lnTo>
                  <a:pt x="110994" y="3851587"/>
                </a:lnTo>
                <a:lnTo>
                  <a:pt x="105574" y="3869462"/>
                </a:lnTo>
                <a:lnTo>
                  <a:pt x="107779" y="3885166"/>
                </a:lnTo>
                <a:lnTo>
                  <a:pt x="157142" y="3908277"/>
                </a:lnTo>
                <a:lnTo>
                  <a:pt x="257290" y="3911342"/>
                </a:lnTo>
                <a:lnTo>
                  <a:pt x="451176" y="3913864"/>
                </a:lnTo>
                <a:lnTo>
                  <a:pt x="808179" y="3913864"/>
                </a:lnTo>
                <a:lnTo>
                  <a:pt x="1024979" y="3915843"/>
                </a:lnTo>
                <a:close/>
              </a:path>
              <a:path w="1025525" h="3916045">
                <a:moveTo>
                  <a:pt x="222372" y="3832831"/>
                </a:moveTo>
                <a:lnTo>
                  <a:pt x="320227" y="3832831"/>
                </a:lnTo>
                <a:lnTo>
                  <a:pt x="288308" y="3832631"/>
                </a:lnTo>
                <a:lnTo>
                  <a:pt x="255722" y="3832631"/>
                </a:lnTo>
                <a:lnTo>
                  <a:pt x="222372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089010"/>
            <a:ext cx="1028700" cy="3916045"/>
          </a:xfrm>
          <a:custGeom>
            <a:avLst/>
            <a:gdLst/>
            <a:ahLst/>
            <a:cxnLst/>
            <a:rect l="l" t="t" r="r" b="b"/>
            <a:pathLst>
              <a:path w="1028700" h="3916045">
                <a:moveTo>
                  <a:pt x="0" y="82316"/>
                </a:moveTo>
                <a:lnTo>
                  <a:pt x="0" y="1309"/>
                </a:lnTo>
                <a:lnTo>
                  <a:pt x="31030" y="1179"/>
                </a:lnTo>
                <a:lnTo>
                  <a:pt x="250968" y="642"/>
                </a:lnTo>
                <a:lnTo>
                  <a:pt x="958834" y="0"/>
                </a:lnTo>
                <a:lnTo>
                  <a:pt x="991625" y="1624"/>
                </a:lnTo>
                <a:lnTo>
                  <a:pt x="1009919" y="9727"/>
                </a:lnTo>
                <a:lnTo>
                  <a:pt x="1017880" y="28455"/>
                </a:lnTo>
                <a:lnTo>
                  <a:pt x="1019670" y="61956"/>
                </a:lnTo>
                <a:lnTo>
                  <a:pt x="1019678" y="79871"/>
                </a:lnTo>
                <a:lnTo>
                  <a:pt x="907079" y="79871"/>
                </a:lnTo>
                <a:lnTo>
                  <a:pt x="754802" y="80184"/>
                </a:lnTo>
                <a:lnTo>
                  <a:pt x="233457" y="80888"/>
                </a:lnTo>
                <a:lnTo>
                  <a:pt x="140822" y="81280"/>
                </a:lnTo>
                <a:lnTo>
                  <a:pt x="0" y="82316"/>
                </a:lnTo>
                <a:close/>
              </a:path>
              <a:path w="1028700" h="3916045">
                <a:moveTo>
                  <a:pt x="990620" y="1583241"/>
                </a:moveTo>
                <a:lnTo>
                  <a:pt x="972979" y="1579445"/>
                </a:lnTo>
                <a:lnTo>
                  <a:pt x="958849" y="1567192"/>
                </a:lnTo>
                <a:lnTo>
                  <a:pt x="949454" y="1547988"/>
                </a:lnTo>
                <a:lnTo>
                  <a:pt x="946019" y="1523337"/>
                </a:lnTo>
                <a:lnTo>
                  <a:pt x="946088" y="928570"/>
                </a:lnTo>
                <a:lnTo>
                  <a:pt x="945872" y="879013"/>
                </a:lnTo>
                <a:lnTo>
                  <a:pt x="945598" y="834617"/>
                </a:lnTo>
                <a:lnTo>
                  <a:pt x="945160" y="779904"/>
                </a:lnTo>
                <a:lnTo>
                  <a:pt x="944663" y="732463"/>
                </a:lnTo>
                <a:lnTo>
                  <a:pt x="943998" y="680803"/>
                </a:lnTo>
                <a:lnTo>
                  <a:pt x="943220" y="631256"/>
                </a:lnTo>
                <a:lnTo>
                  <a:pt x="942447" y="579304"/>
                </a:lnTo>
                <a:lnTo>
                  <a:pt x="941860" y="527356"/>
                </a:lnTo>
                <a:lnTo>
                  <a:pt x="941424" y="475410"/>
                </a:lnTo>
                <a:lnTo>
                  <a:pt x="941103" y="423467"/>
                </a:lnTo>
                <a:lnTo>
                  <a:pt x="940864" y="371527"/>
                </a:lnTo>
                <a:lnTo>
                  <a:pt x="940288" y="215715"/>
                </a:lnTo>
                <a:lnTo>
                  <a:pt x="940027" y="163779"/>
                </a:lnTo>
                <a:lnTo>
                  <a:pt x="939674" y="111844"/>
                </a:lnTo>
                <a:lnTo>
                  <a:pt x="907079" y="79871"/>
                </a:lnTo>
                <a:lnTo>
                  <a:pt x="1019678" y="79871"/>
                </a:lnTo>
                <a:lnTo>
                  <a:pt x="1019724" y="163779"/>
                </a:lnTo>
                <a:lnTo>
                  <a:pt x="1019981" y="196132"/>
                </a:lnTo>
                <a:lnTo>
                  <a:pt x="1021283" y="300020"/>
                </a:lnTo>
                <a:lnTo>
                  <a:pt x="1025455" y="611661"/>
                </a:lnTo>
                <a:lnTo>
                  <a:pt x="1020094" y="641891"/>
                </a:lnTo>
                <a:lnTo>
                  <a:pt x="1018255" y="672109"/>
                </a:lnTo>
                <a:lnTo>
                  <a:pt x="1020172" y="702303"/>
                </a:lnTo>
                <a:lnTo>
                  <a:pt x="1026077" y="732463"/>
                </a:lnTo>
                <a:lnTo>
                  <a:pt x="1026178" y="834617"/>
                </a:lnTo>
                <a:lnTo>
                  <a:pt x="1026304" y="978129"/>
                </a:lnTo>
                <a:lnTo>
                  <a:pt x="1026360" y="1038941"/>
                </a:lnTo>
                <a:lnTo>
                  <a:pt x="1026486" y="1141106"/>
                </a:lnTo>
                <a:lnTo>
                  <a:pt x="1026566" y="1192187"/>
                </a:lnTo>
                <a:lnTo>
                  <a:pt x="1026663" y="1243268"/>
                </a:lnTo>
                <a:lnTo>
                  <a:pt x="1026913" y="1345425"/>
                </a:lnTo>
                <a:lnTo>
                  <a:pt x="1027072" y="1396501"/>
                </a:lnTo>
                <a:lnTo>
                  <a:pt x="1028266" y="1440128"/>
                </a:lnTo>
                <a:lnTo>
                  <a:pt x="1028266" y="1548977"/>
                </a:lnTo>
                <a:lnTo>
                  <a:pt x="1020603" y="1565886"/>
                </a:lnTo>
                <a:lnTo>
                  <a:pt x="1007454" y="1578249"/>
                </a:lnTo>
                <a:lnTo>
                  <a:pt x="990620" y="1583241"/>
                </a:lnTo>
                <a:close/>
              </a:path>
              <a:path w="1028700" h="3916045">
                <a:moveTo>
                  <a:pt x="0" y="3915881"/>
                </a:moveTo>
                <a:lnTo>
                  <a:pt x="0" y="3833363"/>
                </a:lnTo>
                <a:lnTo>
                  <a:pt x="714360" y="3832831"/>
                </a:lnTo>
                <a:lnTo>
                  <a:pt x="840763" y="3832831"/>
                </a:lnTo>
                <a:lnTo>
                  <a:pt x="872555" y="3832325"/>
                </a:lnTo>
                <a:lnTo>
                  <a:pt x="891551" y="3833824"/>
                </a:lnTo>
                <a:lnTo>
                  <a:pt x="906675" y="3839976"/>
                </a:lnTo>
                <a:lnTo>
                  <a:pt x="917273" y="3851587"/>
                </a:lnTo>
                <a:lnTo>
                  <a:pt x="922693" y="3869462"/>
                </a:lnTo>
                <a:lnTo>
                  <a:pt x="920487" y="3885166"/>
                </a:lnTo>
                <a:lnTo>
                  <a:pt x="871125" y="3908277"/>
                </a:lnTo>
                <a:lnTo>
                  <a:pt x="770977" y="3911342"/>
                </a:lnTo>
                <a:lnTo>
                  <a:pt x="577091" y="3913864"/>
                </a:lnTo>
                <a:lnTo>
                  <a:pt x="220087" y="3913864"/>
                </a:lnTo>
                <a:lnTo>
                  <a:pt x="0" y="3915881"/>
                </a:lnTo>
                <a:close/>
              </a:path>
              <a:path w="1028700" h="3916045">
                <a:moveTo>
                  <a:pt x="805895" y="3832831"/>
                </a:moveTo>
                <a:lnTo>
                  <a:pt x="708040" y="3832831"/>
                </a:lnTo>
                <a:lnTo>
                  <a:pt x="739959" y="3832631"/>
                </a:lnTo>
                <a:lnTo>
                  <a:pt x="772544" y="3832631"/>
                </a:lnTo>
                <a:lnTo>
                  <a:pt x="805895" y="3832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8342" y="0"/>
            <a:ext cx="1080770" cy="1965960"/>
          </a:xfrm>
          <a:custGeom>
            <a:avLst/>
            <a:gdLst/>
            <a:ahLst/>
            <a:cxnLst/>
            <a:rect l="l" t="t" r="r" b="b"/>
            <a:pathLst>
              <a:path w="1080770" h="1965960">
                <a:moveTo>
                  <a:pt x="627354" y="1965409"/>
                </a:moveTo>
                <a:lnTo>
                  <a:pt x="453360" y="1965409"/>
                </a:lnTo>
                <a:lnTo>
                  <a:pt x="437762" y="1964637"/>
                </a:lnTo>
                <a:lnTo>
                  <a:pt x="390562" y="1957594"/>
                </a:lnTo>
                <a:lnTo>
                  <a:pt x="344494" y="1946017"/>
                </a:lnTo>
                <a:lnTo>
                  <a:pt x="299876" y="1930037"/>
                </a:lnTo>
                <a:lnTo>
                  <a:pt x="257028" y="1909787"/>
                </a:lnTo>
                <a:lnTo>
                  <a:pt x="216266" y="1885398"/>
                </a:lnTo>
                <a:lnTo>
                  <a:pt x="177911" y="1857003"/>
                </a:lnTo>
                <a:lnTo>
                  <a:pt x="142280" y="1824734"/>
                </a:lnTo>
                <a:lnTo>
                  <a:pt x="110010" y="1789103"/>
                </a:lnTo>
                <a:lnTo>
                  <a:pt x="81615" y="1750747"/>
                </a:lnTo>
                <a:lnTo>
                  <a:pt x="57227" y="1709986"/>
                </a:lnTo>
                <a:lnTo>
                  <a:pt x="36977" y="1667137"/>
                </a:lnTo>
                <a:lnTo>
                  <a:pt x="20997" y="1622520"/>
                </a:lnTo>
                <a:lnTo>
                  <a:pt x="9420" y="1576452"/>
                </a:lnTo>
                <a:lnTo>
                  <a:pt x="2377" y="1529252"/>
                </a:lnTo>
                <a:lnTo>
                  <a:pt x="0" y="1481239"/>
                </a:lnTo>
                <a:lnTo>
                  <a:pt x="0" y="0"/>
                </a:lnTo>
                <a:lnTo>
                  <a:pt x="1080714" y="0"/>
                </a:lnTo>
                <a:lnTo>
                  <a:pt x="1080714" y="1481239"/>
                </a:lnTo>
                <a:lnTo>
                  <a:pt x="1078337" y="1529252"/>
                </a:lnTo>
                <a:lnTo>
                  <a:pt x="1071294" y="1576452"/>
                </a:lnTo>
                <a:lnTo>
                  <a:pt x="1059717" y="1622520"/>
                </a:lnTo>
                <a:lnTo>
                  <a:pt x="1043737" y="1667137"/>
                </a:lnTo>
                <a:lnTo>
                  <a:pt x="1023487" y="1709986"/>
                </a:lnTo>
                <a:lnTo>
                  <a:pt x="999098" y="1750747"/>
                </a:lnTo>
                <a:lnTo>
                  <a:pt x="970704" y="1789103"/>
                </a:lnTo>
                <a:lnTo>
                  <a:pt x="938434" y="1824734"/>
                </a:lnTo>
                <a:lnTo>
                  <a:pt x="902803" y="1857003"/>
                </a:lnTo>
                <a:lnTo>
                  <a:pt x="864448" y="1885398"/>
                </a:lnTo>
                <a:lnTo>
                  <a:pt x="823686" y="1909787"/>
                </a:lnTo>
                <a:lnTo>
                  <a:pt x="780837" y="1930037"/>
                </a:lnTo>
                <a:lnTo>
                  <a:pt x="736220" y="1946017"/>
                </a:lnTo>
                <a:lnTo>
                  <a:pt x="690152" y="1957594"/>
                </a:lnTo>
                <a:lnTo>
                  <a:pt x="642952" y="1964637"/>
                </a:lnTo>
                <a:lnTo>
                  <a:pt x="627354" y="1965409"/>
                </a:lnTo>
                <a:close/>
              </a:path>
            </a:pathLst>
          </a:custGeom>
          <a:solidFill>
            <a:srgbClr val="FAE7B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Aditha Abeynayake</dc:creator>
  <cp:keywords>DAHDU8o-bgw,BAFkAgu7DrY,0</cp:keywords>
  <dc:title>pp2</dc:title>
  <dcterms:created xsi:type="dcterms:W3CDTF">2026-05-04T21:07:11Z</dcterms:created>
  <dcterms:modified xsi:type="dcterms:W3CDTF">2026-05-04T21:07:11Z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2026-05-04T00:00:00Z</vt:filetime>
  </property>
  <property fmtid="{D5CDD505-2E9C-101B-9397-08002B2CF9AE}" pid="6" name="Producer">
    <vt:lpwstr>Canva</vt:lpwstr>
  </property>
</Properties>
</file>